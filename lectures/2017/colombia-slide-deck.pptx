
<file path=[Content_Types].xml><?xml version="1.0" encoding="utf-8"?>
<Types xmlns="http://schemas.openxmlformats.org/package/2006/content-types">
  <Default Extension="xml" ContentType="application/xml"/>
  <Default Extension="jpg" ContentType="image/jpeg"/>
  <Default Extension="jpeg" ContentType="image/jpeg"/>
  <Default Extension="emf" ContentType="image/x-emf"/>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4.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5.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notesSlides/notesSlide6.xml" ContentType="application/vnd.openxmlformats-officedocument.presentationml.notesSlide+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notesSlides/notesSlide7.xml" ContentType="application/vnd.openxmlformats-officedocument.presentationml.notesSlide+xml"/>
  <Override PartName="/ppt/tags/tag440.xml" ContentType="application/vnd.openxmlformats-officedocument.presentationml.tags+xml"/>
  <Override PartName="/ppt/notesSlides/notesSlide8.xml" ContentType="application/vnd.openxmlformats-officedocument.presentationml.notesSlide+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notesSlides/notesSlide9.xml" ContentType="application/vnd.openxmlformats-officedocument.presentationml.notesSlide+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notesSlides/notesSlide10.xml" ContentType="application/vnd.openxmlformats-officedocument.presentationml.notesSlide+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notesSlides/notesSlide11.xml" ContentType="application/vnd.openxmlformats-officedocument.presentationml.notesSlide+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notesSlides/notesSlide12.xml" ContentType="application/vnd.openxmlformats-officedocument.presentationml.notesSlide+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notesSlides/notesSlide13.xml" ContentType="application/vnd.openxmlformats-officedocument.presentationml.notesSlide+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notesSlides/notesSlide14.xml" ContentType="application/vnd.openxmlformats-officedocument.presentationml.notesSlide+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notesSlides/notesSlide15.xml" ContentType="application/vnd.openxmlformats-officedocument.presentationml.notesSlide+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notesSlides/notesSlide16.xml" ContentType="application/vnd.openxmlformats-officedocument.presentationml.notesSlide+xml"/>
  <Override PartName="/ppt/tags/tag698.xml" ContentType="application/vnd.openxmlformats-officedocument.presentationml.tags+xml"/>
  <Override PartName="/ppt/notesSlides/notesSlide17.xml" ContentType="application/vnd.openxmlformats-officedocument.presentationml.notesSlide+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notesSlides/notesSlide18.xml" ContentType="application/vnd.openxmlformats-officedocument.presentationml.notesSlide+xml"/>
  <Override PartName="/ppt/tags/tag702.xml" ContentType="application/vnd.openxmlformats-officedocument.presentationml.tags+xml"/>
  <Override PartName="/ppt/tags/tag703.xml" ContentType="application/vnd.openxmlformats-officedocument.presentationml.tags+xml"/>
  <Override PartName="/ppt/notesSlides/notesSlide19.xml" ContentType="application/vnd.openxmlformats-officedocument.presentationml.notesSlide+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notesSlides/notesSlide20.xml" ContentType="application/vnd.openxmlformats-officedocument.presentationml.notesSlide+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notesSlides/notesSlide21.xml" ContentType="application/vnd.openxmlformats-officedocument.presentationml.notesSlide+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notesSlides/notesSlide22.xml" ContentType="application/vnd.openxmlformats-officedocument.presentationml.notesSlide+xml"/>
  <Override PartName="/ppt/tags/tag883.xml" ContentType="application/vnd.openxmlformats-officedocument.presentationml.tags+xml"/>
  <Override PartName="/ppt/notesSlides/notesSlide23.xml" ContentType="application/vnd.openxmlformats-officedocument.presentationml.notesSlide+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handoutMasterIdLst>
    <p:handoutMasterId r:id="rId67"/>
  </p:handoutMasterIdLst>
  <p:sldIdLst>
    <p:sldId id="409" r:id="rId2"/>
    <p:sldId id="465" r:id="rId3"/>
    <p:sldId id="443" r:id="rId4"/>
    <p:sldId id="429" r:id="rId5"/>
    <p:sldId id="430" r:id="rId6"/>
    <p:sldId id="471" r:id="rId7"/>
    <p:sldId id="431" r:id="rId8"/>
    <p:sldId id="432" r:id="rId9"/>
    <p:sldId id="433" r:id="rId10"/>
    <p:sldId id="434" r:id="rId11"/>
    <p:sldId id="435" r:id="rId12"/>
    <p:sldId id="438" r:id="rId13"/>
    <p:sldId id="439" r:id="rId14"/>
    <p:sldId id="472" r:id="rId15"/>
    <p:sldId id="524" r:id="rId16"/>
    <p:sldId id="440" r:id="rId17"/>
    <p:sldId id="424" r:id="rId18"/>
    <p:sldId id="368" r:id="rId19"/>
    <p:sldId id="373" r:id="rId20"/>
    <p:sldId id="371" r:id="rId21"/>
    <p:sldId id="473" r:id="rId22"/>
    <p:sldId id="521" r:id="rId23"/>
    <p:sldId id="442" r:id="rId24"/>
    <p:sldId id="300" r:id="rId25"/>
    <p:sldId id="444" r:id="rId26"/>
    <p:sldId id="445" r:id="rId27"/>
    <p:sldId id="302" r:id="rId28"/>
    <p:sldId id="474" r:id="rId29"/>
    <p:sldId id="453" r:id="rId30"/>
    <p:sldId id="377" r:id="rId31"/>
    <p:sldId id="446" r:id="rId32"/>
    <p:sldId id="475" r:id="rId33"/>
    <p:sldId id="515" r:id="rId34"/>
    <p:sldId id="447" r:id="rId35"/>
    <p:sldId id="534" r:id="rId36"/>
    <p:sldId id="457" r:id="rId37"/>
    <p:sldId id="458" r:id="rId38"/>
    <p:sldId id="461" r:id="rId39"/>
    <p:sldId id="462" r:id="rId40"/>
    <p:sldId id="341" r:id="rId41"/>
    <p:sldId id="522" r:id="rId42"/>
    <p:sldId id="416" r:id="rId43"/>
    <p:sldId id="539" r:id="rId44"/>
    <p:sldId id="466" r:id="rId45"/>
    <p:sldId id="417" r:id="rId46"/>
    <p:sldId id="386" r:id="rId47"/>
    <p:sldId id="387" r:id="rId48"/>
    <p:sldId id="535" r:id="rId49"/>
    <p:sldId id="525" r:id="rId50"/>
    <p:sldId id="493" r:id="rId51"/>
    <p:sldId id="494" r:id="rId52"/>
    <p:sldId id="526" r:id="rId53"/>
    <p:sldId id="484" r:id="rId54"/>
    <p:sldId id="537" r:id="rId55"/>
    <p:sldId id="485" r:id="rId56"/>
    <p:sldId id="486" r:id="rId57"/>
    <p:sldId id="496" r:id="rId58"/>
    <p:sldId id="520" r:id="rId59"/>
    <p:sldId id="487" r:id="rId60"/>
    <p:sldId id="501" r:id="rId61"/>
    <p:sldId id="502" r:id="rId62"/>
    <p:sldId id="504" r:id="rId63"/>
    <p:sldId id="500" r:id="rId64"/>
    <p:sldId id="536" r:id="rId65"/>
  </p:sldIdLst>
  <p:sldSz cx="9144000" cy="6858000" type="screen4x3"/>
  <p:notesSz cx="6797675" cy="9928225"/>
  <p:custDataLst>
    <p:tags r:id="rId68"/>
  </p:custData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1">
          <p15:clr>
            <a:srgbClr val="A4A3A4"/>
          </p15:clr>
        </p15:guide>
        <p15:guide id="2" orient="horz" pos="3432">
          <p15:clr>
            <a:srgbClr val="A4A3A4"/>
          </p15:clr>
        </p15:guide>
        <p15:guide id="3" pos="385">
          <p15:clr>
            <a:srgbClr val="A4A3A4"/>
          </p15:clr>
        </p15:guide>
        <p15:guide id="4" pos="5484">
          <p15:clr>
            <a:srgbClr val="A4A3A4"/>
          </p15:clr>
        </p15:guide>
        <p15:guide id="5" pos="2605">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492"/>
    <a:srgbClr val="00FF00"/>
    <a:srgbClr val="000000"/>
    <a:srgbClr val="FFFFFF"/>
    <a:srgbClr val="7B7DE1"/>
    <a:srgbClr val="BEBFF0"/>
    <a:srgbClr val="66FF33"/>
    <a:srgbClr val="D52B1E"/>
    <a:srgbClr val="D9D9D9"/>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5179" autoAdjust="0"/>
  </p:normalViewPr>
  <p:slideViewPr>
    <p:cSldViewPr snapToGrid="0">
      <p:cViewPr varScale="1">
        <p:scale>
          <a:sx n="86" d="100"/>
          <a:sy n="86" d="100"/>
        </p:scale>
        <p:origin x="1768" y="200"/>
      </p:cViewPr>
      <p:guideLst>
        <p:guide orient="horz" pos="1021"/>
        <p:guide orient="horz" pos="3432"/>
        <p:guide pos="385"/>
        <p:guide pos="5484"/>
        <p:guide pos="2605"/>
      </p:guideLst>
    </p:cSldViewPr>
  </p:slideViewPr>
  <p:notesTextViewPr>
    <p:cViewPr>
      <p:scale>
        <a:sx n="100" d="100"/>
        <a:sy n="100" d="100"/>
      </p:scale>
      <p:origin x="0" y="0"/>
    </p:cViewPr>
  </p:notesTextViewPr>
  <p:sorterViewPr>
    <p:cViewPr>
      <p:scale>
        <a:sx n="100" d="100"/>
        <a:sy n="100" d="100"/>
      </p:scale>
      <p:origin x="0" y="5838"/>
    </p:cViewPr>
  </p:sorterViewPr>
  <p:notesViewPr>
    <p:cSldViewPr snapToGrid="0">
      <p:cViewPr varScale="1">
        <p:scale>
          <a:sx n="62" d="100"/>
          <a:sy n="62" d="100"/>
        </p:scale>
        <p:origin x="-2626" y="-7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tags" Target="tags/tag1.xml"/><Relationship Id="rId69" Type="http://schemas.openxmlformats.org/officeDocument/2006/relationships/presProps" Target="presProp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1" Type="http://schemas.openxmlformats.org/officeDocument/2006/relationships/image" Target="../media/image16.emf"/><Relationship Id="rId12" Type="http://schemas.openxmlformats.org/officeDocument/2006/relationships/image" Target="../media/image17.emf"/><Relationship Id="rId13" Type="http://schemas.openxmlformats.org/officeDocument/2006/relationships/image" Target="../media/image18.emf"/><Relationship Id="rId1" Type="http://schemas.openxmlformats.org/officeDocument/2006/relationships/image" Target="../media/image6.emf"/><Relationship Id="rId2" Type="http://schemas.openxmlformats.org/officeDocument/2006/relationships/image" Target="../media/image7.emf"/><Relationship Id="rId3" Type="http://schemas.openxmlformats.org/officeDocument/2006/relationships/image" Target="../media/image8.emf"/><Relationship Id="rId4" Type="http://schemas.openxmlformats.org/officeDocument/2006/relationships/image" Target="../media/image9.emf"/><Relationship Id="rId5" Type="http://schemas.openxmlformats.org/officeDocument/2006/relationships/image" Target="../media/image10.emf"/><Relationship Id="rId6" Type="http://schemas.openxmlformats.org/officeDocument/2006/relationships/image" Target="../media/image11.emf"/><Relationship Id="rId7" Type="http://schemas.openxmlformats.org/officeDocument/2006/relationships/image" Target="../media/image12.emf"/><Relationship Id="rId8" Type="http://schemas.openxmlformats.org/officeDocument/2006/relationships/image" Target="../media/image13.emf"/><Relationship Id="rId9" Type="http://schemas.openxmlformats.org/officeDocument/2006/relationships/image" Target="../media/image14.emf"/><Relationship Id="rId10"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2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23.emf"/></Relationships>
</file>

<file path=ppt/drawings/_rels/vmlDrawing12.vml.rels><?xml version="1.0" encoding="UTF-8" standalone="yes"?>
<Relationships xmlns="http://schemas.openxmlformats.org/package/2006/relationships"><Relationship Id="rId1" Type="http://schemas.openxmlformats.org/officeDocument/2006/relationships/image" Target="NULL"/><Relationship Id="rId2" Type="http://schemas.openxmlformats.org/officeDocument/2006/relationships/image" Target="../media/image24.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2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2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28.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29.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31.emf"/><Relationship Id="rId4" Type="http://schemas.openxmlformats.org/officeDocument/2006/relationships/image" Target="../media/image32.emf"/><Relationship Id="rId1" Type="http://schemas.openxmlformats.org/officeDocument/2006/relationships/image" Target="../media/image26.emf"/><Relationship Id="rId2" Type="http://schemas.openxmlformats.org/officeDocument/2006/relationships/image" Target="../media/image30.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33.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34.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35.emf"/><Relationship Id="rId3" Type="http://schemas.openxmlformats.org/officeDocument/2006/relationships/image" Target="../media/image36.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3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39.emf"/><Relationship Id="rId3" Type="http://schemas.openxmlformats.org/officeDocument/2006/relationships/image" Target="../media/image40.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41.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42.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44.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45.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49.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50.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51.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52.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53.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image" Target="../media/image54.e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56.emf"/><Relationship Id="rId4" Type="http://schemas.openxmlformats.org/officeDocument/2006/relationships/image" Target="../media/image57.emf"/><Relationship Id="rId5" Type="http://schemas.openxmlformats.org/officeDocument/2006/relationships/image" Target="../media/image58.emf"/><Relationship Id="rId1" Type="http://schemas.openxmlformats.org/officeDocument/2006/relationships/image" Target="../media/image1.emf"/><Relationship Id="rId2" Type="http://schemas.openxmlformats.org/officeDocument/2006/relationships/image" Target="../media/image55.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59.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60.emf"/><Relationship Id="rId3" Type="http://schemas.openxmlformats.org/officeDocument/2006/relationships/image" Target="../media/image61.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62.emf"/><Relationship Id="rId3" Type="http://schemas.openxmlformats.org/officeDocument/2006/relationships/image" Target="../media/image63.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64.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66.emf"/><Relationship Id="rId4" Type="http://schemas.openxmlformats.org/officeDocument/2006/relationships/image" Target="../media/image67.emf"/><Relationship Id="rId1" Type="http://schemas.openxmlformats.org/officeDocument/2006/relationships/image" Target="../media/image1.emf"/><Relationship Id="rId2" Type="http://schemas.openxmlformats.org/officeDocument/2006/relationships/image" Target="../media/image65.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image" Target="../media/image68.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70.emf"/><Relationship Id="rId4" Type="http://schemas.openxmlformats.org/officeDocument/2006/relationships/image" Target="../media/image71.emf"/><Relationship Id="rId1" Type="http://schemas.openxmlformats.org/officeDocument/2006/relationships/image" Target="../media/image1.emf"/><Relationship Id="rId2" Type="http://schemas.openxmlformats.org/officeDocument/2006/relationships/image" Target="../media/image69.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72.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75.emf"/><Relationship Id="rId4" Type="http://schemas.openxmlformats.org/officeDocument/2006/relationships/image" Target="../media/image76.emf"/><Relationship Id="rId1" Type="http://schemas.openxmlformats.org/officeDocument/2006/relationships/image" Target="../media/image6.emf"/><Relationship Id="rId2" Type="http://schemas.openxmlformats.org/officeDocument/2006/relationships/image" Target="../media/image74.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FE404293-647C-4116-B8AE-5389ABB270F3}" type="datetimeFigureOut">
              <a:rPr lang="nl-NL" smtClean="0"/>
              <a:pPr/>
              <a:t>22-03-17</a:t>
            </a:fld>
            <a:endParaRPr lang="nl-NL"/>
          </a:p>
        </p:txBody>
      </p:sp>
      <p:sp>
        <p:nvSpPr>
          <p:cNvPr id="4" name="Tijdelijke aanduiding voor voettekst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1C0D4955-2B74-4DDC-BC97-924971AEEFFB}" type="slidenum">
              <a:rPr lang="nl-NL" smtClean="0"/>
              <a:pPr/>
              <a:t>‹#›</a:t>
            </a:fld>
            <a:endParaRPr lang="nl-NL"/>
          </a:p>
        </p:txBody>
      </p:sp>
    </p:spTree>
    <p:extLst>
      <p:ext uri="{BB962C8B-B14F-4D97-AF65-F5344CB8AC3E}">
        <p14:creationId xmlns:p14="http://schemas.microsoft.com/office/powerpoint/2010/main" val="23919304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7CAC0B33-3943-42F1-973C-9CDD51C76BBD}" type="datetimeFigureOut">
              <a:rPr lang="nl-NL" smtClean="0"/>
              <a:pPr/>
              <a:t>22-03-17</a:t>
            </a:fld>
            <a:endParaRPr lang="nl-NL" dirty="0"/>
          </a:p>
        </p:txBody>
      </p:sp>
      <p:sp>
        <p:nvSpPr>
          <p:cNvPr id="4" name="Tijdelijke aanduiding voor dia-afbeelding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6" name="Tijdelijke aanduiding voor voettekst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697381A9-0C9E-4D3A-A28B-AC4E168A57BC}" type="slidenum">
              <a:rPr lang="nl-NL" smtClean="0"/>
              <a:pPr/>
              <a:t>‹#›</a:t>
            </a:fld>
            <a:endParaRPr lang="nl-NL" dirty="0"/>
          </a:p>
        </p:txBody>
      </p:sp>
    </p:spTree>
    <p:extLst>
      <p:ext uri="{BB962C8B-B14F-4D97-AF65-F5344CB8AC3E}">
        <p14:creationId xmlns:p14="http://schemas.microsoft.com/office/powerpoint/2010/main" val="2468602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24398C8-645D-47E2-9628-8C04C856F389}" type="slidenum">
              <a:rPr lang="en-US" smtClean="0"/>
              <a:pPr/>
              <a:t>7</a:t>
            </a:fld>
            <a:endParaRPr lang="en-US"/>
          </a:p>
        </p:txBody>
      </p:sp>
    </p:spTree>
    <p:extLst>
      <p:ext uri="{BB962C8B-B14F-4D97-AF65-F5344CB8AC3E}">
        <p14:creationId xmlns:p14="http://schemas.microsoft.com/office/powerpoint/2010/main" val="3066176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Marcador de imagen de diapositiva 1"/>
          <p:cNvSpPr>
            <a:spLocks noGrp="1" noRot="1" noChangeAspect="1"/>
          </p:cNvSpPr>
          <p:nvPr>
            <p:ph type="sldImg"/>
          </p:nvPr>
        </p:nvSpPr>
        <p:spPr>
          <a:ln/>
        </p:spPr>
      </p:sp>
      <p:sp>
        <p:nvSpPr>
          <p:cNvPr id="18434"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de-DE" smtClean="0">
              <a:latin typeface="Arial" pitchFamily="34" charset="0"/>
            </a:endParaRPr>
          </a:p>
        </p:txBody>
      </p:sp>
      <p:sp>
        <p:nvSpPr>
          <p:cNvPr id="18435"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itchFamily="34" charset="0"/>
                <a:ea typeface="MS PGothic" pitchFamily="34" charset="-128"/>
              </a:defRPr>
            </a:lvl1pPr>
            <a:lvl2pPr marL="742950" indent="-285750" eaLnBrk="0" hangingPunct="0">
              <a:defRPr sz="800">
                <a:solidFill>
                  <a:schemeClr val="tx1"/>
                </a:solidFill>
                <a:latin typeface="Arial" pitchFamily="34" charset="0"/>
                <a:ea typeface="MS PGothic" pitchFamily="34" charset="-128"/>
              </a:defRPr>
            </a:lvl2pPr>
            <a:lvl3pPr marL="1143000" indent="-228600" eaLnBrk="0" hangingPunct="0">
              <a:defRPr sz="800">
                <a:solidFill>
                  <a:schemeClr val="tx1"/>
                </a:solidFill>
                <a:latin typeface="Arial" pitchFamily="34" charset="0"/>
                <a:ea typeface="MS PGothic" pitchFamily="34" charset="-128"/>
              </a:defRPr>
            </a:lvl3pPr>
            <a:lvl4pPr marL="1600200" indent="-228600" eaLnBrk="0" hangingPunct="0">
              <a:defRPr sz="800">
                <a:solidFill>
                  <a:schemeClr val="tx1"/>
                </a:solidFill>
                <a:latin typeface="Arial" pitchFamily="34" charset="0"/>
                <a:ea typeface="MS PGothic" pitchFamily="34" charset="-128"/>
              </a:defRPr>
            </a:lvl4pPr>
            <a:lvl5pPr marL="2057400" indent="-228600" eaLnBrk="0" hangingPunct="0">
              <a:defRPr sz="8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8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8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8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800">
                <a:solidFill>
                  <a:schemeClr val="tx1"/>
                </a:solidFill>
                <a:latin typeface="Arial" pitchFamily="34" charset="0"/>
                <a:ea typeface="MS PGothic" pitchFamily="34" charset="-128"/>
              </a:defRPr>
            </a:lvl9pPr>
          </a:lstStyle>
          <a:p>
            <a:fld id="{66A39DC6-3D3C-4B3D-B652-621D3815D058}" type="slidenum">
              <a:rPr lang="en-US" altLang="de-DE" sz="1200"/>
              <a:pPr/>
              <a:t>12</a:t>
            </a:fld>
            <a:endParaRPr lang="en-US" altLang="de-DE"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24398C8-645D-47E2-9628-8C04C856F389}" type="slidenum">
              <a:rPr lang="en-US" smtClean="0"/>
              <a:pPr/>
              <a:t>13</a:t>
            </a:fld>
            <a:endParaRPr lang="en-US"/>
          </a:p>
        </p:txBody>
      </p:sp>
    </p:spTree>
    <p:extLst>
      <p:ext uri="{BB962C8B-B14F-4D97-AF65-F5344CB8AC3E}">
        <p14:creationId xmlns:p14="http://schemas.microsoft.com/office/powerpoint/2010/main" val="3206564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22</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23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24398C8-645D-47E2-9628-8C04C856F389}" type="slidenum">
              <a:rPr lang="en-US" smtClean="0"/>
              <a:pPr/>
              <a:t>26</a:t>
            </a:fld>
            <a:endParaRPr lang="en-US"/>
          </a:p>
        </p:txBody>
      </p:sp>
    </p:spTree>
    <p:extLst>
      <p:ext uri="{BB962C8B-B14F-4D97-AF65-F5344CB8AC3E}">
        <p14:creationId xmlns:p14="http://schemas.microsoft.com/office/powerpoint/2010/main" val="3066176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32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34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36</a:t>
            </a:fld>
            <a:endParaRPr lang="en-US"/>
          </a:p>
        </p:txBody>
      </p:sp>
      <p:sp>
        <p:nvSpPr>
          <p:cNvPr id="5" name="Header Placeholder 4"/>
          <p:cNvSpPr>
            <a:spLocks noGrp="1"/>
          </p:cNvSpPr>
          <p:nvPr>
            <p:ph type="hdr" sz="quarter" idx="11"/>
          </p:nvPr>
        </p:nvSpPr>
        <p:spPr/>
        <p:txBody>
          <a:bodyPr/>
          <a:lstStyle/>
          <a:p>
            <a:r>
              <a:rPr lang="en-US" smtClean="0"/>
              <a:t>DRAFT – CONFIDENTIAL – NOT FOR PUBLIC DISTRIBUTION</a:t>
            </a:r>
            <a:endParaRPr lang="en-US"/>
          </a:p>
        </p:txBody>
      </p:sp>
    </p:spTree>
    <p:extLst>
      <p:ext uri="{BB962C8B-B14F-4D97-AF65-F5344CB8AC3E}">
        <p14:creationId xmlns:p14="http://schemas.microsoft.com/office/powerpoint/2010/main" val="26148219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37</a:t>
            </a:fld>
            <a:endParaRPr lang="en-US"/>
          </a:p>
        </p:txBody>
      </p:sp>
      <p:sp>
        <p:nvSpPr>
          <p:cNvPr id="5" name="Header Placeholder 4"/>
          <p:cNvSpPr>
            <a:spLocks noGrp="1"/>
          </p:cNvSpPr>
          <p:nvPr>
            <p:ph type="hdr" sz="quarter" idx="11"/>
          </p:nvPr>
        </p:nvSpPr>
        <p:spPr/>
        <p:txBody>
          <a:bodyPr/>
          <a:lstStyle/>
          <a:p>
            <a:r>
              <a:rPr lang="en-US" smtClean="0"/>
              <a:t>DRAFT – CONFIDENTIAL – NOT FOR PUBLIC DISTRIBUTION</a:t>
            </a:r>
            <a:endParaRPr lang="en-US"/>
          </a:p>
        </p:txBody>
      </p:sp>
    </p:spTree>
    <p:extLst>
      <p:ext uri="{BB962C8B-B14F-4D97-AF65-F5344CB8AC3E}">
        <p14:creationId xmlns:p14="http://schemas.microsoft.com/office/powerpoint/2010/main" val="26148219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088611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39</a:t>
            </a:fld>
            <a:endParaRPr lang="en-US"/>
          </a:p>
        </p:txBody>
      </p:sp>
      <p:sp>
        <p:nvSpPr>
          <p:cNvPr id="5" name="Header Placeholder 4"/>
          <p:cNvSpPr>
            <a:spLocks noGrp="1"/>
          </p:cNvSpPr>
          <p:nvPr>
            <p:ph type="hdr" sz="quarter" idx="11"/>
          </p:nvPr>
        </p:nvSpPr>
        <p:spPr/>
        <p:txBody>
          <a:bodyPr/>
          <a:lstStyle/>
          <a:p>
            <a:r>
              <a:rPr lang="en-US" smtClean="0"/>
              <a:t>DRAFT – CONFIDENTIAL – NOT FOR PUBLIC DISTRIBUTION</a:t>
            </a:r>
            <a:endParaRPr lang="en-US"/>
          </a:p>
        </p:txBody>
      </p:sp>
    </p:spTree>
    <p:extLst>
      <p:ext uri="{BB962C8B-B14F-4D97-AF65-F5344CB8AC3E}">
        <p14:creationId xmlns:p14="http://schemas.microsoft.com/office/powerpoint/2010/main" val="2614821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0886110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41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7381A9-0C9E-4D3A-A28B-AC4E168A57BC}" type="slidenum">
              <a:rPr lang="nl-NL" smtClean="0"/>
              <a:pPr/>
              <a:t>43</a:t>
            </a:fld>
            <a:endParaRPr lang="nl-NL" dirty="0"/>
          </a:p>
        </p:txBody>
      </p:sp>
    </p:spTree>
    <p:extLst>
      <p:ext uri="{BB962C8B-B14F-4D97-AF65-F5344CB8AC3E}">
        <p14:creationId xmlns:p14="http://schemas.microsoft.com/office/powerpoint/2010/main" val="4342807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7381A9-0C9E-4D3A-A28B-AC4E168A57BC}" type="slidenum">
              <a:rPr lang="nl-NL" smtClean="0"/>
              <a:pPr/>
              <a:t>44</a:t>
            </a:fld>
            <a:endParaRPr lang="nl-NL" dirty="0"/>
          </a:p>
        </p:txBody>
      </p:sp>
    </p:spTree>
    <p:extLst>
      <p:ext uri="{BB962C8B-B14F-4D97-AF65-F5344CB8AC3E}">
        <p14:creationId xmlns:p14="http://schemas.microsoft.com/office/powerpoint/2010/main" val="4342807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45</a:t>
            </a:fld>
            <a:endParaRPr lang="en-US"/>
          </a:p>
        </p:txBody>
      </p:sp>
      <p:sp>
        <p:nvSpPr>
          <p:cNvPr id="5" name="Header Placeholder 4"/>
          <p:cNvSpPr>
            <a:spLocks noGrp="1"/>
          </p:cNvSpPr>
          <p:nvPr>
            <p:ph type="hdr" sz="quarter" idx="11"/>
          </p:nvPr>
        </p:nvSpPr>
        <p:spPr/>
        <p:txBody>
          <a:bodyPr/>
          <a:lstStyle/>
          <a:p>
            <a:r>
              <a:rPr lang="en-US" smtClean="0"/>
              <a:t>DRAFT – CONFIDENTIAL – NOT FOR PUBLIC DISTRIBUTION</a:t>
            </a:r>
            <a:endParaRPr lang="en-US"/>
          </a:p>
        </p:txBody>
      </p:sp>
    </p:spTree>
    <p:extLst>
      <p:ext uri="{BB962C8B-B14F-4D97-AF65-F5344CB8AC3E}">
        <p14:creationId xmlns:p14="http://schemas.microsoft.com/office/powerpoint/2010/main" val="26148219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7381A9-0C9E-4D3A-A28B-AC4E168A57BC}" type="slidenum">
              <a:rPr lang="nl-NL" smtClean="0"/>
              <a:pPr/>
              <a:t>50</a:t>
            </a:fld>
            <a:endParaRPr lang="nl-NL" dirty="0"/>
          </a:p>
        </p:txBody>
      </p:sp>
    </p:spTree>
    <p:extLst>
      <p:ext uri="{BB962C8B-B14F-4D97-AF65-F5344CB8AC3E}">
        <p14:creationId xmlns:p14="http://schemas.microsoft.com/office/powerpoint/2010/main" val="31380341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7381A9-0C9E-4D3A-A28B-AC4E168A57BC}" type="slidenum">
              <a:rPr lang="nl-NL" smtClean="0"/>
              <a:pPr/>
              <a:t>51</a:t>
            </a:fld>
            <a:endParaRPr lang="nl-NL" dirty="0"/>
          </a:p>
        </p:txBody>
      </p:sp>
    </p:spTree>
    <p:extLst>
      <p:ext uri="{BB962C8B-B14F-4D97-AF65-F5344CB8AC3E}">
        <p14:creationId xmlns:p14="http://schemas.microsoft.com/office/powerpoint/2010/main" val="31380341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24398C8-645D-47E2-9628-8C04C856F389}" type="slidenum">
              <a:rPr lang="en-US" smtClean="0"/>
              <a:pPr/>
              <a:t>52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object">
    <p:spTree>
      <p:nvGrpSpPr>
        <p:cNvPr id="1" name=""/>
        <p:cNvGrpSpPr/>
        <p:nvPr/>
      </p:nvGrpSpPr>
      <p:grpSpPr>
        <a:xfrm>
          <a:off x="0" y="0"/>
          <a:ext cx="0" cy="0"/>
          <a:chOff x="0" y="0"/>
          <a:chExt cx="0" cy="0"/>
        </a:xfrm>
      </p:grpSpPr>
      <p:grpSp>
        <p:nvGrpSpPr>
          <p:cNvPr id="5" name="Group 4"/>
          <p:cNvGrpSpPr>
            <a:grpSpLocks noChangeAspect="1"/>
          </p:cNvGrpSpPr>
          <p:nvPr userDrawn="1"/>
        </p:nvGrpSpPr>
        <p:grpSpPr bwMode="auto">
          <a:xfrm>
            <a:off x="393700" y="2143125"/>
            <a:ext cx="8358188" cy="4076700"/>
            <a:chOff x="248" y="1350"/>
            <a:chExt cx="5265" cy="2568"/>
          </a:xfrm>
        </p:grpSpPr>
        <p:sp>
          <p:nvSpPr>
            <p:cNvPr id="6" name="Rectangle 5"/>
            <p:cNvSpPr>
              <a:spLocks noChangeArrowheads="1"/>
            </p:cNvSpPr>
            <p:nvPr/>
          </p:nvSpPr>
          <p:spPr bwMode="auto">
            <a:xfrm>
              <a:off x="248" y="3912"/>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8" name="Freeform 6"/>
            <p:cNvSpPr>
              <a:spLocks/>
            </p:cNvSpPr>
            <p:nvPr/>
          </p:nvSpPr>
          <p:spPr bwMode="auto">
            <a:xfrm>
              <a:off x="248" y="3912"/>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9" name="Rectangle 8"/>
            <p:cNvSpPr>
              <a:spLocks noChangeArrowheads="1"/>
            </p:cNvSpPr>
            <p:nvPr/>
          </p:nvSpPr>
          <p:spPr bwMode="auto">
            <a:xfrm>
              <a:off x="248" y="1350"/>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10" name="Freeform 9"/>
            <p:cNvSpPr>
              <a:spLocks/>
            </p:cNvSpPr>
            <p:nvPr/>
          </p:nvSpPr>
          <p:spPr bwMode="auto">
            <a:xfrm>
              <a:off x="248" y="1350"/>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grpSp>
        <p:nvGrpSpPr>
          <p:cNvPr id="11" name="logo scp klein"/>
          <p:cNvGrpSpPr>
            <a:grpSpLocks noChangeAspect="1"/>
          </p:cNvGrpSpPr>
          <p:nvPr userDrawn="1"/>
        </p:nvGrpSpPr>
        <p:grpSpPr bwMode="auto">
          <a:xfrm>
            <a:off x="8236800" y="6426000"/>
            <a:ext cx="515900" cy="216000"/>
            <a:chOff x="1615" y="2638"/>
            <a:chExt cx="289" cy="121"/>
          </a:xfrm>
        </p:grpSpPr>
        <p:sp>
          <p:nvSpPr>
            <p:cNvPr id="12" name="Freeform 13"/>
            <p:cNvSpPr>
              <a:spLocks noEditPoints="1"/>
            </p:cNvSpPr>
            <p:nvPr/>
          </p:nvSpPr>
          <p:spPr bwMode="auto">
            <a:xfrm>
              <a:off x="1664" y="2678"/>
              <a:ext cx="42" cy="81"/>
            </a:xfrm>
            <a:custGeom>
              <a:avLst/>
              <a:gdLst/>
              <a:ahLst/>
              <a:cxnLst>
                <a:cxn ang="0">
                  <a:pos x="13" y="0"/>
                </a:cxn>
                <a:cxn ang="0">
                  <a:pos x="0" y="0"/>
                </a:cxn>
                <a:cxn ang="0">
                  <a:pos x="0" y="638"/>
                </a:cxn>
                <a:cxn ang="0">
                  <a:pos x="13" y="638"/>
                </a:cxn>
                <a:cxn ang="0">
                  <a:pos x="332" y="319"/>
                </a:cxn>
                <a:cxn ang="0">
                  <a:pos x="13" y="0"/>
                </a:cxn>
                <a:cxn ang="0">
                  <a:pos x="220" y="526"/>
                </a:cxn>
                <a:cxn ang="0">
                  <a:pos x="27" y="611"/>
                </a:cxn>
                <a:cxn ang="0">
                  <a:pos x="27" y="28"/>
                </a:cxn>
                <a:cxn ang="0">
                  <a:pos x="220" y="113"/>
                </a:cxn>
                <a:cxn ang="0">
                  <a:pos x="305" y="319"/>
                </a:cxn>
                <a:cxn ang="0">
                  <a:pos x="220" y="526"/>
                </a:cxn>
              </a:cxnLst>
              <a:rect l="0" t="0" r="r" b="b"/>
              <a:pathLst>
                <a:path w="332" h="638">
                  <a:moveTo>
                    <a:pt x="13" y="0"/>
                  </a:moveTo>
                  <a:cubicBezTo>
                    <a:pt x="0" y="0"/>
                    <a:pt x="0" y="0"/>
                    <a:pt x="0" y="0"/>
                  </a:cubicBezTo>
                  <a:cubicBezTo>
                    <a:pt x="0" y="638"/>
                    <a:pt x="0" y="638"/>
                    <a:pt x="0" y="638"/>
                  </a:cubicBezTo>
                  <a:cubicBezTo>
                    <a:pt x="13" y="638"/>
                    <a:pt x="13" y="638"/>
                    <a:pt x="13" y="638"/>
                  </a:cubicBezTo>
                  <a:cubicBezTo>
                    <a:pt x="190" y="638"/>
                    <a:pt x="332" y="495"/>
                    <a:pt x="332" y="319"/>
                  </a:cubicBezTo>
                  <a:cubicBezTo>
                    <a:pt x="332" y="143"/>
                    <a:pt x="190" y="0"/>
                    <a:pt x="13" y="0"/>
                  </a:cubicBezTo>
                  <a:close/>
                  <a:moveTo>
                    <a:pt x="220" y="526"/>
                  </a:moveTo>
                  <a:cubicBezTo>
                    <a:pt x="170" y="576"/>
                    <a:pt x="102" y="607"/>
                    <a:pt x="27" y="611"/>
                  </a:cubicBezTo>
                  <a:cubicBezTo>
                    <a:pt x="27" y="28"/>
                    <a:pt x="27" y="28"/>
                    <a:pt x="27" y="28"/>
                  </a:cubicBezTo>
                  <a:cubicBezTo>
                    <a:pt x="102" y="31"/>
                    <a:pt x="170" y="63"/>
                    <a:pt x="220" y="113"/>
                  </a:cubicBezTo>
                  <a:cubicBezTo>
                    <a:pt x="273" y="166"/>
                    <a:pt x="305" y="239"/>
                    <a:pt x="305" y="319"/>
                  </a:cubicBezTo>
                  <a:cubicBezTo>
                    <a:pt x="305" y="400"/>
                    <a:pt x="273" y="473"/>
                    <a:pt x="220" y="526"/>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3" name="Freeform 14"/>
            <p:cNvSpPr>
              <a:spLocks noEditPoints="1"/>
            </p:cNvSpPr>
            <p:nvPr/>
          </p:nvSpPr>
          <p:spPr bwMode="auto">
            <a:xfrm>
              <a:off x="1615" y="2717"/>
              <a:ext cx="42" cy="42"/>
            </a:xfrm>
            <a:custGeom>
              <a:avLst/>
              <a:gdLst/>
              <a:ahLst/>
              <a:cxnLst>
                <a:cxn ang="0">
                  <a:pos x="14" y="0"/>
                </a:cxn>
                <a:cxn ang="0">
                  <a:pos x="0" y="0"/>
                </a:cxn>
                <a:cxn ang="0">
                  <a:pos x="0" y="332"/>
                </a:cxn>
                <a:cxn ang="0">
                  <a:pos x="333" y="332"/>
                </a:cxn>
                <a:cxn ang="0">
                  <a:pos x="333" y="319"/>
                </a:cxn>
                <a:cxn ang="0">
                  <a:pos x="14" y="0"/>
                </a:cxn>
                <a:cxn ang="0">
                  <a:pos x="27" y="27"/>
                </a:cxn>
                <a:cxn ang="0">
                  <a:pos x="220" y="112"/>
                </a:cxn>
                <a:cxn ang="0">
                  <a:pos x="305" y="305"/>
                </a:cxn>
                <a:cxn ang="0">
                  <a:pos x="27" y="305"/>
                </a:cxn>
                <a:cxn ang="0">
                  <a:pos x="27" y="27"/>
                </a:cxn>
              </a:cxnLst>
              <a:rect l="0" t="0" r="r" b="b"/>
              <a:pathLst>
                <a:path w="333" h="332">
                  <a:moveTo>
                    <a:pt x="14" y="0"/>
                  </a:moveTo>
                  <a:cubicBezTo>
                    <a:pt x="0" y="0"/>
                    <a:pt x="0" y="0"/>
                    <a:pt x="0" y="0"/>
                  </a:cubicBezTo>
                  <a:cubicBezTo>
                    <a:pt x="0" y="332"/>
                    <a:pt x="0" y="332"/>
                    <a:pt x="0" y="332"/>
                  </a:cubicBezTo>
                  <a:cubicBezTo>
                    <a:pt x="333" y="332"/>
                    <a:pt x="333" y="332"/>
                    <a:pt x="333" y="332"/>
                  </a:cubicBezTo>
                  <a:cubicBezTo>
                    <a:pt x="333" y="319"/>
                    <a:pt x="333" y="319"/>
                    <a:pt x="333" y="319"/>
                  </a:cubicBezTo>
                  <a:cubicBezTo>
                    <a:pt x="333" y="143"/>
                    <a:pt x="190" y="0"/>
                    <a:pt x="14" y="0"/>
                  </a:cubicBezTo>
                  <a:close/>
                  <a:moveTo>
                    <a:pt x="27" y="27"/>
                  </a:moveTo>
                  <a:cubicBezTo>
                    <a:pt x="102" y="31"/>
                    <a:pt x="170" y="62"/>
                    <a:pt x="220" y="112"/>
                  </a:cubicBezTo>
                  <a:cubicBezTo>
                    <a:pt x="270" y="162"/>
                    <a:pt x="301" y="230"/>
                    <a:pt x="305" y="305"/>
                  </a:cubicBezTo>
                  <a:cubicBezTo>
                    <a:pt x="27" y="305"/>
                    <a:pt x="27" y="305"/>
                    <a:pt x="27" y="305"/>
                  </a:cubicBezTo>
                  <a:lnTo>
                    <a:pt x="27"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4" name="Freeform 15"/>
            <p:cNvSpPr>
              <a:spLocks noEditPoints="1"/>
            </p:cNvSpPr>
            <p:nvPr/>
          </p:nvSpPr>
          <p:spPr bwMode="auto">
            <a:xfrm>
              <a:off x="1615" y="2638"/>
              <a:ext cx="42" cy="82"/>
            </a:xfrm>
            <a:custGeom>
              <a:avLst/>
              <a:gdLst/>
              <a:ahLst/>
              <a:cxnLst>
                <a:cxn ang="0">
                  <a:pos x="0" y="318"/>
                </a:cxn>
                <a:cxn ang="0">
                  <a:pos x="319" y="637"/>
                </a:cxn>
                <a:cxn ang="0">
                  <a:pos x="333" y="637"/>
                </a:cxn>
                <a:cxn ang="0">
                  <a:pos x="333" y="0"/>
                </a:cxn>
                <a:cxn ang="0">
                  <a:pos x="319" y="0"/>
                </a:cxn>
                <a:cxn ang="0">
                  <a:pos x="0" y="318"/>
                </a:cxn>
                <a:cxn ang="0">
                  <a:pos x="27" y="318"/>
                </a:cxn>
                <a:cxn ang="0">
                  <a:pos x="113" y="112"/>
                </a:cxn>
                <a:cxn ang="0">
                  <a:pos x="306" y="27"/>
                </a:cxn>
                <a:cxn ang="0">
                  <a:pos x="306" y="610"/>
                </a:cxn>
                <a:cxn ang="0">
                  <a:pos x="113" y="525"/>
                </a:cxn>
                <a:cxn ang="0">
                  <a:pos x="27" y="318"/>
                </a:cxn>
              </a:cxnLst>
              <a:rect l="0" t="0" r="r" b="b"/>
              <a:pathLst>
                <a:path w="333" h="637">
                  <a:moveTo>
                    <a:pt x="0" y="318"/>
                  </a:moveTo>
                  <a:cubicBezTo>
                    <a:pt x="0" y="495"/>
                    <a:pt x="143" y="637"/>
                    <a:pt x="319" y="637"/>
                  </a:cubicBezTo>
                  <a:cubicBezTo>
                    <a:pt x="333" y="637"/>
                    <a:pt x="333" y="637"/>
                    <a:pt x="333" y="637"/>
                  </a:cubicBezTo>
                  <a:cubicBezTo>
                    <a:pt x="333" y="0"/>
                    <a:pt x="333" y="0"/>
                    <a:pt x="333" y="0"/>
                  </a:cubicBezTo>
                  <a:cubicBezTo>
                    <a:pt x="319" y="0"/>
                    <a:pt x="319" y="0"/>
                    <a:pt x="319" y="0"/>
                  </a:cubicBezTo>
                  <a:cubicBezTo>
                    <a:pt x="143" y="0"/>
                    <a:pt x="0" y="142"/>
                    <a:pt x="0" y="318"/>
                  </a:cubicBezTo>
                  <a:close/>
                  <a:moveTo>
                    <a:pt x="27" y="318"/>
                  </a:moveTo>
                  <a:cubicBezTo>
                    <a:pt x="27" y="238"/>
                    <a:pt x="60" y="165"/>
                    <a:pt x="113" y="112"/>
                  </a:cubicBezTo>
                  <a:cubicBezTo>
                    <a:pt x="162" y="62"/>
                    <a:pt x="230" y="31"/>
                    <a:pt x="306" y="27"/>
                  </a:cubicBezTo>
                  <a:cubicBezTo>
                    <a:pt x="306" y="610"/>
                    <a:pt x="306" y="610"/>
                    <a:pt x="306" y="610"/>
                  </a:cubicBezTo>
                  <a:cubicBezTo>
                    <a:pt x="230" y="606"/>
                    <a:pt x="162" y="575"/>
                    <a:pt x="113" y="525"/>
                  </a:cubicBezTo>
                  <a:cubicBezTo>
                    <a:pt x="60" y="472"/>
                    <a:pt x="27" y="399"/>
                    <a:pt x="27" y="318"/>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5" name="Freeform 16"/>
            <p:cNvSpPr>
              <a:spLocks noEditPoints="1"/>
            </p:cNvSpPr>
            <p:nvPr/>
          </p:nvSpPr>
          <p:spPr bwMode="auto">
            <a:xfrm>
              <a:off x="1763" y="2717"/>
              <a:ext cx="43" cy="42"/>
            </a:xfrm>
            <a:custGeom>
              <a:avLst/>
              <a:gdLst/>
              <a:ahLst/>
              <a:cxnLst>
                <a:cxn ang="0">
                  <a:pos x="0" y="332"/>
                </a:cxn>
                <a:cxn ang="0">
                  <a:pos x="13" y="332"/>
                </a:cxn>
                <a:cxn ang="0">
                  <a:pos x="332" y="13"/>
                </a:cxn>
                <a:cxn ang="0">
                  <a:pos x="332" y="0"/>
                </a:cxn>
                <a:cxn ang="0">
                  <a:pos x="0" y="0"/>
                </a:cxn>
                <a:cxn ang="0">
                  <a:pos x="0" y="332"/>
                </a:cxn>
                <a:cxn ang="0">
                  <a:pos x="304" y="27"/>
                </a:cxn>
                <a:cxn ang="0">
                  <a:pos x="219" y="220"/>
                </a:cxn>
                <a:cxn ang="0">
                  <a:pos x="26" y="305"/>
                </a:cxn>
                <a:cxn ang="0">
                  <a:pos x="26" y="27"/>
                </a:cxn>
                <a:cxn ang="0">
                  <a:pos x="304" y="27"/>
                </a:cxn>
              </a:cxnLst>
              <a:rect l="0" t="0" r="r" b="b"/>
              <a:pathLst>
                <a:path w="332" h="332">
                  <a:moveTo>
                    <a:pt x="0" y="332"/>
                  </a:moveTo>
                  <a:cubicBezTo>
                    <a:pt x="13" y="332"/>
                    <a:pt x="13" y="332"/>
                    <a:pt x="13" y="332"/>
                  </a:cubicBezTo>
                  <a:cubicBezTo>
                    <a:pt x="189" y="332"/>
                    <a:pt x="332" y="189"/>
                    <a:pt x="332" y="13"/>
                  </a:cubicBezTo>
                  <a:cubicBezTo>
                    <a:pt x="332" y="0"/>
                    <a:pt x="332" y="0"/>
                    <a:pt x="332" y="0"/>
                  </a:cubicBezTo>
                  <a:cubicBezTo>
                    <a:pt x="0" y="0"/>
                    <a:pt x="0" y="0"/>
                    <a:pt x="0" y="0"/>
                  </a:cubicBezTo>
                  <a:lnTo>
                    <a:pt x="0" y="332"/>
                  </a:lnTo>
                  <a:close/>
                  <a:moveTo>
                    <a:pt x="304" y="27"/>
                  </a:moveTo>
                  <a:cubicBezTo>
                    <a:pt x="301" y="102"/>
                    <a:pt x="269" y="170"/>
                    <a:pt x="219" y="220"/>
                  </a:cubicBezTo>
                  <a:cubicBezTo>
                    <a:pt x="170" y="270"/>
                    <a:pt x="102" y="301"/>
                    <a:pt x="26" y="305"/>
                  </a:cubicBezTo>
                  <a:cubicBezTo>
                    <a:pt x="26" y="27"/>
                    <a:pt x="26" y="27"/>
                    <a:pt x="26" y="27"/>
                  </a:cubicBezTo>
                  <a:lnTo>
                    <a:pt x="304"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6" name="Freeform 17"/>
            <p:cNvSpPr>
              <a:spLocks noEditPoints="1"/>
            </p:cNvSpPr>
            <p:nvPr/>
          </p:nvSpPr>
          <p:spPr bwMode="auto">
            <a:xfrm>
              <a:off x="1664" y="2638"/>
              <a:ext cx="42" cy="43"/>
            </a:xfrm>
            <a:custGeom>
              <a:avLst/>
              <a:gdLst/>
              <a:ahLst/>
              <a:cxnLst>
                <a:cxn ang="0">
                  <a:pos x="0" y="13"/>
                </a:cxn>
                <a:cxn ang="0">
                  <a:pos x="319" y="332"/>
                </a:cxn>
                <a:cxn ang="0">
                  <a:pos x="332" y="332"/>
                </a:cxn>
                <a:cxn ang="0">
                  <a:pos x="332" y="0"/>
                </a:cxn>
                <a:cxn ang="0">
                  <a:pos x="0" y="0"/>
                </a:cxn>
                <a:cxn ang="0">
                  <a:pos x="0" y="13"/>
                </a:cxn>
                <a:cxn ang="0">
                  <a:pos x="305" y="304"/>
                </a:cxn>
                <a:cxn ang="0">
                  <a:pos x="112" y="220"/>
                </a:cxn>
                <a:cxn ang="0">
                  <a:pos x="28" y="27"/>
                </a:cxn>
                <a:cxn ang="0">
                  <a:pos x="305" y="27"/>
                </a:cxn>
                <a:cxn ang="0">
                  <a:pos x="305" y="304"/>
                </a:cxn>
              </a:cxnLst>
              <a:rect l="0" t="0" r="r" b="b"/>
              <a:pathLst>
                <a:path w="332" h="332">
                  <a:moveTo>
                    <a:pt x="0" y="13"/>
                  </a:moveTo>
                  <a:cubicBezTo>
                    <a:pt x="0" y="189"/>
                    <a:pt x="143" y="332"/>
                    <a:pt x="319" y="332"/>
                  </a:cubicBezTo>
                  <a:cubicBezTo>
                    <a:pt x="332" y="332"/>
                    <a:pt x="332" y="332"/>
                    <a:pt x="332" y="332"/>
                  </a:cubicBezTo>
                  <a:cubicBezTo>
                    <a:pt x="332" y="0"/>
                    <a:pt x="332" y="0"/>
                    <a:pt x="332" y="0"/>
                  </a:cubicBezTo>
                  <a:cubicBezTo>
                    <a:pt x="0" y="0"/>
                    <a:pt x="0" y="0"/>
                    <a:pt x="0" y="0"/>
                  </a:cubicBezTo>
                  <a:lnTo>
                    <a:pt x="0" y="13"/>
                  </a:lnTo>
                  <a:close/>
                  <a:moveTo>
                    <a:pt x="305" y="304"/>
                  </a:moveTo>
                  <a:cubicBezTo>
                    <a:pt x="230" y="301"/>
                    <a:pt x="162" y="269"/>
                    <a:pt x="112" y="220"/>
                  </a:cubicBezTo>
                  <a:cubicBezTo>
                    <a:pt x="63" y="170"/>
                    <a:pt x="31" y="102"/>
                    <a:pt x="28" y="27"/>
                  </a:cubicBezTo>
                  <a:cubicBezTo>
                    <a:pt x="305" y="27"/>
                    <a:pt x="305" y="27"/>
                    <a:pt x="305" y="27"/>
                  </a:cubicBezTo>
                  <a:lnTo>
                    <a:pt x="305" y="30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7" name="Freeform 18"/>
            <p:cNvSpPr>
              <a:spLocks noEditPoints="1"/>
            </p:cNvSpPr>
            <p:nvPr/>
          </p:nvSpPr>
          <p:spPr bwMode="auto">
            <a:xfrm>
              <a:off x="1814" y="2638"/>
              <a:ext cx="41" cy="121"/>
            </a:xfrm>
            <a:custGeom>
              <a:avLst/>
              <a:gdLst/>
              <a:ahLst/>
              <a:cxnLst>
                <a:cxn ang="0">
                  <a:pos x="0" y="120"/>
                </a:cxn>
                <a:cxn ang="0">
                  <a:pos x="0" y="121"/>
                </a:cxn>
                <a:cxn ang="0">
                  <a:pos x="41" y="121"/>
                </a:cxn>
                <a:cxn ang="0">
                  <a:pos x="41" y="0"/>
                </a:cxn>
                <a:cxn ang="0">
                  <a:pos x="0" y="0"/>
                </a:cxn>
                <a:cxn ang="0">
                  <a:pos x="0" y="120"/>
                </a:cxn>
                <a:cxn ang="0">
                  <a:pos x="37" y="4"/>
                </a:cxn>
                <a:cxn ang="0">
                  <a:pos x="37" y="118"/>
                </a:cxn>
                <a:cxn ang="0">
                  <a:pos x="4" y="118"/>
                </a:cxn>
                <a:cxn ang="0">
                  <a:pos x="4" y="4"/>
                </a:cxn>
                <a:cxn ang="0">
                  <a:pos x="37" y="4"/>
                </a:cxn>
              </a:cxnLst>
              <a:rect l="0" t="0" r="r" b="b"/>
              <a:pathLst>
                <a:path w="41" h="121">
                  <a:moveTo>
                    <a:pt x="0" y="120"/>
                  </a:moveTo>
                  <a:lnTo>
                    <a:pt x="0" y="121"/>
                  </a:lnTo>
                  <a:lnTo>
                    <a:pt x="41" y="121"/>
                  </a:lnTo>
                  <a:lnTo>
                    <a:pt x="41" y="0"/>
                  </a:lnTo>
                  <a:lnTo>
                    <a:pt x="0" y="0"/>
                  </a:lnTo>
                  <a:lnTo>
                    <a:pt x="0" y="120"/>
                  </a:lnTo>
                  <a:close/>
                  <a:moveTo>
                    <a:pt x="37" y="4"/>
                  </a:moveTo>
                  <a:lnTo>
                    <a:pt x="37" y="118"/>
                  </a:lnTo>
                  <a:lnTo>
                    <a:pt x="4" y="118"/>
                  </a:lnTo>
                  <a:lnTo>
                    <a:pt x="4" y="4"/>
                  </a:lnTo>
                  <a:lnTo>
                    <a:pt x="37" y="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8" name="Freeform 19"/>
            <p:cNvSpPr>
              <a:spLocks noEditPoints="1"/>
            </p:cNvSpPr>
            <p:nvPr/>
          </p:nvSpPr>
          <p:spPr bwMode="auto">
            <a:xfrm>
              <a:off x="1861" y="2638"/>
              <a:ext cx="43" cy="82"/>
            </a:xfrm>
            <a:custGeom>
              <a:avLst/>
              <a:gdLst/>
              <a:ahLst/>
              <a:cxnLst>
                <a:cxn ang="0">
                  <a:pos x="14" y="0"/>
                </a:cxn>
                <a:cxn ang="0">
                  <a:pos x="0" y="0"/>
                </a:cxn>
                <a:cxn ang="0">
                  <a:pos x="0" y="638"/>
                </a:cxn>
                <a:cxn ang="0">
                  <a:pos x="14" y="638"/>
                </a:cxn>
                <a:cxn ang="0">
                  <a:pos x="333" y="319"/>
                </a:cxn>
                <a:cxn ang="0">
                  <a:pos x="14" y="0"/>
                </a:cxn>
                <a:cxn ang="0">
                  <a:pos x="220" y="525"/>
                </a:cxn>
                <a:cxn ang="0">
                  <a:pos x="27" y="610"/>
                </a:cxn>
                <a:cxn ang="0">
                  <a:pos x="27" y="28"/>
                </a:cxn>
                <a:cxn ang="0">
                  <a:pos x="220" y="112"/>
                </a:cxn>
                <a:cxn ang="0">
                  <a:pos x="306" y="319"/>
                </a:cxn>
                <a:cxn ang="0">
                  <a:pos x="220" y="525"/>
                </a:cxn>
              </a:cxnLst>
              <a:rect l="0" t="0" r="r" b="b"/>
              <a:pathLst>
                <a:path w="333" h="638">
                  <a:moveTo>
                    <a:pt x="14" y="0"/>
                  </a:moveTo>
                  <a:cubicBezTo>
                    <a:pt x="0" y="0"/>
                    <a:pt x="0" y="0"/>
                    <a:pt x="0" y="0"/>
                  </a:cubicBezTo>
                  <a:cubicBezTo>
                    <a:pt x="0" y="638"/>
                    <a:pt x="0" y="638"/>
                    <a:pt x="0" y="638"/>
                  </a:cubicBezTo>
                  <a:cubicBezTo>
                    <a:pt x="14" y="638"/>
                    <a:pt x="14" y="638"/>
                    <a:pt x="14" y="638"/>
                  </a:cubicBezTo>
                  <a:cubicBezTo>
                    <a:pt x="190" y="638"/>
                    <a:pt x="333" y="495"/>
                    <a:pt x="333" y="319"/>
                  </a:cubicBezTo>
                  <a:cubicBezTo>
                    <a:pt x="333" y="143"/>
                    <a:pt x="190" y="0"/>
                    <a:pt x="14" y="0"/>
                  </a:cubicBezTo>
                  <a:close/>
                  <a:moveTo>
                    <a:pt x="220" y="525"/>
                  </a:moveTo>
                  <a:cubicBezTo>
                    <a:pt x="170" y="575"/>
                    <a:pt x="103" y="607"/>
                    <a:pt x="27" y="610"/>
                  </a:cubicBezTo>
                  <a:cubicBezTo>
                    <a:pt x="27" y="28"/>
                    <a:pt x="27" y="28"/>
                    <a:pt x="27" y="28"/>
                  </a:cubicBezTo>
                  <a:cubicBezTo>
                    <a:pt x="103" y="31"/>
                    <a:pt x="170" y="63"/>
                    <a:pt x="220" y="112"/>
                  </a:cubicBezTo>
                  <a:cubicBezTo>
                    <a:pt x="273" y="165"/>
                    <a:pt x="306" y="238"/>
                    <a:pt x="306" y="319"/>
                  </a:cubicBezTo>
                  <a:cubicBezTo>
                    <a:pt x="306" y="400"/>
                    <a:pt x="273" y="473"/>
                    <a:pt x="220" y="525"/>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9" name="Freeform 20"/>
            <p:cNvSpPr>
              <a:spLocks noEditPoints="1"/>
            </p:cNvSpPr>
            <p:nvPr/>
          </p:nvSpPr>
          <p:spPr bwMode="auto">
            <a:xfrm>
              <a:off x="1763" y="2638"/>
              <a:ext cx="43" cy="43"/>
            </a:xfrm>
            <a:custGeom>
              <a:avLst/>
              <a:gdLst/>
              <a:ahLst/>
              <a:cxnLst>
                <a:cxn ang="0">
                  <a:pos x="0" y="332"/>
                </a:cxn>
                <a:cxn ang="0">
                  <a:pos x="13" y="332"/>
                </a:cxn>
                <a:cxn ang="0">
                  <a:pos x="332" y="13"/>
                </a:cxn>
                <a:cxn ang="0">
                  <a:pos x="332" y="0"/>
                </a:cxn>
                <a:cxn ang="0">
                  <a:pos x="0" y="0"/>
                </a:cxn>
                <a:cxn ang="0">
                  <a:pos x="0" y="332"/>
                </a:cxn>
                <a:cxn ang="0">
                  <a:pos x="305" y="27"/>
                </a:cxn>
                <a:cxn ang="0">
                  <a:pos x="220" y="220"/>
                </a:cxn>
                <a:cxn ang="0">
                  <a:pos x="27" y="305"/>
                </a:cxn>
                <a:cxn ang="0">
                  <a:pos x="27" y="27"/>
                </a:cxn>
                <a:cxn ang="0">
                  <a:pos x="305" y="27"/>
                </a:cxn>
              </a:cxnLst>
              <a:rect l="0" t="0" r="r" b="b"/>
              <a:pathLst>
                <a:path w="332" h="332">
                  <a:moveTo>
                    <a:pt x="0" y="332"/>
                  </a:moveTo>
                  <a:cubicBezTo>
                    <a:pt x="13" y="332"/>
                    <a:pt x="13" y="332"/>
                    <a:pt x="13" y="332"/>
                  </a:cubicBezTo>
                  <a:cubicBezTo>
                    <a:pt x="190" y="332"/>
                    <a:pt x="332" y="189"/>
                    <a:pt x="332" y="13"/>
                  </a:cubicBezTo>
                  <a:cubicBezTo>
                    <a:pt x="332" y="0"/>
                    <a:pt x="332" y="0"/>
                    <a:pt x="332" y="0"/>
                  </a:cubicBezTo>
                  <a:cubicBezTo>
                    <a:pt x="0" y="0"/>
                    <a:pt x="0" y="0"/>
                    <a:pt x="0" y="0"/>
                  </a:cubicBezTo>
                  <a:lnTo>
                    <a:pt x="0" y="332"/>
                  </a:lnTo>
                  <a:close/>
                  <a:moveTo>
                    <a:pt x="305" y="27"/>
                  </a:moveTo>
                  <a:cubicBezTo>
                    <a:pt x="301" y="102"/>
                    <a:pt x="270" y="170"/>
                    <a:pt x="220" y="220"/>
                  </a:cubicBezTo>
                  <a:cubicBezTo>
                    <a:pt x="170" y="270"/>
                    <a:pt x="102" y="301"/>
                    <a:pt x="27" y="305"/>
                  </a:cubicBezTo>
                  <a:cubicBezTo>
                    <a:pt x="27" y="27"/>
                    <a:pt x="27" y="27"/>
                    <a:pt x="27" y="27"/>
                  </a:cubicBezTo>
                  <a:lnTo>
                    <a:pt x="305"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20" name="Freeform 21"/>
            <p:cNvSpPr>
              <a:spLocks noEditPoints="1"/>
            </p:cNvSpPr>
            <p:nvPr/>
          </p:nvSpPr>
          <p:spPr bwMode="auto">
            <a:xfrm>
              <a:off x="1714" y="2638"/>
              <a:ext cx="43" cy="121"/>
            </a:xfrm>
            <a:custGeom>
              <a:avLst/>
              <a:gdLst/>
              <a:ahLst/>
              <a:cxnLst>
                <a:cxn ang="0">
                  <a:pos x="0" y="319"/>
                </a:cxn>
                <a:cxn ang="0">
                  <a:pos x="0" y="624"/>
                </a:cxn>
                <a:cxn ang="0">
                  <a:pos x="319" y="943"/>
                </a:cxn>
                <a:cxn ang="0">
                  <a:pos x="332" y="943"/>
                </a:cxn>
                <a:cxn ang="0">
                  <a:pos x="332" y="624"/>
                </a:cxn>
                <a:cxn ang="0">
                  <a:pos x="332" y="319"/>
                </a:cxn>
                <a:cxn ang="0">
                  <a:pos x="332" y="0"/>
                </a:cxn>
                <a:cxn ang="0">
                  <a:pos x="319" y="0"/>
                </a:cxn>
                <a:cxn ang="0">
                  <a:pos x="0" y="319"/>
                </a:cxn>
                <a:cxn ang="0">
                  <a:pos x="27" y="624"/>
                </a:cxn>
                <a:cxn ang="0">
                  <a:pos x="27" y="319"/>
                </a:cxn>
                <a:cxn ang="0">
                  <a:pos x="112" y="112"/>
                </a:cxn>
                <a:cxn ang="0">
                  <a:pos x="305" y="27"/>
                </a:cxn>
                <a:cxn ang="0">
                  <a:pos x="305" y="319"/>
                </a:cxn>
                <a:cxn ang="0">
                  <a:pos x="305" y="624"/>
                </a:cxn>
                <a:cxn ang="0">
                  <a:pos x="305" y="916"/>
                </a:cxn>
                <a:cxn ang="0">
                  <a:pos x="112" y="831"/>
                </a:cxn>
                <a:cxn ang="0">
                  <a:pos x="27" y="624"/>
                </a:cxn>
              </a:cxnLst>
              <a:rect l="0" t="0" r="r" b="b"/>
              <a:pathLst>
                <a:path w="332" h="943">
                  <a:moveTo>
                    <a:pt x="0" y="319"/>
                  </a:moveTo>
                  <a:cubicBezTo>
                    <a:pt x="0" y="624"/>
                    <a:pt x="0" y="624"/>
                    <a:pt x="0" y="624"/>
                  </a:cubicBezTo>
                  <a:cubicBezTo>
                    <a:pt x="0" y="800"/>
                    <a:pt x="142" y="943"/>
                    <a:pt x="319" y="943"/>
                  </a:cubicBezTo>
                  <a:cubicBezTo>
                    <a:pt x="332" y="943"/>
                    <a:pt x="332" y="943"/>
                    <a:pt x="332" y="943"/>
                  </a:cubicBezTo>
                  <a:cubicBezTo>
                    <a:pt x="332" y="624"/>
                    <a:pt x="332" y="624"/>
                    <a:pt x="332" y="624"/>
                  </a:cubicBezTo>
                  <a:cubicBezTo>
                    <a:pt x="332" y="319"/>
                    <a:pt x="332" y="319"/>
                    <a:pt x="332" y="319"/>
                  </a:cubicBezTo>
                  <a:cubicBezTo>
                    <a:pt x="332" y="0"/>
                    <a:pt x="332" y="0"/>
                    <a:pt x="332" y="0"/>
                  </a:cubicBezTo>
                  <a:cubicBezTo>
                    <a:pt x="319" y="0"/>
                    <a:pt x="319" y="0"/>
                    <a:pt x="319" y="0"/>
                  </a:cubicBezTo>
                  <a:cubicBezTo>
                    <a:pt x="142" y="0"/>
                    <a:pt x="0" y="143"/>
                    <a:pt x="0" y="319"/>
                  </a:cubicBezTo>
                  <a:close/>
                  <a:moveTo>
                    <a:pt x="27" y="624"/>
                  </a:moveTo>
                  <a:cubicBezTo>
                    <a:pt x="27" y="319"/>
                    <a:pt x="27" y="319"/>
                    <a:pt x="27" y="319"/>
                  </a:cubicBezTo>
                  <a:cubicBezTo>
                    <a:pt x="27" y="238"/>
                    <a:pt x="59" y="165"/>
                    <a:pt x="112" y="112"/>
                  </a:cubicBezTo>
                  <a:cubicBezTo>
                    <a:pt x="162" y="62"/>
                    <a:pt x="230" y="31"/>
                    <a:pt x="305" y="27"/>
                  </a:cubicBezTo>
                  <a:cubicBezTo>
                    <a:pt x="305" y="319"/>
                    <a:pt x="305" y="319"/>
                    <a:pt x="305" y="319"/>
                  </a:cubicBezTo>
                  <a:cubicBezTo>
                    <a:pt x="305" y="624"/>
                    <a:pt x="305" y="624"/>
                    <a:pt x="305" y="624"/>
                  </a:cubicBezTo>
                  <a:cubicBezTo>
                    <a:pt x="305" y="916"/>
                    <a:pt x="305" y="916"/>
                    <a:pt x="305" y="916"/>
                  </a:cubicBezTo>
                  <a:cubicBezTo>
                    <a:pt x="230" y="912"/>
                    <a:pt x="162" y="881"/>
                    <a:pt x="112" y="831"/>
                  </a:cubicBezTo>
                  <a:cubicBezTo>
                    <a:pt x="59" y="778"/>
                    <a:pt x="27" y="705"/>
                    <a:pt x="27" y="62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sp>
        <p:nvSpPr>
          <p:cNvPr id="2" name="Titel 1"/>
          <p:cNvSpPr>
            <a:spLocks noGrp="1"/>
          </p:cNvSpPr>
          <p:nvPr>
            <p:ph type="title" hasCustomPrompt="1"/>
          </p:nvPr>
        </p:nvSpPr>
        <p:spPr/>
        <p:txBody>
          <a:bodyPr/>
          <a:lstStyle>
            <a:lvl1pPr>
              <a:defRPr/>
            </a:lvl1pPr>
          </a:lstStyle>
          <a:p>
            <a:r>
              <a:rPr lang="en-US" noProof="1" smtClean="0"/>
              <a:t>Title</a:t>
            </a:r>
            <a:endParaRPr lang="en-US" noProof="1"/>
          </a:p>
        </p:txBody>
      </p:sp>
      <p:sp>
        <p:nvSpPr>
          <p:cNvPr id="3" name="Tijdelijke aanduiding voor inhoud 2"/>
          <p:cNvSpPr>
            <a:spLocks noGrp="1"/>
          </p:cNvSpPr>
          <p:nvPr>
            <p:ph idx="1"/>
          </p:nvPr>
        </p:nvSpPr>
        <p:spPr/>
        <p:txBody>
          <a:body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7" name="Tijdelijke aanduiding voor dianummer 6"/>
          <p:cNvSpPr>
            <a:spLocks noGrp="1"/>
          </p:cNvSpPr>
          <p:nvPr>
            <p:ph type="sldNum" sz="quarter" idx="10"/>
          </p:nvPr>
        </p:nvSpPr>
        <p:spPr/>
        <p:txBody>
          <a:bodyPr/>
          <a:lstStyle>
            <a:lvl1pPr>
              <a:defRPr>
                <a:solidFill>
                  <a:schemeClr val="tx1"/>
                </a:solidFill>
              </a:defRPr>
            </a:lvl1pPr>
          </a:lstStyle>
          <a:p>
            <a:fld id="{1336C48C-F87C-4E4B-81EF-5027B17D1F61}" type="slidenum">
              <a:rPr lang="en-US" noProof="1" smtClean="0"/>
              <a:pPr/>
              <a:t>‹#›</a:t>
            </a:fld>
            <a:endParaRPr lang="en-US"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columns">
    <p:spTree>
      <p:nvGrpSpPr>
        <p:cNvPr id="1" name=""/>
        <p:cNvGrpSpPr/>
        <p:nvPr/>
      </p:nvGrpSpPr>
      <p:grpSpPr>
        <a:xfrm>
          <a:off x="0" y="0"/>
          <a:ext cx="0" cy="0"/>
          <a:chOff x="0" y="0"/>
          <a:chExt cx="0" cy="0"/>
        </a:xfrm>
      </p:grpSpPr>
      <p:grpSp>
        <p:nvGrpSpPr>
          <p:cNvPr id="7" name="Group 4"/>
          <p:cNvGrpSpPr>
            <a:grpSpLocks noChangeAspect="1"/>
          </p:cNvGrpSpPr>
          <p:nvPr userDrawn="1"/>
        </p:nvGrpSpPr>
        <p:grpSpPr bwMode="auto">
          <a:xfrm>
            <a:off x="393700" y="2143125"/>
            <a:ext cx="8358188" cy="4076700"/>
            <a:chOff x="248" y="1350"/>
            <a:chExt cx="5265" cy="2568"/>
          </a:xfrm>
        </p:grpSpPr>
        <p:sp>
          <p:nvSpPr>
            <p:cNvPr id="10" name="Rectangle 5"/>
            <p:cNvSpPr>
              <a:spLocks noChangeArrowheads="1"/>
            </p:cNvSpPr>
            <p:nvPr/>
          </p:nvSpPr>
          <p:spPr bwMode="auto">
            <a:xfrm>
              <a:off x="248" y="3912"/>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12" name="Freeform 6"/>
            <p:cNvSpPr>
              <a:spLocks/>
            </p:cNvSpPr>
            <p:nvPr/>
          </p:nvSpPr>
          <p:spPr bwMode="auto">
            <a:xfrm>
              <a:off x="248" y="3912"/>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3" name="Rectangle 8"/>
            <p:cNvSpPr>
              <a:spLocks noChangeArrowheads="1"/>
            </p:cNvSpPr>
            <p:nvPr/>
          </p:nvSpPr>
          <p:spPr bwMode="auto">
            <a:xfrm>
              <a:off x="248" y="1350"/>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14" name="Freeform 9"/>
            <p:cNvSpPr>
              <a:spLocks/>
            </p:cNvSpPr>
            <p:nvPr/>
          </p:nvSpPr>
          <p:spPr bwMode="auto">
            <a:xfrm>
              <a:off x="248" y="1350"/>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grpSp>
        <p:nvGrpSpPr>
          <p:cNvPr id="15" name="logo scp klein"/>
          <p:cNvGrpSpPr>
            <a:grpSpLocks noChangeAspect="1"/>
          </p:cNvGrpSpPr>
          <p:nvPr userDrawn="1"/>
        </p:nvGrpSpPr>
        <p:grpSpPr bwMode="auto">
          <a:xfrm>
            <a:off x="8236800" y="6426000"/>
            <a:ext cx="515900" cy="216000"/>
            <a:chOff x="1615" y="2638"/>
            <a:chExt cx="289" cy="121"/>
          </a:xfrm>
        </p:grpSpPr>
        <p:sp>
          <p:nvSpPr>
            <p:cNvPr id="16" name="Freeform 13"/>
            <p:cNvSpPr>
              <a:spLocks noEditPoints="1"/>
            </p:cNvSpPr>
            <p:nvPr/>
          </p:nvSpPr>
          <p:spPr bwMode="auto">
            <a:xfrm>
              <a:off x="1664" y="2678"/>
              <a:ext cx="42" cy="81"/>
            </a:xfrm>
            <a:custGeom>
              <a:avLst/>
              <a:gdLst/>
              <a:ahLst/>
              <a:cxnLst>
                <a:cxn ang="0">
                  <a:pos x="13" y="0"/>
                </a:cxn>
                <a:cxn ang="0">
                  <a:pos x="0" y="0"/>
                </a:cxn>
                <a:cxn ang="0">
                  <a:pos x="0" y="638"/>
                </a:cxn>
                <a:cxn ang="0">
                  <a:pos x="13" y="638"/>
                </a:cxn>
                <a:cxn ang="0">
                  <a:pos x="332" y="319"/>
                </a:cxn>
                <a:cxn ang="0">
                  <a:pos x="13" y="0"/>
                </a:cxn>
                <a:cxn ang="0">
                  <a:pos x="220" y="526"/>
                </a:cxn>
                <a:cxn ang="0">
                  <a:pos x="27" y="611"/>
                </a:cxn>
                <a:cxn ang="0">
                  <a:pos x="27" y="28"/>
                </a:cxn>
                <a:cxn ang="0">
                  <a:pos x="220" y="113"/>
                </a:cxn>
                <a:cxn ang="0">
                  <a:pos x="305" y="319"/>
                </a:cxn>
                <a:cxn ang="0">
                  <a:pos x="220" y="526"/>
                </a:cxn>
              </a:cxnLst>
              <a:rect l="0" t="0" r="r" b="b"/>
              <a:pathLst>
                <a:path w="332" h="638">
                  <a:moveTo>
                    <a:pt x="13" y="0"/>
                  </a:moveTo>
                  <a:cubicBezTo>
                    <a:pt x="0" y="0"/>
                    <a:pt x="0" y="0"/>
                    <a:pt x="0" y="0"/>
                  </a:cubicBezTo>
                  <a:cubicBezTo>
                    <a:pt x="0" y="638"/>
                    <a:pt x="0" y="638"/>
                    <a:pt x="0" y="638"/>
                  </a:cubicBezTo>
                  <a:cubicBezTo>
                    <a:pt x="13" y="638"/>
                    <a:pt x="13" y="638"/>
                    <a:pt x="13" y="638"/>
                  </a:cubicBezTo>
                  <a:cubicBezTo>
                    <a:pt x="190" y="638"/>
                    <a:pt x="332" y="495"/>
                    <a:pt x="332" y="319"/>
                  </a:cubicBezTo>
                  <a:cubicBezTo>
                    <a:pt x="332" y="143"/>
                    <a:pt x="190" y="0"/>
                    <a:pt x="13" y="0"/>
                  </a:cubicBezTo>
                  <a:close/>
                  <a:moveTo>
                    <a:pt x="220" y="526"/>
                  </a:moveTo>
                  <a:cubicBezTo>
                    <a:pt x="170" y="576"/>
                    <a:pt x="102" y="607"/>
                    <a:pt x="27" y="611"/>
                  </a:cubicBezTo>
                  <a:cubicBezTo>
                    <a:pt x="27" y="28"/>
                    <a:pt x="27" y="28"/>
                    <a:pt x="27" y="28"/>
                  </a:cubicBezTo>
                  <a:cubicBezTo>
                    <a:pt x="102" y="31"/>
                    <a:pt x="170" y="63"/>
                    <a:pt x="220" y="113"/>
                  </a:cubicBezTo>
                  <a:cubicBezTo>
                    <a:pt x="273" y="166"/>
                    <a:pt x="305" y="239"/>
                    <a:pt x="305" y="319"/>
                  </a:cubicBezTo>
                  <a:cubicBezTo>
                    <a:pt x="305" y="400"/>
                    <a:pt x="273" y="473"/>
                    <a:pt x="220" y="526"/>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7" name="Freeform 14"/>
            <p:cNvSpPr>
              <a:spLocks noEditPoints="1"/>
            </p:cNvSpPr>
            <p:nvPr/>
          </p:nvSpPr>
          <p:spPr bwMode="auto">
            <a:xfrm>
              <a:off x="1615" y="2717"/>
              <a:ext cx="42" cy="42"/>
            </a:xfrm>
            <a:custGeom>
              <a:avLst/>
              <a:gdLst/>
              <a:ahLst/>
              <a:cxnLst>
                <a:cxn ang="0">
                  <a:pos x="14" y="0"/>
                </a:cxn>
                <a:cxn ang="0">
                  <a:pos x="0" y="0"/>
                </a:cxn>
                <a:cxn ang="0">
                  <a:pos x="0" y="332"/>
                </a:cxn>
                <a:cxn ang="0">
                  <a:pos x="333" y="332"/>
                </a:cxn>
                <a:cxn ang="0">
                  <a:pos x="333" y="319"/>
                </a:cxn>
                <a:cxn ang="0">
                  <a:pos x="14" y="0"/>
                </a:cxn>
                <a:cxn ang="0">
                  <a:pos x="27" y="27"/>
                </a:cxn>
                <a:cxn ang="0">
                  <a:pos x="220" y="112"/>
                </a:cxn>
                <a:cxn ang="0">
                  <a:pos x="305" y="305"/>
                </a:cxn>
                <a:cxn ang="0">
                  <a:pos x="27" y="305"/>
                </a:cxn>
                <a:cxn ang="0">
                  <a:pos x="27" y="27"/>
                </a:cxn>
              </a:cxnLst>
              <a:rect l="0" t="0" r="r" b="b"/>
              <a:pathLst>
                <a:path w="333" h="332">
                  <a:moveTo>
                    <a:pt x="14" y="0"/>
                  </a:moveTo>
                  <a:cubicBezTo>
                    <a:pt x="0" y="0"/>
                    <a:pt x="0" y="0"/>
                    <a:pt x="0" y="0"/>
                  </a:cubicBezTo>
                  <a:cubicBezTo>
                    <a:pt x="0" y="332"/>
                    <a:pt x="0" y="332"/>
                    <a:pt x="0" y="332"/>
                  </a:cubicBezTo>
                  <a:cubicBezTo>
                    <a:pt x="333" y="332"/>
                    <a:pt x="333" y="332"/>
                    <a:pt x="333" y="332"/>
                  </a:cubicBezTo>
                  <a:cubicBezTo>
                    <a:pt x="333" y="319"/>
                    <a:pt x="333" y="319"/>
                    <a:pt x="333" y="319"/>
                  </a:cubicBezTo>
                  <a:cubicBezTo>
                    <a:pt x="333" y="143"/>
                    <a:pt x="190" y="0"/>
                    <a:pt x="14" y="0"/>
                  </a:cubicBezTo>
                  <a:close/>
                  <a:moveTo>
                    <a:pt x="27" y="27"/>
                  </a:moveTo>
                  <a:cubicBezTo>
                    <a:pt x="102" y="31"/>
                    <a:pt x="170" y="62"/>
                    <a:pt x="220" y="112"/>
                  </a:cubicBezTo>
                  <a:cubicBezTo>
                    <a:pt x="270" y="162"/>
                    <a:pt x="301" y="230"/>
                    <a:pt x="305" y="305"/>
                  </a:cubicBezTo>
                  <a:cubicBezTo>
                    <a:pt x="27" y="305"/>
                    <a:pt x="27" y="305"/>
                    <a:pt x="27" y="305"/>
                  </a:cubicBezTo>
                  <a:lnTo>
                    <a:pt x="27"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8" name="Freeform 15"/>
            <p:cNvSpPr>
              <a:spLocks noEditPoints="1"/>
            </p:cNvSpPr>
            <p:nvPr/>
          </p:nvSpPr>
          <p:spPr bwMode="auto">
            <a:xfrm>
              <a:off x="1615" y="2638"/>
              <a:ext cx="42" cy="82"/>
            </a:xfrm>
            <a:custGeom>
              <a:avLst/>
              <a:gdLst/>
              <a:ahLst/>
              <a:cxnLst>
                <a:cxn ang="0">
                  <a:pos x="0" y="318"/>
                </a:cxn>
                <a:cxn ang="0">
                  <a:pos x="319" y="637"/>
                </a:cxn>
                <a:cxn ang="0">
                  <a:pos x="333" y="637"/>
                </a:cxn>
                <a:cxn ang="0">
                  <a:pos x="333" y="0"/>
                </a:cxn>
                <a:cxn ang="0">
                  <a:pos x="319" y="0"/>
                </a:cxn>
                <a:cxn ang="0">
                  <a:pos x="0" y="318"/>
                </a:cxn>
                <a:cxn ang="0">
                  <a:pos x="27" y="318"/>
                </a:cxn>
                <a:cxn ang="0">
                  <a:pos x="113" y="112"/>
                </a:cxn>
                <a:cxn ang="0">
                  <a:pos x="306" y="27"/>
                </a:cxn>
                <a:cxn ang="0">
                  <a:pos x="306" y="610"/>
                </a:cxn>
                <a:cxn ang="0">
                  <a:pos x="113" y="525"/>
                </a:cxn>
                <a:cxn ang="0">
                  <a:pos x="27" y="318"/>
                </a:cxn>
              </a:cxnLst>
              <a:rect l="0" t="0" r="r" b="b"/>
              <a:pathLst>
                <a:path w="333" h="637">
                  <a:moveTo>
                    <a:pt x="0" y="318"/>
                  </a:moveTo>
                  <a:cubicBezTo>
                    <a:pt x="0" y="495"/>
                    <a:pt x="143" y="637"/>
                    <a:pt x="319" y="637"/>
                  </a:cubicBezTo>
                  <a:cubicBezTo>
                    <a:pt x="333" y="637"/>
                    <a:pt x="333" y="637"/>
                    <a:pt x="333" y="637"/>
                  </a:cubicBezTo>
                  <a:cubicBezTo>
                    <a:pt x="333" y="0"/>
                    <a:pt x="333" y="0"/>
                    <a:pt x="333" y="0"/>
                  </a:cubicBezTo>
                  <a:cubicBezTo>
                    <a:pt x="319" y="0"/>
                    <a:pt x="319" y="0"/>
                    <a:pt x="319" y="0"/>
                  </a:cubicBezTo>
                  <a:cubicBezTo>
                    <a:pt x="143" y="0"/>
                    <a:pt x="0" y="142"/>
                    <a:pt x="0" y="318"/>
                  </a:cubicBezTo>
                  <a:close/>
                  <a:moveTo>
                    <a:pt x="27" y="318"/>
                  </a:moveTo>
                  <a:cubicBezTo>
                    <a:pt x="27" y="238"/>
                    <a:pt x="60" y="165"/>
                    <a:pt x="113" y="112"/>
                  </a:cubicBezTo>
                  <a:cubicBezTo>
                    <a:pt x="162" y="62"/>
                    <a:pt x="230" y="31"/>
                    <a:pt x="306" y="27"/>
                  </a:cubicBezTo>
                  <a:cubicBezTo>
                    <a:pt x="306" y="610"/>
                    <a:pt x="306" y="610"/>
                    <a:pt x="306" y="610"/>
                  </a:cubicBezTo>
                  <a:cubicBezTo>
                    <a:pt x="230" y="606"/>
                    <a:pt x="162" y="575"/>
                    <a:pt x="113" y="525"/>
                  </a:cubicBezTo>
                  <a:cubicBezTo>
                    <a:pt x="60" y="472"/>
                    <a:pt x="27" y="399"/>
                    <a:pt x="27" y="318"/>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9" name="Freeform 16"/>
            <p:cNvSpPr>
              <a:spLocks noEditPoints="1"/>
            </p:cNvSpPr>
            <p:nvPr/>
          </p:nvSpPr>
          <p:spPr bwMode="auto">
            <a:xfrm>
              <a:off x="1763" y="2717"/>
              <a:ext cx="43" cy="42"/>
            </a:xfrm>
            <a:custGeom>
              <a:avLst/>
              <a:gdLst/>
              <a:ahLst/>
              <a:cxnLst>
                <a:cxn ang="0">
                  <a:pos x="0" y="332"/>
                </a:cxn>
                <a:cxn ang="0">
                  <a:pos x="13" y="332"/>
                </a:cxn>
                <a:cxn ang="0">
                  <a:pos x="332" y="13"/>
                </a:cxn>
                <a:cxn ang="0">
                  <a:pos x="332" y="0"/>
                </a:cxn>
                <a:cxn ang="0">
                  <a:pos x="0" y="0"/>
                </a:cxn>
                <a:cxn ang="0">
                  <a:pos x="0" y="332"/>
                </a:cxn>
                <a:cxn ang="0">
                  <a:pos x="304" y="27"/>
                </a:cxn>
                <a:cxn ang="0">
                  <a:pos x="219" y="220"/>
                </a:cxn>
                <a:cxn ang="0">
                  <a:pos x="26" y="305"/>
                </a:cxn>
                <a:cxn ang="0">
                  <a:pos x="26" y="27"/>
                </a:cxn>
                <a:cxn ang="0">
                  <a:pos x="304" y="27"/>
                </a:cxn>
              </a:cxnLst>
              <a:rect l="0" t="0" r="r" b="b"/>
              <a:pathLst>
                <a:path w="332" h="332">
                  <a:moveTo>
                    <a:pt x="0" y="332"/>
                  </a:moveTo>
                  <a:cubicBezTo>
                    <a:pt x="13" y="332"/>
                    <a:pt x="13" y="332"/>
                    <a:pt x="13" y="332"/>
                  </a:cubicBezTo>
                  <a:cubicBezTo>
                    <a:pt x="189" y="332"/>
                    <a:pt x="332" y="189"/>
                    <a:pt x="332" y="13"/>
                  </a:cubicBezTo>
                  <a:cubicBezTo>
                    <a:pt x="332" y="0"/>
                    <a:pt x="332" y="0"/>
                    <a:pt x="332" y="0"/>
                  </a:cubicBezTo>
                  <a:cubicBezTo>
                    <a:pt x="0" y="0"/>
                    <a:pt x="0" y="0"/>
                    <a:pt x="0" y="0"/>
                  </a:cubicBezTo>
                  <a:lnTo>
                    <a:pt x="0" y="332"/>
                  </a:lnTo>
                  <a:close/>
                  <a:moveTo>
                    <a:pt x="304" y="27"/>
                  </a:moveTo>
                  <a:cubicBezTo>
                    <a:pt x="301" y="102"/>
                    <a:pt x="269" y="170"/>
                    <a:pt x="219" y="220"/>
                  </a:cubicBezTo>
                  <a:cubicBezTo>
                    <a:pt x="170" y="270"/>
                    <a:pt x="102" y="301"/>
                    <a:pt x="26" y="305"/>
                  </a:cubicBezTo>
                  <a:cubicBezTo>
                    <a:pt x="26" y="27"/>
                    <a:pt x="26" y="27"/>
                    <a:pt x="26" y="27"/>
                  </a:cubicBezTo>
                  <a:lnTo>
                    <a:pt x="304"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20" name="Freeform 17"/>
            <p:cNvSpPr>
              <a:spLocks noEditPoints="1"/>
            </p:cNvSpPr>
            <p:nvPr/>
          </p:nvSpPr>
          <p:spPr bwMode="auto">
            <a:xfrm>
              <a:off x="1664" y="2638"/>
              <a:ext cx="42" cy="43"/>
            </a:xfrm>
            <a:custGeom>
              <a:avLst/>
              <a:gdLst/>
              <a:ahLst/>
              <a:cxnLst>
                <a:cxn ang="0">
                  <a:pos x="0" y="13"/>
                </a:cxn>
                <a:cxn ang="0">
                  <a:pos x="319" y="332"/>
                </a:cxn>
                <a:cxn ang="0">
                  <a:pos x="332" y="332"/>
                </a:cxn>
                <a:cxn ang="0">
                  <a:pos x="332" y="0"/>
                </a:cxn>
                <a:cxn ang="0">
                  <a:pos x="0" y="0"/>
                </a:cxn>
                <a:cxn ang="0">
                  <a:pos x="0" y="13"/>
                </a:cxn>
                <a:cxn ang="0">
                  <a:pos x="305" y="304"/>
                </a:cxn>
                <a:cxn ang="0">
                  <a:pos x="112" y="220"/>
                </a:cxn>
                <a:cxn ang="0">
                  <a:pos x="28" y="27"/>
                </a:cxn>
                <a:cxn ang="0">
                  <a:pos x="305" y="27"/>
                </a:cxn>
                <a:cxn ang="0">
                  <a:pos x="305" y="304"/>
                </a:cxn>
              </a:cxnLst>
              <a:rect l="0" t="0" r="r" b="b"/>
              <a:pathLst>
                <a:path w="332" h="332">
                  <a:moveTo>
                    <a:pt x="0" y="13"/>
                  </a:moveTo>
                  <a:cubicBezTo>
                    <a:pt x="0" y="189"/>
                    <a:pt x="143" y="332"/>
                    <a:pt x="319" y="332"/>
                  </a:cubicBezTo>
                  <a:cubicBezTo>
                    <a:pt x="332" y="332"/>
                    <a:pt x="332" y="332"/>
                    <a:pt x="332" y="332"/>
                  </a:cubicBezTo>
                  <a:cubicBezTo>
                    <a:pt x="332" y="0"/>
                    <a:pt x="332" y="0"/>
                    <a:pt x="332" y="0"/>
                  </a:cubicBezTo>
                  <a:cubicBezTo>
                    <a:pt x="0" y="0"/>
                    <a:pt x="0" y="0"/>
                    <a:pt x="0" y="0"/>
                  </a:cubicBezTo>
                  <a:lnTo>
                    <a:pt x="0" y="13"/>
                  </a:lnTo>
                  <a:close/>
                  <a:moveTo>
                    <a:pt x="305" y="304"/>
                  </a:moveTo>
                  <a:cubicBezTo>
                    <a:pt x="230" y="301"/>
                    <a:pt x="162" y="269"/>
                    <a:pt x="112" y="220"/>
                  </a:cubicBezTo>
                  <a:cubicBezTo>
                    <a:pt x="63" y="170"/>
                    <a:pt x="31" y="102"/>
                    <a:pt x="28" y="27"/>
                  </a:cubicBezTo>
                  <a:cubicBezTo>
                    <a:pt x="305" y="27"/>
                    <a:pt x="305" y="27"/>
                    <a:pt x="305" y="27"/>
                  </a:cubicBezTo>
                  <a:lnTo>
                    <a:pt x="305" y="30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21" name="Freeform 18"/>
            <p:cNvSpPr>
              <a:spLocks noEditPoints="1"/>
            </p:cNvSpPr>
            <p:nvPr/>
          </p:nvSpPr>
          <p:spPr bwMode="auto">
            <a:xfrm>
              <a:off x="1814" y="2638"/>
              <a:ext cx="41" cy="121"/>
            </a:xfrm>
            <a:custGeom>
              <a:avLst/>
              <a:gdLst/>
              <a:ahLst/>
              <a:cxnLst>
                <a:cxn ang="0">
                  <a:pos x="0" y="120"/>
                </a:cxn>
                <a:cxn ang="0">
                  <a:pos x="0" y="121"/>
                </a:cxn>
                <a:cxn ang="0">
                  <a:pos x="41" y="121"/>
                </a:cxn>
                <a:cxn ang="0">
                  <a:pos x="41" y="0"/>
                </a:cxn>
                <a:cxn ang="0">
                  <a:pos x="0" y="0"/>
                </a:cxn>
                <a:cxn ang="0">
                  <a:pos x="0" y="120"/>
                </a:cxn>
                <a:cxn ang="0">
                  <a:pos x="37" y="4"/>
                </a:cxn>
                <a:cxn ang="0">
                  <a:pos x="37" y="118"/>
                </a:cxn>
                <a:cxn ang="0">
                  <a:pos x="4" y="118"/>
                </a:cxn>
                <a:cxn ang="0">
                  <a:pos x="4" y="4"/>
                </a:cxn>
                <a:cxn ang="0">
                  <a:pos x="37" y="4"/>
                </a:cxn>
              </a:cxnLst>
              <a:rect l="0" t="0" r="r" b="b"/>
              <a:pathLst>
                <a:path w="41" h="121">
                  <a:moveTo>
                    <a:pt x="0" y="120"/>
                  </a:moveTo>
                  <a:lnTo>
                    <a:pt x="0" y="121"/>
                  </a:lnTo>
                  <a:lnTo>
                    <a:pt x="41" y="121"/>
                  </a:lnTo>
                  <a:lnTo>
                    <a:pt x="41" y="0"/>
                  </a:lnTo>
                  <a:lnTo>
                    <a:pt x="0" y="0"/>
                  </a:lnTo>
                  <a:lnTo>
                    <a:pt x="0" y="120"/>
                  </a:lnTo>
                  <a:close/>
                  <a:moveTo>
                    <a:pt x="37" y="4"/>
                  </a:moveTo>
                  <a:lnTo>
                    <a:pt x="37" y="118"/>
                  </a:lnTo>
                  <a:lnTo>
                    <a:pt x="4" y="118"/>
                  </a:lnTo>
                  <a:lnTo>
                    <a:pt x="4" y="4"/>
                  </a:lnTo>
                  <a:lnTo>
                    <a:pt x="37" y="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22" name="Freeform 19"/>
            <p:cNvSpPr>
              <a:spLocks noEditPoints="1"/>
            </p:cNvSpPr>
            <p:nvPr/>
          </p:nvSpPr>
          <p:spPr bwMode="auto">
            <a:xfrm>
              <a:off x="1861" y="2638"/>
              <a:ext cx="43" cy="82"/>
            </a:xfrm>
            <a:custGeom>
              <a:avLst/>
              <a:gdLst/>
              <a:ahLst/>
              <a:cxnLst>
                <a:cxn ang="0">
                  <a:pos x="14" y="0"/>
                </a:cxn>
                <a:cxn ang="0">
                  <a:pos x="0" y="0"/>
                </a:cxn>
                <a:cxn ang="0">
                  <a:pos x="0" y="638"/>
                </a:cxn>
                <a:cxn ang="0">
                  <a:pos x="14" y="638"/>
                </a:cxn>
                <a:cxn ang="0">
                  <a:pos x="333" y="319"/>
                </a:cxn>
                <a:cxn ang="0">
                  <a:pos x="14" y="0"/>
                </a:cxn>
                <a:cxn ang="0">
                  <a:pos x="220" y="525"/>
                </a:cxn>
                <a:cxn ang="0">
                  <a:pos x="27" y="610"/>
                </a:cxn>
                <a:cxn ang="0">
                  <a:pos x="27" y="28"/>
                </a:cxn>
                <a:cxn ang="0">
                  <a:pos x="220" y="112"/>
                </a:cxn>
                <a:cxn ang="0">
                  <a:pos x="306" y="319"/>
                </a:cxn>
                <a:cxn ang="0">
                  <a:pos x="220" y="525"/>
                </a:cxn>
              </a:cxnLst>
              <a:rect l="0" t="0" r="r" b="b"/>
              <a:pathLst>
                <a:path w="333" h="638">
                  <a:moveTo>
                    <a:pt x="14" y="0"/>
                  </a:moveTo>
                  <a:cubicBezTo>
                    <a:pt x="0" y="0"/>
                    <a:pt x="0" y="0"/>
                    <a:pt x="0" y="0"/>
                  </a:cubicBezTo>
                  <a:cubicBezTo>
                    <a:pt x="0" y="638"/>
                    <a:pt x="0" y="638"/>
                    <a:pt x="0" y="638"/>
                  </a:cubicBezTo>
                  <a:cubicBezTo>
                    <a:pt x="14" y="638"/>
                    <a:pt x="14" y="638"/>
                    <a:pt x="14" y="638"/>
                  </a:cubicBezTo>
                  <a:cubicBezTo>
                    <a:pt x="190" y="638"/>
                    <a:pt x="333" y="495"/>
                    <a:pt x="333" y="319"/>
                  </a:cubicBezTo>
                  <a:cubicBezTo>
                    <a:pt x="333" y="143"/>
                    <a:pt x="190" y="0"/>
                    <a:pt x="14" y="0"/>
                  </a:cubicBezTo>
                  <a:close/>
                  <a:moveTo>
                    <a:pt x="220" y="525"/>
                  </a:moveTo>
                  <a:cubicBezTo>
                    <a:pt x="170" y="575"/>
                    <a:pt x="103" y="607"/>
                    <a:pt x="27" y="610"/>
                  </a:cubicBezTo>
                  <a:cubicBezTo>
                    <a:pt x="27" y="28"/>
                    <a:pt x="27" y="28"/>
                    <a:pt x="27" y="28"/>
                  </a:cubicBezTo>
                  <a:cubicBezTo>
                    <a:pt x="103" y="31"/>
                    <a:pt x="170" y="63"/>
                    <a:pt x="220" y="112"/>
                  </a:cubicBezTo>
                  <a:cubicBezTo>
                    <a:pt x="273" y="165"/>
                    <a:pt x="306" y="238"/>
                    <a:pt x="306" y="319"/>
                  </a:cubicBezTo>
                  <a:cubicBezTo>
                    <a:pt x="306" y="400"/>
                    <a:pt x="273" y="473"/>
                    <a:pt x="220" y="525"/>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23" name="Freeform 20"/>
            <p:cNvSpPr>
              <a:spLocks noEditPoints="1"/>
            </p:cNvSpPr>
            <p:nvPr/>
          </p:nvSpPr>
          <p:spPr bwMode="auto">
            <a:xfrm>
              <a:off x="1763" y="2638"/>
              <a:ext cx="43" cy="43"/>
            </a:xfrm>
            <a:custGeom>
              <a:avLst/>
              <a:gdLst/>
              <a:ahLst/>
              <a:cxnLst>
                <a:cxn ang="0">
                  <a:pos x="0" y="332"/>
                </a:cxn>
                <a:cxn ang="0">
                  <a:pos x="13" y="332"/>
                </a:cxn>
                <a:cxn ang="0">
                  <a:pos x="332" y="13"/>
                </a:cxn>
                <a:cxn ang="0">
                  <a:pos x="332" y="0"/>
                </a:cxn>
                <a:cxn ang="0">
                  <a:pos x="0" y="0"/>
                </a:cxn>
                <a:cxn ang="0">
                  <a:pos x="0" y="332"/>
                </a:cxn>
                <a:cxn ang="0">
                  <a:pos x="305" y="27"/>
                </a:cxn>
                <a:cxn ang="0">
                  <a:pos x="220" y="220"/>
                </a:cxn>
                <a:cxn ang="0">
                  <a:pos x="27" y="305"/>
                </a:cxn>
                <a:cxn ang="0">
                  <a:pos x="27" y="27"/>
                </a:cxn>
                <a:cxn ang="0">
                  <a:pos x="305" y="27"/>
                </a:cxn>
              </a:cxnLst>
              <a:rect l="0" t="0" r="r" b="b"/>
              <a:pathLst>
                <a:path w="332" h="332">
                  <a:moveTo>
                    <a:pt x="0" y="332"/>
                  </a:moveTo>
                  <a:cubicBezTo>
                    <a:pt x="13" y="332"/>
                    <a:pt x="13" y="332"/>
                    <a:pt x="13" y="332"/>
                  </a:cubicBezTo>
                  <a:cubicBezTo>
                    <a:pt x="190" y="332"/>
                    <a:pt x="332" y="189"/>
                    <a:pt x="332" y="13"/>
                  </a:cubicBezTo>
                  <a:cubicBezTo>
                    <a:pt x="332" y="0"/>
                    <a:pt x="332" y="0"/>
                    <a:pt x="332" y="0"/>
                  </a:cubicBezTo>
                  <a:cubicBezTo>
                    <a:pt x="0" y="0"/>
                    <a:pt x="0" y="0"/>
                    <a:pt x="0" y="0"/>
                  </a:cubicBezTo>
                  <a:lnTo>
                    <a:pt x="0" y="332"/>
                  </a:lnTo>
                  <a:close/>
                  <a:moveTo>
                    <a:pt x="305" y="27"/>
                  </a:moveTo>
                  <a:cubicBezTo>
                    <a:pt x="301" y="102"/>
                    <a:pt x="270" y="170"/>
                    <a:pt x="220" y="220"/>
                  </a:cubicBezTo>
                  <a:cubicBezTo>
                    <a:pt x="170" y="270"/>
                    <a:pt x="102" y="301"/>
                    <a:pt x="27" y="305"/>
                  </a:cubicBezTo>
                  <a:cubicBezTo>
                    <a:pt x="27" y="27"/>
                    <a:pt x="27" y="27"/>
                    <a:pt x="27" y="27"/>
                  </a:cubicBezTo>
                  <a:lnTo>
                    <a:pt x="305"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24" name="Freeform 21"/>
            <p:cNvSpPr>
              <a:spLocks noEditPoints="1"/>
            </p:cNvSpPr>
            <p:nvPr/>
          </p:nvSpPr>
          <p:spPr bwMode="auto">
            <a:xfrm>
              <a:off x="1714" y="2638"/>
              <a:ext cx="43" cy="121"/>
            </a:xfrm>
            <a:custGeom>
              <a:avLst/>
              <a:gdLst/>
              <a:ahLst/>
              <a:cxnLst>
                <a:cxn ang="0">
                  <a:pos x="0" y="319"/>
                </a:cxn>
                <a:cxn ang="0">
                  <a:pos x="0" y="624"/>
                </a:cxn>
                <a:cxn ang="0">
                  <a:pos x="319" y="943"/>
                </a:cxn>
                <a:cxn ang="0">
                  <a:pos x="332" y="943"/>
                </a:cxn>
                <a:cxn ang="0">
                  <a:pos x="332" y="624"/>
                </a:cxn>
                <a:cxn ang="0">
                  <a:pos x="332" y="319"/>
                </a:cxn>
                <a:cxn ang="0">
                  <a:pos x="332" y="0"/>
                </a:cxn>
                <a:cxn ang="0">
                  <a:pos x="319" y="0"/>
                </a:cxn>
                <a:cxn ang="0">
                  <a:pos x="0" y="319"/>
                </a:cxn>
                <a:cxn ang="0">
                  <a:pos x="27" y="624"/>
                </a:cxn>
                <a:cxn ang="0">
                  <a:pos x="27" y="319"/>
                </a:cxn>
                <a:cxn ang="0">
                  <a:pos x="112" y="112"/>
                </a:cxn>
                <a:cxn ang="0">
                  <a:pos x="305" y="27"/>
                </a:cxn>
                <a:cxn ang="0">
                  <a:pos x="305" y="319"/>
                </a:cxn>
                <a:cxn ang="0">
                  <a:pos x="305" y="624"/>
                </a:cxn>
                <a:cxn ang="0">
                  <a:pos x="305" y="916"/>
                </a:cxn>
                <a:cxn ang="0">
                  <a:pos x="112" y="831"/>
                </a:cxn>
                <a:cxn ang="0">
                  <a:pos x="27" y="624"/>
                </a:cxn>
              </a:cxnLst>
              <a:rect l="0" t="0" r="r" b="b"/>
              <a:pathLst>
                <a:path w="332" h="943">
                  <a:moveTo>
                    <a:pt x="0" y="319"/>
                  </a:moveTo>
                  <a:cubicBezTo>
                    <a:pt x="0" y="624"/>
                    <a:pt x="0" y="624"/>
                    <a:pt x="0" y="624"/>
                  </a:cubicBezTo>
                  <a:cubicBezTo>
                    <a:pt x="0" y="800"/>
                    <a:pt x="142" y="943"/>
                    <a:pt x="319" y="943"/>
                  </a:cubicBezTo>
                  <a:cubicBezTo>
                    <a:pt x="332" y="943"/>
                    <a:pt x="332" y="943"/>
                    <a:pt x="332" y="943"/>
                  </a:cubicBezTo>
                  <a:cubicBezTo>
                    <a:pt x="332" y="624"/>
                    <a:pt x="332" y="624"/>
                    <a:pt x="332" y="624"/>
                  </a:cubicBezTo>
                  <a:cubicBezTo>
                    <a:pt x="332" y="319"/>
                    <a:pt x="332" y="319"/>
                    <a:pt x="332" y="319"/>
                  </a:cubicBezTo>
                  <a:cubicBezTo>
                    <a:pt x="332" y="0"/>
                    <a:pt x="332" y="0"/>
                    <a:pt x="332" y="0"/>
                  </a:cubicBezTo>
                  <a:cubicBezTo>
                    <a:pt x="319" y="0"/>
                    <a:pt x="319" y="0"/>
                    <a:pt x="319" y="0"/>
                  </a:cubicBezTo>
                  <a:cubicBezTo>
                    <a:pt x="142" y="0"/>
                    <a:pt x="0" y="143"/>
                    <a:pt x="0" y="319"/>
                  </a:cubicBezTo>
                  <a:close/>
                  <a:moveTo>
                    <a:pt x="27" y="624"/>
                  </a:moveTo>
                  <a:cubicBezTo>
                    <a:pt x="27" y="319"/>
                    <a:pt x="27" y="319"/>
                    <a:pt x="27" y="319"/>
                  </a:cubicBezTo>
                  <a:cubicBezTo>
                    <a:pt x="27" y="238"/>
                    <a:pt x="59" y="165"/>
                    <a:pt x="112" y="112"/>
                  </a:cubicBezTo>
                  <a:cubicBezTo>
                    <a:pt x="162" y="62"/>
                    <a:pt x="230" y="31"/>
                    <a:pt x="305" y="27"/>
                  </a:cubicBezTo>
                  <a:cubicBezTo>
                    <a:pt x="305" y="319"/>
                    <a:pt x="305" y="319"/>
                    <a:pt x="305" y="319"/>
                  </a:cubicBezTo>
                  <a:cubicBezTo>
                    <a:pt x="305" y="624"/>
                    <a:pt x="305" y="624"/>
                    <a:pt x="305" y="624"/>
                  </a:cubicBezTo>
                  <a:cubicBezTo>
                    <a:pt x="305" y="916"/>
                    <a:pt x="305" y="916"/>
                    <a:pt x="305" y="916"/>
                  </a:cubicBezTo>
                  <a:cubicBezTo>
                    <a:pt x="230" y="912"/>
                    <a:pt x="162" y="881"/>
                    <a:pt x="112" y="831"/>
                  </a:cubicBezTo>
                  <a:cubicBezTo>
                    <a:pt x="59" y="778"/>
                    <a:pt x="27" y="705"/>
                    <a:pt x="27" y="62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sp>
        <p:nvSpPr>
          <p:cNvPr id="9" name="Tijdelijke aanduiding voor inhoud 8"/>
          <p:cNvSpPr>
            <a:spLocks noGrp="1"/>
          </p:cNvSpPr>
          <p:nvPr>
            <p:ph sz="quarter" idx="13"/>
          </p:nvPr>
        </p:nvSpPr>
        <p:spPr>
          <a:xfrm>
            <a:off x="399600" y="2160000"/>
            <a:ext cx="3960000" cy="3996000"/>
          </a:xfrm>
        </p:spPr>
        <p:txBody>
          <a:body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11" name="Tijdelijke aanduiding voor inhoud 10"/>
          <p:cNvSpPr>
            <a:spLocks noGrp="1"/>
          </p:cNvSpPr>
          <p:nvPr>
            <p:ph sz="quarter" idx="14"/>
          </p:nvPr>
        </p:nvSpPr>
        <p:spPr>
          <a:xfrm>
            <a:off x="4670469" y="2160000"/>
            <a:ext cx="3960000" cy="3996000"/>
          </a:xfrm>
        </p:spPr>
        <p:txBody>
          <a:body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8" name="Tijdelijke aanduiding voor dianummer 7"/>
          <p:cNvSpPr>
            <a:spLocks noGrp="1"/>
          </p:cNvSpPr>
          <p:nvPr>
            <p:ph type="sldNum" sz="quarter" idx="15"/>
          </p:nvPr>
        </p:nvSpPr>
        <p:spPr/>
        <p:txBody>
          <a:bodyPr/>
          <a:lstStyle/>
          <a:p>
            <a:fld id="{1336C48C-F87C-4E4B-81EF-5027B17D1F61}" type="slidenum">
              <a:rPr lang="en-US" noProof="1" smtClean="0"/>
              <a:pPr/>
              <a:t>‹#›</a:t>
            </a:fld>
            <a:endParaRPr lang="en-US" noProof="1"/>
          </a:p>
        </p:txBody>
      </p:sp>
      <p:sp>
        <p:nvSpPr>
          <p:cNvPr id="6" name="Titel 5"/>
          <p:cNvSpPr>
            <a:spLocks noGrp="1"/>
          </p:cNvSpPr>
          <p:nvPr>
            <p:ph type="title" hasCustomPrompt="1"/>
          </p:nvPr>
        </p:nvSpPr>
        <p:spPr>
          <a:xfrm>
            <a:off x="400869" y="312738"/>
            <a:ext cx="8229600" cy="1548000"/>
          </a:xfrm>
        </p:spPr>
        <p:txBody>
          <a:bodyPr/>
          <a:lstStyle>
            <a:lvl1pPr>
              <a:defRPr baseline="0"/>
            </a:lvl1pPr>
          </a:lstStyle>
          <a:p>
            <a:r>
              <a:rPr lang="en-US" noProof="1" smtClean="0"/>
              <a:t>Title</a:t>
            </a:r>
            <a:endParaRPr 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lines and logo">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93700" y="2143125"/>
            <a:ext cx="8358188" cy="4076700"/>
            <a:chOff x="248" y="1350"/>
            <a:chExt cx="5265" cy="2568"/>
          </a:xfrm>
        </p:grpSpPr>
        <p:sp>
          <p:nvSpPr>
            <p:cNvPr id="5" name="Rectangle 5"/>
            <p:cNvSpPr>
              <a:spLocks noChangeArrowheads="1"/>
            </p:cNvSpPr>
            <p:nvPr/>
          </p:nvSpPr>
          <p:spPr bwMode="auto">
            <a:xfrm>
              <a:off x="248" y="3912"/>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7" name="Freeform 6"/>
            <p:cNvSpPr>
              <a:spLocks/>
            </p:cNvSpPr>
            <p:nvPr/>
          </p:nvSpPr>
          <p:spPr bwMode="auto">
            <a:xfrm>
              <a:off x="248" y="3912"/>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8" name="Rectangle 8"/>
            <p:cNvSpPr>
              <a:spLocks noChangeArrowheads="1"/>
            </p:cNvSpPr>
            <p:nvPr/>
          </p:nvSpPr>
          <p:spPr bwMode="auto">
            <a:xfrm>
              <a:off x="248" y="1350"/>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9" name="Freeform 9"/>
            <p:cNvSpPr>
              <a:spLocks/>
            </p:cNvSpPr>
            <p:nvPr/>
          </p:nvSpPr>
          <p:spPr bwMode="auto">
            <a:xfrm>
              <a:off x="248" y="1350"/>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grpSp>
        <p:nvGrpSpPr>
          <p:cNvPr id="10" name="logo scp klein"/>
          <p:cNvGrpSpPr>
            <a:grpSpLocks noChangeAspect="1"/>
          </p:cNvGrpSpPr>
          <p:nvPr userDrawn="1"/>
        </p:nvGrpSpPr>
        <p:grpSpPr bwMode="auto">
          <a:xfrm>
            <a:off x="8236800" y="6426000"/>
            <a:ext cx="515900" cy="216000"/>
            <a:chOff x="1615" y="2638"/>
            <a:chExt cx="289" cy="121"/>
          </a:xfrm>
        </p:grpSpPr>
        <p:sp>
          <p:nvSpPr>
            <p:cNvPr id="11" name="Freeform 13"/>
            <p:cNvSpPr>
              <a:spLocks noEditPoints="1"/>
            </p:cNvSpPr>
            <p:nvPr/>
          </p:nvSpPr>
          <p:spPr bwMode="auto">
            <a:xfrm>
              <a:off x="1664" y="2678"/>
              <a:ext cx="42" cy="81"/>
            </a:xfrm>
            <a:custGeom>
              <a:avLst/>
              <a:gdLst/>
              <a:ahLst/>
              <a:cxnLst>
                <a:cxn ang="0">
                  <a:pos x="13" y="0"/>
                </a:cxn>
                <a:cxn ang="0">
                  <a:pos x="0" y="0"/>
                </a:cxn>
                <a:cxn ang="0">
                  <a:pos x="0" y="638"/>
                </a:cxn>
                <a:cxn ang="0">
                  <a:pos x="13" y="638"/>
                </a:cxn>
                <a:cxn ang="0">
                  <a:pos x="332" y="319"/>
                </a:cxn>
                <a:cxn ang="0">
                  <a:pos x="13" y="0"/>
                </a:cxn>
                <a:cxn ang="0">
                  <a:pos x="220" y="526"/>
                </a:cxn>
                <a:cxn ang="0">
                  <a:pos x="27" y="611"/>
                </a:cxn>
                <a:cxn ang="0">
                  <a:pos x="27" y="28"/>
                </a:cxn>
                <a:cxn ang="0">
                  <a:pos x="220" y="113"/>
                </a:cxn>
                <a:cxn ang="0">
                  <a:pos x="305" y="319"/>
                </a:cxn>
                <a:cxn ang="0">
                  <a:pos x="220" y="526"/>
                </a:cxn>
              </a:cxnLst>
              <a:rect l="0" t="0" r="r" b="b"/>
              <a:pathLst>
                <a:path w="332" h="638">
                  <a:moveTo>
                    <a:pt x="13" y="0"/>
                  </a:moveTo>
                  <a:cubicBezTo>
                    <a:pt x="0" y="0"/>
                    <a:pt x="0" y="0"/>
                    <a:pt x="0" y="0"/>
                  </a:cubicBezTo>
                  <a:cubicBezTo>
                    <a:pt x="0" y="638"/>
                    <a:pt x="0" y="638"/>
                    <a:pt x="0" y="638"/>
                  </a:cubicBezTo>
                  <a:cubicBezTo>
                    <a:pt x="13" y="638"/>
                    <a:pt x="13" y="638"/>
                    <a:pt x="13" y="638"/>
                  </a:cubicBezTo>
                  <a:cubicBezTo>
                    <a:pt x="190" y="638"/>
                    <a:pt x="332" y="495"/>
                    <a:pt x="332" y="319"/>
                  </a:cubicBezTo>
                  <a:cubicBezTo>
                    <a:pt x="332" y="143"/>
                    <a:pt x="190" y="0"/>
                    <a:pt x="13" y="0"/>
                  </a:cubicBezTo>
                  <a:close/>
                  <a:moveTo>
                    <a:pt x="220" y="526"/>
                  </a:moveTo>
                  <a:cubicBezTo>
                    <a:pt x="170" y="576"/>
                    <a:pt x="102" y="607"/>
                    <a:pt x="27" y="611"/>
                  </a:cubicBezTo>
                  <a:cubicBezTo>
                    <a:pt x="27" y="28"/>
                    <a:pt x="27" y="28"/>
                    <a:pt x="27" y="28"/>
                  </a:cubicBezTo>
                  <a:cubicBezTo>
                    <a:pt x="102" y="31"/>
                    <a:pt x="170" y="63"/>
                    <a:pt x="220" y="113"/>
                  </a:cubicBezTo>
                  <a:cubicBezTo>
                    <a:pt x="273" y="166"/>
                    <a:pt x="305" y="239"/>
                    <a:pt x="305" y="319"/>
                  </a:cubicBezTo>
                  <a:cubicBezTo>
                    <a:pt x="305" y="400"/>
                    <a:pt x="273" y="473"/>
                    <a:pt x="220" y="526"/>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2" name="Freeform 14"/>
            <p:cNvSpPr>
              <a:spLocks noEditPoints="1"/>
            </p:cNvSpPr>
            <p:nvPr/>
          </p:nvSpPr>
          <p:spPr bwMode="auto">
            <a:xfrm>
              <a:off x="1615" y="2717"/>
              <a:ext cx="42" cy="42"/>
            </a:xfrm>
            <a:custGeom>
              <a:avLst/>
              <a:gdLst/>
              <a:ahLst/>
              <a:cxnLst>
                <a:cxn ang="0">
                  <a:pos x="14" y="0"/>
                </a:cxn>
                <a:cxn ang="0">
                  <a:pos x="0" y="0"/>
                </a:cxn>
                <a:cxn ang="0">
                  <a:pos x="0" y="332"/>
                </a:cxn>
                <a:cxn ang="0">
                  <a:pos x="333" y="332"/>
                </a:cxn>
                <a:cxn ang="0">
                  <a:pos x="333" y="319"/>
                </a:cxn>
                <a:cxn ang="0">
                  <a:pos x="14" y="0"/>
                </a:cxn>
                <a:cxn ang="0">
                  <a:pos x="27" y="27"/>
                </a:cxn>
                <a:cxn ang="0">
                  <a:pos x="220" y="112"/>
                </a:cxn>
                <a:cxn ang="0">
                  <a:pos x="305" y="305"/>
                </a:cxn>
                <a:cxn ang="0">
                  <a:pos x="27" y="305"/>
                </a:cxn>
                <a:cxn ang="0">
                  <a:pos x="27" y="27"/>
                </a:cxn>
              </a:cxnLst>
              <a:rect l="0" t="0" r="r" b="b"/>
              <a:pathLst>
                <a:path w="333" h="332">
                  <a:moveTo>
                    <a:pt x="14" y="0"/>
                  </a:moveTo>
                  <a:cubicBezTo>
                    <a:pt x="0" y="0"/>
                    <a:pt x="0" y="0"/>
                    <a:pt x="0" y="0"/>
                  </a:cubicBezTo>
                  <a:cubicBezTo>
                    <a:pt x="0" y="332"/>
                    <a:pt x="0" y="332"/>
                    <a:pt x="0" y="332"/>
                  </a:cubicBezTo>
                  <a:cubicBezTo>
                    <a:pt x="333" y="332"/>
                    <a:pt x="333" y="332"/>
                    <a:pt x="333" y="332"/>
                  </a:cubicBezTo>
                  <a:cubicBezTo>
                    <a:pt x="333" y="319"/>
                    <a:pt x="333" y="319"/>
                    <a:pt x="333" y="319"/>
                  </a:cubicBezTo>
                  <a:cubicBezTo>
                    <a:pt x="333" y="143"/>
                    <a:pt x="190" y="0"/>
                    <a:pt x="14" y="0"/>
                  </a:cubicBezTo>
                  <a:close/>
                  <a:moveTo>
                    <a:pt x="27" y="27"/>
                  </a:moveTo>
                  <a:cubicBezTo>
                    <a:pt x="102" y="31"/>
                    <a:pt x="170" y="62"/>
                    <a:pt x="220" y="112"/>
                  </a:cubicBezTo>
                  <a:cubicBezTo>
                    <a:pt x="270" y="162"/>
                    <a:pt x="301" y="230"/>
                    <a:pt x="305" y="305"/>
                  </a:cubicBezTo>
                  <a:cubicBezTo>
                    <a:pt x="27" y="305"/>
                    <a:pt x="27" y="305"/>
                    <a:pt x="27" y="305"/>
                  </a:cubicBezTo>
                  <a:lnTo>
                    <a:pt x="27"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3" name="Freeform 15"/>
            <p:cNvSpPr>
              <a:spLocks noEditPoints="1"/>
            </p:cNvSpPr>
            <p:nvPr/>
          </p:nvSpPr>
          <p:spPr bwMode="auto">
            <a:xfrm>
              <a:off x="1615" y="2638"/>
              <a:ext cx="42" cy="82"/>
            </a:xfrm>
            <a:custGeom>
              <a:avLst/>
              <a:gdLst/>
              <a:ahLst/>
              <a:cxnLst>
                <a:cxn ang="0">
                  <a:pos x="0" y="318"/>
                </a:cxn>
                <a:cxn ang="0">
                  <a:pos x="319" y="637"/>
                </a:cxn>
                <a:cxn ang="0">
                  <a:pos x="333" y="637"/>
                </a:cxn>
                <a:cxn ang="0">
                  <a:pos x="333" y="0"/>
                </a:cxn>
                <a:cxn ang="0">
                  <a:pos x="319" y="0"/>
                </a:cxn>
                <a:cxn ang="0">
                  <a:pos x="0" y="318"/>
                </a:cxn>
                <a:cxn ang="0">
                  <a:pos x="27" y="318"/>
                </a:cxn>
                <a:cxn ang="0">
                  <a:pos x="113" y="112"/>
                </a:cxn>
                <a:cxn ang="0">
                  <a:pos x="306" y="27"/>
                </a:cxn>
                <a:cxn ang="0">
                  <a:pos x="306" y="610"/>
                </a:cxn>
                <a:cxn ang="0">
                  <a:pos x="113" y="525"/>
                </a:cxn>
                <a:cxn ang="0">
                  <a:pos x="27" y="318"/>
                </a:cxn>
              </a:cxnLst>
              <a:rect l="0" t="0" r="r" b="b"/>
              <a:pathLst>
                <a:path w="333" h="637">
                  <a:moveTo>
                    <a:pt x="0" y="318"/>
                  </a:moveTo>
                  <a:cubicBezTo>
                    <a:pt x="0" y="495"/>
                    <a:pt x="143" y="637"/>
                    <a:pt x="319" y="637"/>
                  </a:cubicBezTo>
                  <a:cubicBezTo>
                    <a:pt x="333" y="637"/>
                    <a:pt x="333" y="637"/>
                    <a:pt x="333" y="637"/>
                  </a:cubicBezTo>
                  <a:cubicBezTo>
                    <a:pt x="333" y="0"/>
                    <a:pt x="333" y="0"/>
                    <a:pt x="333" y="0"/>
                  </a:cubicBezTo>
                  <a:cubicBezTo>
                    <a:pt x="319" y="0"/>
                    <a:pt x="319" y="0"/>
                    <a:pt x="319" y="0"/>
                  </a:cubicBezTo>
                  <a:cubicBezTo>
                    <a:pt x="143" y="0"/>
                    <a:pt x="0" y="142"/>
                    <a:pt x="0" y="318"/>
                  </a:cubicBezTo>
                  <a:close/>
                  <a:moveTo>
                    <a:pt x="27" y="318"/>
                  </a:moveTo>
                  <a:cubicBezTo>
                    <a:pt x="27" y="238"/>
                    <a:pt x="60" y="165"/>
                    <a:pt x="113" y="112"/>
                  </a:cubicBezTo>
                  <a:cubicBezTo>
                    <a:pt x="162" y="62"/>
                    <a:pt x="230" y="31"/>
                    <a:pt x="306" y="27"/>
                  </a:cubicBezTo>
                  <a:cubicBezTo>
                    <a:pt x="306" y="610"/>
                    <a:pt x="306" y="610"/>
                    <a:pt x="306" y="610"/>
                  </a:cubicBezTo>
                  <a:cubicBezTo>
                    <a:pt x="230" y="606"/>
                    <a:pt x="162" y="575"/>
                    <a:pt x="113" y="525"/>
                  </a:cubicBezTo>
                  <a:cubicBezTo>
                    <a:pt x="60" y="472"/>
                    <a:pt x="27" y="399"/>
                    <a:pt x="27" y="318"/>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4" name="Freeform 16"/>
            <p:cNvSpPr>
              <a:spLocks noEditPoints="1"/>
            </p:cNvSpPr>
            <p:nvPr/>
          </p:nvSpPr>
          <p:spPr bwMode="auto">
            <a:xfrm>
              <a:off x="1763" y="2717"/>
              <a:ext cx="43" cy="42"/>
            </a:xfrm>
            <a:custGeom>
              <a:avLst/>
              <a:gdLst/>
              <a:ahLst/>
              <a:cxnLst>
                <a:cxn ang="0">
                  <a:pos x="0" y="332"/>
                </a:cxn>
                <a:cxn ang="0">
                  <a:pos x="13" y="332"/>
                </a:cxn>
                <a:cxn ang="0">
                  <a:pos x="332" y="13"/>
                </a:cxn>
                <a:cxn ang="0">
                  <a:pos x="332" y="0"/>
                </a:cxn>
                <a:cxn ang="0">
                  <a:pos x="0" y="0"/>
                </a:cxn>
                <a:cxn ang="0">
                  <a:pos x="0" y="332"/>
                </a:cxn>
                <a:cxn ang="0">
                  <a:pos x="304" y="27"/>
                </a:cxn>
                <a:cxn ang="0">
                  <a:pos x="219" y="220"/>
                </a:cxn>
                <a:cxn ang="0">
                  <a:pos x="26" y="305"/>
                </a:cxn>
                <a:cxn ang="0">
                  <a:pos x="26" y="27"/>
                </a:cxn>
                <a:cxn ang="0">
                  <a:pos x="304" y="27"/>
                </a:cxn>
              </a:cxnLst>
              <a:rect l="0" t="0" r="r" b="b"/>
              <a:pathLst>
                <a:path w="332" h="332">
                  <a:moveTo>
                    <a:pt x="0" y="332"/>
                  </a:moveTo>
                  <a:cubicBezTo>
                    <a:pt x="13" y="332"/>
                    <a:pt x="13" y="332"/>
                    <a:pt x="13" y="332"/>
                  </a:cubicBezTo>
                  <a:cubicBezTo>
                    <a:pt x="189" y="332"/>
                    <a:pt x="332" y="189"/>
                    <a:pt x="332" y="13"/>
                  </a:cubicBezTo>
                  <a:cubicBezTo>
                    <a:pt x="332" y="0"/>
                    <a:pt x="332" y="0"/>
                    <a:pt x="332" y="0"/>
                  </a:cubicBezTo>
                  <a:cubicBezTo>
                    <a:pt x="0" y="0"/>
                    <a:pt x="0" y="0"/>
                    <a:pt x="0" y="0"/>
                  </a:cubicBezTo>
                  <a:lnTo>
                    <a:pt x="0" y="332"/>
                  </a:lnTo>
                  <a:close/>
                  <a:moveTo>
                    <a:pt x="304" y="27"/>
                  </a:moveTo>
                  <a:cubicBezTo>
                    <a:pt x="301" y="102"/>
                    <a:pt x="269" y="170"/>
                    <a:pt x="219" y="220"/>
                  </a:cubicBezTo>
                  <a:cubicBezTo>
                    <a:pt x="170" y="270"/>
                    <a:pt x="102" y="301"/>
                    <a:pt x="26" y="305"/>
                  </a:cubicBezTo>
                  <a:cubicBezTo>
                    <a:pt x="26" y="27"/>
                    <a:pt x="26" y="27"/>
                    <a:pt x="26" y="27"/>
                  </a:cubicBezTo>
                  <a:lnTo>
                    <a:pt x="304"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5" name="Freeform 17"/>
            <p:cNvSpPr>
              <a:spLocks noEditPoints="1"/>
            </p:cNvSpPr>
            <p:nvPr/>
          </p:nvSpPr>
          <p:spPr bwMode="auto">
            <a:xfrm>
              <a:off x="1664" y="2638"/>
              <a:ext cx="42" cy="43"/>
            </a:xfrm>
            <a:custGeom>
              <a:avLst/>
              <a:gdLst/>
              <a:ahLst/>
              <a:cxnLst>
                <a:cxn ang="0">
                  <a:pos x="0" y="13"/>
                </a:cxn>
                <a:cxn ang="0">
                  <a:pos x="319" y="332"/>
                </a:cxn>
                <a:cxn ang="0">
                  <a:pos x="332" y="332"/>
                </a:cxn>
                <a:cxn ang="0">
                  <a:pos x="332" y="0"/>
                </a:cxn>
                <a:cxn ang="0">
                  <a:pos x="0" y="0"/>
                </a:cxn>
                <a:cxn ang="0">
                  <a:pos x="0" y="13"/>
                </a:cxn>
                <a:cxn ang="0">
                  <a:pos x="305" y="304"/>
                </a:cxn>
                <a:cxn ang="0">
                  <a:pos x="112" y="220"/>
                </a:cxn>
                <a:cxn ang="0">
                  <a:pos x="28" y="27"/>
                </a:cxn>
                <a:cxn ang="0">
                  <a:pos x="305" y="27"/>
                </a:cxn>
                <a:cxn ang="0">
                  <a:pos x="305" y="304"/>
                </a:cxn>
              </a:cxnLst>
              <a:rect l="0" t="0" r="r" b="b"/>
              <a:pathLst>
                <a:path w="332" h="332">
                  <a:moveTo>
                    <a:pt x="0" y="13"/>
                  </a:moveTo>
                  <a:cubicBezTo>
                    <a:pt x="0" y="189"/>
                    <a:pt x="143" y="332"/>
                    <a:pt x="319" y="332"/>
                  </a:cubicBezTo>
                  <a:cubicBezTo>
                    <a:pt x="332" y="332"/>
                    <a:pt x="332" y="332"/>
                    <a:pt x="332" y="332"/>
                  </a:cubicBezTo>
                  <a:cubicBezTo>
                    <a:pt x="332" y="0"/>
                    <a:pt x="332" y="0"/>
                    <a:pt x="332" y="0"/>
                  </a:cubicBezTo>
                  <a:cubicBezTo>
                    <a:pt x="0" y="0"/>
                    <a:pt x="0" y="0"/>
                    <a:pt x="0" y="0"/>
                  </a:cubicBezTo>
                  <a:lnTo>
                    <a:pt x="0" y="13"/>
                  </a:lnTo>
                  <a:close/>
                  <a:moveTo>
                    <a:pt x="305" y="304"/>
                  </a:moveTo>
                  <a:cubicBezTo>
                    <a:pt x="230" y="301"/>
                    <a:pt x="162" y="269"/>
                    <a:pt x="112" y="220"/>
                  </a:cubicBezTo>
                  <a:cubicBezTo>
                    <a:pt x="63" y="170"/>
                    <a:pt x="31" y="102"/>
                    <a:pt x="28" y="27"/>
                  </a:cubicBezTo>
                  <a:cubicBezTo>
                    <a:pt x="305" y="27"/>
                    <a:pt x="305" y="27"/>
                    <a:pt x="305" y="27"/>
                  </a:cubicBezTo>
                  <a:lnTo>
                    <a:pt x="305" y="30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6" name="Freeform 18"/>
            <p:cNvSpPr>
              <a:spLocks noEditPoints="1"/>
            </p:cNvSpPr>
            <p:nvPr/>
          </p:nvSpPr>
          <p:spPr bwMode="auto">
            <a:xfrm>
              <a:off x="1814" y="2638"/>
              <a:ext cx="41" cy="121"/>
            </a:xfrm>
            <a:custGeom>
              <a:avLst/>
              <a:gdLst/>
              <a:ahLst/>
              <a:cxnLst>
                <a:cxn ang="0">
                  <a:pos x="0" y="120"/>
                </a:cxn>
                <a:cxn ang="0">
                  <a:pos x="0" y="121"/>
                </a:cxn>
                <a:cxn ang="0">
                  <a:pos x="41" y="121"/>
                </a:cxn>
                <a:cxn ang="0">
                  <a:pos x="41" y="0"/>
                </a:cxn>
                <a:cxn ang="0">
                  <a:pos x="0" y="0"/>
                </a:cxn>
                <a:cxn ang="0">
                  <a:pos x="0" y="120"/>
                </a:cxn>
                <a:cxn ang="0">
                  <a:pos x="37" y="4"/>
                </a:cxn>
                <a:cxn ang="0">
                  <a:pos x="37" y="118"/>
                </a:cxn>
                <a:cxn ang="0">
                  <a:pos x="4" y="118"/>
                </a:cxn>
                <a:cxn ang="0">
                  <a:pos x="4" y="4"/>
                </a:cxn>
                <a:cxn ang="0">
                  <a:pos x="37" y="4"/>
                </a:cxn>
              </a:cxnLst>
              <a:rect l="0" t="0" r="r" b="b"/>
              <a:pathLst>
                <a:path w="41" h="121">
                  <a:moveTo>
                    <a:pt x="0" y="120"/>
                  </a:moveTo>
                  <a:lnTo>
                    <a:pt x="0" y="121"/>
                  </a:lnTo>
                  <a:lnTo>
                    <a:pt x="41" y="121"/>
                  </a:lnTo>
                  <a:lnTo>
                    <a:pt x="41" y="0"/>
                  </a:lnTo>
                  <a:lnTo>
                    <a:pt x="0" y="0"/>
                  </a:lnTo>
                  <a:lnTo>
                    <a:pt x="0" y="120"/>
                  </a:lnTo>
                  <a:close/>
                  <a:moveTo>
                    <a:pt x="37" y="4"/>
                  </a:moveTo>
                  <a:lnTo>
                    <a:pt x="37" y="118"/>
                  </a:lnTo>
                  <a:lnTo>
                    <a:pt x="4" y="118"/>
                  </a:lnTo>
                  <a:lnTo>
                    <a:pt x="4" y="4"/>
                  </a:lnTo>
                  <a:lnTo>
                    <a:pt x="37" y="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7" name="Freeform 19"/>
            <p:cNvSpPr>
              <a:spLocks noEditPoints="1"/>
            </p:cNvSpPr>
            <p:nvPr/>
          </p:nvSpPr>
          <p:spPr bwMode="auto">
            <a:xfrm>
              <a:off x="1861" y="2638"/>
              <a:ext cx="43" cy="82"/>
            </a:xfrm>
            <a:custGeom>
              <a:avLst/>
              <a:gdLst/>
              <a:ahLst/>
              <a:cxnLst>
                <a:cxn ang="0">
                  <a:pos x="14" y="0"/>
                </a:cxn>
                <a:cxn ang="0">
                  <a:pos x="0" y="0"/>
                </a:cxn>
                <a:cxn ang="0">
                  <a:pos x="0" y="638"/>
                </a:cxn>
                <a:cxn ang="0">
                  <a:pos x="14" y="638"/>
                </a:cxn>
                <a:cxn ang="0">
                  <a:pos x="333" y="319"/>
                </a:cxn>
                <a:cxn ang="0">
                  <a:pos x="14" y="0"/>
                </a:cxn>
                <a:cxn ang="0">
                  <a:pos x="220" y="525"/>
                </a:cxn>
                <a:cxn ang="0">
                  <a:pos x="27" y="610"/>
                </a:cxn>
                <a:cxn ang="0">
                  <a:pos x="27" y="28"/>
                </a:cxn>
                <a:cxn ang="0">
                  <a:pos x="220" y="112"/>
                </a:cxn>
                <a:cxn ang="0">
                  <a:pos x="306" y="319"/>
                </a:cxn>
                <a:cxn ang="0">
                  <a:pos x="220" y="525"/>
                </a:cxn>
              </a:cxnLst>
              <a:rect l="0" t="0" r="r" b="b"/>
              <a:pathLst>
                <a:path w="333" h="638">
                  <a:moveTo>
                    <a:pt x="14" y="0"/>
                  </a:moveTo>
                  <a:cubicBezTo>
                    <a:pt x="0" y="0"/>
                    <a:pt x="0" y="0"/>
                    <a:pt x="0" y="0"/>
                  </a:cubicBezTo>
                  <a:cubicBezTo>
                    <a:pt x="0" y="638"/>
                    <a:pt x="0" y="638"/>
                    <a:pt x="0" y="638"/>
                  </a:cubicBezTo>
                  <a:cubicBezTo>
                    <a:pt x="14" y="638"/>
                    <a:pt x="14" y="638"/>
                    <a:pt x="14" y="638"/>
                  </a:cubicBezTo>
                  <a:cubicBezTo>
                    <a:pt x="190" y="638"/>
                    <a:pt x="333" y="495"/>
                    <a:pt x="333" y="319"/>
                  </a:cubicBezTo>
                  <a:cubicBezTo>
                    <a:pt x="333" y="143"/>
                    <a:pt x="190" y="0"/>
                    <a:pt x="14" y="0"/>
                  </a:cubicBezTo>
                  <a:close/>
                  <a:moveTo>
                    <a:pt x="220" y="525"/>
                  </a:moveTo>
                  <a:cubicBezTo>
                    <a:pt x="170" y="575"/>
                    <a:pt x="103" y="607"/>
                    <a:pt x="27" y="610"/>
                  </a:cubicBezTo>
                  <a:cubicBezTo>
                    <a:pt x="27" y="28"/>
                    <a:pt x="27" y="28"/>
                    <a:pt x="27" y="28"/>
                  </a:cubicBezTo>
                  <a:cubicBezTo>
                    <a:pt x="103" y="31"/>
                    <a:pt x="170" y="63"/>
                    <a:pt x="220" y="112"/>
                  </a:cubicBezTo>
                  <a:cubicBezTo>
                    <a:pt x="273" y="165"/>
                    <a:pt x="306" y="238"/>
                    <a:pt x="306" y="319"/>
                  </a:cubicBezTo>
                  <a:cubicBezTo>
                    <a:pt x="306" y="400"/>
                    <a:pt x="273" y="473"/>
                    <a:pt x="220" y="525"/>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8" name="Freeform 20"/>
            <p:cNvSpPr>
              <a:spLocks noEditPoints="1"/>
            </p:cNvSpPr>
            <p:nvPr/>
          </p:nvSpPr>
          <p:spPr bwMode="auto">
            <a:xfrm>
              <a:off x="1763" y="2638"/>
              <a:ext cx="43" cy="43"/>
            </a:xfrm>
            <a:custGeom>
              <a:avLst/>
              <a:gdLst/>
              <a:ahLst/>
              <a:cxnLst>
                <a:cxn ang="0">
                  <a:pos x="0" y="332"/>
                </a:cxn>
                <a:cxn ang="0">
                  <a:pos x="13" y="332"/>
                </a:cxn>
                <a:cxn ang="0">
                  <a:pos x="332" y="13"/>
                </a:cxn>
                <a:cxn ang="0">
                  <a:pos x="332" y="0"/>
                </a:cxn>
                <a:cxn ang="0">
                  <a:pos x="0" y="0"/>
                </a:cxn>
                <a:cxn ang="0">
                  <a:pos x="0" y="332"/>
                </a:cxn>
                <a:cxn ang="0">
                  <a:pos x="305" y="27"/>
                </a:cxn>
                <a:cxn ang="0">
                  <a:pos x="220" y="220"/>
                </a:cxn>
                <a:cxn ang="0">
                  <a:pos x="27" y="305"/>
                </a:cxn>
                <a:cxn ang="0">
                  <a:pos x="27" y="27"/>
                </a:cxn>
                <a:cxn ang="0">
                  <a:pos x="305" y="27"/>
                </a:cxn>
              </a:cxnLst>
              <a:rect l="0" t="0" r="r" b="b"/>
              <a:pathLst>
                <a:path w="332" h="332">
                  <a:moveTo>
                    <a:pt x="0" y="332"/>
                  </a:moveTo>
                  <a:cubicBezTo>
                    <a:pt x="13" y="332"/>
                    <a:pt x="13" y="332"/>
                    <a:pt x="13" y="332"/>
                  </a:cubicBezTo>
                  <a:cubicBezTo>
                    <a:pt x="190" y="332"/>
                    <a:pt x="332" y="189"/>
                    <a:pt x="332" y="13"/>
                  </a:cubicBezTo>
                  <a:cubicBezTo>
                    <a:pt x="332" y="0"/>
                    <a:pt x="332" y="0"/>
                    <a:pt x="332" y="0"/>
                  </a:cubicBezTo>
                  <a:cubicBezTo>
                    <a:pt x="0" y="0"/>
                    <a:pt x="0" y="0"/>
                    <a:pt x="0" y="0"/>
                  </a:cubicBezTo>
                  <a:lnTo>
                    <a:pt x="0" y="332"/>
                  </a:lnTo>
                  <a:close/>
                  <a:moveTo>
                    <a:pt x="305" y="27"/>
                  </a:moveTo>
                  <a:cubicBezTo>
                    <a:pt x="301" y="102"/>
                    <a:pt x="270" y="170"/>
                    <a:pt x="220" y="220"/>
                  </a:cubicBezTo>
                  <a:cubicBezTo>
                    <a:pt x="170" y="270"/>
                    <a:pt x="102" y="301"/>
                    <a:pt x="27" y="305"/>
                  </a:cubicBezTo>
                  <a:cubicBezTo>
                    <a:pt x="27" y="27"/>
                    <a:pt x="27" y="27"/>
                    <a:pt x="27" y="27"/>
                  </a:cubicBezTo>
                  <a:lnTo>
                    <a:pt x="305"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9" name="Freeform 21"/>
            <p:cNvSpPr>
              <a:spLocks noEditPoints="1"/>
            </p:cNvSpPr>
            <p:nvPr/>
          </p:nvSpPr>
          <p:spPr bwMode="auto">
            <a:xfrm>
              <a:off x="1714" y="2638"/>
              <a:ext cx="43" cy="121"/>
            </a:xfrm>
            <a:custGeom>
              <a:avLst/>
              <a:gdLst/>
              <a:ahLst/>
              <a:cxnLst>
                <a:cxn ang="0">
                  <a:pos x="0" y="319"/>
                </a:cxn>
                <a:cxn ang="0">
                  <a:pos x="0" y="624"/>
                </a:cxn>
                <a:cxn ang="0">
                  <a:pos x="319" y="943"/>
                </a:cxn>
                <a:cxn ang="0">
                  <a:pos x="332" y="943"/>
                </a:cxn>
                <a:cxn ang="0">
                  <a:pos x="332" y="624"/>
                </a:cxn>
                <a:cxn ang="0">
                  <a:pos x="332" y="319"/>
                </a:cxn>
                <a:cxn ang="0">
                  <a:pos x="332" y="0"/>
                </a:cxn>
                <a:cxn ang="0">
                  <a:pos x="319" y="0"/>
                </a:cxn>
                <a:cxn ang="0">
                  <a:pos x="0" y="319"/>
                </a:cxn>
                <a:cxn ang="0">
                  <a:pos x="27" y="624"/>
                </a:cxn>
                <a:cxn ang="0">
                  <a:pos x="27" y="319"/>
                </a:cxn>
                <a:cxn ang="0">
                  <a:pos x="112" y="112"/>
                </a:cxn>
                <a:cxn ang="0">
                  <a:pos x="305" y="27"/>
                </a:cxn>
                <a:cxn ang="0">
                  <a:pos x="305" y="319"/>
                </a:cxn>
                <a:cxn ang="0">
                  <a:pos x="305" y="624"/>
                </a:cxn>
                <a:cxn ang="0">
                  <a:pos x="305" y="916"/>
                </a:cxn>
                <a:cxn ang="0">
                  <a:pos x="112" y="831"/>
                </a:cxn>
                <a:cxn ang="0">
                  <a:pos x="27" y="624"/>
                </a:cxn>
              </a:cxnLst>
              <a:rect l="0" t="0" r="r" b="b"/>
              <a:pathLst>
                <a:path w="332" h="943">
                  <a:moveTo>
                    <a:pt x="0" y="319"/>
                  </a:moveTo>
                  <a:cubicBezTo>
                    <a:pt x="0" y="624"/>
                    <a:pt x="0" y="624"/>
                    <a:pt x="0" y="624"/>
                  </a:cubicBezTo>
                  <a:cubicBezTo>
                    <a:pt x="0" y="800"/>
                    <a:pt x="142" y="943"/>
                    <a:pt x="319" y="943"/>
                  </a:cubicBezTo>
                  <a:cubicBezTo>
                    <a:pt x="332" y="943"/>
                    <a:pt x="332" y="943"/>
                    <a:pt x="332" y="943"/>
                  </a:cubicBezTo>
                  <a:cubicBezTo>
                    <a:pt x="332" y="624"/>
                    <a:pt x="332" y="624"/>
                    <a:pt x="332" y="624"/>
                  </a:cubicBezTo>
                  <a:cubicBezTo>
                    <a:pt x="332" y="319"/>
                    <a:pt x="332" y="319"/>
                    <a:pt x="332" y="319"/>
                  </a:cubicBezTo>
                  <a:cubicBezTo>
                    <a:pt x="332" y="0"/>
                    <a:pt x="332" y="0"/>
                    <a:pt x="332" y="0"/>
                  </a:cubicBezTo>
                  <a:cubicBezTo>
                    <a:pt x="319" y="0"/>
                    <a:pt x="319" y="0"/>
                    <a:pt x="319" y="0"/>
                  </a:cubicBezTo>
                  <a:cubicBezTo>
                    <a:pt x="142" y="0"/>
                    <a:pt x="0" y="143"/>
                    <a:pt x="0" y="319"/>
                  </a:cubicBezTo>
                  <a:close/>
                  <a:moveTo>
                    <a:pt x="27" y="624"/>
                  </a:moveTo>
                  <a:cubicBezTo>
                    <a:pt x="27" y="319"/>
                    <a:pt x="27" y="319"/>
                    <a:pt x="27" y="319"/>
                  </a:cubicBezTo>
                  <a:cubicBezTo>
                    <a:pt x="27" y="238"/>
                    <a:pt x="59" y="165"/>
                    <a:pt x="112" y="112"/>
                  </a:cubicBezTo>
                  <a:cubicBezTo>
                    <a:pt x="162" y="62"/>
                    <a:pt x="230" y="31"/>
                    <a:pt x="305" y="27"/>
                  </a:cubicBezTo>
                  <a:cubicBezTo>
                    <a:pt x="305" y="319"/>
                    <a:pt x="305" y="319"/>
                    <a:pt x="305" y="319"/>
                  </a:cubicBezTo>
                  <a:cubicBezTo>
                    <a:pt x="305" y="624"/>
                    <a:pt x="305" y="624"/>
                    <a:pt x="305" y="624"/>
                  </a:cubicBezTo>
                  <a:cubicBezTo>
                    <a:pt x="305" y="916"/>
                    <a:pt x="305" y="916"/>
                    <a:pt x="305" y="916"/>
                  </a:cubicBezTo>
                  <a:cubicBezTo>
                    <a:pt x="230" y="912"/>
                    <a:pt x="162" y="881"/>
                    <a:pt x="112" y="831"/>
                  </a:cubicBezTo>
                  <a:cubicBezTo>
                    <a:pt x="59" y="778"/>
                    <a:pt x="27" y="705"/>
                    <a:pt x="27" y="62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sp>
        <p:nvSpPr>
          <p:cNvPr id="2" name="Titel 1"/>
          <p:cNvSpPr>
            <a:spLocks noGrp="1"/>
          </p:cNvSpPr>
          <p:nvPr>
            <p:ph type="title" hasCustomPrompt="1"/>
          </p:nvPr>
        </p:nvSpPr>
        <p:spPr/>
        <p:txBody>
          <a:bodyPr/>
          <a:lstStyle>
            <a:lvl1pPr>
              <a:defRPr/>
            </a:lvl1pPr>
          </a:lstStyle>
          <a:p>
            <a:r>
              <a:rPr lang="en-US" noProof="1" smtClean="0"/>
              <a:t>Title</a:t>
            </a:r>
            <a:endParaRPr lang="en-US" noProof="1"/>
          </a:p>
        </p:txBody>
      </p:sp>
      <p:sp>
        <p:nvSpPr>
          <p:cNvPr id="6" name="Tijdelijke aanduiding voor dianummer 5"/>
          <p:cNvSpPr>
            <a:spLocks noGrp="1"/>
          </p:cNvSpPr>
          <p:nvPr>
            <p:ph type="sldNum" sz="quarter" idx="10"/>
          </p:nvPr>
        </p:nvSpPr>
        <p:spPr/>
        <p:txBody>
          <a:bodyPr/>
          <a:lstStyle/>
          <a:p>
            <a:fld id="{1336C48C-F87C-4E4B-81EF-5027B17D1F61}" type="slidenum">
              <a:rPr lang="en-US" noProof="1" smtClean="0"/>
              <a:pPr/>
              <a:t>‹#›</a:t>
            </a:fld>
            <a:endParaRPr lang="en-US"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US" noProof="1" smtClean="0"/>
              <a:t>Title</a:t>
            </a:r>
            <a:endParaRPr 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c with lines and logo">
    <p:spTree>
      <p:nvGrpSpPr>
        <p:cNvPr id="1" name=""/>
        <p:cNvGrpSpPr/>
        <p:nvPr/>
      </p:nvGrpSpPr>
      <p:grpSpPr>
        <a:xfrm>
          <a:off x="0" y="0"/>
          <a:ext cx="0" cy="0"/>
          <a:chOff x="0" y="0"/>
          <a:chExt cx="0" cy="0"/>
        </a:xfrm>
      </p:grpSpPr>
      <p:grpSp>
        <p:nvGrpSpPr>
          <p:cNvPr id="3" name="Group 4"/>
          <p:cNvGrpSpPr>
            <a:grpSpLocks noChangeAspect="1"/>
          </p:cNvGrpSpPr>
          <p:nvPr userDrawn="1"/>
        </p:nvGrpSpPr>
        <p:grpSpPr bwMode="auto">
          <a:xfrm>
            <a:off x="393700" y="2143125"/>
            <a:ext cx="8358188" cy="4076700"/>
            <a:chOff x="248" y="1350"/>
            <a:chExt cx="5265" cy="2568"/>
          </a:xfrm>
        </p:grpSpPr>
        <p:sp>
          <p:nvSpPr>
            <p:cNvPr id="4" name="Rectangle 5"/>
            <p:cNvSpPr>
              <a:spLocks noChangeArrowheads="1"/>
            </p:cNvSpPr>
            <p:nvPr/>
          </p:nvSpPr>
          <p:spPr bwMode="auto">
            <a:xfrm>
              <a:off x="248" y="3912"/>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6" name="Freeform 6"/>
            <p:cNvSpPr>
              <a:spLocks/>
            </p:cNvSpPr>
            <p:nvPr/>
          </p:nvSpPr>
          <p:spPr bwMode="auto">
            <a:xfrm>
              <a:off x="248" y="3912"/>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8" name="Freeform 9"/>
            <p:cNvSpPr>
              <a:spLocks/>
            </p:cNvSpPr>
            <p:nvPr/>
          </p:nvSpPr>
          <p:spPr bwMode="auto">
            <a:xfrm>
              <a:off x="248" y="1350"/>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grpSp>
        <p:nvGrpSpPr>
          <p:cNvPr id="9" name="logo scp klein"/>
          <p:cNvGrpSpPr>
            <a:grpSpLocks noChangeAspect="1"/>
          </p:cNvGrpSpPr>
          <p:nvPr userDrawn="1"/>
        </p:nvGrpSpPr>
        <p:grpSpPr bwMode="auto">
          <a:xfrm>
            <a:off x="8236800" y="6426000"/>
            <a:ext cx="515900" cy="216000"/>
            <a:chOff x="1615" y="2638"/>
            <a:chExt cx="289" cy="121"/>
          </a:xfrm>
        </p:grpSpPr>
        <p:sp>
          <p:nvSpPr>
            <p:cNvPr id="10" name="Freeform 13"/>
            <p:cNvSpPr>
              <a:spLocks noEditPoints="1"/>
            </p:cNvSpPr>
            <p:nvPr/>
          </p:nvSpPr>
          <p:spPr bwMode="auto">
            <a:xfrm>
              <a:off x="1664" y="2678"/>
              <a:ext cx="42" cy="81"/>
            </a:xfrm>
            <a:custGeom>
              <a:avLst/>
              <a:gdLst/>
              <a:ahLst/>
              <a:cxnLst>
                <a:cxn ang="0">
                  <a:pos x="13" y="0"/>
                </a:cxn>
                <a:cxn ang="0">
                  <a:pos x="0" y="0"/>
                </a:cxn>
                <a:cxn ang="0">
                  <a:pos x="0" y="638"/>
                </a:cxn>
                <a:cxn ang="0">
                  <a:pos x="13" y="638"/>
                </a:cxn>
                <a:cxn ang="0">
                  <a:pos x="332" y="319"/>
                </a:cxn>
                <a:cxn ang="0">
                  <a:pos x="13" y="0"/>
                </a:cxn>
                <a:cxn ang="0">
                  <a:pos x="220" y="526"/>
                </a:cxn>
                <a:cxn ang="0">
                  <a:pos x="27" y="611"/>
                </a:cxn>
                <a:cxn ang="0">
                  <a:pos x="27" y="28"/>
                </a:cxn>
                <a:cxn ang="0">
                  <a:pos x="220" y="113"/>
                </a:cxn>
                <a:cxn ang="0">
                  <a:pos x="305" y="319"/>
                </a:cxn>
                <a:cxn ang="0">
                  <a:pos x="220" y="526"/>
                </a:cxn>
              </a:cxnLst>
              <a:rect l="0" t="0" r="r" b="b"/>
              <a:pathLst>
                <a:path w="332" h="638">
                  <a:moveTo>
                    <a:pt x="13" y="0"/>
                  </a:moveTo>
                  <a:cubicBezTo>
                    <a:pt x="0" y="0"/>
                    <a:pt x="0" y="0"/>
                    <a:pt x="0" y="0"/>
                  </a:cubicBezTo>
                  <a:cubicBezTo>
                    <a:pt x="0" y="638"/>
                    <a:pt x="0" y="638"/>
                    <a:pt x="0" y="638"/>
                  </a:cubicBezTo>
                  <a:cubicBezTo>
                    <a:pt x="13" y="638"/>
                    <a:pt x="13" y="638"/>
                    <a:pt x="13" y="638"/>
                  </a:cubicBezTo>
                  <a:cubicBezTo>
                    <a:pt x="190" y="638"/>
                    <a:pt x="332" y="495"/>
                    <a:pt x="332" y="319"/>
                  </a:cubicBezTo>
                  <a:cubicBezTo>
                    <a:pt x="332" y="143"/>
                    <a:pt x="190" y="0"/>
                    <a:pt x="13" y="0"/>
                  </a:cubicBezTo>
                  <a:close/>
                  <a:moveTo>
                    <a:pt x="220" y="526"/>
                  </a:moveTo>
                  <a:cubicBezTo>
                    <a:pt x="170" y="576"/>
                    <a:pt x="102" y="607"/>
                    <a:pt x="27" y="611"/>
                  </a:cubicBezTo>
                  <a:cubicBezTo>
                    <a:pt x="27" y="28"/>
                    <a:pt x="27" y="28"/>
                    <a:pt x="27" y="28"/>
                  </a:cubicBezTo>
                  <a:cubicBezTo>
                    <a:pt x="102" y="31"/>
                    <a:pt x="170" y="63"/>
                    <a:pt x="220" y="113"/>
                  </a:cubicBezTo>
                  <a:cubicBezTo>
                    <a:pt x="273" y="166"/>
                    <a:pt x="305" y="239"/>
                    <a:pt x="305" y="319"/>
                  </a:cubicBezTo>
                  <a:cubicBezTo>
                    <a:pt x="305" y="400"/>
                    <a:pt x="273" y="473"/>
                    <a:pt x="220" y="526"/>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1" name="Freeform 14"/>
            <p:cNvSpPr>
              <a:spLocks noEditPoints="1"/>
            </p:cNvSpPr>
            <p:nvPr/>
          </p:nvSpPr>
          <p:spPr bwMode="auto">
            <a:xfrm>
              <a:off x="1615" y="2717"/>
              <a:ext cx="42" cy="42"/>
            </a:xfrm>
            <a:custGeom>
              <a:avLst/>
              <a:gdLst/>
              <a:ahLst/>
              <a:cxnLst>
                <a:cxn ang="0">
                  <a:pos x="14" y="0"/>
                </a:cxn>
                <a:cxn ang="0">
                  <a:pos x="0" y="0"/>
                </a:cxn>
                <a:cxn ang="0">
                  <a:pos x="0" y="332"/>
                </a:cxn>
                <a:cxn ang="0">
                  <a:pos x="333" y="332"/>
                </a:cxn>
                <a:cxn ang="0">
                  <a:pos x="333" y="319"/>
                </a:cxn>
                <a:cxn ang="0">
                  <a:pos x="14" y="0"/>
                </a:cxn>
                <a:cxn ang="0">
                  <a:pos x="27" y="27"/>
                </a:cxn>
                <a:cxn ang="0">
                  <a:pos x="220" y="112"/>
                </a:cxn>
                <a:cxn ang="0">
                  <a:pos x="305" y="305"/>
                </a:cxn>
                <a:cxn ang="0">
                  <a:pos x="27" y="305"/>
                </a:cxn>
                <a:cxn ang="0">
                  <a:pos x="27" y="27"/>
                </a:cxn>
              </a:cxnLst>
              <a:rect l="0" t="0" r="r" b="b"/>
              <a:pathLst>
                <a:path w="333" h="332">
                  <a:moveTo>
                    <a:pt x="14" y="0"/>
                  </a:moveTo>
                  <a:cubicBezTo>
                    <a:pt x="0" y="0"/>
                    <a:pt x="0" y="0"/>
                    <a:pt x="0" y="0"/>
                  </a:cubicBezTo>
                  <a:cubicBezTo>
                    <a:pt x="0" y="332"/>
                    <a:pt x="0" y="332"/>
                    <a:pt x="0" y="332"/>
                  </a:cubicBezTo>
                  <a:cubicBezTo>
                    <a:pt x="333" y="332"/>
                    <a:pt x="333" y="332"/>
                    <a:pt x="333" y="332"/>
                  </a:cubicBezTo>
                  <a:cubicBezTo>
                    <a:pt x="333" y="319"/>
                    <a:pt x="333" y="319"/>
                    <a:pt x="333" y="319"/>
                  </a:cubicBezTo>
                  <a:cubicBezTo>
                    <a:pt x="333" y="143"/>
                    <a:pt x="190" y="0"/>
                    <a:pt x="14" y="0"/>
                  </a:cubicBezTo>
                  <a:close/>
                  <a:moveTo>
                    <a:pt x="27" y="27"/>
                  </a:moveTo>
                  <a:cubicBezTo>
                    <a:pt x="102" y="31"/>
                    <a:pt x="170" y="62"/>
                    <a:pt x="220" y="112"/>
                  </a:cubicBezTo>
                  <a:cubicBezTo>
                    <a:pt x="270" y="162"/>
                    <a:pt x="301" y="230"/>
                    <a:pt x="305" y="305"/>
                  </a:cubicBezTo>
                  <a:cubicBezTo>
                    <a:pt x="27" y="305"/>
                    <a:pt x="27" y="305"/>
                    <a:pt x="27" y="305"/>
                  </a:cubicBezTo>
                  <a:lnTo>
                    <a:pt x="27"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2" name="Freeform 15"/>
            <p:cNvSpPr>
              <a:spLocks noEditPoints="1"/>
            </p:cNvSpPr>
            <p:nvPr/>
          </p:nvSpPr>
          <p:spPr bwMode="auto">
            <a:xfrm>
              <a:off x="1615" y="2638"/>
              <a:ext cx="42" cy="82"/>
            </a:xfrm>
            <a:custGeom>
              <a:avLst/>
              <a:gdLst/>
              <a:ahLst/>
              <a:cxnLst>
                <a:cxn ang="0">
                  <a:pos x="0" y="318"/>
                </a:cxn>
                <a:cxn ang="0">
                  <a:pos x="319" y="637"/>
                </a:cxn>
                <a:cxn ang="0">
                  <a:pos x="333" y="637"/>
                </a:cxn>
                <a:cxn ang="0">
                  <a:pos x="333" y="0"/>
                </a:cxn>
                <a:cxn ang="0">
                  <a:pos x="319" y="0"/>
                </a:cxn>
                <a:cxn ang="0">
                  <a:pos x="0" y="318"/>
                </a:cxn>
                <a:cxn ang="0">
                  <a:pos x="27" y="318"/>
                </a:cxn>
                <a:cxn ang="0">
                  <a:pos x="113" y="112"/>
                </a:cxn>
                <a:cxn ang="0">
                  <a:pos x="306" y="27"/>
                </a:cxn>
                <a:cxn ang="0">
                  <a:pos x="306" y="610"/>
                </a:cxn>
                <a:cxn ang="0">
                  <a:pos x="113" y="525"/>
                </a:cxn>
                <a:cxn ang="0">
                  <a:pos x="27" y="318"/>
                </a:cxn>
              </a:cxnLst>
              <a:rect l="0" t="0" r="r" b="b"/>
              <a:pathLst>
                <a:path w="333" h="637">
                  <a:moveTo>
                    <a:pt x="0" y="318"/>
                  </a:moveTo>
                  <a:cubicBezTo>
                    <a:pt x="0" y="495"/>
                    <a:pt x="143" y="637"/>
                    <a:pt x="319" y="637"/>
                  </a:cubicBezTo>
                  <a:cubicBezTo>
                    <a:pt x="333" y="637"/>
                    <a:pt x="333" y="637"/>
                    <a:pt x="333" y="637"/>
                  </a:cubicBezTo>
                  <a:cubicBezTo>
                    <a:pt x="333" y="0"/>
                    <a:pt x="333" y="0"/>
                    <a:pt x="333" y="0"/>
                  </a:cubicBezTo>
                  <a:cubicBezTo>
                    <a:pt x="319" y="0"/>
                    <a:pt x="319" y="0"/>
                    <a:pt x="319" y="0"/>
                  </a:cubicBezTo>
                  <a:cubicBezTo>
                    <a:pt x="143" y="0"/>
                    <a:pt x="0" y="142"/>
                    <a:pt x="0" y="318"/>
                  </a:cubicBezTo>
                  <a:close/>
                  <a:moveTo>
                    <a:pt x="27" y="318"/>
                  </a:moveTo>
                  <a:cubicBezTo>
                    <a:pt x="27" y="238"/>
                    <a:pt x="60" y="165"/>
                    <a:pt x="113" y="112"/>
                  </a:cubicBezTo>
                  <a:cubicBezTo>
                    <a:pt x="162" y="62"/>
                    <a:pt x="230" y="31"/>
                    <a:pt x="306" y="27"/>
                  </a:cubicBezTo>
                  <a:cubicBezTo>
                    <a:pt x="306" y="610"/>
                    <a:pt x="306" y="610"/>
                    <a:pt x="306" y="610"/>
                  </a:cubicBezTo>
                  <a:cubicBezTo>
                    <a:pt x="230" y="606"/>
                    <a:pt x="162" y="575"/>
                    <a:pt x="113" y="525"/>
                  </a:cubicBezTo>
                  <a:cubicBezTo>
                    <a:pt x="60" y="472"/>
                    <a:pt x="27" y="399"/>
                    <a:pt x="27" y="318"/>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3" name="Freeform 16"/>
            <p:cNvSpPr>
              <a:spLocks noEditPoints="1"/>
            </p:cNvSpPr>
            <p:nvPr/>
          </p:nvSpPr>
          <p:spPr bwMode="auto">
            <a:xfrm>
              <a:off x="1763" y="2717"/>
              <a:ext cx="43" cy="42"/>
            </a:xfrm>
            <a:custGeom>
              <a:avLst/>
              <a:gdLst/>
              <a:ahLst/>
              <a:cxnLst>
                <a:cxn ang="0">
                  <a:pos x="0" y="332"/>
                </a:cxn>
                <a:cxn ang="0">
                  <a:pos x="13" y="332"/>
                </a:cxn>
                <a:cxn ang="0">
                  <a:pos x="332" y="13"/>
                </a:cxn>
                <a:cxn ang="0">
                  <a:pos x="332" y="0"/>
                </a:cxn>
                <a:cxn ang="0">
                  <a:pos x="0" y="0"/>
                </a:cxn>
                <a:cxn ang="0">
                  <a:pos x="0" y="332"/>
                </a:cxn>
                <a:cxn ang="0">
                  <a:pos x="304" y="27"/>
                </a:cxn>
                <a:cxn ang="0">
                  <a:pos x="219" y="220"/>
                </a:cxn>
                <a:cxn ang="0">
                  <a:pos x="26" y="305"/>
                </a:cxn>
                <a:cxn ang="0">
                  <a:pos x="26" y="27"/>
                </a:cxn>
                <a:cxn ang="0">
                  <a:pos x="304" y="27"/>
                </a:cxn>
              </a:cxnLst>
              <a:rect l="0" t="0" r="r" b="b"/>
              <a:pathLst>
                <a:path w="332" h="332">
                  <a:moveTo>
                    <a:pt x="0" y="332"/>
                  </a:moveTo>
                  <a:cubicBezTo>
                    <a:pt x="13" y="332"/>
                    <a:pt x="13" y="332"/>
                    <a:pt x="13" y="332"/>
                  </a:cubicBezTo>
                  <a:cubicBezTo>
                    <a:pt x="189" y="332"/>
                    <a:pt x="332" y="189"/>
                    <a:pt x="332" y="13"/>
                  </a:cubicBezTo>
                  <a:cubicBezTo>
                    <a:pt x="332" y="0"/>
                    <a:pt x="332" y="0"/>
                    <a:pt x="332" y="0"/>
                  </a:cubicBezTo>
                  <a:cubicBezTo>
                    <a:pt x="0" y="0"/>
                    <a:pt x="0" y="0"/>
                    <a:pt x="0" y="0"/>
                  </a:cubicBezTo>
                  <a:lnTo>
                    <a:pt x="0" y="332"/>
                  </a:lnTo>
                  <a:close/>
                  <a:moveTo>
                    <a:pt x="304" y="27"/>
                  </a:moveTo>
                  <a:cubicBezTo>
                    <a:pt x="301" y="102"/>
                    <a:pt x="269" y="170"/>
                    <a:pt x="219" y="220"/>
                  </a:cubicBezTo>
                  <a:cubicBezTo>
                    <a:pt x="170" y="270"/>
                    <a:pt x="102" y="301"/>
                    <a:pt x="26" y="305"/>
                  </a:cubicBezTo>
                  <a:cubicBezTo>
                    <a:pt x="26" y="27"/>
                    <a:pt x="26" y="27"/>
                    <a:pt x="26" y="27"/>
                  </a:cubicBezTo>
                  <a:lnTo>
                    <a:pt x="304"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4" name="Freeform 17"/>
            <p:cNvSpPr>
              <a:spLocks noEditPoints="1"/>
            </p:cNvSpPr>
            <p:nvPr/>
          </p:nvSpPr>
          <p:spPr bwMode="auto">
            <a:xfrm>
              <a:off x="1664" y="2638"/>
              <a:ext cx="42" cy="43"/>
            </a:xfrm>
            <a:custGeom>
              <a:avLst/>
              <a:gdLst/>
              <a:ahLst/>
              <a:cxnLst>
                <a:cxn ang="0">
                  <a:pos x="0" y="13"/>
                </a:cxn>
                <a:cxn ang="0">
                  <a:pos x="319" y="332"/>
                </a:cxn>
                <a:cxn ang="0">
                  <a:pos x="332" y="332"/>
                </a:cxn>
                <a:cxn ang="0">
                  <a:pos x="332" y="0"/>
                </a:cxn>
                <a:cxn ang="0">
                  <a:pos x="0" y="0"/>
                </a:cxn>
                <a:cxn ang="0">
                  <a:pos x="0" y="13"/>
                </a:cxn>
                <a:cxn ang="0">
                  <a:pos x="305" y="304"/>
                </a:cxn>
                <a:cxn ang="0">
                  <a:pos x="112" y="220"/>
                </a:cxn>
                <a:cxn ang="0">
                  <a:pos x="28" y="27"/>
                </a:cxn>
                <a:cxn ang="0">
                  <a:pos x="305" y="27"/>
                </a:cxn>
                <a:cxn ang="0">
                  <a:pos x="305" y="304"/>
                </a:cxn>
              </a:cxnLst>
              <a:rect l="0" t="0" r="r" b="b"/>
              <a:pathLst>
                <a:path w="332" h="332">
                  <a:moveTo>
                    <a:pt x="0" y="13"/>
                  </a:moveTo>
                  <a:cubicBezTo>
                    <a:pt x="0" y="189"/>
                    <a:pt x="143" y="332"/>
                    <a:pt x="319" y="332"/>
                  </a:cubicBezTo>
                  <a:cubicBezTo>
                    <a:pt x="332" y="332"/>
                    <a:pt x="332" y="332"/>
                    <a:pt x="332" y="332"/>
                  </a:cubicBezTo>
                  <a:cubicBezTo>
                    <a:pt x="332" y="0"/>
                    <a:pt x="332" y="0"/>
                    <a:pt x="332" y="0"/>
                  </a:cubicBezTo>
                  <a:cubicBezTo>
                    <a:pt x="0" y="0"/>
                    <a:pt x="0" y="0"/>
                    <a:pt x="0" y="0"/>
                  </a:cubicBezTo>
                  <a:lnTo>
                    <a:pt x="0" y="13"/>
                  </a:lnTo>
                  <a:close/>
                  <a:moveTo>
                    <a:pt x="305" y="304"/>
                  </a:moveTo>
                  <a:cubicBezTo>
                    <a:pt x="230" y="301"/>
                    <a:pt x="162" y="269"/>
                    <a:pt x="112" y="220"/>
                  </a:cubicBezTo>
                  <a:cubicBezTo>
                    <a:pt x="63" y="170"/>
                    <a:pt x="31" y="102"/>
                    <a:pt x="28" y="27"/>
                  </a:cubicBezTo>
                  <a:cubicBezTo>
                    <a:pt x="305" y="27"/>
                    <a:pt x="305" y="27"/>
                    <a:pt x="305" y="27"/>
                  </a:cubicBezTo>
                  <a:lnTo>
                    <a:pt x="305" y="30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5" name="Freeform 18"/>
            <p:cNvSpPr>
              <a:spLocks noEditPoints="1"/>
            </p:cNvSpPr>
            <p:nvPr/>
          </p:nvSpPr>
          <p:spPr bwMode="auto">
            <a:xfrm>
              <a:off x="1814" y="2638"/>
              <a:ext cx="41" cy="121"/>
            </a:xfrm>
            <a:custGeom>
              <a:avLst/>
              <a:gdLst/>
              <a:ahLst/>
              <a:cxnLst>
                <a:cxn ang="0">
                  <a:pos x="0" y="120"/>
                </a:cxn>
                <a:cxn ang="0">
                  <a:pos x="0" y="121"/>
                </a:cxn>
                <a:cxn ang="0">
                  <a:pos x="41" y="121"/>
                </a:cxn>
                <a:cxn ang="0">
                  <a:pos x="41" y="0"/>
                </a:cxn>
                <a:cxn ang="0">
                  <a:pos x="0" y="0"/>
                </a:cxn>
                <a:cxn ang="0">
                  <a:pos x="0" y="120"/>
                </a:cxn>
                <a:cxn ang="0">
                  <a:pos x="37" y="4"/>
                </a:cxn>
                <a:cxn ang="0">
                  <a:pos x="37" y="118"/>
                </a:cxn>
                <a:cxn ang="0">
                  <a:pos x="4" y="118"/>
                </a:cxn>
                <a:cxn ang="0">
                  <a:pos x="4" y="4"/>
                </a:cxn>
                <a:cxn ang="0">
                  <a:pos x="37" y="4"/>
                </a:cxn>
              </a:cxnLst>
              <a:rect l="0" t="0" r="r" b="b"/>
              <a:pathLst>
                <a:path w="41" h="121">
                  <a:moveTo>
                    <a:pt x="0" y="120"/>
                  </a:moveTo>
                  <a:lnTo>
                    <a:pt x="0" y="121"/>
                  </a:lnTo>
                  <a:lnTo>
                    <a:pt x="41" y="121"/>
                  </a:lnTo>
                  <a:lnTo>
                    <a:pt x="41" y="0"/>
                  </a:lnTo>
                  <a:lnTo>
                    <a:pt x="0" y="0"/>
                  </a:lnTo>
                  <a:lnTo>
                    <a:pt x="0" y="120"/>
                  </a:lnTo>
                  <a:close/>
                  <a:moveTo>
                    <a:pt x="37" y="4"/>
                  </a:moveTo>
                  <a:lnTo>
                    <a:pt x="37" y="118"/>
                  </a:lnTo>
                  <a:lnTo>
                    <a:pt x="4" y="118"/>
                  </a:lnTo>
                  <a:lnTo>
                    <a:pt x="4" y="4"/>
                  </a:lnTo>
                  <a:lnTo>
                    <a:pt x="37" y="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6" name="Freeform 19"/>
            <p:cNvSpPr>
              <a:spLocks noEditPoints="1"/>
            </p:cNvSpPr>
            <p:nvPr/>
          </p:nvSpPr>
          <p:spPr bwMode="auto">
            <a:xfrm>
              <a:off x="1861" y="2638"/>
              <a:ext cx="43" cy="82"/>
            </a:xfrm>
            <a:custGeom>
              <a:avLst/>
              <a:gdLst/>
              <a:ahLst/>
              <a:cxnLst>
                <a:cxn ang="0">
                  <a:pos x="14" y="0"/>
                </a:cxn>
                <a:cxn ang="0">
                  <a:pos x="0" y="0"/>
                </a:cxn>
                <a:cxn ang="0">
                  <a:pos x="0" y="638"/>
                </a:cxn>
                <a:cxn ang="0">
                  <a:pos x="14" y="638"/>
                </a:cxn>
                <a:cxn ang="0">
                  <a:pos x="333" y="319"/>
                </a:cxn>
                <a:cxn ang="0">
                  <a:pos x="14" y="0"/>
                </a:cxn>
                <a:cxn ang="0">
                  <a:pos x="220" y="525"/>
                </a:cxn>
                <a:cxn ang="0">
                  <a:pos x="27" y="610"/>
                </a:cxn>
                <a:cxn ang="0">
                  <a:pos x="27" y="28"/>
                </a:cxn>
                <a:cxn ang="0">
                  <a:pos x="220" y="112"/>
                </a:cxn>
                <a:cxn ang="0">
                  <a:pos x="306" y="319"/>
                </a:cxn>
                <a:cxn ang="0">
                  <a:pos x="220" y="525"/>
                </a:cxn>
              </a:cxnLst>
              <a:rect l="0" t="0" r="r" b="b"/>
              <a:pathLst>
                <a:path w="333" h="638">
                  <a:moveTo>
                    <a:pt x="14" y="0"/>
                  </a:moveTo>
                  <a:cubicBezTo>
                    <a:pt x="0" y="0"/>
                    <a:pt x="0" y="0"/>
                    <a:pt x="0" y="0"/>
                  </a:cubicBezTo>
                  <a:cubicBezTo>
                    <a:pt x="0" y="638"/>
                    <a:pt x="0" y="638"/>
                    <a:pt x="0" y="638"/>
                  </a:cubicBezTo>
                  <a:cubicBezTo>
                    <a:pt x="14" y="638"/>
                    <a:pt x="14" y="638"/>
                    <a:pt x="14" y="638"/>
                  </a:cubicBezTo>
                  <a:cubicBezTo>
                    <a:pt x="190" y="638"/>
                    <a:pt x="333" y="495"/>
                    <a:pt x="333" y="319"/>
                  </a:cubicBezTo>
                  <a:cubicBezTo>
                    <a:pt x="333" y="143"/>
                    <a:pt x="190" y="0"/>
                    <a:pt x="14" y="0"/>
                  </a:cubicBezTo>
                  <a:close/>
                  <a:moveTo>
                    <a:pt x="220" y="525"/>
                  </a:moveTo>
                  <a:cubicBezTo>
                    <a:pt x="170" y="575"/>
                    <a:pt x="103" y="607"/>
                    <a:pt x="27" y="610"/>
                  </a:cubicBezTo>
                  <a:cubicBezTo>
                    <a:pt x="27" y="28"/>
                    <a:pt x="27" y="28"/>
                    <a:pt x="27" y="28"/>
                  </a:cubicBezTo>
                  <a:cubicBezTo>
                    <a:pt x="103" y="31"/>
                    <a:pt x="170" y="63"/>
                    <a:pt x="220" y="112"/>
                  </a:cubicBezTo>
                  <a:cubicBezTo>
                    <a:pt x="273" y="165"/>
                    <a:pt x="306" y="238"/>
                    <a:pt x="306" y="319"/>
                  </a:cubicBezTo>
                  <a:cubicBezTo>
                    <a:pt x="306" y="400"/>
                    <a:pt x="273" y="473"/>
                    <a:pt x="220" y="525"/>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7" name="Freeform 20"/>
            <p:cNvSpPr>
              <a:spLocks noEditPoints="1"/>
            </p:cNvSpPr>
            <p:nvPr/>
          </p:nvSpPr>
          <p:spPr bwMode="auto">
            <a:xfrm>
              <a:off x="1763" y="2638"/>
              <a:ext cx="43" cy="43"/>
            </a:xfrm>
            <a:custGeom>
              <a:avLst/>
              <a:gdLst/>
              <a:ahLst/>
              <a:cxnLst>
                <a:cxn ang="0">
                  <a:pos x="0" y="332"/>
                </a:cxn>
                <a:cxn ang="0">
                  <a:pos x="13" y="332"/>
                </a:cxn>
                <a:cxn ang="0">
                  <a:pos x="332" y="13"/>
                </a:cxn>
                <a:cxn ang="0">
                  <a:pos x="332" y="0"/>
                </a:cxn>
                <a:cxn ang="0">
                  <a:pos x="0" y="0"/>
                </a:cxn>
                <a:cxn ang="0">
                  <a:pos x="0" y="332"/>
                </a:cxn>
                <a:cxn ang="0">
                  <a:pos x="305" y="27"/>
                </a:cxn>
                <a:cxn ang="0">
                  <a:pos x="220" y="220"/>
                </a:cxn>
                <a:cxn ang="0">
                  <a:pos x="27" y="305"/>
                </a:cxn>
                <a:cxn ang="0">
                  <a:pos x="27" y="27"/>
                </a:cxn>
                <a:cxn ang="0">
                  <a:pos x="305" y="27"/>
                </a:cxn>
              </a:cxnLst>
              <a:rect l="0" t="0" r="r" b="b"/>
              <a:pathLst>
                <a:path w="332" h="332">
                  <a:moveTo>
                    <a:pt x="0" y="332"/>
                  </a:moveTo>
                  <a:cubicBezTo>
                    <a:pt x="13" y="332"/>
                    <a:pt x="13" y="332"/>
                    <a:pt x="13" y="332"/>
                  </a:cubicBezTo>
                  <a:cubicBezTo>
                    <a:pt x="190" y="332"/>
                    <a:pt x="332" y="189"/>
                    <a:pt x="332" y="13"/>
                  </a:cubicBezTo>
                  <a:cubicBezTo>
                    <a:pt x="332" y="0"/>
                    <a:pt x="332" y="0"/>
                    <a:pt x="332" y="0"/>
                  </a:cubicBezTo>
                  <a:cubicBezTo>
                    <a:pt x="0" y="0"/>
                    <a:pt x="0" y="0"/>
                    <a:pt x="0" y="0"/>
                  </a:cubicBezTo>
                  <a:lnTo>
                    <a:pt x="0" y="332"/>
                  </a:lnTo>
                  <a:close/>
                  <a:moveTo>
                    <a:pt x="305" y="27"/>
                  </a:moveTo>
                  <a:cubicBezTo>
                    <a:pt x="301" y="102"/>
                    <a:pt x="270" y="170"/>
                    <a:pt x="220" y="220"/>
                  </a:cubicBezTo>
                  <a:cubicBezTo>
                    <a:pt x="170" y="270"/>
                    <a:pt x="102" y="301"/>
                    <a:pt x="27" y="305"/>
                  </a:cubicBezTo>
                  <a:cubicBezTo>
                    <a:pt x="27" y="27"/>
                    <a:pt x="27" y="27"/>
                    <a:pt x="27" y="27"/>
                  </a:cubicBezTo>
                  <a:lnTo>
                    <a:pt x="305"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8" name="Freeform 21"/>
            <p:cNvSpPr>
              <a:spLocks noEditPoints="1"/>
            </p:cNvSpPr>
            <p:nvPr/>
          </p:nvSpPr>
          <p:spPr bwMode="auto">
            <a:xfrm>
              <a:off x="1714" y="2638"/>
              <a:ext cx="43" cy="121"/>
            </a:xfrm>
            <a:custGeom>
              <a:avLst/>
              <a:gdLst/>
              <a:ahLst/>
              <a:cxnLst>
                <a:cxn ang="0">
                  <a:pos x="0" y="319"/>
                </a:cxn>
                <a:cxn ang="0">
                  <a:pos x="0" y="624"/>
                </a:cxn>
                <a:cxn ang="0">
                  <a:pos x="319" y="943"/>
                </a:cxn>
                <a:cxn ang="0">
                  <a:pos x="332" y="943"/>
                </a:cxn>
                <a:cxn ang="0">
                  <a:pos x="332" y="624"/>
                </a:cxn>
                <a:cxn ang="0">
                  <a:pos x="332" y="319"/>
                </a:cxn>
                <a:cxn ang="0">
                  <a:pos x="332" y="0"/>
                </a:cxn>
                <a:cxn ang="0">
                  <a:pos x="319" y="0"/>
                </a:cxn>
                <a:cxn ang="0">
                  <a:pos x="0" y="319"/>
                </a:cxn>
                <a:cxn ang="0">
                  <a:pos x="27" y="624"/>
                </a:cxn>
                <a:cxn ang="0">
                  <a:pos x="27" y="319"/>
                </a:cxn>
                <a:cxn ang="0">
                  <a:pos x="112" y="112"/>
                </a:cxn>
                <a:cxn ang="0">
                  <a:pos x="305" y="27"/>
                </a:cxn>
                <a:cxn ang="0">
                  <a:pos x="305" y="319"/>
                </a:cxn>
                <a:cxn ang="0">
                  <a:pos x="305" y="624"/>
                </a:cxn>
                <a:cxn ang="0">
                  <a:pos x="305" y="916"/>
                </a:cxn>
                <a:cxn ang="0">
                  <a:pos x="112" y="831"/>
                </a:cxn>
                <a:cxn ang="0">
                  <a:pos x="27" y="624"/>
                </a:cxn>
              </a:cxnLst>
              <a:rect l="0" t="0" r="r" b="b"/>
              <a:pathLst>
                <a:path w="332" h="943">
                  <a:moveTo>
                    <a:pt x="0" y="319"/>
                  </a:moveTo>
                  <a:cubicBezTo>
                    <a:pt x="0" y="624"/>
                    <a:pt x="0" y="624"/>
                    <a:pt x="0" y="624"/>
                  </a:cubicBezTo>
                  <a:cubicBezTo>
                    <a:pt x="0" y="800"/>
                    <a:pt x="142" y="943"/>
                    <a:pt x="319" y="943"/>
                  </a:cubicBezTo>
                  <a:cubicBezTo>
                    <a:pt x="332" y="943"/>
                    <a:pt x="332" y="943"/>
                    <a:pt x="332" y="943"/>
                  </a:cubicBezTo>
                  <a:cubicBezTo>
                    <a:pt x="332" y="624"/>
                    <a:pt x="332" y="624"/>
                    <a:pt x="332" y="624"/>
                  </a:cubicBezTo>
                  <a:cubicBezTo>
                    <a:pt x="332" y="319"/>
                    <a:pt x="332" y="319"/>
                    <a:pt x="332" y="319"/>
                  </a:cubicBezTo>
                  <a:cubicBezTo>
                    <a:pt x="332" y="0"/>
                    <a:pt x="332" y="0"/>
                    <a:pt x="332" y="0"/>
                  </a:cubicBezTo>
                  <a:cubicBezTo>
                    <a:pt x="319" y="0"/>
                    <a:pt x="319" y="0"/>
                    <a:pt x="319" y="0"/>
                  </a:cubicBezTo>
                  <a:cubicBezTo>
                    <a:pt x="142" y="0"/>
                    <a:pt x="0" y="143"/>
                    <a:pt x="0" y="319"/>
                  </a:cubicBezTo>
                  <a:close/>
                  <a:moveTo>
                    <a:pt x="27" y="624"/>
                  </a:moveTo>
                  <a:cubicBezTo>
                    <a:pt x="27" y="319"/>
                    <a:pt x="27" y="319"/>
                    <a:pt x="27" y="319"/>
                  </a:cubicBezTo>
                  <a:cubicBezTo>
                    <a:pt x="27" y="238"/>
                    <a:pt x="59" y="165"/>
                    <a:pt x="112" y="112"/>
                  </a:cubicBezTo>
                  <a:cubicBezTo>
                    <a:pt x="162" y="62"/>
                    <a:pt x="230" y="31"/>
                    <a:pt x="305" y="27"/>
                  </a:cubicBezTo>
                  <a:cubicBezTo>
                    <a:pt x="305" y="319"/>
                    <a:pt x="305" y="319"/>
                    <a:pt x="305" y="319"/>
                  </a:cubicBezTo>
                  <a:cubicBezTo>
                    <a:pt x="305" y="624"/>
                    <a:pt x="305" y="624"/>
                    <a:pt x="305" y="624"/>
                  </a:cubicBezTo>
                  <a:cubicBezTo>
                    <a:pt x="305" y="916"/>
                    <a:pt x="305" y="916"/>
                    <a:pt x="305" y="916"/>
                  </a:cubicBezTo>
                  <a:cubicBezTo>
                    <a:pt x="230" y="912"/>
                    <a:pt x="162" y="881"/>
                    <a:pt x="112" y="831"/>
                  </a:cubicBezTo>
                  <a:cubicBezTo>
                    <a:pt x="59" y="778"/>
                    <a:pt x="27" y="705"/>
                    <a:pt x="27" y="62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sp>
        <p:nvSpPr>
          <p:cNvPr id="5" name="Tijdelijke aanduiding voor dianummer 4"/>
          <p:cNvSpPr>
            <a:spLocks noGrp="1"/>
          </p:cNvSpPr>
          <p:nvPr>
            <p:ph type="sldNum" sz="quarter" idx="10"/>
          </p:nvPr>
        </p:nvSpPr>
        <p:spPr/>
        <p:txBody>
          <a:bodyPr/>
          <a:lstStyle/>
          <a:p>
            <a:r>
              <a:rPr lang="en-US" noProof="1" smtClean="0"/>
              <a:t>2</a:t>
            </a:r>
            <a:fld id="{1336C48C-F87C-4E4B-81EF-5027B17D1F61}" type="slidenum">
              <a:rPr lang="en-US" noProof="1" smtClean="0"/>
              <a:pPr/>
              <a:t>‹#›</a:t>
            </a:fld>
            <a:endParaRPr 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Use example slide (Title)">
    <p:spTree>
      <p:nvGrpSpPr>
        <p:cNvPr id="1" name=""/>
        <p:cNvGrpSpPr/>
        <p:nvPr/>
      </p:nvGrpSpPr>
      <p:grpSpPr>
        <a:xfrm>
          <a:off x="0" y="0"/>
          <a:ext cx="0" cy="0"/>
          <a:chOff x="0" y="0"/>
          <a:chExt cx="0" cy="0"/>
        </a:xfrm>
      </p:grpSpPr>
      <p:sp>
        <p:nvSpPr>
          <p:cNvPr id="8" name="Tijdelijke aanduiding voor afbeelding 7"/>
          <p:cNvSpPr>
            <a:spLocks noGrp="1"/>
          </p:cNvSpPr>
          <p:nvPr>
            <p:ph type="pic" sz="quarter" idx="11" hasCustomPrompt="1"/>
          </p:nvPr>
        </p:nvSpPr>
        <p:spPr>
          <a:xfrm>
            <a:off x="361949" y="2333624"/>
            <a:ext cx="1944000" cy="3816000"/>
          </a:xfrm>
          <a:solidFill>
            <a:schemeClr val="accent2"/>
          </a:solidFill>
        </p:spPr>
        <p:txBody>
          <a:bodyPr/>
          <a:lstStyle>
            <a:lvl1pPr marL="0" indent="0" algn="l">
              <a:buFontTx/>
              <a:buNone/>
              <a:defRPr sz="1100">
                <a:solidFill>
                  <a:schemeClr val="tx1"/>
                </a:solidFill>
              </a:defRPr>
            </a:lvl1pPr>
          </a:lstStyle>
          <a:p>
            <a:r>
              <a:rPr lang="en-US" noProof="1" smtClean="0"/>
              <a:t>Picture</a:t>
            </a:r>
            <a:endParaRPr lang="en-US" noProof="1"/>
          </a:p>
        </p:txBody>
      </p:sp>
      <p:sp>
        <p:nvSpPr>
          <p:cNvPr id="54" name="Tijdelijke aanduiding voor afbeelding 7"/>
          <p:cNvSpPr>
            <a:spLocks noGrp="1"/>
          </p:cNvSpPr>
          <p:nvPr>
            <p:ph type="pic" sz="quarter" idx="15" hasCustomPrompt="1"/>
          </p:nvPr>
        </p:nvSpPr>
        <p:spPr>
          <a:xfrm>
            <a:off x="6848474" y="2333624"/>
            <a:ext cx="1944000" cy="3816000"/>
          </a:xfrm>
          <a:solidFill>
            <a:schemeClr val="accent2"/>
          </a:solidFill>
        </p:spPr>
        <p:txBody>
          <a:bodyPr/>
          <a:lstStyle>
            <a:lvl1pPr marL="0" indent="0" algn="r">
              <a:buFontTx/>
              <a:buNone/>
              <a:defRPr sz="1100">
                <a:solidFill>
                  <a:schemeClr val="tx1"/>
                </a:solidFill>
              </a:defRPr>
            </a:lvl1pPr>
          </a:lstStyle>
          <a:p>
            <a:r>
              <a:rPr lang="en-US" noProof="1" smtClean="0"/>
              <a:t>Picture</a:t>
            </a:r>
            <a:endParaRPr lang="en-US" noProof="1"/>
          </a:p>
        </p:txBody>
      </p:sp>
      <p:sp>
        <p:nvSpPr>
          <p:cNvPr id="55" name="Tijdelijke aanduiding voor afbeelding 7"/>
          <p:cNvSpPr>
            <a:spLocks noGrp="1"/>
          </p:cNvSpPr>
          <p:nvPr>
            <p:ph type="pic" sz="quarter" idx="16" hasCustomPrompt="1"/>
          </p:nvPr>
        </p:nvSpPr>
        <p:spPr>
          <a:xfrm>
            <a:off x="2552699" y="2333624"/>
            <a:ext cx="4032000" cy="3816000"/>
          </a:xfrm>
          <a:solidFill>
            <a:schemeClr val="accent2"/>
          </a:solidFill>
        </p:spPr>
        <p:txBody>
          <a:bodyPr/>
          <a:lstStyle>
            <a:lvl1pPr marL="0" indent="0" algn="l">
              <a:buFontTx/>
              <a:buNone/>
              <a:defRPr sz="1100">
                <a:solidFill>
                  <a:schemeClr val="tx1"/>
                </a:solidFill>
              </a:defRPr>
            </a:lvl1pPr>
          </a:lstStyle>
          <a:p>
            <a:r>
              <a:rPr lang="en-US" noProof="1" smtClean="0"/>
              <a:t>---------------        --------Picture</a:t>
            </a:r>
            <a:endParaRPr lang="en-US" noProof="1"/>
          </a:p>
        </p:txBody>
      </p:sp>
      <p:grpSp>
        <p:nvGrpSpPr>
          <p:cNvPr id="18" name="Group 24"/>
          <p:cNvGrpSpPr>
            <a:grpSpLocks noChangeAspect="1"/>
          </p:cNvGrpSpPr>
          <p:nvPr userDrawn="1"/>
        </p:nvGrpSpPr>
        <p:grpSpPr bwMode="auto">
          <a:xfrm>
            <a:off x="6948264" y="188640"/>
            <a:ext cx="1800200" cy="1616760"/>
            <a:chOff x="3567" y="154"/>
            <a:chExt cx="579" cy="520"/>
          </a:xfrm>
        </p:grpSpPr>
        <p:sp>
          <p:nvSpPr>
            <p:cNvPr id="19" name="Freeform 25"/>
            <p:cNvSpPr>
              <a:spLocks noEditPoints="1"/>
            </p:cNvSpPr>
            <p:nvPr/>
          </p:nvSpPr>
          <p:spPr bwMode="auto">
            <a:xfrm>
              <a:off x="3665" y="232"/>
              <a:ext cx="86" cy="164"/>
            </a:xfrm>
            <a:custGeom>
              <a:avLst/>
              <a:gdLst/>
              <a:ahLst/>
              <a:cxnLst>
                <a:cxn ang="0">
                  <a:pos x="666" y="638"/>
                </a:cxn>
                <a:cxn ang="0">
                  <a:pos x="27" y="0"/>
                </a:cxn>
                <a:cxn ang="0">
                  <a:pos x="0" y="0"/>
                </a:cxn>
                <a:cxn ang="0">
                  <a:pos x="0" y="1277"/>
                </a:cxn>
                <a:cxn ang="0">
                  <a:pos x="27" y="1277"/>
                </a:cxn>
                <a:cxn ang="0">
                  <a:pos x="666" y="638"/>
                </a:cxn>
                <a:cxn ang="0">
                  <a:pos x="612" y="638"/>
                </a:cxn>
                <a:cxn ang="0">
                  <a:pos x="440" y="1052"/>
                </a:cxn>
                <a:cxn ang="0">
                  <a:pos x="54" y="1221"/>
                </a:cxn>
                <a:cxn ang="0">
                  <a:pos x="54" y="55"/>
                </a:cxn>
                <a:cxn ang="0">
                  <a:pos x="440" y="225"/>
                </a:cxn>
                <a:cxn ang="0">
                  <a:pos x="612" y="638"/>
                </a:cxn>
              </a:cxnLst>
              <a:rect l="0" t="0" r="r" b="b"/>
              <a:pathLst>
                <a:path w="666" h="1277">
                  <a:moveTo>
                    <a:pt x="666" y="638"/>
                  </a:moveTo>
                  <a:cubicBezTo>
                    <a:pt x="666" y="286"/>
                    <a:pt x="380" y="0"/>
                    <a:pt x="27" y="0"/>
                  </a:cubicBezTo>
                  <a:cubicBezTo>
                    <a:pt x="0" y="0"/>
                    <a:pt x="0" y="0"/>
                    <a:pt x="0" y="0"/>
                  </a:cubicBezTo>
                  <a:cubicBezTo>
                    <a:pt x="0" y="1277"/>
                    <a:pt x="0" y="1277"/>
                    <a:pt x="0" y="1277"/>
                  </a:cubicBezTo>
                  <a:cubicBezTo>
                    <a:pt x="27" y="1277"/>
                    <a:pt x="27" y="1277"/>
                    <a:pt x="27" y="1277"/>
                  </a:cubicBezTo>
                  <a:cubicBezTo>
                    <a:pt x="380" y="1277"/>
                    <a:pt x="666" y="991"/>
                    <a:pt x="666" y="638"/>
                  </a:cubicBezTo>
                  <a:close/>
                  <a:moveTo>
                    <a:pt x="612" y="638"/>
                  </a:moveTo>
                  <a:cubicBezTo>
                    <a:pt x="612" y="800"/>
                    <a:pt x="546" y="946"/>
                    <a:pt x="440" y="1052"/>
                  </a:cubicBezTo>
                  <a:cubicBezTo>
                    <a:pt x="341" y="1151"/>
                    <a:pt x="205" y="1214"/>
                    <a:pt x="54" y="1221"/>
                  </a:cubicBezTo>
                  <a:cubicBezTo>
                    <a:pt x="54" y="55"/>
                    <a:pt x="54" y="55"/>
                    <a:pt x="54" y="55"/>
                  </a:cubicBezTo>
                  <a:cubicBezTo>
                    <a:pt x="205" y="62"/>
                    <a:pt x="341" y="125"/>
                    <a:pt x="440" y="225"/>
                  </a:cubicBezTo>
                  <a:cubicBezTo>
                    <a:pt x="546" y="331"/>
                    <a:pt x="612" y="477"/>
                    <a:pt x="612" y="638"/>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0" name="Freeform 26"/>
            <p:cNvSpPr>
              <a:spLocks noEditPoints="1"/>
            </p:cNvSpPr>
            <p:nvPr/>
          </p:nvSpPr>
          <p:spPr bwMode="auto">
            <a:xfrm>
              <a:off x="3665" y="154"/>
              <a:ext cx="86" cy="85"/>
            </a:xfrm>
            <a:custGeom>
              <a:avLst/>
              <a:gdLst/>
              <a:ahLst/>
              <a:cxnLst>
                <a:cxn ang="0">
                  <a:pos x="639" y="665"/>
                </a:cxn>
                <a:cxn ang="0">
                  <a:pos x="666" y="665"/>
                </a:cxn>
                <a:cxn ang="0">
                  <a:pos x="666" y="0"/>
                </a:cxn>
                <a:cxn ang="0">
                  <a:pos x="0" y="0"/>
                </a:cxn>
                <a:cxn ang="0">
                  <a:pos x="0" y="27"/>
                </a:cxn>
                <a:cxn ang="0">
                  <a:pos x="639" y="665"/>
                </a:cxn>
                <a:cxn ang="0">
                  <a:pos x="612" y="610"/>
                </a:cxn>
                <a:cxn ang="0">
                  <a:pos x="225" y="440"/>
                </a:cxn>
                <a:cxn ang="0">
                  <a:pos x="56" y="54"/>
                </a:cxn>
                <a:cxn ang="0">
                  <a:pos x="612" y="54"/>
                </a:cxn>
                <a:cxn ang="0">
                  <a:pos x="612" y="610"/>
                </a:cxn>
              </a:cxnLst>
              <a:rect l="0" t="0" r="r" b="b"/>
              <a:pathLst>
                <a:path w="666" h="665">
                  <a:moveTo>
                    <a:pt x="639" y="665"/>
                  </a:moveTo>
                  <a:cubicBezTo>
                    <a:pt x="666" y="665"/>
                    <a:pt x="666" y="665"/>
                    <a:pt x="666" y="665"/>
                  </a:cubicBezTo>
                  <a:cubicBezTo>
                    <a:pt x="666" y="0"/>
                    <a:pt x="666" y="0"/>
                    <a:pt x="666" y="0"/>
                  </a:cubicBezTo>
                  <a:cubicBezTo>
                    <a:pt x="0" y="0"/>
                    <a:pt x="0" y="0"/>
                    <a:pt x="0" y="0"/>
                  </a:cubicBezTo>
                  <a:cubicBezTo>
                    <a:pt x="0" y="27"/>
                    <a:pt x="0" y="27"/>
                    <a:pt x="0" y="27"/>
                  </a:cubicBezTo>
                  <a:cubicBezTo>
                    <a:pt x="0" y="380"/>
                    <a:pt x="286" y="665"/>
                    <a:pt x="639" y="665"/>
                  </a:cubicBezTo>
                  <a:close/>
                  <a:moveTo>
                    <a:pt x="612" y="610"/>
                  </a:moveTo>
                  <a:cubicBezTo>
                    <a:pt x="461" y="603"/>
                    <a:pt x="325" y="540"/>
                    <a:pt x="225" y="440"/>
                  </a:cubicBezTo>
                  <a:cubicBezTo>
                    <a:pt x="126" y="340"/>
                    <a:pt x="62" y="205"/>
                    <a:pt x="56" y="54"/>
                  </a:cubicBezTo>
                  <a:cubicBezTo>
                    <a:pt x="612" y="54"/>
                    <a:pt x="612" y="54"/>
                    <a:pt x="612" y="54"/>
                  </a:cubicBezTo>
                  <a:lnTo>
                    <a:pt x="612" y="610"/>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1" name="Freeform 27"/>
            <p:cNvSpPr>
              <a:spLocks noEditPoints="1"/>
            </p:cNvSpPr>
            <p:nvPr/>
          </p:nvSpPr>
          <p:spPr bwMode="auto">
            <a:xfrm>
              <a:off x="3784" y="432"/>
              <a:ext cx="55" cy="59"/>
            </a:xfrm>
            <a:custGeom>
              <a:avLst/>
              <a:gdLst/>
              <a:ahLst/>
              <a:cxnLst>
                <a:cxn ang="0">
                  <a:pos x="115" y="320"/>
                </a:cxn>
                <a:cxn ang="0">
                  <a:pos x="307" y="320"/>
                </a:cxn>
                <a:cxn ang="0">
                  <a:pos x="360" y="459"/>
                </a:cxn>
                <a:cxn ang="0">
                  <a:pos x="429" y="459"/>
                </a:cxn>
                <a:cxn ang="0">
                  <a:pos x="242" y="0"/>
                </a:cxn>
                <a:cxn ang="0">
                  <a:pos x="176" y="0"/>
                </a:cxn>
                <a:cxn ang="0">
                  <a:pos x="0" y="459"/>
                </a:cxn>
                <a:cxn ang="0">
                  <a:pos x="65" y="459"/>
                </a:cxn>
                <a:cxn ang="0">
                  <a:pos x="115" y="320"/>
                </a:cxn>
                <a:cxn ang="0">
                  <a:pos x="183" y="136"/>
                </a:cxn>
                <a:cxn ang="0">
                  <a:pos x="208" y="48"/>
                </a:cxn>
                <a:cxn ang="0">
                  <a:pos x="240" y="143"/>
                </a:cxn>
                <a:cxn ang="0">
                  <a:pos x="288" y="270"/>
                </a:cxn>
                <a:cxn ang="0">
                  <a:pos x="133" y="270"/>
                </a:cxn>
                <a:cxn ang="0">
                  <a:pos x="183" y="136"/>
                </a:cxn>
              </a:cxnLst>
              <a:rect l="0" t="0" r="r" b="b"/>
              <a:pathLst>
                <a:path w="429" h="459">
                  <a:moveTo>
                    <a:pt x="115" y="320"/>
                  </a:moveTo>
                  <a:cubicBezTo>
                    <a:pt x="307" y="320"/>
                    <a:pt x="307" y="320"/>
                    <a:pt x="307" y="320"/>
                  </a:cubicBezTo>
                  <a:cubicBezTo>
                    <a:pt x="360" y="459"/>
                    <a:pt x="360" y="459"/>
                    <a:pt x="360" y="459"/>
                  </a:cubicBezTo>
                  <a:cubicBezTo>
                    <a:pt x="429" y="459"/>
                    <a:pt x="429" y="459"/>
                    <a:pt x="429" y="459"/>
                  </a:cubicBezTo>
                  <a:cubicBezTo>
                    <a:pt x="242" y="0"/>
                    <a:pt x="242" y="0"/>
                    <a:pt x="242" y="0"/>
                  </a:cubicBezTo>
                  <a:cubicBezTo>
                    <a:pt x="176" y="0"/>
                    <a:pt x="176" y="0"/>
                    <a:pt x="176" y="0"/>
                  </a:cubicBezTo>
                  <a:cubicBezTo>
                    <a:pt x="0" y="459"/>
                    <a:pt x="0" y="459"/>
                    <a:pt x="0" y="459"/>
                  </a:cubicBezTo>
                  <a:cubicBezTo>
                    <a:pt x="65" y="459"/>
                    <a:pt x="65" y="459"/>
                    <a:pt x="65" y="459"/>
                  </a:cubicBezTo>
                  <a:lnTo>
                    <a:pt x="115" y="320"/>
                  </a:lnTo>
                  <a:close/>
                  <a:moveTo>
                    <a:pt x="183" y="136"/>
                  </a:moveTo>
                  <a:cubicBezTo>
                    <a:pt x="193" y="107"/>
                    <a:pt x="202" y="78"/>
                    <a:pt x="208" y="48"/>
                  </a:cubicBezTo>
                  <a:cubicBezTo>
                    <a:pt x="215" y="73"/>
                    <a:pt x="225" y="105"/>
                    <a:pt x="240" y="143"/>
                  </a:cubicBezTo>
                  <a:cubicBezTo>
                    <a:pt x="288" y="270"/>
                    <a:pt x="288" y="270"/>
                    <a:pt x="288" y="270"/>
                  </a:cubicBezTo>
                  <a:cubicBezTo>
                    <a:pt x="133" y="270"/>
                    <a:pt x="133" y="270"/>
                    <a:pt x="133" y="270"/>
                  </a:cubicBezTo>
                  <a:lnTo>
                    <a:pt x="183" y="136"/>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2" name="Freeform 28"/>
            <p:cNvSpPr>
              <a:spLocks/>
            </p:cNvSpPr>
            <p:nvPr/>
          </p:nvSpPr>
          <p:spPr bwMode="auto">
            <a:xfrm>
              <a:off x="3802" y="523"/>
              <a:ext cx="44" cy="59"/>
            </a:xfrm>
            <a:custGeom>
              <a:avLst/>
              <a:gdLst/>
              <a:ahLst/>
              <a:cxnLst>
                <a:cxn ang="0">
                  <a:pos x="44" y="52"/>
                </a:cxn>
                <a:cxn ang="0">
                  <a:pos x="8" y="52"/>
                </a:cxn>
                <a:cxn ang="0">
                  <a:pos x="8" y="32"/>
                </a:cxn>
                <a:cxn ang="0">
                  <a:pos x="40" y="32"/>
                </a:cxn>
                <a:cxn ang="0">
                  <a:pos x="40" y="25"/>
                </a:cxn>
                <a:cxn ang="0">
                  <a:pos x="8" y="25"/>
                </a:cxn>
                <a:cxn ang="0">
                  <a:pos x="8" y="7"/>
                </a:cxn>
                <a:cxn ang="0">
                  <a:pos x="43" y="7"/>
                </a:cxn>
                <a:cxn ang="0">
                  <a:pos x="43" y="0"/>
                </a:cxn>
                <a:cxn ang="0">
                  <a:pos x="0" y="0"/>
                </a:cxn>
                <a:cxn ang="0">
                  <a:pos x="0" y="59"/>
                </a:cxn>
                <a:cxn ang="0">
                  <a:pos x="44" y="59"/>
                </a:cxn>
                <a:cxn ang="0">
                  <a:pos x="44" y="52"/>
                </a:cxn>
              </a:cxnLst>
              <a:rect l="0" t="0" r="r" b="b"/>
              <a:pathLst>
                <a:path w="44" h="59">
                  <a:moveTo>
                    <a:pt x="44" y="52"/>
                  </a:moveTo>
                  <a:lnTo>
                    <a:pt x="8" y="52"/>
                  </a:lnTo>
                  <a:lnTo>
                    <a:pt x="8" y="32"/>
                  </a:lnTo>
                  <a:lnTo>
                    <a:pt x="40" y="32"/>
                  </a:lnTo>
                  <a:lnTo>
                    <a:pt x="40" y="25"/>
                  </a:lnTo>
                  <a:lnTo>
                    <a:pt x="8" y="25"/>
                  </a:lnTo>
                  <a:lnTo>
                    <a:pt x="8" y="7"/>
                  </a:lnTo>
                  <a:lnTo>
                    <a:pt x="43" y="7"/>
                  </a:lnTo>
                  <a:lnTo>
                    <a:pt x="43" y="0"/>
                  </a:lnTo>
                  <a:lnTo>
                    <a:pt x="0" y="0"/>
                  </a:lnTo>
                  <a:lnTo>
                    <a:pt x="0" y="59"/>
                  </a:lnTo>
                  <a:lnTo>
                    <a:pt x="44" y="59"/>
                  </a:lnTo>
                  <a:lnTo>
                    <a:pt x="44" y="52"/>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3" name="Freeform 29"/>
            <p:cNvSpPr>
              <a:spLocks noEditPoints="1"/>
            </p:cNvSpPr>
            <p:nvPr/>
          </p:nvSpPr>
          <p:spPr bwMode="auto">
            <a:xfrm>
              <a:off x="3767" y="154"/>
              <a:ext cx="85" cy="242"/>
            </a:xfrm>
            <a:custGeom>
              <a:avLst/>
              <a:gdLst/>
              <a:ahLst/>
              <a:cxnLst>
                <a:cxn ang="0">
                  <a:pos x="639" y="1888"/>
                </a:cxn>
                <a:cxn ang="0">
                  <a:pos x="666" y="1888"/>
                </a:cxn>
                <a:cxn ang="0">
                  <a:pos x="666" y="1249"/>
                </a:cxn>
                <a:cxn ang="0">
                  <a:pos x="666" y="638"/>
                </a:cxn>
                <a:cxn ang="0">
                  <a:pos x="666" y="0"/>
                </a:cxn>
                <a:cxn ang="0">
                  <a:pos x="639" y="0"/>
                </a:cxn>
                <a:cxn ang="0">
                  <a:pos x="0" y="638"/>
                </a:cxn>
                <a:cxn ang="0">
                  <a:pos x="0" y="1249"/>
                </a:cxn>
                <a:cxn ang="0">
                  <a:pos x="639" y="1888"/>
                </a:cxn>
                <a:cxn ang="0">
                  <a:pos x="54" y="638"/>
                </a:cxn>
                <a:cxn ang="0">
                  <a:pos x="225" y="225"/>
                </a:cxn>
                <a:cxn ang="0">
                  <a:pos x="612" y="55"/>
                </a:cxn>
                <a:cxn ang="0">
                  <a:pos x="612" y="638"/>
                </a:cxn>
                <a:cxn ang="0">
                  <a:pos x="612" y="1249"/>
                </a:cxn>
                <a:cxn ang="0">
                  <a:pos x="612" y="1832"/>
                </a:cxn>
                <a:cxn ang="0">
                  <a:pos x="225" y="1663"/>
                </a:cxn>
                <a:cxn ang="0">
                  <a:pos x="54" y="1249"/>
                </a:cxn>
                <a:cxn ang="0">
                  <a:pos x="54" y="638"/>
                </a:cxn>
              </a:cxnLst>
              <a:rect l="0" t="0" r="r" b="b"/>
              <a:pathLst>
                <a:path w="666" h="1888">
                  <a:moveTo>
                    <a:pt x="639" y="1888"/>
                  </a:moveTo>
                  <a:cubicBezTo>
                    <a:pt x="666" y="1888"/>
                    <a:pt x="666" y="1888"/>
                    <a:pt x="666" y="1888"/>
                  </a:cubicBezTo>
                  <a:cubicBezTo>
                    <a:pt x="666" y="1249"/>
                    <a:pt x="666" y="1249"/>
                    <a:pt x="666" y="1249"/>
                  </a:cubicBezTo>
                  <a:cubicBezTo>
                    <a:pt x="666" y="638"/>
                    <a:pt x="666" y="638"/>
                    <a:pt x="666" y="638"/>
                  </a:cubicBezTo>
                  <a:cubicBezTo>
                    <a:pt x="666" y="0"/>
                    <a:pt x="666" y="0"/>
                    <a:pt x="666" y="0"/>
                  </a:cubicBezTo>
                  <a:cubicBezTo>
                    <a:pt x="639" y="0"/>
                    <a:pt x="639" y="0"/>
                    <a:pt x="639" y="0"/>
                  </a:cubicBezTo>
                  <a:cubicBezTo>
                    <a:pt x="286" y="0"/>
                    <a:pt x="0" y="285"/>
                    <a:pt x="0" y="638"/>
                  </a:cubicBezTo>
                  <a:cubicBezTo>
                    <a:pt x="0" y="1249"/>
                    <a:pt x="0" y="1249"/>
                    <a:pt x="0" y="1249"/>
                  </a:cubicBezTo>
                  <a:cubicBezTo>
                    <a:pt x="0" y="1602"/>
                    <a:pt x="286" y="1888"/>
                    <a:pt x="639" y="1888"/>
                  </a:cubicBezTo>
                  <a:close/>
                  <a:moveTo>
                    <a:pt x="54" y="638"/>
                  </a:moveTo>
                  <a:cubicBezTo>
                    <a:pt x="54" y="476"/>
                    <a:pt x="120" y="330"/>
                    <a:pt x="225" y="225"/>
                  </a:cubicBezTo>
                  <a:cubicBezTo>
                    <a:pt x="325" y="125"/>
                    <a:pt x="461" y="62"/>
                    <a:pt x="612" y="55"/>
                  </a:cubicBezTo>
                  <a:cubicBezTo>
                    <a:pt x="612" y="638"/>
                    <a:pt x="612" y="638"/>
                    <a:pt x="612" y="638"/>
                  </a:cubicBezTo>
                  <a:cubicBezTo>
                    <a:pt x="612" y="1249"/>
                    <a:pt x="612" y="1249"/>
                    <a:pt x="612" y="1249"/>
                  </a:cubicBezTo>
                  <a:cubicBezTo>
                    <a:pt x="612" y="1832"/>
                    <a:pt x="612" y="1832"/>
                    <a:pt x="612" y="1832"/>
                  </a:cubicBezTo>
                  <a:cubicBezTo>
                    <a:pt x="461" y="1825"/>
                    <a:pt x="325" y="1762"/>
                    <a:pt x="225" y="1663"/>
                  </a:cubicBezTo>
                  <a:cubicBezTo>
                    <a:pt x="120" y="1557"/>
                    <a:pt x="54" y="1411"/>
                    <a:pt x="54" y="1249"/>
                  </a:cubicBezTo>
                  <a:lnTo>
                    <a:pt x="54" y="638"/>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4" name="Freeform 30"/>
            <p:cNvSpPr>
              <a:spLocks noEditPoints="1"/>
            </p:cNvSpPr>
            <p:nvPr/>
          </p:nvSpPr>
          <p:spPr bwMode="auto">
            <a:xfrm>
              <a:off x="3865" y="311"/>
              <a:ext cx="85" cy="85"/>
            </a:xfrm>
            <a:custGeom>
              <a:avLst/>
              <a:gdLst/>
              <a:ahLst/>
              <a:cxnLst>
                <a:cxn ang="0">
                  <a:pos x="665" y="27"/>
                </a:cxn>
                <a:cxn ang="0">
                  <a:pos x="665" y="0"/>
                </a:cxn>
                <a:cxn ang="0">
                  <a:pos x="0" y="0"/>
                </a:cxn>
                <a:cxn ang="0">
                  <a:pos x="0" y="666"/>
                </a:cxn>
                <a:cxn ang="0">
                  <a:pos x="27" y="666"/>
                </a:cxn>
                <a:cxn ang="0">
                  <a:pos x="665" y="27"/>
                </a:cxn>
                <a:cxn ang="0">
                  <a:pos x="610" y="54"/>
                </a:cxn>
                <a:cxn ang="0">
                  <a:pos x="440" y="441"/>
                </a:cxn>
                <a:cxn ang="0">
                  <a:pos x="54" y="610"/>
                </a:cxn>
                <a:cxn ang="0">
                  <a:pos x="54" y="54"/>
                </a:cxn>
                <a:cxn ang="0">
                  <a:pos x="610" y="54"/>
                </a:cxn>
              </a:cxnLst>
              <a:rect l="0" t="0" r="r" b="b"/>
              <a:pathLst>
                <a:path w="665" h="666">
                  <a:moveTo>
                    <a:pt x="665" y="27"/>
                  </a:moveTo>
                  <a:cubicBezTo>
                    <a:pt x="665" y="0"/>
                    <a:pt x="665" y="0"/>
                    <a:pt x="665" y="0"/>
                  </a:cubicBezTo>
                  <a:cubicBezTo>
                    <a:pt x="0" y="0"/>
                    <a:pt x="0" y="0"/>
                    <a:pt x="0" y="0"/>
                  </a:cubicBezTo>
                  <a:cubicBezTo>
                    <a:pt x="0" y="666"/>
                    <a:pt x="0" y="666"/>
                    <a:pt x="0" y="666"/>
                  </a:cubicBezTo>
                  <a:cubicBezTo>
                    <a:pt x="27" y="666"/>
                    <a:pt x="27" y="666"/>
                    <a:pt x="27" y="666"/>
                  </a:cubicBezTo>
                  <a:cubicBezTo>
                    <a:pt x="379" y="666"/>
                    <a:pt x="665" y="380"/>
                    <a:pt x="665" y="27"/>
                  </a:cubicBezTo>
                  <a:close/>
                  <a:moveTo>
                    <a:pt x="610" y="54"/>
                  </a:moveTo>
                  <a:cubicBezTo>
                    <a:pt x="603" y="205"/>
                    <a:pt x="540" y="341"/>
                    <a:pt x="440" y="441"/>
                  </a:cubicBezTo>
                  <a:cubicBezTo>
                    <a:pt x="340" y="540"/>
                    <a:pt x="204" y="603"/>
                    <a:pt x="54" y="610"/>
                  </a:cubicBezTo>
                  <a:cubicBezTo>
                    <a:pt x="54" y="54"/>
                    <a:pt x="54" y="54"/>
                    <a:pt x="54" y="54"/>
                  </a:cubicBezTo>
                  <a:lnTo>
                    <a:pt x="610" y="5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5" name="Freeform 31"/>
            <p:cNvSpPr>
              <a:spLocks/>
            </p:cNvSpPr>
            <p:nvPr/>
          </p:nvSpPr>
          <p:spPr bwMode="auto">
            <a:xfrm>
              <a:off x="3874" y="432"/>
              <a:ext cx="46" cy="59"/>
            </a:xfrm>
            <a:custGeom>
              <a:avLst/>
              <a:gdLst/>
              <a:ahLst/>
              <a:cxnLst>
                <a:cxn ang="0">
                  <a:pos x="8" y="0"/>
                </a:cxn>
                <a:cxn ang="0">
                  <a:pos x="0" y="0"/>
                </a:cxn>
                <a:cxn ang="0">
                  <a:pos x="0" y="59"/>
                </a:cxn>
                <a:cxn ang="0">
                  <a:pos x="8" y="59"/>
                </a:cxn>
                <a:cxn ang="0">
                  <a:pos x="8" y="13"/>
                </a:cxn>
                <a:cxn ang="0">
                  <a:pos x="38" y="59"/>
                </a:cxn>
                <a:cxn ang="0">
                  <a:pos x="46" y="59"/>
                </a:cxn>
                <a:cxn ang="0">
                  <a:pos x="46" y="0"/>
                </a:cxn>
                <a:cxn ang="0">
                  <a:pos x="39" y="0"/>
                </a:cxn>
                <a:cxn ang="0">
                  <a:pos x="39" y="46"/>
                </a:cxn>
                <a:cxn ang="0">
                  <a:pos x="8" y="0"/>
                </a:cxn>
              </a:cxnLst>
              <a:rect l="0" t="0" r="r" b="b"/>
              <a:pathLst>
                <a:path w="46" h="59">
                  <a:moveTo>
                    <a:pt x="8" y="0"/>
                  </a:moveTo>
                  <a:lnTo>
                    <a:pt x="0" y="0"/>
                  </a:lnTo>
                  <a:lnTo>
                    <a:pt x="0" y="59"/>
                  </a:lnTo>
                  <a:lnTo>
                    <a:pt x="8" y="59"/>
                  </a:lnTo>
                  <a:lnTo>
                    <a:pt x="8" y="13"/>
                  </a:lnTo>
                  <a:lnTo>
                    <a:pt x="38" y="59"/>
                  </a:lnTo>
                  <a:lnTo>
                    <a:pt x="46" y="59"/>
                  </a:lnTo>
                  <a:lnTo>
                    <a:pt x="46" y="0"/>
                  </a:lnTo>
                  <a:lnTo>
                    <a:pt x="39" y="0"/>
                  </a:lnTo>
                  <a:lnTo>
                    <a:pt x="39" y="46"/>
                  </a:lnTo>
                  <a:lnTo>
                    <a:pt x="8" y="0"/>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6" name="Freeform 32"/>
            <p:cNvSpPr>
              <a:spLocks noEditPoints="1"/>
            </p:cNvSpPr>
            <p:nvPr/>
          </p:nvSpPr>
          <p:spPr bwMode="auto">
            <a:xfrm>
              <a:off x="3865" y="154"/>
              <a:ext cx="85" cy="85"/>
            </a:xfrm>
            <a:custGeom>
              <a:avLst/>
              <a:gdLst/>
              <a:ahLst/>
              <a:cxnLst>
                <a:cxn ang="0">
                  <a:pos x="665" y="26"/>
                </a:cxn>
                <a:cxn ang="0">
                  <a:pos x="665" y="0"/>
                </a:cxn>
                <a:cxn ang="0">
                  <a:pos x="0" y="0"/>
                </a:cxn>
                <a:cxn ang="0">
                  <a:pos x="0" y="665"/>
                </a:cxn>
                <a:cxn ang="0">
                  <a:pos x="26" y="665"/>
                </a:cxn>
                <a:cxn ang="0">
                  <a:pos x="665" y="26"/>
                </a:cxn>
                <a:cxn ang="0">
                  <a:pos x="610" y="53"/>
                </a:cxn>
                <a:cxn ang="0">
                  <a:pos x="440" y="440"/>
                </a:cxn>
                <a:cxn ang="0">
                  <a:pos x="53" y="610"/>
                </a:cxn>
                <a:cxn ang="0">
                  <a:pos x="53" y="53"/>
                </a:cxn>
                <a:cxn ang="0">
                  <a:pos x="610" y="53"/>
                </a:cxn>
              </a:cxnLst>
              <a:rect l="0" t="0" r="r" b="b"/>
              <a:pathLst>
                <a:path w="665" h="665">
                  <a:moveTo>
                    <a:pt x="665" y="26"/>
                  </a:moveTo>
                  <a:cubicBezTo>
                    <a:pt x="665" y="0"/>
                    <a:pt x="665" y="0"/>
                    <a:pt x="665" y="0"/>
                  </a:cubicBezTo>
                  <a:cubicBezTo>
                    <a:pt x="0" y="0"/>
                    <a:pt x="0" y="0"/>
                    <a:pt x="0" y="0"/>
                  </a:cubicBezTo>
                  <a:cubicBezTo>
                    <a:pt x="0" y="665"/>
                    <a:pt x="0" y="665"/>
                    <a:pt x="0" y="665"/>
                  </a:cubicBezTo>
                  <a:cubicBezTo>
                    <a:pt x="26" y="665"/>
                    <a:pt x="26" y="665"/>
                    <a:pt x="26" y="665"/>
                  </a:cubicBezTo>
                  <a:cubicBezTo>
                    <a:pt x="379" y="665"/>
                    <a:pt x="665" y="379"/>
                    <a:pt x="665" y="26"/>
                  </a:cubicBezTo>
                  <a:close/>
                  <a:moveTo>
                    <a:pt x="610" y="53"/>
                  </a:moveTo>
                  <a:cubicBezTo>
                    <a:pt x="603" y="204"/>
                    <a:pt x="540" y="340"/>
                    <a:pt x="440" y="440"/>
                  </a:cubicBezTo>
                  <a:cubicBezTo>
                    <a:pt x="340" y="540"/>
                    <a:pt x="204" y="603"/>
                    <a:pt x="53" y="610"/>
                  </a:cubicBezTo>
                  <a:cubicBezTo>
                    <a:pt x="53" y="53"/>
                    <a:pt x="53" y="53"/>
                    <a:pt x="53" y="53"/>
                  </a:cubicBezTo>
                  <a:lnTo>
                    <a:pt x="610" y="53"/>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7" name="Freeform 33"/>
            <p:cNvSpPr>
              <a:spLocks noEditPoints="1"/>
            </p:cNvSpPr>
            <p:nvPr/>
          </p:nvSpPr>
          <p:spPr bwMode="auto">
            <a:xfrm>
              <a:off x="4060" y="154"/>
              <a:ext cx="86" cy="164"/>
            </a:xfrm>
            <a:custGeom>
              <a:avLst/>
              <a:gdLst/>
              <a:ahLst/>
              <a:cxnLst>
                <a:cxn ang="0">
                  <a:pos x="666" y="638"/>
                </a:cxn>
                <a:cxn ang="0">
                  <a:pos x="27" y="0"/>
                </a:cxn>
                <a:cxn ang="0">
                  <a:pos x="0" y="0"/>
                </a:cxn>
                <a:cxn ang="0">
                  <a:pos x="0" y="1277"/>
                </a:cxn>
                <a:cxn ang="0">
                  <a:pos x="27" y="1277"/>
                </a:cxn>
                <a:cxn ang="0">
                  <a:pos x="666" y="638"/>
                </a:cxn>
                <a:cxn ang="0">
                  <a:pos x="612" y="638"/>
                </a:cxn>
                <a:cxn ang="0">
                  <a:pos x="441" y="1052"/>
                </a:cxn>
                <a:cxn ang="0">
                  <a:pos x="54" y="1221"/>
                </a:cxn>
                <a:cxn ang="0">
                  <a:pos x="54" y="55"/>
                </a:cxn>
                <a:cxn ang="0">
                  <a:pos x="441" y="225"/>
                </a:cxn>
                <a:cxn ang="0">
                  <a:pos x="612" y="638"/>
                </a:cxn>
              </a:cxnLst>
              <a:rect l="0" t="0" r="r" b="b"/>
              <a:pathLst>
                <a:path w="666" h="1277">
                  <a:moveTo>
                    <a:pt x="666" y="638"/>
                  </a:moveTo>
                  <a:cubicBezTo>
                    <a:pt x="666" y="286"/>
                    <a:pt x="380" y="0"/>
                    <a:pt x="27" y="0"/>
                  </a:cubicBezTo>
                  <a:cubicBezTo>
                    <a:pt x="0" y="0"/>
                    <a:pt x="0" y="0"/>
                    <a:pt x="0" y="0"/>
                  </a:cubicBezTo>
                  <a:cubicBezTo>
                    <a:pt x="0" y="1277"/>
                    <a:pt x="0" y="1277"/>
                    <a:pt x="0" y="1277"/>
                  </a:cubicBezTo>
                  <a:cubicBezTo>
                    <a:pt x="27" y="1277"/>
                    <a:pt x="27" y="1277"/>
                    <a:pt x="27" y="1277"/>
                  </a:cubicBezTo>
                  <a:cubicBezTo>
                    <a:pt x="380" y="1277"/>
                    <a:pt x="666" y="991"/>
                    <a:pt x="666" y="638"/>
                  </a:cubicBezTo>
                  <a:close/>
                  <a:moveTo>
                    <a:pt x="612" y="638"/>
                  </a:moveTo>
                  <a:cubicBezTo>
                    <a:pt x="612" y="800"/>
                    <a:pt x="546" y="946"/>
                    <a:pt x="441" y="1052"/>
                  </a:cubicBezTo>
                  <a:cubicBezTo>
                    <a:pt x="341" y="1151"/>
                    <a:pt x="205" y="1214"/>
                    <a:pt x="54" y="1221"/>
                  </a:cubicBezTo>
                  <a:cubicBezTo>
                    <a:pt x="54" y="55"/>
                    <a:pt x="54" y="55"/>
                    <a:pt x="54" y="55"/>
                  </a:cubicBezTo>
                  <a:cubicBezTo>
                    <a:pt x="205" y="62"/>
                    <a:pt x="341" y="125"/>
                    <a:pt x="441" y="225"/>
                  </a:cubicBezTo>
                  <a:cubicBezTo>
                    <a:pt x="546" y="331"/>
                    <a:pt x="612" y="477"/>
                    <a:pt x="612" y="638"/>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8" name="Freeform 34"/>
            <p:cNvSpPr>
              <a:spLocks/>
            </p:cNvSpPr>
            <p:nvPr/>
          </p:nvSpPr>
          <p:spPr bwMode="auto">
            <a:xfrm>
              <a:off x="3859" y="523"/>
              <a:ext cx="43" cy="59"/>
            </a:xfrm>
            <a:custGeom>
              <a:avLst/>
              <a:gdLst/>
              <a:ahLst/>
              <a:cxnLst>
                <a:cxn ang="0">
                  <a:pos x="43" y="52"/>
                </a:cxn>
                <a:cxn ang="0">
                  <a:pos x="7" y="52"/>
                </a:cxn>
                <a:cxn ang="0">
                  <a:pos x="7" y="32"/>
                </a:cxn>
                <a:cxn ang="0">
                  <a:pos x="40" y="32"/>
                </a:cxn>
                <a:cxn ang="0">
                  <a:pos x="40" y="25"/>
                </a:cxn>
                <a:cxn ang="0">
                  <a:pos x="7" y="25"/>
                </a:cxn>
                <a:cxn ang="0">
                  <a:pos x="7" y="7"/>
                </a:cxn>
                <a:cxn ang="0">
                  <a:pos x="42" y="7"/>
                </a:cxn>
                <a:cxn ang="0">
                  <a:pos x="42" y="0"/>
                </a:cxn>
                <a:cxn ang="0">
                  <a:pos x="0" y="0"/>
                </a:cxn>
                <a:cxn ang="0">
                  <a:pos x="0" y="59"/>
                </a:cxn>
                <a:cxn ang="0">
                  <a:pos x="43" y="59"/>
                </a:cxn>
                <a:cxn ang="0">
                  <a:pos x="43" y="52"/>
                </a:cxn>
              </a:cxnLst>
              <a:rect l="0" t="0" r="r" b="b"/>
              <a:pathLst>
                <a:path w="43" h="59">
                  <a:moveTo>
                    <a:pt x="43" y="52"/>
                  </a:moveTo>
                  <a:lnTo>
                    <a:pt x="7" y="52"/>
                  </a:lnTo>
                  <a:lnTo>
                    <a:pt x="7" y="32"/>
                  </a:lnTo>
                  <a:lnTo>
                    <a:pt x="40" y="32"/>
                  </a:lnTo>
                  <a:lnTo>
                    <a:pt x="40" y="25"/>
                  </a:lnTo>
                  <a:lnTo>
                    <a:pt x="7" y="25"/>
                  </a:lnTo>
                  <a:lnTo>
                    <a:pt x="7" y="7"/>
                  </a:lnTo>
                  <a:lnTo>
                    <a:pt x="42" y="7"/>
                  </a:lnTo>
                  <a:lnTo>
                    <a:pt x="42" y="0"/>
                  </a:lnTo>
                  <a:lnTo>
                    <a:pt x="0" y="0"/>
                  </a:lnTo>
                  <a:lnTo>
                    <a:pt x="0" y="59"/>
                  </a:lnTo>
                  <a:lnTo>
                    <a:pt x="43" y="59"/>
                  </a:lnTo>
                  <a:lnTo>
                    <a:pt x="43" y="52"/>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9" name="Freeform 35"/>
            <p:cNvSpPr>
              <a:spLocks/>
            </p:cNvSpPr>
            <p:nvPr/>
          </p:nvSpPr>
          <p:spPr bwMode="auto">
            <a:xfrm>
              <a:off x="3740" y="432"/>
              <a:ext cx="47" cy="59"/>
            </a:xfrm>
            <a:custGeom>
              <a:avLst/>
              <a:gdLst/>
              <a:ahLst/>
              <a:cxnLst>
                <a:cxn ang="0">
                  <a:pos x="28" y="59"/>
                </a:cxn>
                <a:cxn ang="0">
                  <a:pos x="28" y="7"/>
                </a:cxn>
                <a:cxn ang="0">
                  <a:pos x="47" y="7"/>
                </a:cxn>
                <a:cxn ang="0">
                  <a:pos x="47" y="0"/>
                </a:cxn>
                <a:cxn ang="0">
                  <a:pos x="0" y="0"/>
                </a:cxn>
                <a:cxn ang="0">
                  <a:pos x="0" y="7"/>
                </a:cxn>
                <a:cxn ang="0">
                  <a:pos x="20" y="7"/>
                </a:cxn>
                <a:cxn ang="0">
                  <a:pos x="20" y="59"/>
                </a:cxn>
                <a:cxn ang="0">
                  <a:pos x="28" y="59"/>
                </a:cxn>
              </a:cxnLst>
              <a:rect l="0" t="0" r="r" b="b"/>
              <a:pathLst>
                <a:path w="47" h="59">
                  <a:moveTo>
                    <a:pt x="28" y="59"/>
                  </a:moveTo>
                  <a:lnTo>
                    <a:pt x="28" y="7"/>
                  </a:lnTo>
                  <a:lnTo>
                    <a:pt x="47" y="7"/>
                  </a:lnTo>
                  <a:lnTo>
                    <a:pt x="47" y="0"/>
                  </a:lnTo>
                  <a:lnTo>
                    <a:pt x="0" y="0"/>
                  </a:lnTo>
                  <a:lnTo>
                    <a:pt x="0" y="7"/>
                  </a:lnTo>
                  <a:lnTo>
                    <a:pt x="20" y="7"/>
                  </a:lnTo>
                  <a:lnTo>
                    <a:pt x="20" y="59"/>
                  </a:lnTo>
                  <a:lnTo>
                    <a:pt x="28" y="59"/>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0" name="Rectangle 36"/>
            <p:cNvSpPr>
              <a:spLocks noChangeArrowheads="1"/>
            </p:cNvSpPr>
            <p:nvPr/>
          </p:nvSpPr>
          <p:spPr bwMode="auto">
            <a:xfrm>
              <a:off x="3850" y="432"/>
              <a:ext cx="8" cy="59"/>
            </a:xfrm>
            <a:prstGeom prst="rect">
              <a:avLst/>
            </a:prstGeom>
            <a:solidFill>
              <a:srgbClr val="6E3219"/>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1" name="Freeform 37"/>
            <p:cNvSpPr>
              <a:spLocks/>
            </p:cNvSpPr>
            <p:nvPr/>
          </p:nvSpPr>
          <p:spPr bwMode="auto">
            <a:xfrm>
              <a:off x="3699" y="523"/>
              <a:ext cx="40" cy="59"/>
            </a:xfrm>
            <a:custGeom>
              <a:avLst/>
              <a:gdLst/>
              <a:ahLst/>
              <a:cxnLst>
                <a:cxn ang="0">
                  <a:pos x="40" y="7"/>
                </a:cxn>
                <a:cxn ang="0">
                  <a:pos x="40" y="0"/>
                </a:cxn>
                <a:cxn ang="0">
                  <a:pos x="0" y="0"/>
                </a:cxn>
                <a:cxn ang="0">
                  <a:pos x="0" y="59"/>
                </a:cxn>
                <a:cxn ang="0">
                  <a:pos x="8" y="59"/>
                </a:cxn>
                <a:cxn ang="0">
                  <a:pos x="8" y="32"/>
                </a:cxn>
                <a:cxn ang="0">
                  <a:pos x="36" y="32"/>
                </a:cxn>
                <a:cxn ang="0">
                  <a:pos x="36" y="26"/>
                </a:cxn>
                <a:cxn ang="0">
                  <a:pos x="8" y="26"/>
                </a:cxn>
                <a:cxn ang="0">
                  <a:pos x="8" y="7"/>
                </a:cxn>
                <a:cxn ang="0">
                  <a:pos x="40" y="7"/>
                </a:cxn>
              </a:cxnLst>
              <a:rect l="0" t="0" r="r" b="b"/>
              <a:pathLst>
                <a:path w="40" h="59">
                  <a:moveTo>
                    <a:pt x="40" y="7"/>
                  </a:moveTo>
                  <a:lnTo>
                    <a:pt x="40" y="0"/>
                  </a:lnTo>
                  <a:lnTo>
                    <a:pt x="0" y="0"/>
                  </a:lnTo>
                  <a:lnTo>
                    <a:pt x="0" y="59"/>
                  </a:lnTo>
                  <a:lnTo>
                    <a:pt x="8" y="59"/>
                  </a:lnTo>
                  <a:lnTo>
                    <a:pt x="8" y="32"/>
                  </a:lnTo>
                  <a:lnTo>
                    <a:pt x="36" y="32"/>
                  </a:lnTo>
                  <a:lnTo>
                    <a:pt x="36" y="26"/>
                  </a:lnTo>
                  <a:lnTo>
                    <a:pt x="8" y="26"/>
                  </a:lnTo>
                  <a:lnTo>
                    <a:pt x="8" y="7"/>
                  </a:lnTo>
                  <a:lnTo>
                    <a:pt x="40" y="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2" name="Freeform 38"/>
            <p:cNvSpPr>
              <a:spLocks/>
            </p:cNvSpPr>
            <p:nvPr/>
          </p:nvSpPr>
          <p:spPr bwMode="auto">
            <a:xfrm>
              <a:off x="3946" y="615"/>
              <a:ext cx="56" cy="58"/>
            </a:xfrm>
            <a:custGeom>
              <a:avLst/>
              <a:gdLst/>
              <a:ahLst/>
              <a:cxnLst>
                <a:cxn ang="0">
                  <a:pos x="246" y="319"/>
                </a:cxn>
                <a:cxn ang="0">
                  <a:pos x="222" y="392"/>
                </a:cxn>
                <a:cxn ang="0">
                  <a:pos x="200" y="324"/>
                </a:cxn>
                <a:cxn ang="0">
                  <a:pos x="91" y="0"/>
                </a:cxn>
                <a:cxn ang="0">
                  <a:pos x="0" y="0"/>
                </a:cxn>
                <a:cxn ang="0">
                  <a:pos x="0" y="458"/>
                </a:cxn>
                <a:cxn ang="0">
                  <a:pos x="58" y="458"/>
                </a:cxn>
                <a:cxn ang="0">
                  <a:pos x="58" y="68"/>
                </a:cxn>
                <a:cxn ang="0">
                  <a:pos x="191" y="458"/>
                </a:cxn>
                <a:cxn ang="0">
                  <a:pos x="246" y="458"/>
                </a:cxn>
                <a:cxn ang="0">
                  <a:pos x="379" y="74"/>
                </a:cxn>
                <a:cxn ang="0">
                  <a:pos x="379" y="458"/>
                </a:cxn>
                <a:cxn ang="0">
                  <a:pos x="437" y="458"/>
                </a:cxn>
                <a:cxn ang="0">
                  <a:pos x="437" y="0"/>
                </a:cxn>
                <a:cxn ang="0">
                  <a:pos x="356" y="0"/>
                </a:cxn>
                <a:cxn ang="0">
                  <a:pos x="246" y="319"/>
                </a:cxn>
              </a:cxnLst>
              <a:rect l="0" t="0" r="r" b="b"/>
              <a:pathLst>
                <a:path w="437" h="458">
                  <a:moveTo>
                    <a:pt x="246" y="319"/>
                  </a:moveTo>
                  <a:cubicBezTo>
                    <a:pt x="235" y="351"/>
                    <a:pt x="227" y="375"/>
                    <a:pt x="222" y="392"/>
                  </a:cubicBezTo>
                  <a:cubicBezTo>
                    <a:pt x="217" y="377"/>
                    <a:pt x="210" y="354"/>
                    <a:pt x="200" y="324"/>
                  </a:cubicBezTo>
                  <a:cubicBezTo>
                    <a:pt x="91" y="0"/>
                    <a:pt x="91" y="0"/>
                    <a:pt x="91" y="0"/>
                  </a:cubicBezTo>
                  <a:cubicBezTo>
                    <a:pt x="0" y="0"/>
                    <a:pt x="0" y="0"/>
                    <a:pt x="0" y="0"/>
                  </a:cubicBezTo>
                  <a:cubicBezTo>
                    <a:pt x="0" y="458"/>
                    <a:pt x="0" y="458"/>
                    <a:pt x="0" y="458"/>
                  </a:cubicBezTo>
                  <a:cubicBezTo>
                    <a:pt x="58" y="458"/>
                    <a:pt x="58" y="458"/>
                    <a:pt x="58" y="458"/>
                  </a:cubicBezTo>
                  <a:cubicBezTo>
                    <a:pt x="58" y="68"/>
                    <a:pt x="58" y="68"/>
                    <a:pt x="58" y="68"/>
                  </a:cubicBezTo>
                  <a:cubicBezTo>
                    <a:pt x="191" y="458"/>
                    <a:pt x="191" y="458"/>
                    <a:pt x="191" y="458"/>
                  </a:cubicBezTo>
                  <a:cubicBezTo>
                    <a:pt x="246" y="458"/>
                    <a:pt x="246" y="458"/>
                    <a:pt x="246" y="458"/>
                  </a:cubicBezTo>
                  <a:cubicBezTo>
                    <a:pt x="379" y="74"/>
                    <a:pt x="379" y="74"/>
                    <a:pt x="379" y="74"/>
                  </a:cubicBezTo>
                  <a:cubicBezTo>
                    <a:pt x="379" y="458"/>
                    <a:pt x="379" y="458"/>
                    <a:pt x="379" y="458"/>
                  </a:cubicBezTo>
                  <a:cubicBezTo>
                    <a:pt x="437" y="458"/>
                    <a:pt x="437" y="458"/>
                    <a:pt x="437" y="458"/>
                  </a:cubicBezTo>
                  <a:cubicBezTo>
                    <a:pt x="437" y="0"/>
                    <a:pt x="437" y="0"/>
                    <a:pt x="437" y="0"/>
                  </a:cubicBezTo>
                  <a:cubicBezTo>
                    <a:pt x="356" y="0"/>
                    <a:pt x="356" y="0"/>
                    <a:pt x="356" y="0"/>
                  </a:cubicBezTo>
                  <a:lnTo>
                    <a:pt x="246" y="319"/>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3" name="Freeform 39"/>
            <p:cNvSpPr>
              <a:spLocks/>
            </p:cNvSpPr>
            <p:nvPr/>
          </p:nvSpPr>
          <p:spPr bwMode="auto">
            <a:xfrm>
              <a:off x="3751" y="523"/>
              <a:ext cx="39" cy="59"/>
            </a:xfrm>
            <a:custGeom>
              <a:avLst/>
              <a:gdLst/>
              <a:ahLst/>
              <a:cxnLst>
                <a:cxn ang="0">
                  <a:pos x="8" y="32"/>
                </a:cxn>
                <a:cxn ang="0">
                  <a:pos x="35" y="32"/>
                </a:cxn>
                <a:cxn ang="0">
                  <a:pos x="35" y="26"/>
                </a:cxn>
                <a:cxn ang="0">
                  <a:pos x="8" y="26"/>
                </a:cxn>
                <a:cxn ang="0">
                  <a:pos x="8" y="7"/>
                </a:cxn>
                <a:cxn ang="0">
                  <a:pos x="39" y="7"/>
                </a:cxn>
                <a:cxn ang="0">
                  <a:pos x="39" y="0"/>
                </a:cxn>
                <a:cxn ang="0">
                  <a:pos x="0" y="0"/>
                </a:cxn>
                <a:cxn ang="0">
                  <a:pos x="0" y="59"/>
                </a:cxn>
                <a:cxn ang="0">
                  <a:pos x="8" y="59"/>
                </a:cxn>
                <a:cxn ang="0">
                  <a:pos x="8" y="32"/>
                </a:cxn>
              </a:cxnLst>
              <a:rect l="0" t="0" r="r" b="b"/>
              <a:pathLst>
                <a:path w="39" h="59">
                  <a:moveTo>
                    <a:pt x="8" y="32"/>
                  </a:moveTo>
                  <a:lnTo>
                    <a:pt x="35" y="32"/>
                  </a:lnTo>
                  <a:lnTo>
                    <a:pt x="35" y="26"/>
                  </a:lnTo>
                  <a:lnTo>
                    <a:pt x="8" y="26"/>
                  </a:lnTo>
                  <a:lnTo>
                    <a:pt x="8" y="7"/>
                  </a:lnTo>
                  <a:lnTo>
                    <a:pt x="39" y="7"/>
                  </a:lnTo>
                  <a:lnTo>
                    <a:pt x="39" y="0"/>
                  </a:lnTo>
                  <a:lnTo>
                    <a:pt x="0" y="0"/>
                  </a:lnTo>
                  <a:lnTo>
                    <a:pt x="0" y="59"/>
                  </a:lnTo>
                  <a:lnTo>
                    <a:pt x="8" y="59"/>
                  </a:lnTo>
                  <a:lnTo>
                    <a:pt x="8" y="32"/>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4" name="Freeform 40"/>
            <p:cNvSpPr>
              <a:spLocks/>
            </p:cNvSpPr>
            <p:nvPr/>
          </p:nvSpPr>
          <p:spPr bwMode="auto">
            <a:xfrm>
              <a:off x="3686" y="431"/>
              <a:ext cx="47" cy="61"/>
            </a:xfrm>
            <a:custGeom>
              <a:avLst/>
              <a:gdLst/>
              <a:ahLst/>
              <a:cxnLst>
                <a:cxn ang="0">
                  <a:pos x="254" y="410"/>
                </a:cxn>
                <a:cxn ang="0">
                  <a:pos x="193" y="420"/>
                </a:cxn>
                <a:cxn ang="0">
                  <a:pos x="122" y="406"/>
                </a:cxn>
                <a:cxn ang="0">
                  <a:pos x="76" y="371"/>
                </a:cxn>
                <a:cxn ang="0">
                  <a:pos x="57" y="314"/>
                </a:cxn>
                <a:cxn ang="0">
                  <a:pos x="0" y="319"/>
                </a:cxn>
                <a:cxn ang="0">
                  <a:pos x="25" y="402"/>
                </a:cxn>
                <a:cxn ang="0">
                  <a:pos x="91" y="456"/>
                </a:cxn>
                <a:cxn ang="0">
                  <a:pos x="196" y="474"/>
                </a:cxn>
                <a:cxn ang="0">
                  <a:pos x="284" y="456"/>
                </a:cxn>
                <a:cxn ang="0">
                  <a:pos x="344" y="406"/>
                </a:cxn>
                <a:cxn ang="0">
                  <a:pos x="365" y="337"/>
                </a:cxn>
                <a:cxn ang="0">
                  <a:pos x="346" y="272"/>
                </a:cxn>
                <a:cxn ang="0">
                  <a:pos x="287" y="225"/>
                </a:cxn>
                <a:cxn ang="0">
                  <a:pos x="185" y="196"/>
                </a:cxn>
                <a:cxn ang="0">
                  <a:pos x="94" y="163"/>
                </a:cxn>
                <a:cxn ang="0">
                  <a:pos x="76" y="123"/>
                </a:cxn>
                <a:cxn ang="0">
                  <a:pos x="101" y="74"/>
                </a:cxn>
                <a:cxn ang="0">
                  <a:pos x="181" y="54"/>
                </a:cxn>
                <a:cxn ang="0">
                  <a:pos x="261" y="76"/>
                </a:cxn>
                <a:cxn ang="0">
                  <a:pos x="293" y="142"/>
                </a:cxn>
                <a:cxn ang="0">
                  <a:pos x="351" y="137"/>
                </a:cxn>
                <a:cxn ang="0">
                  <a:pos x="329" y="65"/>
                </a:cxn>
                <a:cxn ang="0">
                  <a:pos x="269" y="17"/>
                </a:cxn>
                <a:cxn ang="0">
                  <a:pos x="179" y="0"/>
                </a:cxn>
                <a:cxn ang="0">
                  <a:pos x="95" y="16"/>
                </a:cxn>
                <a:cxn ang="0">
                  <a:pos x="37" y="62"/>
                </a:cxn>
                <a:cxn ang="0">
                  <a:pos x="18" y="127"/>
                </a:cxn>
                <a:cxn ang="0">
                  <a:pos x="34" y="184"/>
                </a:cxn>
                <a:cxn ang="0">
                  <a:pos x="83" y="226"/>
                </a:cxn>
                <a:cxn ang="0">
                  <a:pos x="171" y="255"/>
                </a:cxn>
                <a:cxn ang="0">
                  <a:pos x="253" y="277"/>
                </a:cxn>
                <a:cxn ang="0">
                  <a:pos x="294" y="304"/>
                </a:cxn>
                <a:cxn ang="0">
                  <a:pos x="306" y="342"/>
                </a:cxn>
                <a:cxn ang="0">
                  <a:pos x="294" y="381"/>
                </a:cxn>
                <a:cxn ang="0">
                  <a:pos x="254" y="410"/>
                </a:cxn>
              </a:cxnLst>
              <a:rect l="0" t="0" r="r" b="b"/>
              <a:pathLst>
                <a:path w="365" h="474">
                  <a:moveTo>
                    <a:pt x="254" y="410"/>
                  </a:moveTo>
                  <a:cubicBezTo>
                    <a:pt x="236" y="416"/>
                    <a:pt x="216" y="420"/>
                    <a:pt x="193" y="420"/>
                  </a:cubicBezTo>
                  <a:cubicBezTo>
                    <a:pt x="167" y="420"/>
                    <a:pt x="143" y="415"/>
                    <a:pt x="122" y="406"/>
                  </a:cubicBezTo>
                  <a:cubicBezTo>
                    <a:pt x="102" y="397"/>
                    <a:pt x="86" y="385"/>
                    <a:pt x="76" y="371"/>
                  </a:cubicBezTo>
                  <a:cubicBezTo>
                    <a:pt x="66" y="356"/>
                    <a:pt x="60" y="337"/>
                    <a:pt x="57" y="314"/>
                  </a:cubicBezTo>
                  <a:cubicBezTo>
                    <a:pt x="0" y="319"/>
                    <a:pt x="0" y="319"/>
                    <a:pt x="0" y="319"/>
                  </a:cubicBezTo>
                  <a:cubicBezTo>
                    <a:pt x="1" y="350"/>
                    <a:pt x="9" y="377"/>
                    <a:pt x="25" y="402"/>
                  </a:cubicBezTo>
                  <a:cubicBezTo>
                    <a:pt x="41" y="426"/>
                    <a:pt x="63" y="444"/>
                    <a:pt x="91" y="456"/>
                  </a:cubicBezTo>
                  <a:cubicBezTo>
                    <a:pt x="119" y="468"/>
                    <a:pt x="154" y="474"/>
                    <a:pt x="196" y="474"/>
                  </a:cubicBezTo>
                  <a:cubicBezTo>
                    <a:pt x="228" y="474"/>
                    <a:pt x="258" y="468"/>
                    <a:pt x="284" y="456"/>
                  </a:cubicBezTo>
                  <a:cubicBezTo>
                    <a:pt x="310" y="444"/>
                    <a:pt x="330" y="428"/>
                    <a:pt x="344" y="406"/>
                  </a:cubicBezTo>
                  <a:cubicBezTo>
                    <a:pt x="358" y="384"/>
                    <a:pt x="365" y="361"/>
                    <a:pt x="365" y="337"/>
                  </a:cubicBezTo>
                  <a:cubicBezTo>
                    <a:pt x="365" y="312"/>
                    <a:pt x="359" y="291"/>
                    <a:pt x="346" y="272"/>
                  </a:cubicBezTo>
                  <a:cubicBezTo>
                    <a:pt x="333" y="253"/>
                    <a:pt x="313" y="237"/>
                    <a:pt x="287" y="225"/>
                  </a:cubicBezTo>
                  <a:cubicBezTo>
                    <a:pt x="268" y="217"/>
                    <a:pt x="235" y="207"/>
                    <a:pt x="185" y="196"/>
                  </a:cubicBezTo>
                  <a:cubicBezTo>
                    <a:pt x="136" y="185"/>
                    <a:pt x="106" y="174"/>
                    <a:pt x="94" y="163"/>
                  </a:cubicBezTo>
                  <a:cubicBezTo>
                    <a:pt x="82" y="153"/>
                    <a:pt x="76" y="139"/>
                    <a:pt x="76" y="123"/>
                  </a:cubicBezTo>
                  <a:cubicBezTo>
                    <a:pt x="76" y="104"/>
                    <a:pt x="84" y="87"/>
                    <a:pt x="101" y="74"/>
                  </a:cubicBezTo>
                  <a:cubicBezTo>
                    <a:pt x="118" y="61"/>
                    <a:pt x="145" y="54"/>
                    <a:pt x="181" y="54"/>
                  </a:cubicBezTo>
                  <a:cubicBezTo>
                    <a:pt x="217" y="54"/>
                    <a:pt x="243" y="61"/>
                    <a:pt x="261" y="76"/>
                  </a:cubicBezTo>
                  <a:cubicBezTo>
                    <a:pt x="279" y="91"/>
                    <a:pt x="290" y="113"/>
                    <a:pt x="293" y="142"/>
                  </a:cubicBezTo>
                  <a:cubicBezTo>
                    <a:pt x="351" y="137"/>
                    <a:pt x="351" y="137"/>
                    <a:pt x="351" y="137"/>
                  </a:cubicBezTo>
                  <a:cubicBezTo>
                    <a:pt x="350" y="110"/>
                    <a:pt x="343" y="86"/>
                    <a:pt x="329" y="65"/>
                  </a:cubicBezTo>
                  <a:cubicBezTo>
                    <a:pt x="315" y="44"/>
                    <a:pt x="295" y="28"/>
                    <a:pt x="269" y="17"/>
                  </a:cubicBezTo>
                  <a:cubicBezTo>
                    <a:pt x="243" y="6"/>
                    <a:pt x="213" y="0"/>
                    <a:pt x="179" y="0"/>
                  </a:cubicBezTo>
                  <a:cubicBezTo>
                    <a:pt x="148" y="0"/>
                    <a:pt x="120" y="6"/>
                    <a:pt x="95" y="16"/>
                  </a:cubicBezTo>
                  <a:cubicBezTo>
                    <a:pt x="70" y="26"/>
                    <a:pt x="50" y="42"/>
                    <a:pt x="37" y="62"/>
                  </a:cubicBezTo>
                  <a:cubicBezTo>
                    <a:pt x="24" y="82"/>
                    <a:pt x="18" y="104"/>
                    <a:pt x="18" y="127"/>
                  </a:cubicBezTo>
                  <a:cubicBezTo>
                    <a:pt x="18" y="148"/>
                    <a:pt x="23" y="167"/>
                    <a:pt x="34" y="184"/>
                  </a:cubicBezTo>
                  <a:cubicBezTo>
                    <a:pt x="44" y="201"/>
                    <a:pt x="61" y="215"/>
                    <a:pt x="83" y="226"/>
                  </a:cubicBezTo>
                  <a:cubicBezTo>
                    <a:pt x="100" y="235"/>
                    <a:pt x="129" y="245"/>
                    <a:pt x="171" y="255"/>
                  </a:cubicBezTo>
                  <a:cubicBezTo>
                    <a:pt x="213" y="265"/>
                    <a:pt x="240" y="273"/>
                    <a:pt x="253" y="277"/>
                  </a:cubicBezTo>
                  <a:cubicBezTo>
                    <a:pt x="272" y="285"/>
                    <a:pt x="286" y="294"/>
                    <a:pt x="294" y="304"/>
                  </a:cubicBezTo>
                  <a:cubicBezTo>
                    <a:pt x="302" y="315"/>
                    <a:pt x="306" y="328"/>
                    <a:pt x="306" y="342"/>
                  </a:cubicBezTo>
                  <a:cubicBezTo>
                    <a:pt x="306" y="356"/>
                    <a:pt x="302" y="369"/>
                    <a:pt x="294" y="381"/>
                  </a:cubicBezTo>
                  <a:cubicBezTo>
                    <a:pt x="285" y="393"/>
                    <a:pt x="272" y="403"/>
                    <a:pt x="254" y="410"/>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5" name="Freeform 41"/>
            <p:cNvSpPr>
              <a:spLocks noEditPoints="1"/>
            </p:cNvSpPr>
            <p:nvPr/>
          </p:nvSpPr>
          <p:spPr bwMode="auto">
            <a:xfrm>
              <a:off x="3821" y="615"/>
              <a:ext cx="52" cy="58"/>
            </a:xfrm>
            <a:custGeom>
              <a:avLst/>
              <a:gdLst/>
              <a:ahLst/>
              <a:cxnLst>
                <a:cxn ang="0">
                  <a:pos x="273" y="272"/>
                </a:cxn>
                <a:cxn ang="0">
                  <a:pos x="237" y="249"/>
                </a:cxn>
                <a:cxn ang="0">
                  <a:pos x="334" y="207"/>
                </a:cxn>
                <a:cxn ang="0">
                  <a:pos x="366" y="125"/>
                </a:cxn>
                <a:cxn ang="0">
                  <a:pos x="347" y="56"/>
                </a:cxn>
                <a:cxn ang="0">
                  <a:pos x="296" y="12"/>
                </a:cxn>
                <a:cxn ang="0">
                  <a:pos x="203" y="0"/>
                </a:cxn>
                <a:cxn ang="0">
                  <a:pos x="0" y="0"/>
                </a:cxn>
                <a:cxn ang="0">
                  <a:pos x="0" y="458"/>
                </a:cxn>
                <a:cxn ang="0">
                  <a:pos x="60" y="458"/>
                </a:cxn>
                <a:cxn ang="0">
                  <a:pos x="60" y="254"/>
                </a:cxn>
                <a:cxn ang="0">
                  <a:pos x="131" y="254"/>
                </a:cxn>
                <a:cxn ang="0">
                  <a:pos x="164" y="257"/>
                </a:cxn>
                <a:cxn ang="0">
                  <a:pos x="192" y="269"/>
                </a:cxn>
                <a:cxn ang="0">
                  <a:pos x="223" y="299"/>
                </a:cxn>
                <a:cxn ang="0">
                  <a:pos x="267" y="363"/>
                </a:cxn>
                <a:cxn ang="0">
                  <a:pos x="327" y="458"/>
                </a:cxn>
                <a:cxn ang="0">
                  <a:pos x="403" y="458"/>
                </a:cxn>
                <a:cxn ang="0">
                  <a:pos x="324" y="333"/>
                </a:cxn>
                <a:cxn ang="0">
                  <a:pos x="273" y="272"/>
                </a:cxn>
                <a:cxn ang="0">
                  <a:pos x="191" y="202"/>
                </a:cxn>
                <a:cxn ang="0">
                  <a:pos x="60" y="202"/>
                </a:cxn>
                <a:cxn ang="0">
                  <a:pos x="60" y="50"/>
                </a:cxn>
                <a:cxn ang="0">
                  <a:pos x="205" y="50"/>
                </a:cxn>
                <a:cxn ang="0">
                  <a:pos x="280" y="71"/>
                </a:cxn>
                <a:cxn ang="0">
                  <a:pos x="303" y="125"/>
                </a:cxn>
                <a:cxn ang="0">
                  <a:pos x="291" y="166"/>
                </a:cxn>
                <a:cxn ang="0">
                  <a:pos x="256" y="193"/>
                </a:cxn>
                <a:cxn ang="0">
                  <a:pos x="191" y="202"/>
                </a:cxn>
              </a:cxnLst>
              <a:rect l="0" t="0" r="r" b="b"/>
              <a:pathLst>
                <a:path w="403" h="458">
                  <a:moveTo>
                    <a:pt x="273" y="272"/>
                  </a:moveTo>
                  <a:cubicBezTo>
                    <a:pt x="265" y="265"/>
                    <a:pt x="253" y="257"/>
                    <a:pt x="237" y="249"/>
                  </a:cubicBezTo>
                  <a:cubicBezTo>
                    <a:pt x="281" y="243"/>
                    <a:pt x="313" y="229"/>
                    <a:pt x="334" y="207"/>
                  </a:cubicBezTo>
                  <a:cubicBezTo>
                    <a:pt x="355" y="185"/>
                    <a:pt x="366" y="157"/>
                    <a:pt x="366" y="125"/>
                  </a:cubicBezTo>
                  <a:cubicBezTo>
                    <a:pt x="366" y="100"/>
                    <a:pt x="360" y="76"/>
                    <a:pt x="347" y="56"/>
                  </a:cubicBezTo>
                  <a:cubicBezTo>
                    <a:pt x="334" y="35"/>
                    <a:pt x="317" y="20"/>
                    <a:pt x="296" y="12"/>
                  </a:cubicBezTo>
                  <a:cubicBezTo>
                    <a:pt x="275" y="4"/>
                    <a:pt x="244" y="0"/>
                    <a:pt x="203" y="0"/>
                  </a:cubicBezTo>
                  <a:cubicBezTo>
                    <a:pt x="0" y="0"/>
                    <a:pt x="0" y="0"/>
                    <a:pt x="0" y="0"/>
                  </a:cubicBezTo>
                  <a:cubicBezTo>
                    <a:pt x="0" y="458"/>
                    <a:pt x="0" y="458"/>
                    <a:pt x="0" y="458"/>
                  </a:cubicBezTo>
                  <a:cubicBezTo>
                    <a:pt x="60" y="458"/>
                    <a:pt x="60" y="458"/>
                    <a:pt x="60" y="458"/>
                  </a:cubicBezTo>
                  <a:cubicBezTo>
                    <a:pt x="60" y="254"/>
                    <a:pt x="60" y="254"/>
                    <a:pt x="60" y="254"/>
                  </a:cubicBezTo>
                  <a:cubicBezTo>
                    <a:pt x="131" y="254"/>
                    <a:pt x="131" y="254"/>
                    <a:pt x="131" y="254"/>
                  </a:cubicBezTo>
                  <a:cubicBezTo>
                    <a:pt x="146" y="254"/>
                    <a:pt x="157" y="255"/>
                    <a:pt x="164" y="257"/>
                  </a:cubicBezTo>
                  <a:cubicBezTo>
                    <a:pt x="174" y="259"/>
                    <a:pt x="183" y="263"/>
                    <a:pt x="192" y="269"/>
                  </a:cubicBezTo>
                  <a:cubicBezTo>
                    <a:pt x="201" y="275"/>
                    <a:pt x="211" y="285"/>
                    <a:pt x="223" y="299"/>
                  </a:cubicBezTo>
                  <a:cubicBezTo>
                    <a:pt x="234" y="314"/>
                    <a:pt x="249" y="335"/>
                    <a:pt x="267" y="363"/>
                  </a:cubicBezTo>
                  <a:cubicBezTo>
                    <a:pt x="327" y="458"/>
                    <a:pt x="327" y="458"/>
                    <a:pt x="327" y="458"/>
                  </a:cubicBezTo>
                  <a:cubicBezTo>
                    <a:pt x="403" y="458"/>
                    <a:pt x="403" y="458"/>
                    <a:pt x="403" y="458"/>
                  </a:cubicBezTo>
                  <a:cubicBezTo>
                    <a:pt x="324" y="333"/>
                    <a:pt x="324" y="333"/>
                    <a:pt x="324" y="333"/>
                  </a:cubicBezTo>
                  <a:cubicBezTo>
                    <a:pt x="308" y="309"/>
                    <a:pt x="291" y="289"/>
                    <a:pt x="273" y="272"/>
                  </a:cubicBezTo>
                  <a:close/>
                  <a:moveTo>
                    <a:pt x="191" y="202"/>
                  </a:moveTo>
                  <a:cubicBezTo>
                    <a:pt x="60" y="202"/>
                    <a:pt x="60" y="202"/>
                    <a:pt x="60" y="202"/>
                  </a:cubicBezTo>
                  <a:cubicBezTo>
                    <a:pt x="60" y="50"/>
                    <a:pt x="60" y="50"/>
                    <a:pt x="60" y="50"/>
                  </a:cubicBezTo>
                  <a:cubicBezTo>
                    <a:pt x="205" y="50"/>
                    <a:pt x="205" y="50"/>
                    <a:pt x="205" y="50"/>
                  </a:cubicBezTo>
                  <a:cubicBezTo>
                    <a:pt x="239" y="50"/>
                    <a:pt x="264" y="57"/>
                    <a:pt x="280" y="71"/>
                  </a:cubicBezTo>
                  <a:cubicBezTo>
                    <a:pt x="296" y="85"/>
                    <a:pt x="303" y="103"/>
                    <a:pt x="303" y="125"/>
                  </a:cubicBezTo>
                  <a:cubicBezTo>
                    <a:pt x="303" y="140"/>
                    <a:pt x="299" y="153"/>
                    <a:pt x="291" y="166"/>
                  </a:cubicBezTo>
                  <a:cubicBezTo>
                    <a:pt x="283" y="178"/>
                    <a:pt x="271" y="188"/>
                    <a:pt x="256" y="193"/>
                  </a:cubicBezTo>
                  <a:cubicBezTo>
                    <a:pt x="240" y="199"/>
                    <a:pt x="218" y="202"/>
                    <a:pt x="191" y="202"/>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6" name="Freeform 42"/>
            <p:cNvSpPr>
              <a:spLocks/>
            </p:cNvSpPr>
            <p:nvPr/>
          </p:nvSpPr>
          <p:spPr bwMode="auto">
            <a:xfrm>
              <a:off x="3752" y="614"/>
              <a:ext cx="54" cy="60"/>
            </a:xfrm>
            <a:custGeom>
              <a:avLst/>
              <a:gdLst/>
              <a:ahLst/>
              <a:cxnLst>
                <a:cxn ang="0">
                  <a:pos x="229" y="286"/>
                </a:cxn>
                <a:cxn ang="0">
                  <a:pos x="364" y="286"/>
                </a:cxn>
                <a:cxn ang="0">
                  <a:pos x="364" y="372"/>
                </a:cxn>
                <a:cxn ang="0">
                  <a:pos x="307" y="404"/>
                </a:cxn>
                <a:cxn ang="0">
                  <a:pos x="230" y="419"/>
                </a:cxn>
                <a:cxn ang="0">
                  <a:pos x="145" y="399"/>
                </a:cxn>
                <a:cxn ang="0">
                  <a:pos x="83" y="338"/>
                </a:cxn>
                <a:cxn ang="0">
                  <a:pos x="62" y="235"/>
                </a:cxn>
                <a:cxn ang="0">
                  <a:pos x="80" y="143"/>
                </a:cxn>
                <a:cxn ang="0">
                  <a:pos x="108" y="98"/>
                </a:cxn>
                <a:cxn ang="0">
                  <a:pos x="157" y="64"/>
                </a:cxn>
                <a:cxn ang="0">
                  <a:pos x="229" y="52"/>
                </a:cxn>
                <a:cxn ang="0">
                  <a:pos x="292" y="64"/>
                </a:cxn>
                <a:cxn ang="0">
                  <a:pos x="336" y="96"/>
                </a:cxn>
                <a:cxn ang="0">
                  <a:pos x="362" y="151"/>
                </a:cxn>
                <a:cxn ang="0">
                  <a:pos x="417" y="136"/>
                </a:cxn>
                <a:cxn ang="0">
                  <a:pos x="382" y="61"/>
                </a:cxn>
                <a:cxn ang="0">
                  <a:pos x="319" y="16"/>
                </a:cxn>
                <a:cxn ang="0">
                  <a:pos x="229" y="0"/>
                </a:cxn>
                <a:cxn ang="0">
                  <a:pos x="108" y="28"/>
                </a:cxn>
                <a:cxn ang="0">
                  <a:pos x="28" y="114"/>
                </a:cxn>
                <a:cxn ang="0">
                  <a:pos x="0" y="239"/>
                </a:cxn>
                <a:cxn ang="0">
                  <a:pos x="28" y="361"/>
                </a:cxn>
                <a:cxn ang="0">
                  <a:pos x="111" y="445"/>
                </a:cxn>
                <a:cxn ang="0">
                  <a:pos x="234" y="474"/>
                </a:cxn>
                <a:cxn ang="0">
                  <a:pos x="331" y="456"/>
                </a:cxn>
                <a:cxn ang="0">
                  <a:pos x="423" y="402"/>
                </a:cxn>
                <a:cxn ang="0">
                  <a:pos x="423" y="232"/>
                </a:cxn>
                <a:cxn ang="0">
                  <a:pos x="229" y="232"/>
                </a:cxn>
                <a:cxn ang="0">
                  <a:pos x="229" y="286"/>
                </a:cxn>
              </a:cxnLst>
              <a:rect l="0" t="0" r="r" b="b"/>
              <a:pathLst>
                <a:path w="423" h="474">
                  <a:moveTo>
                    <a:pt x="229" y="286"/>
                  </a:moveTo>
                  <a:cubicBezTo>
                    <a:pt x="364" y="286"/>
                    <a:pt x="364" y="286"/>
                    <a:pt x="364" y="286"/>
                  </a:cubicBezTo>
                  <a:cubicBezTo>
                    <a:pt x="364" y="372"/>
                    <a:pt x="364" y="372"/>
                    <a:pt x="364" y="372"/>
                  </a:cubicBezTo>
                  <a:cubicBezTo>
                    <a:pt x="351" y="383"/>
                    <a:pt x="332" y="394"/>
                    <a:pt x="307" y="404"/>
                  </a:cubicBezTo>
                  <a:cubicBezTo>
                    <a:pt x="282" y="414"/>
                    <a:pt x="256" y="419"/>
                    <a:pt x="230" y="419"/>
                  </a:cubicBezTo>
                  <a:cubicBezTo>
                    <a:pt x="200" y="419"/>
                    <a:pt x="171" y="412"/>
                    <a:pt x="145" y="399"/>
                  </a:cubicBezTo>
                  <a:cubicBezTo>
                    <a:pt x="118" y="386"/>
                    <a:pt x="97" y="365"/>
                    <a:pt x="83" y="338"/>
                  </a:cubicBezTo>
                  <a:cubicBezTo>
                    <a:pt x="69" y="310"/>
                    <a:pt x="62" y="276"/>
                    <a:pt x="62" y="235"/>
                  </a:cubicBezTo>
                  <a:cubicBezTo>
                    <a:pt x="62" y="202"/>
                    <a:pt x="68" y="171"/>
                    <a:pt x="80" y="143"/>
                  </a:cubicBezTo>
                  <a:cubicBezTo>
                    <a:pt x="86" y="127"/>
                    <a:pt x="96" y="111"/>
                    <a:pt x="108" y="98"/>
                  </a:cubicBezTo>
                  <a:cubicBezTo>
                    <a:pt x="121" y="84"/>
                    <a:pt x="137" y="73"/>
                    <a:pt x="157" y="64"/>
                  </a:cubicBezTo>
                  <a:cubicBezTo>
                    <a:pt x="178" y="56"/>
                    <a:pt x="202" y="52"/>
                    <a:pt x="229" y="52"/>
                  </a:cubicBezTo>
                  <a:cubicBezTo>
                    <a:pt x="252" y="52"/>
                    <a:pt x="273" y="56"/>
                    <a:pt x="292" y="64"/>
                  </a:cubicBezTo>
                  <a:cubicBezTo>
                    <a:pt x="311" y="72"/>
                    <a:pt x="326" y="83"/>
                    <a:pt x="336" y="96"/>
                  </a:cubicBezTo>
                  <a:cubicBezTo>
                    <a:pt x="346" y="109"/>
                    <a:pt x="355" y="128"/>
                    <a:pt x="362" y="151"/>
                  </a:cubicBezTo>
                  <a:cubicBezTo>
                    <a:pt x="417" y="136"/>
                    <a:pt x="417" y="136"/>
                    <a:pt x="417" y="136"/>
                  </a:cubicBezTo>
                  <a:cubicBezTo>
                    <a:pt x="409" y="105"/>
                    <a:pt x="397" y="80"/>
                    <a:pt x="382" y="61"/>
                  </a:cubicBezTo>
                  <a:cubicBezTo>
                    <a:pt x="367" y="42"/>
                    <a:pt x="346" y="27"/>
                    <a:pt x="319" y="16"/>
                  </a:cubicBezTo>
                  <a:cubicBezTo>
                    <a:pt x="292" y="5"/>
                    <a:pt x="262" y="0"/>
                    <a:pt x="229" y="0"/>
                  </a:cubicBezTo>
                  <a:cubicBezTo>
                    <a:pt x="183" y="0"/>
                    <a:pt x="143" y="9"/>
                    <a:pt x="108" y="28"/>
                  </a:cubicBezTo>
                  <a:cubicBezTo>
                    <a:pt x="73" y="47"/>
                    <a:pt x="46" y="75"/>
                    <a:pt x="28" y="114"/>
                  </a:cubicBezTo>
                  <a:cubicBezTo>
                    <a:pt x="9" y="153"/>
                    <a:pt x="0" y="194"/>
                    <a:pt x="0" y="239"/>
                  </a:cubicBezTo>
                  <a:cubicBezTo>
                    <a:pt x="0" y="284"/>
                    <a:pt x="9" y="325"/>
                    <a:pt x="28" y="361"/>
                  </a:cubicBezTo>
                  <a:cubicBezTo>
                    <a:pt x="46" y="398"/>
                    <a:pt x="74" y="426"/>
                    <a:pt x="111" y="445"/>
                  </a:cubicBezTo>
                  <a:cubicBezTo>
                    <a:pt x="148" y="464"/>
                    <a:pt x="189" y="474"/>
                    <a:pt x="234" y="474"/>
                  </a:cubicBezTo>
                  <a:cubicBezTo>
                    <a:pt x="267" y="474"/>
                    <a:pt x="300" y="468"/>
                    <a:pt x="331" y="456"/>
                  </a:cubicBezTo>
                  <a:cubicBezTo>
                    <a:pt x="363" y="444"/>
                    <a:pt x="394" y="426"/>
                    <a:pt x="423" y="402"/>
                  </a:cubicBezTo>
                  <a:cubicBezTo>
                    <a:pt x="423" y="232"/>
                    <a:pt x="423" y="232"/>
                    <a:pt x="423" y="232"/>
                  </a:cubicBezTo>
                  <a:cubicBezTo>
                    <a:pt x="229" y="232"/>
                    <a:pt x="229" y="232"/>
                    <a:pt x="229" y="232"/>
                  </a:cubicBezTo>
                  <a:lnTo>
                    <a:pt x="229" y="286"/>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7" name="Freeform 43"/>
            <p:cNvSpPr>
              <a:spLocks noEditPoints="1"/>
            </p:cNvSpPr>
            <p:nvPr/>
          </p:nvSpPr>
          <p:spPr bwMode="auto">
            <a:xfrm>
              <a:off x="3931" y="432"/>
              <a:ext cx="55" cy="59"/>
            </a:xfrm>
            <a:custGeom>
              <a:avLst/>
              <a:gdLst/>
              <a:ahLst/>
              <a:cxnLst>
                <a:cxn ang="0">
                  <a:pos x="360" y="459"/>
                </a:cxn>
                <a:cxn ang="0">
                  <a:pos x="429" y="459"/>
                </a:cxn>
                <a:cxn ang="0">
                  <a:pos x="241" y="0"/>
                </a:cxn>
                <a:cxn ang="0">
                  <a:pos x="176" y="0"/>
                </a:cxn>
                <a:cxn ang="0">
                  <a:pos x="0" y="459"/>
                </a:cxn>
                <a:cxn ang="0">
                  <a:pos x="64" y="459"/>
                </a:cxn>
                <a:cxn ang="0">
                  <a:pos x="115" y="320"/>
                </a:cxn>
                <a:cxn ang="0">
                  <a:pos x="306" y="320"/>
                </a:cxn>
                <a:cxn ang="0">
                  <a:pos x="360" y="459"/>
                </a:cxn>
                <a:cxn ang="0">
                  <a:pos x="132" y="270"/>
                </a:cxn>
                <a:cxn ang="0">
                  <a:pos x="182" y="136"/>
                </a:cxn>
                <a:cxn ang="0">
                  <a:pos x="207" y="48"/>
                </a:cxn>
                <a:cxn ang="0">
                  <a:pos x="240" y="143"/>
                </a:cxn>
                <a:cxn ang="0">
                  <a:pos x="287" y="270"/>
                </a:cxn>
                <a:cxn ang="0">
                  <a:pos x="132" y="270"/>
                </a:cxn>
              </a:cxnLst>
              <a:rect l="0" t="0" r="r" b="b"/>
              <a:pathLst>
                <a:path w="429" h="459">
                  <a:moveTo>
                    <a:pt x="360" y="459"/>
                  </a:moveTo>
                  <a:cubicBezTo>
                    <a:pt x="429" y="459"/>
                    <a:pt x="429" y="459"/>
                    <a:pt x="429" y="459"/>
                  </a:cubicBezTo>
                  <a:cubicBezTo>
                    <a:pt x="241" y="0"/>
                    <a:pt x="241" y="0"/>
                    <a:pt x="241" y="0"/>
                  </a:cubicBezTo>
                  <a:cubicBezTo>
                    <a:pt x="176" y="0"/>
                    <a:pt x="176" y="0"/>
                    <a:pt x="176" y="0"/>
                  </a:cubicBezTo>
                  <a:cubicBezTo>
                    <a:pt x="0" y="459"/>
                    <a:pt x="0" y="459"/>
                    <a:pt x="0" y="459"/>
                  </a:cubicBezTo>
                  <a:cubicBezTo>
                    <a:pt x="64" y="459"/>
                    <a:pt x="64" y="459"/>
                    <a:pt x="64" y="459"/>
                  </a:cubicBezTo>
                  <a:cubicBezTo>
                    <a:pt x="115" y="320"/>
                    <a:pt x="115" y="320"/>
                    <a:pt x="115" y="320"/>
                  </a:cubicBezTo>
                  <a:cubicBezTo>
                    <a:pt x="306" y="320"/>
                    <a:pt x="306" y="320"/>
                    <a:pt x="306" y="320"/>
                  </a:cubicBezTo>
                  <a:lnTo>
                    <a:pt x="360" y="459"/>
                  </a:lnTo>
                  <a:close/>
                  <a:moveTo>
                    <a:pt x="132" y="270"/>
                  </a:moveTo>
                  <a:cubicBezTo>
                    <a:pt x="182" y="136"/>
                    <a:pt x="182" y="136"/>
                    <a:pt x="182" y="136"/>
                  </a:cubicBezTo>
                  <a:cubicBezTo>
                    <a:pt x="193" y="107"/>
                    <a:pt x="201" y="78"/>
                    <a:pt x="207" y="48"/>
                  </a:cubicBezTo>
                  <a:cubicBezTo>
                    <a:pt x="214" y="73"/>
                    <a:pt x="225" y="105"/>
                    <a:pt x="240" y="143"/>
                  </a:cubicBezTo>
                  <a:cubicBezTo>
                    <a:pt x="287" y="270"/>
                    <a:pt x="287" y="270"/>
                    <a:pt x="287" y="270"/>
                  </a:cubicBezTo>
                  <a:lnTo>
                    <a:pt x="132" y="270"/>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8" name="Freeform 44"/>
            <p:cNvSpPr>
              <a:spLocks/>
            </p:cNvSpPr>
            <p:nvPr/>
          </p:nvSpPr>
          <p:spPr bwMode="auto">
            <a:xfrm>
              <a:off x="4053" y="432"/>
              <a:ext cx="37" cy="59"/>
            </a:xfrm>
            <a:custGeom>
              <a:avLst/>
              <a:gdLst/>
              <a:ahLst/>
              <a:cxnLst>
                <a:cxn ang="0">
                  <a:pos x="8" y="0"/>
                </a:cxn>
                <a:cxn ang="0">
                  <a:pos x="0" y="0"/>
                </a:cxn>
                <a:cxn ang="0">
                  <a:pos x="0" y="59"/>
                </a:cxn>
                <a:cxn ang="0">
                  <a:pos x="37" y="59"/>
                </a:cxn>
                <a:cxn ang="0">
                  <a:pos x="37" y="52"/>
                </a:cxn>
                <a:cxn ang="0">
                  <a:pos x="8" y="52"/>
                </a:cxn>
                <a:cxn ang="0">
                  <a:pos x="8" y="0"/>
                </a:cxn>
              </a:cxnLst>
              <a:rect l="0" t="0" r="r" b="b"/>
              <a:pathLst>
                <a:path w="37" h="59">
                  <a:moveTo>
                    <a:pt x="8" y="0"/>
                  </a:moveTo>
                  <a:lnTo>
                    <a:pt x="0" y="0"/>
                  </a:lnTo>
                  <a:lnTo>
                    <a:pt x="0" y="59"/>
                  </a:lnTo>
                  <a:lnTo>
                    <a:pt x="37" y="59"/>
                  </a:lnTo>
                  <a:lnTo>
                    <a:pt x="37" y="52"/>
                  </a:lnTo>
                  <a:lnTo>
                    <a:pt x="8" y="52"/>
                  </a:lnTo>
                  <a:lnTo>
                    <a:pt x="8" y="0"/>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9" name="Freeform 45"/>
            <p:cNvSpPr>
              <a:spLocks noEditPoints="1"/>
            </p:cNvSpPr>
            <p:nvPr/>
          </p:nvSpPr>
          <p:spPr bwMode="auto">
            <a:xfrm>
              <a:off x="3995" y="432"/>
              <a:ext cx="45" cy="59"/>
            </a:xfrm>
            <a:custGeom>
              <a:avLst/>
              <a:gdLst/>
              <a:ahLst/>
              <a:cxnLst>
                <a:cxn ang="0">
                  <a:pos x="260" y="215"/>
                </a:cxn>
                <a:cxn ang="0">
                  <a:pos x="308" y="173"/>
                </a:cxn>
                <a:cxn ang="0">
                  <a:pos x="324" y="117"/>
                </a:cxn>
                <a:cxn ang="0">
                  <a:pos x="306" y="57"/>
                </a:cxn>
                <a:cxn ang="0">
                  <a:pos x="256" y="14"/>
                </a:cxn>
                <a:cxn ang="0">
                  <a:pos x="172" y="0"/>
                </a:cxn>
                <a:cxn ang="0">
                  <a:pos x="0" y="0"/>
                </a:cxn>
                <a:cxn ang="0">
                  <a:pos x="0" y="459"/>
                </a:cxn>
                <a:cxn ang="0">
                  <a:pos x="175" y="459"/>
                </a:cxn>
                <a:cxn ang="0">
                  <a:pos x="249" y="451"/>
                </a:cxn>
                <a:cxn ang="0">
                  <a:pos x="299" y="428"/>
                </a:cxn>
                <a:cxn ang="0">
                  <a:pos x="333" y="386"/>
                </a:cxn>
                <a:cxn ang="0">
                  <a:pos x="346" y="326"/>
                </a:cxn>
                <a:cxn ang="0">
                  <a:pos x="324" y="256"/>
                </a:cxn>
                <a:cxn ang="0">
                  <a:pos x="260" y="215"/>
                </a:cxn>
                <a:cxn ang="0">
                  <a:pos x="61" y="54"/>
                </a:cxn>
                <a:cxn ang="0">
                  <a:pos x="152" y="54"/>
                </a:cxn>
                <a:cxn ang="0">
                  <a:pos x="222" y="61"/>
                </a:cxn>
                <a:cxn ang="0">
                  <a:pos x="253" y="84"/>
                </a:cxn>
                <a:cxn ang="0">
                  <a:pos x="264" y="125"/>
                </a:cxn>
                <a:cxn ang="0">
                  <a:pos x="253" y="165"/>
                </a:cxn>
                <a:cxn ang="0">
                  <a:pos x="218" y="187"/>
                </a:cxn>
                <a:cxn ang="0">
                  <a:pos x="160" y="193"/>
                </a:cxn>
                <a:cxn ang="0">
                  <a:pos x="61" y="193"/>
                </a:cxn>
                <a:cxn ang="0">
                  <a:pos x="61" y="54"/>
                </a:cxn>
                <a:cxn ang="0">
                  <a:pos x="274" y="364"/>
                </a:cxn>
                <a:cxn ang="0">
                  <a:pos x="251" y="390"/>
                </a:cxn>
                <a:cxn ang="0">
                  <a:pos x="216" y="402"/>
                </a:cxn>
                <a:cxn ang="0">
                  <a:pos x="175" y="404"/>
                </a:cxn>
                <a:cxn ang="0">
                  <a:pos x="61" y="404"/>
                </a:cxn>
                <a:cxn ang="0">
                  <a:pos x="61" y="247"/>
                </a:cxn>
                <a:cxn ang="0">
                  <a:pos x="167" y="247"/>
                </a:cxn>
                <a:cxn ang="0">
                  <a:pos x="234" y="255"/>
                </a:cxn>
                <a:cxn ang="0">
                  <a:pos x="270" y="281"/>
                </a:cxn>
                <a:cxn ang="0">
                  <a:pos x="283" y="326"/>
                </a:cxn>
                <a:cxn ang="0">
                  <a:pos x="274" y="364"/>
                </a:cxn>
              </a:cxnLst>
              <a:rect l="0" t="0" r="r" b="b"/>
              <a:pathLst>
                <a:path w="346" h="459">
                  <a:moveTo>
                    <a:pt x="260" y="215"/>
                  </a:moveTo>
                  <a:cubicBezTo>
                    <a:pt x="281" y="204"/>
                    <a:pt x="297" y="190"/>
                    <a:pt x="308" y="173"/>
                  </a:cubicBezTo>
                  <a:cubicBezTo>
                    <a:pt x="319" y="156"/>
                    <a:pt x="324" y="137"/>
                    <a:pt x="324" y="117"/>
                  </a:cubicBezTo>
                  <a:cubicBezTo>
                    <a:pt x="324" y="96"/>
                    <a:pt x="318" y="76"/>
                    <a:pt x="306" y="57"/>
                  </a:cubicBezTo>
                  <a:cubicBezTo>
                    <a:pt x="294" y="38"/>
                    <a:pt x="277" y="23"/>
                    <a:pt x="256" y="14"/>
                  </a:cubicBezTo>
                  <a:cubicBezTo>
                    <a:pt x="235" y="5"/>
                    <a:pt x="207" y="0"/>
                    <a:pt x="172" y="0"/>
                  </a:cubicBezTo>
                  <a:cubicBezTo>
                    <a:pt x="0" y="0"/>
                    <a:pt x="0" y="0"/>
                    <a:pt x="0" y="0"/>
                  </a:cubicBezTo>
                  <a:cubicBezTo>
                    <a:pt x="0" y="459"/>
                    <a:pt x="0" y="459"/>
                    <a:pt x="0" y="459"/>
                  </a:cubicBezTo>
                  <a:cubicBezTo>
                    <a:pt x="175" y="459"/>
                    <a:pt x="175" y="459"/>
                    <a:pt x="175" y="459"/>
                  </a:cubicBezTo>
                  <a:cubicBezTo>
                    <a:pt x="204" y="459"/>
                    <a:pt x="229" y="456"/>
                    <a:pt x="249" y="451"/>
                  </a:cubicBezTo>
                  <a:cubicBezTo>
                    <a:pt x="269" y="446"/>
                    <a:pt x="286" y="438"/>
                    <a:pt x="299" y="428"/>
                  </a:cubicBezTo>
                  <a:cubicBezTo>
                    <a:pt x="312" y="418"/>
                    <a:pt x="323" y="404"/>
                    <a:pt x="333" y="386"/>
                  </a:cubicBezTo>
                  <a:cubicBezTo>
                    <a:pt x="342" y="367"/>
                    <a:pt x="346" y="347"/>
                    <a:pt x="346" y="326"/>
                  </a:cubicBezTo>
                  <a:cubicBezTo>
                    <a:pt x="346" y="299"/>
                    <a:pt x="339" y="276"/>
                    <a:pt x="324" y="256"/>
                  </a:cubicBezTo>
                  <a:cubicBezTo>
                    <a:pt x="309" y="237"/>
                    <a:pt x="288" y="223"/>
                    <a:pt x="260" y="215"/>
                  </a:cubicBezTo>
                  <a:close/>
                  <a:moveTo>
                    <a:pt x="61" y="54"/>
                  </a:moveTo>
                  <a:cubicBezTo>
                    <a:pt x="152" y="54"/>
                    <a:pt x="152" y="54"/>
                    <a:pt x="152" y="54"/>
                  </a:cubicBezTo>
                  <a:cubicBezTo>
                    <a:pt x="185" y="54"/>
                    <a:pt x="208" y="56"/>
                    <a:pt x="222" y="61"/>
                  </a:cubicBezTo>
                  <a:cubicBezTo>
                    <a:pt x="236" y="65"/>
                    <a:pt x="246" y="73"/>
                    <a:pt x="253" y="84"/>
                  </a:cubicBezTo>
                  <a:cubicBezTo>
                    <a:pt x="261" y="96"/>
                    <a:pt x="264" y="109"/>
                    <a:pt x="264" y="125"/>
                  </a:cubicBezTo>
                  <a:cubicBezTo>
                    <a:pt x="264" y="141"/>
                    <a:pt x="260" y="154"/>
                    <a:pt x="253" y="165"/>
                  </a:cubicBezTo>
                  <a:cubicBezTo>
                    <a:pt x="245" y="175"/>
                    <a:pt x="233" y="183"/>
                    <a:pt x="218" y="187"/>
                  </a:cubicBezTo>
                  <a:cubicBezTo>
                    <a:pt x="206" y="191"/>
                    <a:pt x="187" y="193"/>
                    <a:pt x="160" y="193"/>
                  </a:cubicBezTo>
                  <a:cubicBezTo>
                    <a:pt x="61" y="193"/>
                    <a:pt x="61" y="193"/>
                    <a:pt x="61" y="193"/>
                  </a:cubicBezTo>
                  <a:lnTo>
                    <a:pt x="61" y="54"/>
                  </a:lnTo>
                  <a:close/>
                  <a:moveTo>
                    <a:pt x="274" y="364"/>
                  </a:moveTo>
                  <a:cubicBezTo>
                    <a:pt x="268" y="375"/>
                    <a:pt x="261" y="384"/>
                    <a:pt x="251" y="390"/>
                  </a:cubicBezTo>
                  <a:cubicBezTo>
                    <a:pt x="242" y="396"/>
                    <a:pt x="230" y="400"/>
                    <a:pt x="216" y="402"/>
                  </a:cubicBezTo>
                  <a:cubicBezTo>
                    <a:pt x="208" y="404"/>
                    <a:pt x="194" y="404"/>
                    <a:pt x="175" y="404"/>
                  </a:cubicBezTo>
                  <a:cubicBezTo>
                    <a:pt x="61" y="404"/>
                    <a:pt x="61" y="404"/>
                    <a:pt x="61" y="404"/>
                  </a:cubicBezTo>
                  <a:cubicBezTo>
                    <a:pt x="61" y="247"/>
                    <a:pt x="61" y="247"/>
                    <a:pt x="61" y="247"/>
                  </a:cubicBezTo>
                  <a:cubicBezTo>
                    <a:pt x="167" y="247"/>
                    <a:pt x="167" y="247"/>
                    <a:pt x="167" y="247"/>
                  </a:cubicBezTo>
                  <a:cubicBezTo>
                    <a:pt x="196" y="247"/>
                    <a:pt x="218" y="249"/>
                    <a:pt x="234" y="255"/>
                  </a:cubicBezTo>
                  <a:cubicBezTo>
                    <a:pt x="249" y="260"/>
                    <a:pt x="261" y="269"/>
                    <a:pt x="270" y="281"/>
                  </a:cubicBezTo>
                  <a:cubicBezTo>
                    <a:pt x="279" y="294"/>
                    <a:pt x="283" y="309"/>
                    <a:pt x="283" y="326"/>
                  </a:cubicBezTo>
                  <a:cubicBezTo>
                    <a:pt x="283" y="340"/>
                    <a:pt x="280" y="353"/>
                    <a:pt x="274" y="36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40" name="Freeform 46"/>
            <p:cNvSpPr>
              <a:spLocks/>
            </p:cNvSpPr>
            <p:nvPr/>
          </p:nvSpPr>
          <p:spPr bwMode="auto">
            <a:xfrm>
              <a:off x="4101" y="432"/>
              <a:ext cx="44" cy="59"/>
            </a:xfrm>
            <a:custGeom>
              <a:avLst/>
              <a:gdLst/>
              <a:ahLst/>
              <a:cxnLst>
                <a:cxn ang="0">
                  <a:pos x="8" y="32"/>
                </a:cxn>
                <a:cxn ang="0">
                  <a:pos x="41" y="32"/>
                </a:cxn>
                <a:cxn ang="0">
                  <a:pos x="41" y="25"/>
                </a:cxn>
                <a:cxn ang="0">
                  <a:pos x="8" y="25"/>
                </a:cxn>
                <a:cxn ang="0">
                  <a:pos x="8" y="7"/>
                </a:cxn>
                <a:cxn ang="0">
                  <a:pos x="43" y="7"/>
                </a:cxn>
                <a:cxn ang="0">
                  <a:pos x="43" y="0"/>
                </a:cxn>
                <a:cxn ang="0">
                  <a:pos x="0" y="0"/>
                </a:cxn>
                <a:cxn ang="0">
                  <a:pos x="0" y="59"/>
                </a:cxn>
                <a:cxn ang="0">
                  <a:pos x="44" y="59"/>
                </a:cxn>
                <a:cxn ang="0">
                  <a:pos x="44" y="52"/>
                </a:cxn>
                <a:cxn ang="0">
                  <a:pos x="8" y="52"/>
                </a:cxn>
                <a:cxn ang="0">
                  <a:pos x="8" y="32"/>
                </a:cxn>
              </a:cxnLst>
              <a:rect l="0" t="0" r="r" b="b"/>
              <a:pathLst>
                <a:path w="44" h="59">
                  <a:moveTo>
                    <a:pt x="8" y="32"/>
                  </a:moveTo>
                  <a:lnTo>
                    <a:pt x="41" y="32"/>
                  </a:lnTo>
                  <a:lnTo>
                    <a:pt x="41" y="25"/>
                  </a:lnTo>
                  <a:lnTo>
                    <a:pt x="8" y="25"/>
                  </a:lnTo>
                  <a:lnTo>
                    <a:pt x="8" y="7"/>
                  </a:lnTo>
                  <a:lnTo>
                    <a:pt x="43" y="7"/>
                  </a:lnTo>
                  <a:lnTo>
                    <a:pt x="43" y="0"/>
                  </a:lnTo>
                  <a:lnTo>
                    <a:pt x="0" y="0"/>
                  </a:lnTo>
                  <a:lnTo>
                    <a:pt x="0" y="59"/>
                  </a:lnTo>
                  <a:lnTo>
                    <a:pt x="44" y="59"/>
                  </a:lnTo>
                  <a:lnTo>
                    <a:pt x="44" y="52"/>
                  </a:lnTo>
                  <a:lnTo>
                    <a:pt x="8" y="52"/>
                  </a:lnTo>
                  <a:lnTo>
                    <a:pt x="8" y="32"/>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41" name="Freeform 47"/>
            <p:cNvSpPr>
              <a:spLocks noEditPoints="1"/>
            </p:cNvSpPr>
            <p:nvPr/>
          </p:nvSpPr>
          <p:spPr bwMode="auto">
            <a:xfrm>
              <a:off x="3966" y="154"/>
              <a:ext cx="81" cy="242"/>
            </a:xfrm>
            <a:custGeom>
              <a:avLst/>
              <a:gdLst/>
              <a:ahLst/>
              <a:cxnLst>
                <a:cxn ang="0">
                  <a:pos x="0" y="239"/>
                </a:cxn>
                <a:cxn ang="0">
                  <a:pos x="0" y="242"/>
                </a:cxn>
                <a:cxn ang="0">
                  <a:pos x="81" y="242"/>
                </a:cxn>
                <a:cxn ang="0">
                  <a:pos x="81" y="0"/>
                </a:cxn>
                <a:cxn ang="0">
                  <a:pos x="0" y="0"/>
                </a:cxn>
                <a:cxn ang="0">
                  <a:pos x="0" y="239"/>
                </a:cxn>
                <a:cxn ang="0">
                  <a:pos x="75" y="7"/>
                </a:cxn>
                <a:cxn ang="0">
                  <a:pos x="75" y="235"/>
                </a:cxn>
                <a:cxn ang="0">
                  <a:pos x="7" y="235"/>
                </a:cxn>
                <a:cxn ang="0">
                  <a:pos x="7" y="7"/>
                </a:cxn>
                <a:cxn ang="0">
                  <a:pos x="75" y="7"/>
                </a:cxn>
              </a:cxnLst>
              <a:rect l="0" t="0" r="r" b="b"/>
              <a:pathLst>
                <a:path w="81" h="242">
                  <a:moveTo>
                    <a:pt x="0" y="239"/>
                  </a:moveTo>
                  <a:lnTo>
                    <a:pt x="0" y="242"/>
                  </a:lnTo>
                  <a:lnTo>
                    <a:pt x="81" y="242"/>
                  </a:lnTo>
                  <a:lnTo>
                    <a:pt x="81" y="0"/>
                  </a:lnTo>
                  <a:lnTo>
                    <a:pt x="0" y="0"/>
                  </a:lnTo>
                  <a:lnTo>
                    <a:pt x="0" y="239"/>
                  </a:lnTo>
                  <a:close/>
                  <a:moveTo>
                    <a:pt x="75" y="7"/>
                  </a:moveTo>
                  <a:lnTo>
                    <a:pt x="75" y="235"/>
                  </a:lnTo>
                  <a:lnTo>
                    <a:pt x="7" y="235"/>
                  </a:lnTo>
                  <a:lnTo>
                    <a:pt x="7" y="7"/>
                  </a:lnTo>
                  <a:lnTo>
                    <a:pt x="75" y="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42" name="Freeform 48"/>
            <p:cNvSpPr>
              <a:spLocks noEditPoints="1"/>
            </p:cNvSpPr>
            <p:nvPr/>
          </p:nvSpPr>
          <p:spPr bwMode="auto">
            <a:xfrm>
              <a:off x="3881" y="615"/>
              <a:ext cx="55" cy="58"/>
            </a:xfrm>
            <a:custGeom>
              <a:avLst/>
              <a:gdLst/>
              <a:ahLst/>
              <a:cxnLst>
                <a:cxn ang="0">
                  <a:pos x="176" y="0"/>
                </a:cxn>
                <a:cxn ang="0">
                  <a:pos x="0" y="458"/>
                </a:cxn>
                <a:cxn ang="0">
                  <a:pos x="65" y="458"/>
                </a:cxn>
                <a:cxn ang="0">
                  <a:pos x="115" y="319"/>
                </a:cxn>
                <a:cxn ang="0">
                  <a:pos x="307" y="319"/>
                </a:cxn>
                <a:cxn ang="0">
                  <a:pos x="360" y="458"/>
                </a:cxn>
                <a:cxn ang="0">
                  <a:pos x="429" y="458"/>
                </a:cxn>
                <a:cxn ang="0">
                  <a:pos x="242" y="0"/>
                </a:cxn>
                <a:cxn ang="0">
                  <a:pos x="176" y="0"/>
                </a:cxn>
                <a:cxn ang="0">
                  <a:pos x="133" y="270"/>
                </a:cxn>
                <a:cxn ang="0">
                  <a:pos x="183" y="135"/>
                </a:cxn>
                <a:cxn ang="0">
                  <a:pos x="208" y="48"/>
                </a:cxn>
                <a:cxn ang="0">
                  <a:pos x="240" y="143"/>
                </a:cxn>
                <a:cxn ang="0">
                  <a:pos x="288" y="270"/>
                </a:cxn>
                <a:cxn ang="0">
                  <a:pos x="133" y="270"/>
                </a:cxn>
              </a:cxnLst>
              <a:rect l="0" t="0" r="r" b="b"/>
              <a:pathLst>
                <a:path w="429" h="458">
                  <a:moveTo>
                    <a:pt x="176" y="0"/>
                  </a:moveTo>
                  <a:cubicBezTo>
                    <a:pt x="0" y="458"/>
                    <a:pt x="0" y="458"/>
                    <a:pt x="0" y="458"/>
                  </a:cubicBezTo>
                  <a:cubicBezTo>
                    <a:pt x="65" y="458"/>
                    <a:pt x="65" y="458"/>
                    <a:pt x="65" y="458"/>
                  </a:cubicBezTo>
                  <a:cubicBezTo>
                    <a:pt x="115" y="319"/>
                    <a:pt x="115" y="319"/>
                    <a:pt x="115" y="319"/>
                  </a:cubicBezTo>
                  <a:cubicBezTo>
                    <a:pt x="307" y="319"/>
                    <a:pt x="307" y="319"/>
                    <a:pt x="307" y="319"/>
                  </a:cubicBezTo>
                  <a:cubicBezTo>
                    <a:pt x="360" y="458"/>
                    <a:pt x="360" y="458"/>
                    <a:pt x="360" y="458"/>
                  </a:cubicBezTo>
                  <a:cubicBezTo>
                    <a:pt x="429" y="458"/>
                    <a:pt x="429" y="458"/>
                    <a:pt x="429" y="458"/>
                  </a:cubicBezTo>
                  <a:cubicBezTo>
                    <a:pt x="242" y="0"/>
                    <a:pt x="242" y="0"/>
                    <a:pt x="242" y="0"/>
                  </a:cubicBezTo>
                  <a:lnTo>
                    <a:pt x="176" y="0"/>
                  </a:lnTo>
                  <a:close/>
                  <a:moveTo>
                    <a:pt x="133" y="270"/>
                  </a:moveTo>
                  <a:cubicBezTo>
                    <a:pt x="183" y="135"/>
                    <a:pt x="183" y="135"/>
                    <a:pt x="183" y="135"/>
                  </a:cubicBezTo>
                  <a:cubicBezTo>
                    <a:pt x="194" y="106"/>
                    <a:pt x="202" y="77"/>
                    <a:pt x="208" y="48"/>
                  </a:cubicBezTo>
                  <a:cubicBezTo>
                    <a:pt x="215" y="73"/>
                    <a:pt x="226" y="104"/>
                    <a:pt x="240" y="143"/>
                  </a:cubicBezTo>
                  <a:cubicBezTo>
                    <a:pt x="288" y="270"/>
                    <a:pt x="288" y="270"/>
                    <a:pt x="288" y="270"/>
                  </a:cubicBezTo>
                  <a:lnTo>
                    <a:pt x="133" y="270"/>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43" name="Freeform 49"/>
            <p:cNvSpPr>
              <a:spLocks noEditPoints="1"/>
            </p:cNvSpPr>
            <p:nvPr/>
          </p:nvSpPr>
          <p:spPr bwMode="auto">
            <a:xfrm>
              <a:off x="3567" y="154"/>
              <a:ext cx="86" cy="164"/>
            </a:xfrm>
            <a:custGeom>
              <a:avLst/>
              <a:gdLst/>
              <a:ahLst/>
              <a:cxnLst>
                <a:cxn ang="0">
                  <a:pos x="638" y="1277"/>
                </a:cxn>
                <a:cxn ang="0">
                  <a:pos x="665" y="1277"/>
                </a:cxn>
                <a:cxn ang="0">
                  <a:pos x="665" y="0"/>
                </a:cxn>
                <a:cxn ang="0">
                  <a:pos x="638" y="0"/>
                </a:cxn>
                <a:cxn ang="0">
                  <a:pos x="0" y="638"/>
                </a:cxn>
                <a:cxn ang="0">
                  <a:pos x="638" y="1277"/>
                </a:cxn>
                <a:cxn ang="0">
                  <a:pos x="225" y="225"/>
                </a:cxn>
                <a:cxn ang="0">
                  <a:pos x="611" y="55"/>
                </a:cxn>
                <a:cxn ang="0">
                  <a:pos x="611" y="1221"/>
                </a:cxn>
                <a:cxn ang="0">
                  <a:pos x="225" y="1052"/>
                </a:cxn>
                <a:cxn ang="0">
                  <a:pos x="54" y="638"/>
                </a:cxn>
                <a:cxn ang="0">
                  <a:pos x="225" y="225"/>
                </a:cxn>
              </a:cxnLst>
              <a:rect l="0" t="0" r="r" b="b"/>
              <a:pathLst>
                <a:path w="665" h="1277">
                  <a:moveTo>
                    <a:pt x="638" y="1277"/>
                  </a:moveTo>
                  <a:cubicBezTo>
                    <a:pt x="665" y="1277"/>
                    <a:pt x="665" y="1277"/>
                    <a:pt x="665" y="1277"/>
                  </a:cubicBezTo>
                  <a:cubicBezTo>
                    <a:pt x="665" y="0"/>
                    <a:pt x="665" y="0"/>
                    <a:pt x="665" y="0"/>
                  </a:cubicBezTo>
                  <a:cubicBezTo>
                    <a:pt x="638" y="0"/>
                    <a:pt x="638" y="0"/>
                    <a:pt x="638" y="0"/>
                  </a:cubicBezTo>
                  <a:cubicBezTo>
                    <a:pt x="286" y="0"/>
                    <a:pt x="0" y="286"/>
                    <a:pt x="0" y="638"/>
                  </a:cubicBezTo>
                  <a:cubicBezTo>
                    <a:pt x="0" y="991"/>
                    <a:pt x="286" y="1277"/>
                    <a:pt x="638" y="1277"/>
                  </a:cubicBezTo>
                  <a:close/>
                  <a:moveTo>
                    <a:pt x="225" y="225"/>
                  </a:moveTo>
                  <a:cubicBezTo>
                    <a:pt x="325" y="125"/>
                    <a:pt x="461" y="62"/>
                    <a:pt x="611" y="55"/>
                  </a:cubicBezTo>
                  <a:cubicBezTo>
                    <a:pt x="611" y="1221"/>
                    <a:pt x="611" y="1221"/>
                    <a:pt x="611" y="1221"/>
                  </a:cubicBezTo>
                  <a:cubicBezTo>
                    <a:pt x="461" y="1215"/>
                    <a:pt x="325" y="1152"/>
                    <a:pt x="225" y="1052"/>
                  </a:cubicBezTo>
                  <a:cubicBezTo>
                    <a:pt x="119" y="946"/>
                    <a:pt x="54" y="800"/>
                    <a:pt x="54" y="638"/>
                  </a:cubicBezTo>
                  <a:cubicBezTo>
                    <a:pt x="54" y="477"/>
                    <a:pt x="119" y="331"/>
                    <a:pt x="225" y="225"/>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44" name="Freeform 50"/>
            <p:cNvSpPr>
              <a:spLocks noEditPoints="1"/>
            </p:cNvSpPr>
            <p:nvPr/>
          </p:nvSpPr>
          <p:spPr bwMode="auto">
            <a:xfrm>
              <a:off x="3567" y="311"/>
              <a:ext cx="86" cy="85"/>
            </a:xfrm>
            <a:custGeom>
              <a:avLst/>
              <a:gdLst/>
              <a:ahLst/>
              <a:cxnLst>
                <a:cxn ang="0">
                  <a:pos x="665" y="639"/>
                </a:cxn>
                <a:cxn ang="0">
                  <a:pos x="27" y="0"/>
                </a:cxn>
                <a:cxn ang="0">
                  <a:pos x="0" y="0"/>
                </a:cxn>
                <a:cxn ang="0">
                  <a:pos x="0" y="666"/>
                </a:cxn>
                <a:cxn ang="0">
                  <a:pos x="665" y="666"/>
                </a:cxn>
                <a:cxn ang="0">
                  <a:pos x="665" y="639"/>
                </a:cxn>
                <a:cxn ang="0">
                  <a:pos x="54" y="56"/>
                </a:cxn>
                <a:cxn ang="0">
                  <a:pos x="440" y="225"/>
                </a:cxn>
                <a:cxn ang="0">
                  <a:pos x="610" y="612"/>
                </a:cxn>
                <a:cxn ang="0">
                  <a:pos x="54" y="612"/>
                </a:cxn>
                <a:cxn ang="0">
                  <a:pos x="54" y="56"/>
                </a:cxn>
              </a:cxnLst>
              <a:rect l="0" t="0" r="r" b="b"/>
              <a:pathLst>
                <a:path w="665" h="666">
                  <a:moveTo>
                    <a:pt x="665" y="639"/>
                  </a:moveTo>
                  <a:cubicBezTo>
                    <a:pt x="665" y="286"/>
                    <a:pt x="380" y="0"/>
                    <a:pt x="27" y="0"/>
                  </a:cubicBezTo>
                  <a:cubicBezTo>
                    <a:pt x="0" y="0"/>
                    <a:pt x="0" y="0"/>
                    <a:pt x="0" y="0"/>
                  </a:cubicBezTo>
                  <a:cubicBezTo>
                    <a:pt x="0" y="666"/>
                    <a:pt x="0" y="666"/>
                    <a:pt x="0" y="666"/>
                  </a:cubicBezTo>
                  <a:cubicBezTo>
                    <a:pt x="665" y="666"/>
                    <a:pt x="665" y="666"/>
                    <a:pt x="665" y="666"/>
                  </a:cubicBezTo>
                  <a:lnTo>
                    <a:pt x="665" y="639"/>
                  </a:lnTo>
                  <a:close/>
                  <a:moveTo>
                    <a:pt x="54" y="56"/>
                  </a:moveTo>
                  <a:cubicBezTo>
                    <a:pt x="205" y="62"/>
                    <a:pt x="340" y="126"/>
                    <a:pt x="440" y="225"/>
                  </a:cubicBezTo>
                  <a:cubicBezTo>
                    <a:pt x="540" y="325"/>
                    <a:pt x="603" y="461"/>
                    <a:pt x="610" y="612"/>
                  </a:cubicBezTo>
                  <a:cubicBezTo>
                    <a:pt x="54" y="612"/>
                    <a:pt x="54" y="612"/>
                    <a:pt x="54" y="612"/>
                  </a:cubicBezTo>
                  <a:lnTo>
                    <a:pt x="54" y="56"/>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45" name="Freeform 51"/>
            <p:cNvSpPr>
              <a:spLocks/>
            </p:cNvSpPr>
            <p:nvPr/>
          </p:nvSpPr>
          <p:spPr bwMode="auto">
            <a:xfrm>
              <a:off x="3567" y="431"/>
              <a:ext cx="47" cy="61"/>
            </a:xfrm>
            <a:custGeom>
              <a:avLst/>
              <a:gdLst/>
              <a:ahLst/>
              <a:cxnLst>
                <a:cxn ang="0">
                  <a:pos x="254" y="410"/>
                </a:cxn>
                <a:cxn ang="0">
                  <a:pos x="193" y="420"/>
                </a:cxn>
                <a:cxn ang="0">
                  <a:pos x="123" y="406"/>
                </a:cxn>
                <a:cxn ang="0">
                  <a:pos x="77" y="371"/>
                </a:cxn>
                <a:cxn ang="0">
                  <a:pos x="58" y="314"/>
                </a:cxn>
                <a:cxn ang="0">
                  <a:pos x="0" y="319"/>
                </a:cxn>
                <a:cxn ang="0">
                  <a:pos x="26" y="402"/>
                </a:cxn>
                <a:cxn ang="0">
                  <a:pos x="92" y="456"/>
                </a:cxn>
                <a:cxn ang="0">
                  <a:pos x="196" y="474"/>
                </a:cxn>
                <a:cxn ang="0">
                  <a:pos x="284" y="456"/>
                </a:cxn>
                <a:cxn ang="0">
                  <a:pos x="344" y="406"/>
                </a:cxn>
                <a:cxn ang="0">
                  <a:pos x="365" y="337"/>
                </a:cxn>
                <a:cxn ang="0">
                  <a:pos x="346" y="272"/>
                </a:cxn>
                <a:cxn ang="0">
                  <a:pos x="287" y="225"/>
                </a:cxn>
                <a:cxn ang="0">
                  <a:pos x="186" y="196"/>
                </a:cxn>
                <a:cxn ang="0">
                  <a:pos x="94" y="163"/>
                </a:cxn>
                <a:cxn ang="0">
                  <a:pos x="76" y="123"/>
                </a:cxn>
                <a:cxn ang="0">
                  <a:pos x="102" y="74"/>
                </a:cxn>
                <a:cxn ang="0">
                  <a:pos x="182" y="54"/>
                </a:cxn>
                <a:cxn ang="0">
                  <a:pos x="262" y="76"/>
                </a:cxn>
                <a:cxn ang="0">
                  <a:pos x="293" y="142"/>
                </a:cxn>
                <a:cxn ang="0">
                  <a:pos x="351" y="137"/>
                </a:cxn>
                <a:cxn ang="0">
                  <a:pos x="329" y="65"/>
                </a:cxn>
                <a:cxn ang="0">
                  <a:pos x="269" y="17"/>
                </a:cxn>
                <a:cxn ang="0">
                  <a:pos x="179" y="0"/>
                </a:cxn>
                <a:cxn ang="0">
                  <a:pos x="95" y="16"/>
                </a:cxn>
                <a:cxn ang="0">
                  <a:pos x="38" y="62"/>
                </a:cxn>
                <a:cxn ang="0">
                  <a:pos x="18" y="127"/>
                </a:cxn>
                <a:cxn ang="0">
                  <a:pos x="34" y="184"/>
                </a:cxn>
                <a:cxn ang="0">
                  <a:pos x="83" y="226"/>
                </a:cxn>
                <a:cxn ang="0">
                  <a:pos x="171" y="255"/>
                </a:cxn>
                <a:cxn ang="0">
                  <a:pos x="253" y="277"/>
                </a:cxn>
                <a:cxn ang="0">
                  <a:pos x="294" y="304"/>
                </a:cxn>
                <a:cxn ang="0">
                  <a:pos x="307" y="342"/>
                </a:cxn>
                <a:cxn ang="0">
                  <a:pos x="294" y="381"/>
                </a:cxn>
                <a:cxn ang="0">
                  <a:pos x="254" y="410"/>
                </a:cxn>
              </a:cxnLst>
              <a:rect l="0" t="0" r="r" b="b"/>
              <a:pathLst>
                <a:path w="365" h="474">
                  <a:moveTo>
                    <a:pt x="254" y="410"/>
                  </a:moveTo>
                  <a:cubicBezTo>
                    <a:pt x="237" y="416"/>
                    <a:pt x="216" y="420"/>
                    <a:pt x="193" y="420"/>
                  </a:cubicBezTo>
                  <a:cubicBezTo>
                    <a:pt x="167" y="420"/>
                    <a:pt x="143" y="415"/>
                    <a:pt x="123" y="406"/>
                  </a:cubicBezTo>
                  <a:cubicBezTo>
                    <a:pt x="102" y="397"/>
                    <a:pt x="86" y="385"/>
                    <a:pt x="77" y="371"/>
                  </a:cubicBezTo>
                  <a:cubicBezTo>
                    <a:pt x="67" y="356"/>
                    <a:pt x="60" y="337"/>
                    <a:pt x="58" y="314"/>
                  </a:cubicBezTo>
                  <a:cubicBezTo>
                    <a:pt x="0" y="319"/>
                    <a:pt x="0" y="319"/>
                    <a:pt x="0" y="319"/>
                  </a:cubicBezTo>
                  <a:cubicBezTo>
                    <a:pt x="1" y="350"/>
                    <a:pt x="10" y="377"/>
                    <a:pt x="26" y="402"/>
                  </a:cubicBezTo>
                  <a:cubicBezTo>
                    <a:pt x="42" y="426"/>
                    <a:pt x="64" y="444"/>
                    <a:pt x="92" y="456"/>
                  </a:cubicBezTo>
                  <a:cubicBezTo>
                    <a:pt x="120" y="468"/>
                    <a:pt x="154" y="474"/>
                    <a:pt x="196" y="474"/>
                  </a:cubicBezTo>
                  <a:cubicBezTo>
                    <a:pt x="229" y="474"/>
                    <a:pt x="258" y="468"/>
                    <a:pt x="284" y="456"/>
                  </a:cubicBezTo>
                  <a:cubicBezTo>
                    <a:pt x="310" y="444"/>
                    <a:pt x="330" y="428"/>
                    <a:pt x="344" y="406"/>
                  </a:cubicBezTo>
                  <a:cubicBezTo>
                    <a:pt x="358" y="384"/>
                    <a:pt x="365" y="361"/>
                    <a:pt x="365" y="337"/>
                  </a:cubicBezTo>
                  <a:cubicBezTo>
                    <a:pt x="365" y="312"/>
                    <a:pt x="359" y="291"/>
                    <a:pt x="346" y="272"/>
                  </a:cubicBezTo>
                  <a:cubicBezTo>
                    <a:pt x="333" y="253"/>
                    <a:pt x="314" y="237"/>
                    <a:pt x="287" y="225"/>
                  </a:cubicBezTo>
                  <a:cubicBezTo>
                    <a:pt x="269" y="217"/>
                    <a:pt x="235" y="207"/>
                    <a:pt x="186" y="196"/>
                  </a:cubicBezTo>
                  <a:cubicBezTo>
                    <a:pt x="136" y="185"/>
                    <a:pt x="106" y="174"/>
                    <a:pt x="94" y="163"/>
                  </a:cubicBezTo>
                  <a:cubicBezTo>
                    <a:pt x="82" y="153"/>
                    <a:pt x="76" y="139"/>
                    <a:pt x="76" y="123"/>
                  </a:cubicBezTo>
                  <a:cubicBezTo>
                    <a:pt x="76" y="104"/>
                    <a:pt x="85" y="87"/>
                    <a:pt x="102" y="74"/>
                  </a:cubicBezTo>
                  <a:cubicBezTo>
                    <a:pt x="118" y="61"/>
                    <a:pt x="145" y="54"/>
                    <a:pt x="182" y="54"/>
                  </a:cubicBezTo>
                  <a:cubicBezTo>
                    <a:pt x="217" y="54"/>
                    <a:pt x="244" y="61"/>
                    <a:pt x="262" y="76"/>
                  </a:cubicBezTo>
                  <a:cubicBezTo>
                    <a:pt x="280" y="91"/>
                    <a:pt x="290" y="113"/>
                    <a:pt x="293" y="142"/>
                  </a:cubicBezTo>
                  <a:cubicBezTo>
                    <a:pt x="351" y="137"/>
                    <a:pt x="351" y="137"/>
                    <a:pt x="351" y="137"/>
                  </a:cubicBezTo>
                  <a:cubicBezTo>
                    <a:pt x="350" y="110"/>
                    <a:pt x="343" y="86"/>
                    <a:pt x="329" y="65"/>
                  </a:cubicBezTo>
                  <a:cubicBezTo>
                    <a:pt x="315" y="44"/>
                    <a:pt x="295" y="28"/>
                    <a:pt x="269" y="17"/>
                  </a:cubicBezTo>
                  <a:cubicBezTo>
                    <a:pt x="243" y="6"/>
                    <a:pt x="213" y="0"/>
                    <a:pt x="179" y="0"/>
                  </a:cubicBezTo>
                  <a:cubicBezTo>
                    <a:pt x="148" y="0"/>
                    <a:pt x="120" y="6"/>
                    <a:pt x="95" y="16"/>
                  </a:cubicBezTo>
                  <a:cubicBezTo>
                    <a:pt x="70" y="26"/>
                    <a:pt x="51" y="42"/>
                    <a:pt x="38" y="62"/>
                  </a:cubicBezTo>
                  <a:cubicBezTo>
                    <a:pt x="25" y="82"/>
                    <a:pt x="18" y="104"/>
                    <a:pt x="18" y="127"/>
                  </a:cubicBezTo>
                  <a:cubicBezTo>
                    <a:pt x="18" y="148"/>
                    <a:pt x="23" y="167"/>
                    <a:pt x="34" y="184"/>
                  </a:cubicBezTo>
                  <a:cubicBezTo>
                    <a:pt x="45" y="201"/>
                    <a:pt x="61" y="215"/>
                    <a:pt x="83" y="226"/>
                  </a:cubicBezTo>
                  <a:cubicBezTo>
                    <a:pt x="100" y="235"/>
                    <a:pt x="129" y="245"/>
                    <a:pt x="171" y="255"/>
                  </a:cubicBezTo>
                  <a:cubicBezTo>
                    <a:pt x="214" y="265"/>
                    <a:pt x="241" y="273"/>
                    <a:pt x="253" y="277"/>
                  </a:cubicBezTo>
                  <a:cubicBezTo>
                    <a:pt x="272" y="285"/>
                    <a:pt x="286" y="294"/>
                    <a:pt x="294" y="304"/>
                  </a:cubicBezTo>
                  <a:cubicBezTo>
                    <a:pt x="303" y="315"/>
                    <a:pt x="307" y="328"/>
                    <a:pt x="307" y="342"/>
                  </a:cubicBezTo>
                  <a:cubicBezTo>
                    <a:pt x="307" y="356"/>
                    <a:pt x="302" y="369"/>
                    <a:pt x="294" y="381"/>
                  </a:cubicBezTo>
                  <a:cubicBezTo>
                    <a:pt x="285" y="393"/>
                    <a:pt x="272" y="403"/>
                    <a:pt x="254" y="410"/>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46" name="Freeform 52"/>
            <p:cNvSpPr>
              <a:spLocks/>
            </p:cNvSpPr>
            <p:nvPr/>
          </p:nvSpPr>
          <p:spPr bwMode="auto">
            <a:xfrm>
              <a:off x="3627" y="432"/>
              <a:ext cx="47" cy="60"/>
            </a:xfrm>
            <a:custGeom>
              <a:avLst/>
              <a:gdLst/>
              <a:ahLst/>
              <a:cxnLst>
                <a:cxn ang="0">
                  <a:pos x="110" y="396"/>
                </a:cxn>
                <a:cxn ang="0">
                  <a:pos x="72" y="353"/>
                </a:cxn>
                <a:cxn ang="0">
                  <a:pos x="61" y="265"/>
                </a:cxn>
                <a:cxn ang="0">
                  <a:pos x="61" y="0"/>
                </a:cxn>
                <a:cxn ang="0">
                  <a:pos x="0" y="0"/>
                </a:cxn>
                <a:cxn ang="0">
                  <a:pos x="0" y="265"/>
                </a:cxn>
                <a:cxn ang="0">
                  <a:pos x="18" y="380"/>
                </a:cxn>
                <a:cxn ang="0">
                  <a:pos x="76" y="444"/>
                </a:cxn>
                <a:cxn ang="0">
                  <a:pos x="182" y="466"/>
                </a:cxn>
                <a:cxn ang="0">
                  <a:pos x="289" y="441"/>
                </a:cxn>
                <a:cxn ang="0">
                  <a:pos x="345" y="375"/>
                </a:cxn>
                <a:cxn ang="0">
                  <a:pos x="361" y="265"/>
                </a:cxn>
                <a:cxn ang="0">
                  <a:pos x="361" y="0"/>
                </a:cxn>
                <a:cxn ang="0">
                  <a:pos x="300" y="0"/>
                </a:cxn>
                <a:cxn ang="0">
                  <a:pos x="300" y="265"/>
                </a:cxn>
                <a:cxn ang="0">
                  <a:pos x="272" y="381"/>
                </a:cxn>
                <a:cxn ang="0">
                  <a:pos x="176" y="412"/>
                </a:cxn>
                <a:cxn ang="0">
                  <a:pos x="110" y="396"/>
                </a:cxn>
              </a:cxnLst>
              <a:rect l="0" t="0" r="r" b="b"/>
              <a:pathLst>
                <a:path w="361" h="466">
                  <a:moveTo>
                    <a:pt x="110" y="396"/>
                  </a:moveTo>
                  <a:cubicBezTo>
                    <a:pt x="92" y="386"/>
                    <a:pt x="79" y="372"/>
                    <a:pt x="72" y="353"/>
                  </a:cubicBezTo>
                  <a:cubicBezTo>
                    <a:pt x="65" y="334"/>
                    <a:pt x="61" y="304"/>
                    <a:pt x="61" y="265"/>
                  </a:cubicBezTo>
                  <a:cubicBezTo>
                    <a:pt x="61" y="0"/>
                    <a:pt x="61" y="0"/>
                    <a:pt x="61" y="0"/>
                  </a:cubicBezTo>
                  <a:cubicBezTo>
                    <a:pt x="0" y="0"/>
                    <a:pt x="0" y="0"/>
                    <a:pt x="0" y="0"/>
                  </a:cubicBezTo>
                  <a:cubicBezTo>
                    <a:pt x="0" y="265"/>
                    <a:pt x="0" y="265"/>
                    <a:pt x="0" y="265"/>
                  </a:cubicBezTo>
                  <a:cubicBezTo>
                    <a:pt x="0" y="314"/>
                    <a:pt x="6" y="352"/>
                    <a:pt x="18" y="380"/>
                  </a:cubicBezTo>
                  <a:cubicBezTo>
                    <a:pt x="29" y="408"/>
                    <a:pt x="49" y="429"/>
                    <a:pt x="76" y="444"/>
                  </a:cubicBezTo>
                  <a:cubicBezTo>
                    <a:pt x="104" y="459"/>
                    <a:pt x="139" y="466"/>
                    <a:pt x="182" y="466"/>
                  </a:cubicBezTo>
                  <a:cubicBezTo>
                    <a:pt x="226" y="466"/>
                    <a:pt x="261" y="458"/>
                    <a:pt x="289" y="441"/>
                  </a:cubicBezTo>
                  <a:cubicBezTo>
                    <a:pt x="316" y="424"/>
                    <a:pt x="335" y="402"/>
                    <a:pt x="345" y="375"/>
                  </a:cubicBezTo>
                  <a:cubicBezTo>
                    <a:pt x="355" y="348"/>
                    <a:pt x="361" y="311"/>
                    <a:pt x="361" y="265"/>
                  </a:cubicBezTo>
                  <a:cubicBezTo>
                    <a:pt x="361" y="0"/>
                    <a:pt x="361" y="0"/>
                    <a:pt x="361" y="0"/>
                  </a:cubicBezTo>
                  <a:cubicBezTo>
                    <a:pt x="300" y="0"/>
                    <a:pt x="300" y="0"/>
                    <a:pt x="300" y="0"/>
                  </a:cubicBezTo>
                  <a:cubicBezTo>
                    <a:pt x="300" y="265"/>
                    <a:pt x="300" y="265"/>
                    <a:pt x="300" y="265"/>
                  </a:cubicBezTo>
                  <a:cubicBezTo>
                    <a:pt x="300" y="322"/>
                    <a:pt x="291" y="361"/>
                    <a:pt x="272" y="381"/>
                  </a:cubicBezTo>
                  <a:cubicBezTo>
                    <a:pt x="253" y="402"/>
                    <a:pt x="221" y="412"/>
                    <a:pt x="176" y="412"/>
                  </a:cubicBezTo>
                  <a:cubicBezTo>
                    <a:pt x="150" y="412"/>
                    <a:pt x="128" y="406"/>
                    <a:pt x="110" y="396"/>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47" name="Freeform 53"/>
            <p:cNvSpPr>
              <a:spLocks noEditPoints="1"/>
            </p:cNvSpPr>
            <p:nvPr/>
          </p:nvSpPr>
          <p:spPr bwMode="auto">
            <a:xfrm>
              <a:off x="3630" y="522"/>
              <a:ext cx="56" cy="61"/>
            </a:xfrm>
            <a:custGeom>
              <a:avLst/>
              <a:gdLst/>
              <a:ahLst/>
              <a:cxnLst>
                <a:cxn ang="0">
                  <a:pos x="411" y="115"/>
                </a:cxn>
                <a:cxn ang="0">
                  <a:pos x="334" y="31"/>
                </a:cxn>
                <a:cxn ang="0">
                  <a:pos x="219" y="0"/>
                </a:cxn>
                <a:cxn ang="0">
                  <a:pos x="61" y="65"/>
                </a:cxn>
                <a:cxn ang="0">
                  <a:pos x="0" y="243"/>
                </a:cxn>
                <a:cxn ang="0">
                  <a:pos x="26" y="358"/>
                </a:cxn>
                <a:cxn ang="0">
                  <a:pos x="103" y="443"/>
                </a:cxn>
                <a:cxn ang="0">
                  <a:pos x="219" y="474"/>
                </a:cxn>
                <a:cxn ang="0">
                  <a:pos x="330" y="446"/>
                </a:cxn>
                <a:cxn ang="0">
                  <a:pos x="410" y="363"/>
                </a:cxn>
                <a:cxn ang="0">
                  <a:pos x="438" y="238"/>
                </a:cxn>
                <a:cxn ang="0">
                  <a:pos x="411" y="115"/>
                </a:cxn>
                <a:cxn ang="0">
                  <a:pos x="331" y="374"/>
                </a:cxn>
                <a:cxn ang="0">
                  <a:pos x="219" y="423"/>
                </a:cxn>
                <a:cxn ang="0">
                  <a:pos x="107" y="375"/>
                </a:cxn>
                <a:cxn ang="0">
                  <a:pos x="62" y="244"/>
                </a:cxn>
                <a:cxn ang="0">
                  <a:pos x="109" y="97"/>
                </a:cxn>
                <a:cxn ang="0">
                  <a:pos x="219" y="52"/>
                </a:cxn>
                <a:cxn ang="0">
                  <a:pos x="301" y="75"/>
                </a:cxn>
                <a:cxn ang="0">
                  <a:pos x="357" y="140"/>
                </a:cxn>
                <a:cxn ang="0">
                  <a:pos x="375" y="238"/>
                </a:cxn>
                <a:cxn ang="0">
                  <a:pos x="331" y="374"/>
                </a:cxn>
              </a:cxnLst>
              <a:rect l="0" t="0" r="r" b="b"/>
              <a:pathLst>
                <a:path w="438" h="474">
                  <a:moveTo>
                    <a:pt x="411" y="115"/>
                  </a:moveTo>
                  <a:cubicBezTo>
                    <a:pt x="393" y="79"/>
                    <a:pt x="368" y="51"/>
                    <a:pt x="334" y="31"/>
                  </a:cubicBezTo>
                  <a:cubicBezTo>
                    <a:pt x="300" y="10"/>
                    <a:pt x="261" y="0"/>
                    <a:pt x="219" y="0"/>
                  </a:cubicBezTo>
                  <a:cubicBezTo>
                    <a:pt x="155" y="0"/>
                    <a:pt x="102" y="22"/>
                    <a:pt x="61" y="65"/>
                  </a:cubicBezTo>
                  <a:cubicBezTo>
                    <a:pt x="20" y="108"/>
                    <a:pt x="0" y="167"/>
                    <a:pt x="0" y="243"/>
                  </a:cubicBezTo>
                  <a:cubicBezTo>
                    <a:pt x="0" y="284"/>
                    <a:pt x="8" y="322"/>
                    <a:pt x="26" y="358"/>
                  </a:cubicBezTo>
                  <a:cubicBezTo>
                    <a:pt x="43" y="394"/>
                    <a:pt x="69" y="422"/>
                    <a:pt x="103" y="443"/>
                  </a:cubicBezTo>
                  <a:cubicBezTo>
                    <a:pt x="137" y="464"/>
                    <a:pt x="176" y="474"/>
                    <a:pt x="219" y="474"/>
                  </a:cubicBezTo>
                  <a:cubicBezTo>
                    <a:pt x="259" y="474"/>
                    <a:pt x="296" y="465"/>
                    <a:pt x="330" y="446"/>
                  </a:cubicBezTo>
                  <a:cubicBezTo>
                    <a:pt x="365" y="427"/>
                    <a:pt x="391" y="399"/>
                    <a:pt x="410" y="363"/>
                  </a:cubicBezTo>
                  <a:cubicBezTo>
                    <a:pt x="429" y="326"/>
                    <a:pt x="438" y="285"/>
                    <a:pt x="438" y="238"/>
                  </a:cubicBezTo>
                  <a:cubicBezTo>
                    <a:pt x="438" y="192"/>
                    <a:pt x="429" y="151"/>
                    <a:pt x="411" y="115"/>
                  </a:cubicBezTo>
                  <a:close/>
                  <a:moveTo>
                    <a:pt x="331" y="374"/>
                  </a:moveTo>
                  <a:cubicBezTo>
                    <a:pt x="302" y="406"/>
                    <a:pt x="264" y="423"/>
                    <a:pt x="219" y="423"/>
                  </a:cubicBezTo>
                  <a:cubicBezTo>
                    <a:pt x="174" y="423"/>
                    <a:pt x="136" y="407"/>
                    <a:pt x="107" y="375"/>
                  </a:cubicBezTo>
                  <a:cubicBezTo>
                    <a:pt x="77" y="343"/>
                    <a:pt x="62" y="300"/>
                    <a:pt x="62" y="244"/>
                  </a:cubicBezTo>
                  <a:cubicBezTo>
                    <a:pt x="62" y="175"/>
                    <a:pt x="78" y="126"/>
                    <a:pt x="109" y="97"/>
                  </a:cubicBezTo>
                  <a:cubicBezTo>
                    <a:pt x="140" y="67"/>
                    <a:pt x="177" y="52"/>
                    <a:pt x="219" y="52"/>
                  </a:cubicBezTo>
                  <a:cubicBezTo>
                    <a:pt x="250" y="52"/>
                    <a:pt x="277" y="60"/>
                    <a:pt x="301" y="75"/>
                  </a:cubicBezTo>
                  <a:cubicBezTo>
                    <a:pt x="325" y="91"/>
                    <a:pt x="344" y="112"/>
                    <a:pt x="357" y="140"/>
                  </a:cubicBezTo>
                  <a:cubicBezTo>
                    <a:pt x="369" y="168"/>
                    <a:pt x="375" y="201"/>
                    <a:pt x="375" y="238"/>
                  </a:cubicBezTo>
                  <a:cubicBezTo>
                    <a:pt x="375" y="297"/>
                    <a:pt x="361" y="342"/>
                    <a:pt x="331" y="37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48" name="Freeform 54"/>
            <p:cNvSpPr>
              <a:spLocks noEditPoints="1"/>
            </p:cNvSpPr>
            <p:nvPr/>
          </p:nvSpPr>
          <p:spPr bwMode="auto">
            <a:xfrm>
              <a:off x="3685" y="614"/>
              <a:ext cx="56" cy="60"/>
            </a:xfrm>
            <a:custGeom>
              <a:avLst/>
              <a:gdLst/>
              <a:ahLst/>
              <a:cxnLst>
                <a:cxn ang="0">
                  <a:pos x="334" y="30"/>
                </a:cxn>
                <a:cxn ang="0">
                  <a:pos x="220" y="0"/>
                </a:cxn>
                <a:cxn ang="0">
                  <a:pos x="62" y="64"/>
                </a:cxn>
                <a:cxn ang="0">
                  <a:pos x="0" y="243"/>
                </a:cxn>
                <a:cxn ang="0">
                  <a:pos x="27" y="357"/>
                </a:cxn>
                <a:cxn ang="0">
                  <a:pos x="104" y="443"/>
                </a:cxn>
                <a:cxn ang="0">
                  <a:pos x="220" y="474"/>
                </a:cxn>
                <a:cxn ang="0">
                  <a:pos x="331" y="445"/>
                </a:cxn>
                <a:cxn ang="0">
                  <a:pos x="411" y="362"/>
                </a:cxn>
                <a:cxn ang="0">
                  <a:pos x="439" y="237"/>
                </a:cxn>
                <a:cxn ang="0">
                  <a:pos x="412" y="114"/>
                </a:cxn>
                <a:cxn ang="0">
                  <a:pos x="334" y="30"/>
                </a:cxn>
                <a:cxn ang="0">
                  <a:pos x="332" y="374"/>
                </a:cxn>
                <a:cxn ang="0">
                  <a:pos x="219" y="422"/>
                </a:cxn>
                <a:cxn ang="0">
                  <a:pos x="108" y="374"/>
                </a:cxn>
                <a:cxn ang="0">
                  <a:pos x="63" y="244"/>
                </a:cxn>
                <a:cxn ang="0">
                  <a:pos x="109" y="96"/>
                </a:cxn>
                <a:cxn ang="0">
                  <a:pos x="220" y="52"/>
                </a:cxn>
                <a:cxn ang="0">
                  <a:pos x="302" y="75"/>
                </a:cxn>
                <a:cxn ang="0">
                  <a:pos x="357" y="139"/>
                </a:cxn>
                <a:cxn ang="0">
                  <a:pos x="376" y="237"/>
                </a:cxn>
                <a:cxn ang="0">
                  <a:pos x="332" y="374"/>
                </a:cxn>
              </a:cxnLst>
              <a:rect l="0" t="0" r="r" b="b"/>
              <a:pathLst>
                <a:path w="439" h="474">
                  <a:moveTo>
                    <a:pt x="334" y="30"/>
                  </a:moveTo>
                  <a:cubicBezTo>
                    <a:pt x="300" y="10"/>
                    <a:pt x="262" y="0"/>
                    <a:pt x="220" y="0"/>
                  </a:cubicBezTo>
                  <a:cubicBezTo>
                    <a:pt x="155" y="0"/>
                    <a:pt x="103" y="21"/>
                    <a:pt x="62" y="64"/>
                  </a:cubicBezTo>
                  <a:cubicBezTo>
                    <a:pt x="21" y="107"/>
                    <a:pt x="0" y="167"/>
                    <a:pt x="0" y="243"/>
                  </a:cubicBezTo>
                  <a:cubicBezTo>
                    <a:pt x="0" y="283"/>
                    <a:pt x="9" y="321"/>
                    <a:pt x="27" y="357"/>
                  </a:cubicBezTo>
                  <a:cubicBezTo>
                    <a:pt x="44" y="393"/>
                    <a:pt x="70" y="422"/>
                    <a:pt x="104" y="443"/>
                  </a:cubicBezTo>
                  <a:cubicBezTo>
                    <a:pt x="138" y="463"/>
                    <a:pt x="176" y="474"/>
                    <a:pt x="220" y="474"/>
                  </a:cubicBezTo>
                  <a:cubicBezTo>
                    <a:pt x="259" y="474"/>
                    <a:pt x="296" y="464"/>
                    <a:pt x="331" y="445"/>
                  </a:cubicBezTo>
                  <a:cubicBezTo>
                    <a:pt x="365" y="427"/>
                    <a:pt x="392" y="399"/>
                    <a:pt x="411" y="362"/>
                  </a:cubicBezTo>
                  <a:cubicBezTo>
                    <a:pt x="429" y="325"/>
                    <a:pt x="439" y="284"/>
                    <a:pt x="439" y="237"/>
                  </a:cubicBezTo>
                  <a:cubicBezTo>
                    <a:pt x="439" y="192"/>
                    <a:pt x="430" y="151"/>
                    <a:pt x="412" y="114"/>
                  </a:cubicBezTo>
                  <a:cubicBezTo>
                    <a:pt x="394" y="78"/>
                    <a:pt x="368" y="50"/>
                    <a:pt x="334" y="30"/>
                  </a:cubicBezTo>
                  <a:close/>
                  <a:moveTo>
                    <a:pt x="332" y="374"/>
                  </a:moveTo>
                  <a:cubicBezTo>
                    <a:pt x="302" y="406"/>
                    <a:pt x="265" y="422"/>
                    <a:pt x="219" y="422"/>
                  </a:cubicBezTo>
                  <a:cubicBezTo>
                    <a:pt x="174" y="422"/>
                    <a:pt x="137" y="406"/>
                    <a:pt x="108" y="374"/>
                  </a:cubicBezTo>
                  <a:cubicBezTo>
                    <a:pt x="78" y="342"/>
                    <a:pt x="63" y="299"/>
                    <a:pt x="63" y="244"/>
                  </a:cubicBezTo>
                  <a:cubicBezTo>
                    <a:pt x="63" y="175"/>
                    <a:pt x="78" y="125"/>
                    <a:pt x="109" y="96"/>
                  </a:cubicBezTo>
                  <a:cubicBezTo>
                    <a:pt x="140" y="67"/>
                    <a:pt x="177" y="52"/>
                    <a:pt x="220" y="52"/>
                  </a:cubicBezTo>
                  <a:cubicBezTo>
                    <a:pt x="250" y="52"/>
                    <a:pt x="278" y="59"/>
                    <a:pt x="302" y="75"/>
                  </a:cubicBezTo>
                  <a:cubicBezTo>
                    <a:pt x="326" y="90"/>
                    <a:pt x="345" y="112"/>
                    <a:pt x="357" y="139"/>
                  </a:cubicBezTo>
                  <a:cubicBezTo>
                    <a:pt x="370" y="167"/>
                    <a:pt x="376" y="200"/>
                    <a:pt x="376" y="237"/>
                  </a:cubicBezTo>
                  <a:cubicBezTo>
                    <a:pt x="376" y="296"/>
                    <a:pt x="361" y="342"/>
                    <a:pt x="332" y="37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49" name="Freeform 55"/>
            <p:cNvSpPr>
              <a:spLocks noEditPoints="1"/>
            </p:cNvSpPr>
            <p:nvPr/>
          </p:nvSpPr>
          <p:spPr bwMode="auto">
            <a:xfrm>
              <a:off x="3627" y="615"/>
              <a:ext cx="51" cy="58"/>
            </a:xfrm>
            <a:custGeom>
              <a:avLst/>
              <a:gdLst/>
              <a:ahLst/>
              <a:cxnLst>
                <a:cxn ang="0">
                  <a:pos x="274" y="272"/>
                </a:cxn>
                <a:cxn ang="0">
                  <a:pos x="237" y="249"/>
                </a:cxn>
                <a:cxn ang="0">
                  <a:pos x="335" y="207"/>
                </a:cxn>
                <a:cxn ang="0">
                  <a:pos x="366" y="125"/>
                </a:cxn>
                <a:cxn ang="0">
                  <a:pos x="347" y="56"/>
                </a:cxn>
                <a:cxn ang="0">
                  <a:pos x="296" y="12"/>
                </a:cxn>
                <a:cxn ang="0">
                  <a:pos x="203" y="0"/>
                </a:cxn>
                <a:cxn ang="0">
                  <a:pos x="0" y="0"/>
                </a:cxn>
                <a:cxn ang="0">
                  <a:pos x="0" y="458"/>
                </a:cxn>
                <a:cxn ang="0">
                  <a:pos x="60" y="458"/>
                </a:cxn>
                <a:cxn ang="0">
                  <a:pos x="60" y="254"/>
                </a:cxn>
                <a:cxn ang="0">
                  <a:pos x="131" y="254"/>
                </a:cxn>
                <a:cxn ang="0">
                  <a:pos x="165" y="257"/>
                </a:cxn>
                <a:cxn ang="0">
                  <a:pos x="192" y="269"/>
                </a:cxn>
                <a:cxn ang="0">
                  <a:pos x="223" y="299"/>
                </a:cxn>
                <a:cxn ang="0">
                  <a:pos x="267" y="363"/>
                </a:cxn>
                <a:cxn ang="0">
                  <a:pos x="327" y="458"/>
                </a:cxn>
                <a:cxn ang="0">
                  <a:pos x="404" y="458"/>
                </a:cxn>
                <a:cxn ang="0">
                  <a:pos x="324" y="333"/>
                </a:cxn>
                <a:cxn ang="0">
                  <a:pos x="274" y="272"/>
                </a:cxn>
                <a:cxn ang="0">
                  <a:pos x="191" y="202"/>
                </a:cxn>
                <a:cxn ang="0">
                  <a:pos x="60" y="202"/>
                </a:cxn>
                <a:cxn ang="0">
                  <a:pos x="60" y="50"/>
                </a:cxn>
                <a:cxn ang="0">
                  <a:pos x="206" y="50"/>
                </a:cxn>
                <a:cxn ang="0">
                  <a:pos x="280" y="71"/>
                </a:cxn>
                <a:cxn ang="0">
                  <a:pos x="304" y="125"/>
                </a:cxn>
                <a:cxn ang="0">
                  <a:pos x="292" y="166"/>
                </a:cxn>
                <a:cxn ang="0">
                  <a:pos x="256" y="193"/>
                </a:cxn>
                <a:cxn ang="0">
                  <a:pos x="191" y="202"/>
                </a:cxn>
              </a:cxnLst>
              <a:rect l="0" t="0" r="r" b="b"/>
              <a:pathLst>
                <a:path w="404" h="458">
                  <a:moveTo>
                    <a:pt x="274" y="272"/>
                  </a:moveTo>
                  <a:cubicBezTo>
                    <a:pt x="265" y="265"/>
                    <a:pt x="253" y="257"/>
                    <a:pt x="237" y="249"/>
                  </a:cubicBezTo>
                  <a:cubicBezTo>
                    <a:pt x="281" y="243"/>
                    <a:pt x="314" y="229"/>
                    <a:pt x="335" y="207"/>
                  </a:cubicBezTo>
                  <a:cubicBezTo>
                    <a:pt x="356" y="185"/>
                    <a:pt x="366" y="157"/>
                    <a:pt x="366" y="125"/>
                  </a:cubicBezTo>
                  <a:cubicBezTo>
                    <a:pt x="366" y="100"/>
                    <a:pt x="360" y="76"/>
                    <a:pt x="347" y="56"/>
                  </a:cubicBezTo>
                  <a:cubicBezTo>
                    <a:pt x="334" y="35"/>
                    <a:pt x="317" y="20"/>
                    <a:pt x="296" y="12"/>
                  </a:cubicBezTo>
                  <a:cubicBezTo>
                    <a:pt x="275" y="4"/>
                    <a:pt x="244" y="0"/>
                    <a:pt x="203" y="0"/>
                  </a:cubicBezTo>
                  <a:cubicBezTo>
                    <a:pt x="0" y="0"/>
                    <a:pt x="0" y="0"/>
                    <a:pt x="0" y="0"/>
                  </a:cubicBezTo>
                  <a:cubicBezTo>
                    <a:pt x="0" y="458"/>
                    <a:pt x="0" y="458"/>
                    <a:pt x="0" y="458"/>
                  </a:cubicBezTo>
                  <a:cubicBezTo>
                    <a:pt x="60" y="458"/>
                    <a:pt x="60" y="458"/>
                    <a:pt x="60" y="458"/>
                  </a:cubicBezTo>
                  <a:cubicBezTo>
                    <a:pt x="60" y="254"/>
                    <a:pt x="60" y="254"/>
                    <a:pt x="60" y="254"/>
                  </a:cubicBezTo>
                  <a:cubicBezTo>
                    <a:pt x="131" y="254"/>
                    <a:pt x="131" y="254"/>
                    <a:pt x="131" y="254"/>
                  </a:cubicBezTo>
                  <a:cubicBezTo>
                    <a:pt x="146" y="254"/>
                    <a:pt x="158" y="255"/>
                    <a:pt x="165" y="257"/>
                  </a:cubicBezTo>
                  <a:cubicBezTo>
                    <a:pt x="174" y="259"/>
                    <a:pt x="183" y="263"/>
                    <a:pt x="192" y="269"/>
                  </a:cubicBezTo>
                  <a:cubicBezTo>
                    <a:pt x="201" y="275"/>
                    <a:pt x="212" y="285"/>
                    <a:pt x="223" y="299"/>
                  </a:cubicBezTo>
                  <a:cubicBezTo>
                    <a:pt x="235" y="314"/>
                    <a:pt x="249" y="335"/>
                    <a:pt x="267" y="363"/>
                  </a:cubicBezTo>
                  <a:cubicBezTo>
                    <a:pt x="327" y="458"/>
                    <a:pt x="327" y="458"/>
                    <a:pt x="327" y="458"/>
                  </a:cubicBezTo>
                  <a:cubicBezTo>
                    <a:pt x="404" y="458"/>
                    <a:pt x="404" y="458"/>
                    <a:pt x="404" y="458"/>
                  </a:cubicBezTo>
                  <a:cubicBezTo>
                    <a:pt x="324" y="333"/>
                    <a:pt x="324" y="333"/>
                    <a:pt x="324" y="333"/>
                  </a:cubicBezTo>
                  <a:cubicBezTo>
                    <a:pt x="308" y="309"/>
                    <a:pt x="291" y="289"/>
                    <a:pt x="274" y="272"/>
                  </a:cubicBezTo>
                  <a:close/>
                  <a:moveTo>
                    <a:pt x="191" y="202"/>
                  </a:moveTo>
                  <a:cubicBezTo>
                    <a:pt x="60" y="202"/>
                    <a:pt x="60" y="202"/>
                    <a:pt x="60" y="202"/>
                  </a:cubicBezTo>
                  <a:cubicBezTo>
                    <a:pt x="60" y="50"/>
                    <a:pt x="60" y="50"/>
                    <a:pt x="60" y="50"/>
                  </a:cubicBezTo>
                  <a:cubicBezTo>
                    <a:pt x="206" y="50"/>
                    <a:pt x="206" y="50"/>
                    <a:pt x="206" y="50"/>
                  </a:cubicBezTo>
                  <a:cubicBezTo>
                    <a:pt x="240" y="50"/>
                    <a:pt x="264" y="57"/>
                    <a:pt x="280" y="71"/>
                  </a:cubicBezTo>
                  <a:cubicBezTo>
                    <a:pt x="296" y="85"/>
                    <a:pt x="304" y="103"/>
                    <a:pt x="304" y="125"/>
                  </a:cubicBezTo>
                  <a:cubicBezTo>
                    <a:pt x="304" y="140"/>
                    <a:pt x="300" y="153"/>
                    <a:pt x="292" y="166"/>
                  </a:cubicBezTo>
                  <a:cubicBezTo>
                    <a:pt x="283" y="178"/>
                    <a:pt x="272" y="188"/>
                    <a:pt x="256" y="193"/>
                  </a:cubicBezTo>
                  <a:cubicBezTo>
                    <a:pt x="240" y="199"/>
                    <a:pt x="219" y="202"/>
                    <a:pt x="191" y="202"/>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50" name="Freeform 56"/>
            <p:cNvSpPr>
              <a:spLocks/>
            </p:cNvSpPr>
            <p:nvPr/>
          </p:nvSpPr>
          <p:spPr bwMode="auto">
            <a:xfrm>
              <a:off x="3568" y="522"/>
              <a:ext cx="52" cy="61"/>
            </a:xfrm>
            <a:custGeom>
              <a:avLst/>
              <a:gdLst/>
              <a:ahLst/>
              <a:cxnLst>
                <a:cxn ang="0">
                  <a:pos x="296" y="392"/>
                </a:cxn>
                <a:cxn ang="0">
                  <a:pos x="210" y="422"/>
                </a:cxn>
                <a:cxn ang="0">
                  <a:pos x="132" y="400"/>
                </a:cxn>
                <a:cxn ang="0">
                  <a:pos x="79" y="335"/>
                </a:cxn>
                <a:cxn ang="0">
                  <a:pos x="62" y="233"/>
                </a:cxn>
                <a:cxn ang="0">
                  <a:pos x="76" y="145"/>
                </a:cxn>
                <a:cxn ang="0">
                  <a:pos x="126" y="77"/>
                </a:cxn>
                <a:cxn ang="0">
                  <a:pos x="215" y="51"/>
                </a:cxn>
                <a:cxn ang="0">
                  <a:pos x="291" y="74"/>
                </a:cxn>
                <a:cxn ang="0">
                  <a:pos x="337" y="147"/>
                </a:cxn>
                <a:cxn ang="0">
                  <a:pos x="397" y="133"/>
                </a:cxn>
                <a:cxn ang="0">
                  <a:pos x="332" y="35"/>
                </a:cxn>
                <a:cxn ang="0">
                  <a:pos x="216" y="0"/>
                </a:cxn>
                <a:cxn ang="0">
                  <a:pos x="105" y="27"/>
                </a:cxn>
                <a:cxn ang="0">
                  <a:pos x="27" y="108"/>
                </a:cxn>
                <a:cxn ang="0">
                  <a:pos x="0" y="233"/>
                </a:cxn>
                <a:cxn ang="0">
                  <a:pos x="24" y="356"/>
                </a:cxn>
                <a:cxn ang="0">
                  <a:pos x="94" y="443"/>
                </a:cxn>
                <a:cxn ang="0">
                  <a:pos x="215" y="473"/>
                </a:cxn>
                <a:cxn ang="0">
                  <a:pos x="336" y="434"/>
                </a:cxn>
                <a:cxn ang="0">
                  <a:pos x="405" y="320"/>
                </a:cxn>
                <a:cxn ang="0">
                  <a:pos x="344" y="305"/>
                </a:cxn>
                <a:cxn ang="0">
                  <a:pos x="296" y="392"/>
                </a:cxn>
              </a:cxnLst>
              <a:rect l="0" t="0" r="r" b="b"/>
              <a:pathLst>
                <a:path w="405" h="473">
                  <a:moveTo>
                    <a:pt x="296" y="392"/>
                  </a:moveTo>
                  <a:cubicBezTo>
                    <a:pt x="273" y="412"/>
                    <a:pt x="244" y="422"/>
                    <a:pt x="210" y="422"/>
                  </a:cubicBezTo>
                  <a:cubicBezTo>
                    <a:pt x="182" y="422"/>
                    <a:pt x="156" y="414"/>
                    <a:pt x="132" y="400"/>
                  </a:cubicBezTo>
                  <a:cubicBezTo>
                    <a:pt x="108" y="386"/>
                    <a:pt x="90" y="364"/>
                    <a:pt x="79" y="335"/>
                  </a:cubicBezTo>
                  <a:cubicBezTo>
                    <a:pt x="68" y="306"/>
                    <a:pt x="62" y="272"/>
                    <a:pt x="62" y="233"/>
                  </a:cubicBezTo>
                  <a:cubicBezTo>
                    <a:pt x="62" y="203"/>
                    <a:pt x="67" y="173"/>
                    <a:pt x="76" y="145"/>
                  </a:cubicBezTo>
                  <a:cubicBezTo>
                    <a:pt x="86" y="116"/>
                    <a:pt x="103" y="94"/>
                    <a:pt x="126" y="77"/>
                  </a:cubicBezTo>
                  <a:cubicBezTo>
                    <a:pt x="150" y="60"/>
                    <a:pt x="179" y="51"/>
                    <a:pt x="215" y="51"/>
                  </a:cubicBezTo>
                  <a:cubicBezTo>
                    <a:pt x="245" y="51"/>
                    <a:pt x="271" y="59"/>
                    <a:pt x="291" y="74"/>
                  </a:cubicBezTo>
                  <a:cubicBezTo>
                    <a:pt x="311" y="89"/>
                    <a:pt x="327" y="114"/>
                    <a:pt x="337" y="147"/>
                  </a:cubicBezTo>
                  <a:cubicBezTo>
                    <a:pt x="397" y="133"/>
                    <a:pt x="397" y="133"/>
                    <a:pt x="397" y="133"/>
                  </a:cubicBezTo>
                  <a:cubicBezTo>
                    <a:pt x="385" y="91"/>
                    <a:pt x="363" y="58"/>
                    <a:pt x="332" y="35"/>
                  </a:cubicBezTo>
                  <a:cubicBezTo>
                    <a:pt x="300" y="11"/>
                    <a:pt x="262" y="0"/>
                    <a:pt x="216" y="0"/>
                  </a:cubicBezTo>
                  <a:cubicBezTo>
                    <a:pt x="175" y="0"/>
                    <a:pt x="138" y="9"/>
                    <a:pt x="105" y="27"/>
                  </a:cubicBezTo>
                  <a:cubicBezTo>
                    <a:pt x="71" y="46"/>
                    <a:pt x="45" y="73"/>
                    <a:pt x="27" y="108"/>
                  </a:cubicBezTo>
                  <a:cubicBezTo>
                    <a:pt x="9" y="144"/>
                    <a:pt x="0" y="185"/>
                    <a:pt x="0" y="233"/>
                  </a:cubicBezTo>
                  <a:cubicBezTo>
                    <a:pt x="0" y="277"/>
                    <a:pt x="8" y="318"/>
                    <a:pt x="24" y="356"/>
                  </a:cubicBezTo>
                  <a:cubicBezTo>
                    <a:pt x="40" y="394"/>
                    <a:pt x="63" y="423"/>
                    <a:pt x="94" y="443"/>
                  </a:cubicBezTo>
                  <a:cubicBezTo>
                    <a:pt x="125" y="463"/>
                    <a:pt x="166" y="473"/>
                    <a:pt x="215" y="473"/>
                  </a:cubicBezTo>
                  <a:cubicBezTo>
                    <a:pt x="263" y="473"/>
                    <a:pt x="303" y="460"/>
                    <a:pt x="336" y="434"/>
                  </a:cubicBezTo>
                  <a:cubicBezTo>
                    <a:pt x="369" y="408"/>
                    <a:pt x="392" y="370"/>
                    <a:pt x="405" y="320"/>
                  </a:cubicBezTo>
                  <a:cubicBezTo>
                    <a:pt x="344" y="305"/>
                    <a:pt x="344" y="305"/>
                    <a:pt x="344" y="305"/>
                  </a:cubicBezTo>
                  <a:cubicBezTo>
                    <a:pt x="336" y="343"/>
                    <a:pt x="320" y="373"/>
                    <a:pt x="296" y="392"/>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51" name="Freeform 57"/>
            <p:cNvSpPr>
              <a:spLocks noEditPoints="1"/>
            </p:cNvSpPr>
            <p:nvPr/>
          </p:nvSpPr>
          <p:spPr bwMode="auto">
            <a:xfrm>
              <a:off x="3570" y="615"/>
              <a:ext cx="45" cy="58"/>
            </a:xfrm>
            <a:custGeom>
              <a:avLst/>
              <a:gdLst/>
              <a:ahLst/>
              <a:cxnLst>
                <a:cxn ang="0">
                  <a:pos x="299" y="25"/>
                </a:cxn>
                <a:cxn ang="0">
                  <a:pos x="243" y="4"/>
                </a:cxn>
                <a:cxn ang="0">
                  <a:pos x="173" y="0"/>
                </a:cxn>
                <a:cxn ang="0">
                  <a:pos x="0" y="0"/>
                </a:cxn>
                <a:cxn ang="0">
                  <a:pos x="0" y="458"/>
                </a:cxn>
                <a:cxn ang="0">
                  <a:pos x="61" y="458"/>
                </a:cxn>
                <a:cxn ang="0">
                  <a:pos x="61" y="272"/>
                </a:cxn>
                <a:cxn ang="0">
                  <a:pos x="178" y="272"/>
                </a:cxn>
                <a:cxn ang="0">
                  <a:pos x="313" y="231"/>
                </a:cxn>
                <a:cxn ang="0">
                  <a:pos x="350" y="132"/>
                </a:cxn>
                <a:cxn ang="0">
                  <a:pos x="336" y="70"/>
                </a:cxn>
                <a:cxn ang="0">
                  <a:pos x="299" y="25"/>
                </a:cxn>
                <a:cxn ang="0">
                  <a:pos x="263" y="196"/>
                </a:cxn>
                <a:cxn ang="0">
                  <a:pos x="179" y="218"/>
                </a:cxn>
                <a:cxn ang="0">
                  <a:pos x="61" y="218"/>
                </a:cxn>
                <a:cxn ang="0">
                  <a:pos x="61" y="54"/>
                </a:cxn>
                <a:cxn ang="0">
                  <a:pos x="178" y="54"/>
                </a:cxn>
                <a:cxn ang="0">
                  <a:pos x="235" y="58"/>
                </a:cxn>
                <a:cxn ang="0">
                  <a:pos x="273" y="85"/>
                </a:cxn>
                <a:cxn ang="0">
                  <a:pos x="287" y="134"/>
                </a:cxn>
                <a:cxn ang="0">
                  <a:pos x="263" y="196"/>
                </a:cxn>
              </a:cxnLst>
              <a:rect l="0" t="0" r="r" b="b"/>
              <a:pathLst>
                <a:path w="350" h="458">
                  <a:moveTo>
                    <a:pt x="299" y="25"/>
                  </a:moveTo>
                  <a:cubicBezTo>
                    <a:pt x="284" y="15"/>
                    <a:pt x="265" y="8"/>
                    <a:pt x="243" y="4"/>
                  </a:cubicBezTo>
                  <a:cubicBezTo>
                    <a:pt x="227" y="1"/>
                    <a:pt x="203" y="0"/>
                    <a:pt x="173" y="0"/>
                  </a:cubicBezTo>
                  <a:cubicBezTo>
                    <a:pt x="0" y="0"/>
                    <a:pt x="0" y="0"/>
                    <a:pt x="0" y="0"/>
                  </a:cubicBezTo>
                  <a:cubicBezTo>
                    <a:pt x="0" y="458"/>
                    <a:pt x="0" y="458"/>
                    <a:pt x="0" y="458"/>
                  </a:cubicBezTo>
                  <a:cubicBezTo>
                    <a:pt x="61" y="458"/>
                    <a:pt x="61" y="458"/>
                    <a:pt x="61" y="458"/>
                  </a:cubicBezTo>
                  <a:cubicBezTo>
                    <a:pt x="61" y="272"/>
                    <a:pt x="61" y="272"/>
                    <a:pt x="61" y="272"/>
                  </a:cubicBezTo>
                  <a:cubicBezTo>
                    <a:pt x="178" y="272"/>
                    <a:pt x="178" y="272"/>
                    <a:pt x="178" y="272"/>
                  </a:cubicBezTo>
                  <a:cubicBezTo>
                    <a:pt x="243" y="272"/>
                    <a:pt x="288" y="258"/>
                    <a:pt x="313" y="231"/>
                  </a:cubicBezTo>
                  <a:cubicBezTo>
                    <a:pt x="337" y="204"/>
                    <a:pt x="350" y="171"/>
                    <a:pt x="350" y="132"/>
                  </a:cubicBezTo>
                  <a:cubicBezTo>
                    <a:pt x="350" y="110"/>
                    <a:pt x="345" y="89"/>
                    <a:pt x="336" y="70"/>
                  </a:cubicBezTo>
                  <a:cubicBezTo>
                    <a:pt x="327" y="51"/>
                    <a:pt x="314" y="36"/>
                    <a:pt x="299" y="25"/>
                  </a:cubicBezTo>
                  <a:close/>
                  <a:moveTo>
                    <a:pt x="263" y="196"/>
                  </a:moveTo>
                  <a:cubicBezTo>
                    <a:pt x="246" y="210"/>
                    <a:pt x="218" y="218"/>
                    <a:pt x="179" y="218"/>
                  </a:cubicBezTo>
                  <a:cubicBezTo>
                    <a:pt x="61" y="218"/>
                    <a:pt x="61" y="218"/>
                    <a:pt x="61" y="218"/>
                  </a:cubicBezTo>
                  <a:cubicBezTo>
                    <a:pt x="61" y="54"/>
                    <a:pt x="61" y="54"/>
                    <a:pt x="61" y="54"/>
                  </a:cubicBezTo>
                  <a:cubicBezTo>
                    <a:pt x="178" y="54"/>
                    <a:pt x="178" y="54"/>
                    <a:pt x="178" y="54"/>
                  </a:cubicBezTo>
                  <a:cubicBezTo>
                    <a:pt x="205" y="54"/>
                    <a:pt x="224" y="55"/>
                    <a:pt x="235" y="58"/>
                  </a:cubicBezTo>
                  <a:cubicBezTo>
                    <a:pt x="250" y="62"/>
                    <a:pt x="263" y="71"/>
                    <a:pt x="273" y="85"/>
                  </a:cubicBezTo>
                  <a:cubicBezTo>
                    <a:pt x="283" y="99"/>
                    <a:pt x="287" y="115"/>
                    <a:pt x="287" y="134"/>
                  </a:cubicBezTo>
                  <a:cubicBezTo>
                    <a:pt x="287" y="161"/>
                    <a:pt x="279" y="181"/>
                    <a:pt x="263" y="196"/>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grpSp>
      <p:sp>
        <p:nvSpPr>
          <p:cNvPr id="2" name="Titel 1"/>
          <p:cNvSpPr>
            <a:spLocks noGrp="1"/>
          </p:cNvSpPr>
          <p:nvPr>
            <p:ph type="ctrTitle" hasCustomPrompt="1"/>
          </p:nvPr>
        </p:nvSpPr>
        <p:spPr>
          <a:xfrm>
            <a:off x="390525" y="177800"/>
            <a:ext cx="6444000" cy="688975"/>
          </a:xfrm>
        </p:spPr>
        <p:txBody>
          <a:bodyPr anchor="t" anchorCtr="0"/>
          <a:lstStyle>
            <a:lvl1pPr algn="l">
              <a:lnSpc>
                <a:spcPct val="85000"/>
              </a:lnSpc>
              <a:defRPr sz="5800" baseline="0"/>
            </a:lvl1pPr>
          </a:lstStyle>
          <a:p>
            <a:r>
              <a:rPr lang="en-US" noProof="1" smtClean="0"/>
              <a:t>Country name</a:t>
            </a:r>
            <a:endParaRPr lang="en-US" noProof="1"/>
          </a:p>
        </p:txBody>
      </p:sp>
      <p:sp>
        <p:nvSpPr>
          <p:cNvPr id="3" name="Ondertitel 2"/>
          <p:cNvSpPr>
            <a:spLocks noGrp="1"/>
          </p:cNvSpPr>
          <p:nvPr>
            <p:ph type="subTitle" idx="1" hasCustomPrompt="1"/>
          </p:nvPr>
        </p:nvSpPr>
        <p:spPr>
          <a:xfrm>
            <a:off x="390525" y="942975"/>
            <a:ext cx="6444000" cy="972000"/>
          </a:xfrm>
        </p:spPr>
        <p:txBody>
          <a:bodyPr/>
          <a:lstStyle>
            <a:lvl1pPr marL="0" indent="0" algn="l">
              <a:lnSpc>
                <a:spcPct val="85000"/>
              </a:lnSpc>
              <a:spcBef>
                <a:spcPts val="0"/>
              </a:spcBef>
              <a:buNone/>
              <a:defRPr>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1" smtClean="0"/>
              <a:t>Subtitle</a:t>
            </a:r>
            <a:endParaRPr lang="en-US" noProof="1"/>
          </a:p>
        </p:txBody>
      </p:sp>
      <p:sp>
        <p:nvSpPr>
          <p:cNvPr id="12" name="Tijdelijke aanduiding voor tekst 11"/>
          <p:cNvSpPr>
            <a:spLocks noGrp="1"/>
          </p:cNvSpPr>
          <p:nvPr>
            <p:ph type="body" sz="quarter" idx="14" hasCustomPrompt="1"/>
          </p:nvPr>
        </p:nvSpPr>
        <p:spPr>
          <a:xfrm>
            <a:off x="400050" y="2019300"/>
            <a:ext cx="2809875" cy="247650"/>
          </a:xfrm>
        </p:spPr>
        <p:txBody>
          <a:bodyPr/>
          <a:lstStyle>
            <a:lvl1pPr marL="0" indent="0">
              <a:buNone/>
              <a:defRPr sz="1000"/>
            </a:lvl1pPr>
          </a:lstStyle>
          <a:p>
            <a:pPr lvl="0"/>
            <a:r>
              <a:rPr lang="en-US" noProof="1" smtClean="0"/>
              <a:t>Month year</a:t>
            </a:r>
          </a:p>
        </p:txBody>
      </p:sp>
      <p:grpSp>
        <p:nvGrpSpPr>
          <p:cNvPr id="56" name="Groep 55"/>
          <p:cNvGrpSpPr/>
          <p:nvPr userDrawn="1"/>
        </p:nvGrpSpPr>
        <p:grpSpPr>
          <a:xfrm>
            <a:off x="-1731443" y="98556"/>
            <a:ext cx="1609522" cy="5436000"/>
            <a:chOff x="-1731443" y="98556"/>
            <a:chExt cx="1609522" cy="5436000"/>
          </a:xfrm>
        </p:grpSpPr>
        <p:sp>
          <p:nvSpPr>
            <p:cNvPr id="52" name="Afgeronde rechthoek 51"/>
            <p:cNvSpPr/>
            <p:nvPr userDrawn="1"/>
          </p:nvSpPr>
          <p:spPr>
            <a:xfrm>
              <a:off x="-1731443" y="98556"/>
              <a:ext cx="1609522" cy="5436000"/>
            </a:xfrm>
            <a:prstGeom prst="roundRect">
              <a:avLst>
                <a:gd name="adj" fmla="val 970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r>
                <a:rPr lang="en-US" sz="900" noProof="1" smtClean="0">
                  <a:solidFill>
                    <a:schemeClr val="accent2"/>
                  </a:solidFill>
                </a:rPr>
                <a:t>This is an example</a:t>
              </a:r>
              <a:r>
                <a:rPr lang="en-US" sz="900" baseline="0" noProof="1" smtClean="0">
                  <a:solidFill>
                    <a:schemeClr val="accent2"/>
                  </a:solidFill>
                </a:rPr>
                <a:t> slide. You can change this slide.</a:t>
              </a:r>
            </a:p>
            <a:p>
              <a:pPr algn="l"/>
              <a:endParaRPr lang="en-US" sz="900" baseline="0" noProof="1" smtClean="0">
                <a:solidFill>
                  <a:schemeClr val="accent2"/>
                </a:solidFill>
              </a:endParaRPr>
            </a:p>
            <a:p>
              <a:pPr algn="l"/>
              <a:r>
                <a:rPr lang="en-US" sz="900" baseline="0" noProof="1" smtClean="0">
                  <a:solidFill>
                    <a:schemeClr val="accent2"/>
                  </a:solidFill>
                </a:rPr>
                <a:t>A frame is placed above the pictures. To add pictures behind the frame, move your mouse above the icons, until you see Insert Picture from file. Then click and add your picture. The picture should be placed behind the frame (see picture below)</a:t>
              </a:r>
            </a:p>
            <a:p>
              <a:pPr algn="l"/>
              <a:endParaRPr lang="en-US" sz="900" baseline="0" noProof="1" smtClean="0">
                <a:solidFill>
                  <a:schemeClr val="accent2"/>
                </a:solidFill>
              </a:endParaRPr>
            </a:p>
            <a:p>
              <a:pPr algn="l"/>
              <a:endParaRPr lang="en-US" sz="900" baseline="0" noProof="1" smtClean="0">
                <a:solidFill>
                  <a:schemeClr val="accent2"/>
                </a:solidFill>
              </a:endParaRPr>
            </a:p>
            <a:p>
              <a:pPr algn="l"/>
              <a:endParaRPr lang="en-US" sz="900" baseline="0" noProof="1" smtClean="0">
                <a:solidFill>
                  <a:schemeClr val="accent2"/>
                </a:solidFill>
              </a:endParaRPr>
            </a:p>
            <a:p>
              <a:pPr algn="l"/>
              <a:endParaRPr lang="en-US" sz="900" baseline="0" noProof="1" smtClean="0">
                <a:solidFill>
                  <a:schemeClr val="accent2"/>
                </a:solidFill>
              </a:endParaRPr>
            </a:p>
            <a:p>
              <a:pPr algn="l"/>
              <a:endParaRPr lang="en-US" sz="900" baseline="0" noProof="1" smtClean="0">
                <a:solidFill>
                  <a:schemeClr val="accent2"/>
                </a:solidFill>
              </a:endParaRPr>
            </a:p>
            <a:p>
              <a:pPr algn="l"/>
              <a:endParaRPr lang="en-US" sz="900" baseline="0" noProof="1" smtClean="0">
                <a:solidFill>
                  <a:schemeClr val="accent2"/>
                </a:solidFill>
              </a:endParaRPr>
            </a:p>
            <a:p>
              <a:pPr algn="l"/>
              <a:endParaRPr lang="en-US" sz="900" baseline="0" noProof="1" smtClean="0">
                <a:solidFill>
                  <a:schemeClr val="accent2"/>
                </a:solidFill>
              </a:endParaRPr>
            </a:p>
            <a:p>
              <a:pPr algn="l"/>
              <a:endParaRPr lang="en-US" sz="900" baseline="0" noProof="1" smtClean="0">
                <a:solidFill>
                  <a:schemeClr val="accent2"/>
                </a:solidFill>
              </a:endParaRPr>
            </a:p>
            <a:p>
              <a:pPr algn="l"/>
              <a:endParaRPr lang="en-US" sz="900" baseline="0" noProof="1" smtClean="0">
                <a:solidFill>
                  <a:schemeClr val="accent2"/>
                </a:solidFill>
              </a:endParaRPr>
            </a:p>
            <a:p>
              <a:pPr algn="l"/>
              <a:endParaRPr lang="en-US" sz="900" baseline="0" noProof="1" smtClean="0">
                <a:solidFill>
                  <a:schemeClr val="accent2"/>
                </a:solidFill>
              </a:endParaRPr>
            </a:p>
            <a:p>
              <a:pPr algn="l"/>
              <a:r>
                <a:rPr lang="en-US" sz="900" baseline="0" noProof="1" smtClean="0">
                  <a:solidFill>
                    <a:schemeClr val="accent2"/>
                  </a:solidFill>
                </a:rPr>
                <a:t>If you accidently changed the lay-out of the slide, then open a new presentation and copy the title slide to your presentation.</a:t>
              </a:r>
            </a:p>
            <a:p>
              <a:pPr algn="l"/>
              <a:endParaRPr lang="en-US" sz="900" baseline="0" noProof="1" smtClean="0">
                <a:solidFill>
                  <a:schemeClr val="accent2"/>
                </a:solidFill>
              </a:endParaRPr>
            </a:p>
            <a:p>
              <a:pPr algn="l"/>
              <a:r>
                <a:rPr lang="en-US" sz="900" baseline="0" noProof="1" smtClean="0">
                  <a:solidFill>
                    <a:schemeClr val="accent2"/>
                  </a:solidFill>
                </a:rPr>
                <a:t>This instruction will not be shown during presentation or printing, and therefore no need to delete this instruction.</a:t>
              </a:r>
            </a:p>
            <a:p>
              <a:pPr algn="l"/>
              <a:endParaRPr lang="en-US" sz="900" baseline="0" noProof="1" smtClean="0">
                <a:solidFill>
                  <a:schemeClr val="accent2"/>
                </a:solidFill>
              </a:endParaRPr>
            </a:p>
            <a:p>
              <a:pPr algn="l"/>
              <a:endParaRPr lang="en-US" sz="900" baseline="0" noProof="1" smtClean="0">
                <a:solidFill>
                  <a:schemeClr val="accent2"/>
                </a:solidFill>
              </a:endParaRPr>
            </a:p>
            <a:p>
              <a:pPr algn="l"/>
              <a:endParaRPr lang="en-US" sz="900" baseline="0" noProof="1" smtClean="0">
                <a:solidFill>
                  <a:schemeClr val="accent2"/>
                </a:solidFill>
              </a:endParaRPr>
            </a:p>
            <a:p>
              <a:pPr algn="l"/>
              <a:endParaRPr lang="en-US" sz="900" noProof="1">
                <a:solidFill>
                  <a:schemeClr val="accent2"/>
                </a:solidFill>
              </a:endParaRPr>
            </a:p>
          </p:txBody>
        </p:sp>
        <p:pic>
          <p:nvPicPr>
            <p:cNvPr id="9219" name="Picture 3"/>
            <p:cNvPicPr>
              <a:picLocks noChangeAspect="1" noChangeArrowheads="1"/>
            </p:cNvPicPr>
            <p:nvPr userDrawn="1"/>
          </p:nvPicPr>
          <p:blipFill>
            <a:blip r:embed="rId2"/>
            <a:srcRect/>
            <a:stretch>
              <a:fillRect/>
            </a:stretch>
          </p:blipFill>
          <p:spPr bwMode="auto">
            <a:xfrm>
              <a:off x="-1643062" y="2176463"/>
              <a:ext cx="1438275" cy="1076325"/>
            </a:xfrm>
            <a:prstGeom prst="rect">
              <a:avLst/>
            </a:prstGeom>
            <a:noFill/>
            <a:ln w="9525">
              <a:solidFill>
                <a:schemeClr val="bg1">
                  <a:lumMod val="85000"/>
                </a:schemeClr>
              </a:solidFill>
              <a:miter lim="800000"/>
              <a:headEnd/>
              <a:tailEnd/>
            </a:ln>
          </p:spPr>
        </p:pic>
      </p:gr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Use examaple sllide (Closure)">
    <p:spTree>
      <p:nvGrpSpPr>
        <p:cNvPr id="1" name=""/>
        <p:cNvGrpSpPr/>
        <p:nvPr/>
      </p:nvGrpSpPr>
      <p:grpSpPr>
        <a:xfrm>
          <a:off x="0" y="0"/>
          <a:ext cx="0" cy="0"/>
          <a:chOff x="0" y="0"/>
          <a:chExt cx="0" cy="0"/>
        </a:xfrm>
      </p:grpSpPr>
      <p:sp>
        <p:nvSpPr>
          <p:cNvPr id="4" name="Tijdelijke aanduiding voor tekst 3"/>
          <p:cNvSpPr>
            <a:spLocks noGrp="1"/>
          </p:cNvSpPr>
          <p:nvPr>
            <p:ph type="body" sz="quarter" idx="10" hasCustomPrompt="1"/>
          </p:nvPr>
        </p:nvSpPr>
        <p:spPr>
          <a:xfrm>
            <a:off x="391336" y="1035668"/>
            <a:ext cx="2930361" cy="719137"/>
          </a:xfrm>
        </p:spPr>
        <p:txBody>
          <a:bodyPr/>
          <a:lstStyle>
            <a:lvl1pPr marL="0" indent="0">
              <a:lnSpc>
                <a:spcPct val="125000"/>
              </a:lnSpc>
              <a:buNone/>
              <a:defRPr sz="1000"/>
            </a:lvl1pPr>
            <a:lvl2pPr marL="0" indent="0">
              <a:lnSpc>
                <a:spcPct val="125000"/>
              </a:lnSpc>
              <a:buFont typeface="Arial" pitchFamily="34" charset="0"/>
              <a:buNone/>
              <a:defRPr sz="1000" baseline="0"/>
            </a:lvl2pPr>
          </a:lstStyle>
          <a:p>
            <a:pPr lvl="1"/>
            <a:r>
              <a:rPr lang="en-US" noProof="1" smtClean="0"/>
              <a:t>Name, Job title and e-mail address</a:t>
            </a:r>
            <a:endParaRPr lang="en-US" noProof="1"/>
          </a:p>
        </p:txBody>
      </p:sp>
      <p:grpSp>
        <p:nvGrpSpPr>
          <p:cNvPr id="18" name="Groep 17"/>
          <p:cNvGrpSpPr/>
          <p:nvPr userDrawn="1"/>
        </p:nvGrpSpPr>
        <p:grpSpPr>
          <a:xfrm>
            <a:off x="8185150" y="214313"/>
            <a:ext cx="527050" cy="593725"/>
            <a:chOff x="8185150" y="214313"/>
            <a:chExt cx="527050" cy="593725"/>
          </a:xfrm>
        </p:grpSpPr>
        <p:sp>
          <p:nvSpPr>
            <p:cNvPr id="6" name="Freeform 12"/>
            <p:cNvSpPr>
              <a:spLocks/>
            </p:cNvSpPr>
            <p:nvPr userDrawn="1"/>
          </p:nvSpPr>
          <p:spPr bwMode="auto">
            <a:xfrm>
              <a:off x="8185150" y="214313"/>
              <a:ext cx="527050" cy="593725"/>
            </a:xfrm>
            <a:custGeom>
              <a:avLst/>
              <a:gdLst/>
              <a:ahLst/>
              <a:cxnLst>
                <a:cxn ang="0">
                  <a:pos x="344" y="2361"/>
                </a:cxn>
                <a:cxn ang="0">
                  <a:pos x="0" y="2017"/>
                </a:cxn>
                <a:cxn ang="0">
                  <a:pos x="0" y="344"/>
                </a:cxn>
                <a:cxn ang="0">
                  <a:pos x="344" y="0"/>
                </a:cxn>
                <a:cxn ang="0">
                  <a:pos x="2017" y="0"/>
                </a:cxn>
                <a:cxn ang="0">
                  <a:pos x="2361" y="344"/>
                </a:cxn>
                <a:cxn ang="0">
                  <a:pos x="2361" y="2017"/>
                </a:cxn>
                <a:cxn ang="0">
                  <a:pos x="2017" y="2361"/>
                </a:cxn>
                <a:cxn ang="0">
                  <a:pos x="1180" y="2657"/>
                </a:cxn>
                <a:cxn ang="0">
                  <a:pos x="344" y="2361"/>
                </a:cxn>
              </a:cxnLst>
              <a:rect l="0" t="0" r="r" b="b"/>
              <a:pathLst>
                <a:path w="2361" h="2657">
                  <a:moveTo>
                    <a:pt x="344" y="2361"/>
                  </a:moveTo>
                  <a:cubicBezTo>
                    <a:pt x="154" y="2361"/>
                    <a:pt x="0" y="2207"/>
                    <a:pt x="0" y="2017"/>
                  </a:cubicBezTo>
                  <a:cubicBezTo>
                    <a:pt x="0" y="344"/>
                    <a:pt x="0" y="344"/>
                    <a:pt x="0" y="344"/>
                  </a:cubicBezTo>
                  <a:cubicBezTo>
                    <a:pt x="0" y="154"/>
                    <a:pt x="154" y="0"/>
                    <a:pt x="344" y="0"/>
                  </a:cubicBezTo>
                  <a:cubicBezTo>
                    <a:pt x="2017" y="0"/>
                    <a:pt x="2017" y="0"/>
                    <a:pt x="2017" y="0"/>
                  </a:cubicBezTo>
                  <a:cubicBezTo>
                    <a:pt x="2207" y="0"/>
                    <a:pt x="2361" y="154"/>
                    <a:pt x="2361" y="344"/>
                  </a:cubicBezTo>
                  <a:cubicBezTo>
                    <a:pt x="2361" y="2017"/>
                    <a:pt x="2361" y="2017"/>
                    <a:pt x="2361" y="2017"/>
                  </a:cubicBezTo>
                  <a:cubicBezTo>
                    <a:pt x="2361" y="2207"/>
                    <a:pt x="2207" y="2361"/>
                    <a:pt x="2017" y="2361"/>
                  </a:cubicBezTo>
                  <a:cubicBezTo>
                    <a:pt x="1700" y="2361"/>
                    <a:pt x="1409" y="2472"/>
                    <a:pt x="1180" y="2657"/>
                  </a:cubicBezTo>
                  <a:cubicBezTo>
                    <a:pt x="952" y="2472"/>
                    <a:pt x="661" y="2361"/>
                    <a:pt x="344" y="2361"/>
                  </a:cubicBezTo>
                </a:path>
              </a:pathLst>
            </a:custGeom>
            <a:solidFill>
              <a:srgbClr val="0086C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7" name="Rectangle 13"/>
            <p:cNvSpPr>
              <a:spLocks noChangeArrowheads="1"/>
            </p:cNvSpPr>
            <p:nvPr userDrawn="1"/>
          </p:nvSpPr>
          <p:spPr bwMode="auto">
            <a:xfrm>
              <a:off x="8248650" y="517526"/>
              <a:ext cx="50800" cy="15398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noProof="1"/>
            </a:p>
          </p:txBody>
        </p:sp>
        <p:sp>
          <p:nvSpPr>
            <p:cNvPr id="8" name="Freeform 14"/>
            <p:cNvSpPr>
              <a:spLocks noEditPoints="1"/>
            </p:cNvSpPr>
            <p:nvPr userDrawn="1"/>
          </p:nvSpPr>
          <p:spPr bwMode="auto">
            <a:xfrm>
              <a:off x="8318500" y="415926"/>
              <a:ext cx="339725" cy="255588"/>
            </a:xfrm>
            <a:custGeom>
              <a:avLst/>
              <a:gdLst/>
              <a:ahLst/>
              <a:cxnLst>
                <a:cxn ang="0">
                  <a:pos x="1183" y="689"/>
                </a:cxn>
                <a:cxn ang="0">
                  <a:pos x="1298" y="803"/>
                </a:cxn>
                <a:cxn ang="0">
                  <a:pos x="1297" y="1148"/>
                </a:cxn>
                <a:cxn ang="0">
                  <a:pos x="1527" y="1148"/>
                </a:cxn>
                <a:cxn ang="0">
                  <a:pos x="1527" y="803"/>
                </a:cxn>
                <a:cxn ang="0">
                  <a:pos x="1183" y="459"/>
                </a:cxn>
                <a:cxn ang="0">
                  <a:pos x="1085" y="459"/>
                </a:cxn>
                <a:cxn ang="0">
                  <a:pos x="1085" y="0"/>
                </a:cxn>
                <a:cxn ang="0">
                  <a:pos x="855" y="0"/>
                </a:cxn>
                <a:cxn ang="0">
                  <a:pos x="855" y="459"/>
                </a:cxn>
                <a:cxn ang="0">
                  <a:pos x="688" y="459"/>
                </a:cxn>
                <a:cxn ang="0">
                  <a:pos x="688" y="115"/>
                </a:cxn>
                <a:cxn ang="0">
                  <a:pos x="459" y="115"/>
                </a:cxn>
                <a:cxn ang="0">
                  <a:pos x="459" y="459"/>
                </a:cxn>
                <a:cxn ang="0">
                  <a:pos x="344" y="459"/>
                </a:cxn>
                <a:cxn ang="0">
                  <a:pos x="0" y="804"/>
                </a:cxn>
                <a:cxn ang="0">
                  <a:pos x="344" y="1148"/>
                </a:cxn>
                <a:cxn ang="0">
                  <a:pos x="688" y="804"/>
                </a:cxn>
                <a:cxn ang="0">
                  <a:pos x="688" y="689"/>
                </a:cxn>
                <a:cxn ang="0">
                  <a:pos x="855" y="689"/>
                </a:cxn>
                <a:cxn ang="0">
                  <a:pos x="855" y="1033"/>
                </a:cxn>
                <a:cxn ang="0">
                  <a:pos x="1085" y="1033"/>
                </a:cxn>
                <a:cxn ang="0">
                  <a:pos x="1085" y="689"/>
                </a:cxn>
                <a:cxn ang="0">
                  <a:pos x="1183" y="689"/>
                </a:cxn>
                <a:cxn ang="0">
                  <a:pos x="459" y="804"/>
                </a:cxn>
                <a:cxn ang="0">
                  <a:pos x="344" y="918"/>
                </a:cxn>
                <a:cxn ang="0">
                  <a:pos x="344" y="918"/>
                </a:cxn>
                <a:cxn ang="0">
                  <a:pos x="229" y="804"/>
                </a:cxn>
                <a:cxn ang="0">
                  <a:pos x="229" y="803"/>
                </a:cxn>
                <a:cxn ang="0">
                  <a:pos x="344" y="689"/>
                </a:cxn>
                <a:cxn ang="0">
                  <a:pos x="459" y="689"/>
                </a:cxn>
                <a:cxn ang="0">
                  <a:pos x="459" y="804"/>
                </a:cxn>
              </a:cxnLst>
              <a:rect l="0" t="0" r="r" b="b"/>
              <a:pathLst>
                <a:path w="1527" h="1148">
                  <a:moveTo>
                    <a:pt x="1183" y="689"/>
                  </a:moveTo>
                  <a:cubicBezTo>
                    <a:pt x="1246" y="689"/>
                    <a:pt x="1298" y="740"/>
                    <a:pt x="1298" y="803"/>
                  </a:cubicBezTo>
                  <a:cubicBezTo>
                    <a:pt x="1297" y="1148"/>
                    <a:pt x="1297" y="1148"/>
                    <a:pt x="1297" y="1148"/>
                  </a:cubicBezTo>
                  <a:cubicBezTo>
                    <a:pt x="1527" y="1148"/>
                    <a:pt x="1527" y="1148"/>
                    <a:pt x="1527" y="1148"/>
                  </a:cubicBezTo>
                  <a:cubicBezTo>
                    <a:pt x="1527" y="803"/>
                    <a:pt x="1527" y="803"/>
                    <a:pt x="1527" y="803"/>
                  </a:cubicBezTo>
                  <a:cubicBezTo>
                    <a:pt x="1527" y="613"/>
                    <a:pt x="1373" y="459"/>
                    <a:pt x="1183" y="459"/>
                  </a:cubicBezTo>
                  <a:cubicBezTo>
                    <a:pt x="1085" y="459"/>
                    <a:pt x="1085" y="459"/>
                    <a:pt x="1085" y="459"/>
                  </a:cubicBezTo>
                  <a:cubicBezTo>
                    <a:pt x="1085" y="0"/>
                    <a:pt x="1085" y="0"/>
                    <a:pt x="1085" y="0"/>
                  </a:cubicBezTo>
                  <a:cubicBezTo>
                    <a:pt x="855" y="0"/>
                    <a:pt x="855" y="0"/>
                    <a:pt x="855" y="0"/>
                  </a:cubicBezTo>
                  <a:cubicBezTo>
                    <a:pt x="855" y="459"/>
                    <a:pt x="855" y="459"/>
                    <a:pt x="855" y="459"/>
                  </a:cubicBezTo>
                  <a:cubicBezTo>
                    <a:pt x="688" y="459"/>
                    <a:pt x="688" y="459"/>
                    <a:pt x="688" y="459"/>
                  </a:cubicBezTo>
                  <a:cubicBezTo>
                    <a:pt x="688" y="115"/>
                    <a:pt x="688" y="115"/>
                    <a:pt x="688" y="115"/>
                  </a:cubicBezTo>
                  <a:cubicBezTo>
                    <a:pt x="459" y="115"/>
                    <a:pt x="459" y="115"/>
                    <a:pt x="459" y="115"/>
                  </a:cubicBezTo>
                  <a:cubicBezTo>
                    <a:pt x="459" y="459"/>
                    <a:pt x="459" y="459"/>
                    <a:pt x="459" y="459"/>
                  </a:cubicBezTo>
                  <a:cubicBezTo>
                    <a:pt x="344" y="459"/>
                    <a:pt x="344" y="459"/>
                    <a:pt x="344" y="459"/>
                  </a:cubicBezTo>
                  <a:cubicBezTo>
                    <a:pt x="154" y="459"/>
                    <a:pt x="0" y="614"/>
                    <a:pt x="0" y="804"/>
                  </a:cubicBezTo>
                  <a:cubicBezTo>
                    <a:pt x="0" y="994"/>
                    <a:pt x="154" y="1148"/>
                    <a:pt x="344" y="1148"/>
                  </a:cubicBezTo>
                  <a:cubicBezTo>
                    <a:pt x="534" y="1148"/>
                    <a:pt x="688" y="994"/>
                    <a:pt x="688" y="804"/>
                  </a:cubicBezTo>
                  <a:cubicBezTo>
                    <a:pt x="688" y="689"/>
                    <a:pt x="688" y="689"/>
                    <a:pt x="688" y="689"/>
                  </a:cubicBezTo>
                  <a:cubicBezTo>
                    <a:pt x="855" y="689"/>
                    <a:pt x="855" y="689"/>
                    <a:pt x="855" y="689"/>
                  </a:cubicBezTo>
                  <a:cubicBezTo>
                    <a:pt x="855" y="1033"/>
                    <a:pt x="855" y="1033"/>
                    <a:pt x="855" y="1033"/>
                  </a:cubicBezTo>
                  <a:cubicBezTo>
                    <a:pt x="1085" y="1033"/>
                    <a:pt x="1085" y="1033"/>
                    <a:pt x="1085" y="1033"/>
                  </a:cubicBezTo>
                  <a:cubicBezTo>
                    <a:pt x="1085" y="689"/>
                    <a:pt x="1085" y="689"/>
                    <a:pt x="1085" y="689"/>
                  </a:cubicBezTo>
                  <a:lnTo>
                    <a:pt x="1183" y="689"/>
                  </a:lnTo>
                  <a:close/>
                  <a:moveTo>
                    <a:pt x="459" y="804"/>
                  </a:moveTo>
                  <a:cubicBezTo>
                    <a:pt x="459" y="867"/>
                    <a:pt x="407" y="918"/>
                    <a:pt x="344" y="918"/>
                  </a:cubicBezTo>
                  <a:cubicBezTo>
                    <a:pt x="344" y="918"/>
                    <a:pt x="344" y="918"/>
                    <a:pt x="344" y="918"/>
                  </a:cubicBezTo>
                  <a:cubicBezTo>
                    <a:pt x="280" y="918"/>
                    <a:pt x="229" y="867"/>
                    <a:pt x="229" y="804"/>
                  </a:cubicBezTo>
                  <a:cubicBezTo>
                    <a:pt x="229" y="803"/>
                    <a:pt x="229" y="803"/>
                    <a:pt x="229" y="803"/>
                  </a:cubicBezTo>
                  <a:cubicBezTo>
                    <a:pt x="229" y="740"/>
                    <a:pt x="281" y="689"/>
                    <a:pt x="344" y="689"/>
                  </a:cubicBezTo>
                  <a:cubicBezTo>
                    <a:pt x="459" y="689"/>
                    <a:pt x="459" y="689"/>
                    <a:pt x="459" y="689"/>
                  </a:cubicBezTo>
                  <a:lnTo>
                    <a:pt x="459" y="80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9" name="Freeform 15"/>
            <p:cNvSpPr>
              <a:spLocks noEditPoints="1"/>
            </p:cNvSpPr>
            <p:nvPr userDrawn="1"/>
          </p:nvSpPr>
          <p:spPr bwMode="auto">
            <a:xfrm>
              <a:off x="8250238" y="287338"/>
              <a:ext cx="42863" cy="53975"/>
            </a:xfrm>
            <a:custGeom>
              <a:avLst/>
              <a:gdLst/>
              <a:ahLst/>
              <a:cxnLst>
                <a:cxn ang="0">
                  <a:pos x="141" y="96"/>
                </a:cxn>
                <a:cxn ang="0">
                  <a:pos x="141" y="96"/>
                </a:cxn>
                <a:cxn ang="0">
                  <a:pos x="96" y="45"/>
                </a:cxn>
                <a:cxn ang="0">
                  <a:pos x="51" y="96"/>
                </a:cxn>
                <a:cxn ang="0">
                  <a:pos x="51" y="96"/>
                </a:cxn>
                <a:cxn ang="0">
                  <a:pos x="96" y="147"/>
                </a:cxn>
                <a:cxn ang="0">
                  <a:pos x="141" y="96"/>
                </a:cxn>
                <a:cxn ang="0">
                  <a:pos x="0" y="4"/>
                </a:cxn>
                <a:cxn ang="0">
                  <a:pos x="52" y="4"/>
                </a:cxn>
                <a:cxn ang="0">
                  <a:pos x="52" y="30"/>
                </a:cxn>
                <a:cxn ang="0">
                  <a:pos x="110" y="0"/>
                </a:cxn>
                <a:cxn ang="0">
                  <a:pos x="194" y="96"/>
                </a:cxn>
                <a:cxn ang="0">
                  <a:pos x="194" y="96"/>
                </a:cxn>
                <a:cxn ang="0">
                  <a:pos x="110" y="192"/>
                </a:cxn>
                <a:cxn ang="0">
                  <a:pos x="52" y="164"/>
                </a:cxn>
                <a:cxn ang="0">
                  <a:pos x="52" y="244"/>
                </a:cxn>
                <a:cxn ang="0">
                  <a:pos x="0" y="244"/>
                </a:cxn>
                <a:cxn ang="0">
                  <a:pos x="0" y="4"/>
                </a:cxn>
              </a:cxnLst>
              <a:rect l="0" t="0" r="r" b="b"/>
              <a:pathLst>
                <a:path w="194" h="244">
                  <a:moveTo>
                    <a:pt x="141" y="96"/>
                  </a:moveTo>
                  <a:cubicBezTo>
                    <a:pt x="141" y="96"/>
                    <a:pt x="141" y="96"/>
                    <a:pt x="141" y="96"/>
                  </a:cubicBezTo>
                  <a:cubicBezTo>
                    <a:pt x="141" y="65"/>
                    <a:pt x="121" y="45"/>
                    <a:pt x="96" y="45"/>
                  </a:cubicBezTo>
                  <a:cubicBezTo>
                    <a:pt x="72" y="45"/>
                    <a:pt x="51" y="65"/>
                    <a:pt x="51" y="96"/>
                  </a:cubicBezTo>
                  <a:cubicBezTo>
                    <a:pt x="51" y="96"/>
                    <a:pt x="51" y="96"/>
                    <a:pt x="51" y="96"/>
                  </a:cubicBezTo>
                  <a:cubicBezTo>
                    <a:pt x="51" y="127"/>
                    <a:pt x="72" y="147"/>
                    <a:pt x="96" y="147"/>
                  </a:cubicBezTo>
                  <a:cubicBezTo>
                    <a:pt x="121" y="147"/>
                    <a:pt x="141" y="127"/>
                    <a:pt x="141" y="96"/>
                  </a:cubicBezTo>
                  <a:moveTo>
                    <a:pt x="0" y="4"/>
                  </a:moveTo>
                  <a:cubicBezTo>
                    <a:pt x="52" y="4"/>
                    <a:pt x="52" y="4"/>
                    <a:pt x="52" y="4"/>
                  </a:cubicBezTo>
                  <a:cubicBezTo>
                    <a:pt x="52" y="30"/>
                    <a:pt x="52" y="30"/>
                    <a:pt x="52" y="30"/>
                  </a:cubicBezTo>
                  <a:cubicBezTo>
                    <a:pt x="65" y="13"/>
                    <a:pt x="82" y="0"/>
                    <a:pt x="110" y="0"/>
                  </a:cubicBezTo>
                  <a:cubicBezTo>
                    <a:pt x="153" y="0"/>
                    <a:pt x="194" y="34"/>
                    <a:pt x="194" y="96"/>
                  </a:cubicBezTo>
                  <a:cubicBezTo>
                    <a:pt x="194" y="96"/>
                    <a:pt x="194" y="96"/>
                    <a:pt x="194" y="96"/>
                  </a:cubicBezTo>
                  <a:cubicBezTo>
                    <a:pt x="194" y="158"/>
                    <a:pt x="154" y="192"/>
                    <a:pt x="110" y="192"/>
                  </a:cubicBezTo>
                  <a:cubicBezTo>
                    <a:pt x="82" y="192"/>
                    <a:pt x="65" y="179"/>
                    <a:pt x="52" y="164"/>
                  </a:cubicBezTo>
                  <a:cubicBezTo>
                    <a:pt x="52" y="244"/>
                    <a:pt x="52" y="244"/>
                    <a:pt x="52" y="244"/>
                  </a:cubicBezTo>
                  <a:cubicBezTo>
                    <a:pt x="0" y="244"/>
                    <a:pt x="0" y="244"/>
                    <a:pt x="0" y="244"/>
                  </a:cubicBezTo>
                  <a:lnTo>
                    <a:pt x="0" y="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10" name="Freeform 16"/>
            <p:cNvSpPr>
              <a:spLocks noEditPoints="1"/>
            </p:cNvSpPr>
            <p:nvPr userDrawn="1"/>
          </p:nvSpPr>
          <p:spPr bwMode="auto">
            <a:xfrm>
              <a:off x="8299450" y="287338"/>
              <a:ext cx="44450" cy="42863"/>
            </a:xfrm>
            <a:custGeom>
              <a:avLst/>
              <a:gdLst/>
              <a:ahLst/>
              <a:cxnLst>
                <a:cxn ang="0">
                  <a:pos x="149" y="97"/>
                </a:cxn>
                <a:cxn ang="0">
                  <a:pos x="149" y="96"/>
                </a:cxn>
                <a:cxn ang="0">
                  <a:pos x="100" y="45"/>
                </a:cxn>
                <a:cxn ang="0">
                  <a:pos x="52" y="96"/>
                </a:cxn>
                <a:cxn ang="0">
                  <a:pos x="52" y="96"/>
                </a:cxn>
                <a:cxn ang="0">
                  <a:pos x="101" y="147"/>
                </a:cxn>
                <a:cxn ang="0">
                  <a:pos x="149" y="97"/>
                </a:cxn>
                <a:cxn ang="0">
                  <a:pos x="0" y="97"/>
                </a:cxn>
                <a:cxn ang="0">
                  <a:pos x="0" y="96"/>
                </a:cxn>
                <a:cxn ang="0">
                  <a:pos x="101" y="0"/>
                </a:cxn>
                <a:cxn ang="0">
                  <a:pos x="200" y="96"/>
                </a:cxn>
                <a:cxn ang="0">
                  <a:pos x="200" y="96"/>
                </a:cxn>
                <a:cxn ang="0">
                  <a:pos x="100" y="193"/>
                </a:cxn>
                <a:cxn ang="0">
                  <a:pos x="0" y="97"/>
                </a:cxn>
              </a:cxnLst>
              <a:rect l="0" t="0" r="r" b="b"/>
              <a:pathLst>
                <a:path w="200" h="193">
                  <a:moveTo>
                    <a:pt x="149" y="97"/>
                  </a:moveTo>
                  <a:cubicBezTo>
                    <a:pt x="149" y="96"/>
                    <a:pt x="149" y="96"/>
                    <a:pt x="149" y="96"/>
                  </a:cubicBezTo>
                  <a:cubicBezTo>
                    <a:pt x="149" y="69"/>
                    <a:pt x="129" y="45"/>
                    <a:pt x="100" y="45"/>
                  </a:cubicBezTo>
                  <a:cubicBezTo>
                    <a:pt x="70" y="45"/>
                    <a:pt x="52" y="69"/>
                    <a:pt x="52" y="96"/>
                  </a:cubicBezTo>
                  <a:cubicBezTo>
                    <a:pt x="52" y="96"/>
                    <a:pt x="52" y="96"/>
                    <a:pt x="52" y="96"/>
                  </a:cubicBezTo>
                  <a:cubicBezTo>
                    <a:pt x="52" y="124"/>
                    <a:pt x="72" y="147"/>
                    <a:pt x="101" y="147"/>
                  </a:cubicBezTo>
                  <a:cubicBezTo>
                    <a:pt x="131" y="147"/>
                    <a:pt x="149" y="124"/>
                    <a:pt x="149" y="97"/>
                  </a:cubicBezTo>
                  <a:moveTo>
                    <a:pt x="0" y="97"/>
                  </a:moveTo>
                  <a:cubicBezTo>
                    <a:pt x="0" y="96"/>
                    <a:pt x="0" y="96"/>
                    <a:pt x="0" y="96"/>
                  </a:cubicBezTo>
                  <a:cubicBezTo>
                    <a:pt x="0" y="43"/>
                    <a:pt x="43" y="0"/>
                    <a:pt x="101" y="0"/>
                  </a:cubicBezTo>
                  <a:cubicBezTo>
                    <a:pt x="158" y="0"/>
                    <a:pt x="200" y="43"/>
                    <a:pt x="200" y="96"/>
                  </a:cubicBezTo>
                  <a:cubicBezTo>
                    <a:pt x="200" y="96"/>
                    <a:pt x="200" y="96"/>
                    <a:pt x="200" y="96"/>
                  </a:cubicBezTo>
                  <a:cubicBezTo>
                    <a:pt x="200" y="150"/>
                    <a:pt x="158" y="193"/>
                    <a:pt x="100" y="193"/>
                  </a:cubicBezTo>
                  <a:cubicBezTo>
                    <a:pt x="43" y="193"/>
                    <a:pt x="0" y="150"/>
                    <a:pt x="0" y="97"/>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11" name="Freeform 17"/>
            <p:cNvSpPr>
              <a:spLocks/>
            </p:cNvSpPr>
            <p:nvPr userDrawn="1"/>
          </p:nvSpPr>
          <p:spPr bwMode="auto">
            <a:xfrm>
              <a:off x="8347075" y="287338"/>
              <a:ext cx="61913" cy="41275"/>
            </a:xfrm>
            <a:custGeom>
              <a:avLst/>
              <a:gdLst/>
              <a:ahLst/>
              <a:cxnLst>
                <a:cxn ang="0">
                  <a:pos x="0" y="0"/>
                </a:cxn>
                <a:cxn ang="0">
                  <a:pos x="8" y="0"/>
                </a:cxn>
                <a:cxn ang="0">
                  <a:pos x="12" y="16"/>
                </a:cxn>
                <a:cxn ang="0">
                  <a:pos x="17" y="0"/>
                </a:cxn>
                <a:cxn ang="0">
                  <a:pos x="23" y="0"/>
                </a:cxn>
                <a:cxn ang="0">
                  <a:pos x="28" y="16"/>
                </a:cxn>
                <a:cxn ang="0">
                  <a:pos x="32" y="0"/>
                </a:cxn>
                <a:cxn ang="0">
                  <a:pos x="39" y="0"/>
                </a:cxn>
                <a:cxn ang="0">
                  <a:pos x="31" y="26"/>
                </a:cxn>
                <a:cxn ang="0">
                  <a:pos x="25" y="26"/>
                </a:cxn>
                <a:cxn ang="0">
                  <a:pos x="20" y="10"/>
                </a:cxn>
                <a:cxn ang="0">
                  <a:pos x="15" y="26"/>
                </a:cxn>
                <a:cxn ang="0">
                  <a:pos x="8" y="26"/>
                </a:cxn>
                <a:cxn ang="0">
                  <a:pos x="0" y="0"/>
                </a:cxn>
              </a:cxnLst>
              <a:rect l="0" t="0" r="r" b="b"/>
              <a:pathLst>
                <a:path w="39" h="26">
                  <a:moveTo>
                    <a:pt x="0" y="0"/>
                  </a:moveTo>
                  <a:lnTo>
                    <a:pt x="8" y="0"/>
                  </a:lnTo>
                  <a:lnTo>
                    <a:pt x="12" y="16"/>
                  </a:lnTo>
                  <a:lnTo>
                    <a:pt x="17" y="0"/>
                  </a:lnTo>
                  <a:lnTo>
                    <a:pt x="23" y="0"/>
                  </a:lnTo>
                  <a:lnTo>
                    <a:pt x="28" y="16"/>
                  </a:lnTo>
                  <a:lnTo>
                    <a:pt x="32" y="0"/>
                  </a:lnTo>
                  <a:lnTo>
                    <a:pt x="39" y="0"/>
                  </a:lnTo>
                  <a:lnTo>
                    <a:pt x="31" y="26"/>
                  </a:lnTo>
                  <a:lnTo>
                    <a:pt x="25" y="26"/>
                  </a:lnTo>
                  <a:lnTo>
                    <a:pt x="20" y="10"/>
                  </a:lnTo>
                  <a:lnTo>
                    <a:pt x="15" y="26"/>
                  </a:lnTo>
                  <a:lnTo>
                    <a:pt x="8" y="26"/>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12" name="Freeform 18"/>
            <p:cNvSpPr>
              <a:spLocks noEditPoints="1"/>
            </p:cNvSpPr>
            <p:nvPr userDrawn="1"/>
          </p:nvSpPr>
          <p:spPr bwMode="auto">
            <a:xfrm>
              <a:off x="8412163" y="287338"/>
              <a:ext cx="41275" cy="42863"/>
            </a:xfrm>
            <a:custGeom>
              <a:avLst/>
              <a:gdLst/>
              <a:ahLst/>
              <a:cxnLst>
                <a:cxn ang="0">
                  <a:pos x="130" y="82"/>
                </a:cxn>
                <a:cxn ang="0">
                  <a:pos x="91" y="42"/>
                </a:cxn>
                <a:cxn ang="0">
                  <a:pos x="51" y="82"/>
                </a:cxn>
                <a:cxn ang="0">
                  <a:pos x="130" y="82"/>
                </a:cxn>
                <a:cxn ang="0">
                  <a:pos x="0" y="97"/>
                </a:cxn>
                <a:cxn ang="0">
                  <a:pos x="0" y="96"/>
                </a:cxn>
                <a:cxn ang="0">
                  <a:pos x="91" y="0"/>
                </a:cxn>
                <a:cxn ang="0">
                  <a:pos x="181" y="101"/>
                </a:cxn>
                <a:cxn ang="0">
                  <a:pos x="180" y="114"/>
                </a:cxn>
                <a:cxn ang="0">
                  <a:pos x="52" y="114"/>
                </a:cxn>
                <a:cxn ang="0">
                  <a:pos x="97" y="151"/>
                </a:cxn>
                <a:cxn ang="0">
                  <a:pos x="142" y="132"/>
                </a:cxn>
                <a:cxn ang="0">
                  <a:pos x="172" y="158"/>
                </a:cxn>
                <a:cxn ang="0">
                  <a:pos x="96" y="193"/>
                </a:cxn>
                <a:cxn ang="0">
                  <a:pos x="0" y="97"/>
                </a:cxn>
              </a:cxnLst>
              <a:rect l="0" t="0" r="r" b="b"/>
              <a:pathLst>
                <a:path w="181" h="193">
                  <a:moveTo>
                    <a:pt x="130" y="82"/>
                  </a:moveTo>
                  <a:cubicBezTo>
                    <a:pt x="127" y="58"/>
                    <a:pt x="113" y="42"/>
                    <a:pt x="91" y="42"/>
                  </a:cubicBezTo>
                  <a:cubicBezTo>
                    <a:pt x="69" y="42"/>
                    <a:pt x="55" y="58"/>
                    <a:pt x="51" y="82"/>
                  </a:cubicBezTo>
                  <a:lnTo>
                    <a:pt x="130" y="82"/>
                  </a:lnTo>
                  <a:close/>
                  <a:moveTo>
                    <a:pt x="0" y="97"/>
                  </a:moveTo>
                  <a:cubicBezTo>
                    <a:pt x="0" y="96"/>
                    <a:pt x="0" y="96"/>
                    <a:pt x="0" y="96"/>
                  </a:cubicBezTo>
                  <a:cubicBezTo>
                    <a:pt x="0" y="44"/>
                    <a:pt x="37" y="0"/>
                    <a:pt x="91" y="0"/>
                  </a:cubicBezTo>
                  <a:cubicBezTo>
                    <a:pt x="153" y="0"/>
                    <a:pt x="181" y="48"/>
                    <a:pt x="181" y="101"/>
                  </a:cubicBezTo>
                  <a:cubicBezTo>
                    <a:pt x="181" y="105"/>
                    <a:pt x="181" y="110"/>
                    <a:pt x="180" y="114"/>
                  </a:cubicBezTo>
                  <a:cubicBezTo>
                    <a:pt x="52" y="114"/>
                    <a:pt x="52" y="114"/>
                    <a:pt x="52" y="114"/>
                  </a:cubicBezTo>
                  <a:cubicBezTo>
                    <a:pt x="57" y="138"/>
                    <a:pt x="74" y="151"/>
                    <a:pt x="97" y="151"/>
                  </a:cubicBezTo>
                  <a:cubicBezTo>
                    <a:pt x="115" y="151"/>
                    <a:pt x="127" y="145"/>
                    <a:pt x="142" y="132"/>
                  </a:cubicBezTo>
                  <a:cubicBezTo>
                    <a:pt x="172" y="158"/>
                    <a:pt x="172" y="158"/>
                    <a:pt x="172" y="158"/>
                  </a:cubicBezTo>
                  <a:cubicBezTo>
                    <a:pt x="155" y="180"/>
                    <a:pt x="130" y="193"/>
                    <a:pt x="96" y="193"/>
                  </a:cubicBezTo>
                  <a:cubicBezTo>
                    <a:pt x="41" y="193"/>
                    <a:pt x="0" y="154"/>
                    <a:pt x="0" y="97"/>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13" name="Freeform 19"/>
            <p:cNvSpPr>
              <a:spLocks/>
            </p:cNvSpPr>
            <p:nvPr userDrawn="1"/>
          </p:nvSpPr>
          <p:spPr bwMode="auto">
            <a:xfrm>
              <a:off x="8461375" y="285751"/>
              <a:ext cx="25400" cy="42863"/>
            </a:xfrm>
            <a:custGeom>
              <a:avLst/>
              <a:gdLst/>
              <a:ahLst/>
              <a:cxnLst>
                <a:cxn ang="0">
                  <a:pos x="0" y="5"/>
                </a:cxn>
                <a:cxn ang="0">
                  <a:pos x="53" y="5"/>
                </a:cxn>
                <a:cxn ang="0">
                  <a:pos x="53" y="42"/>
                </a:cxn>
                <a:cxn ang="0">
                  <a:pos x="112" y="1"/>
                </a:cxn>
                <a:cxn ang="0">
                  <a:pos x="112" y="56"/>
                </a:cxn>
                <a:cxn ang="0">
                  <a:pos x="109" y="56"/>
                </a:cxn>
                <a:cxn ang="0">
                  <a:pos x="53" y="121"/>
                </a:cxn>
                <a:cxn ang="0">
                  <a:pos x="53" y="189"/>
                </a:cxn>
                <a:cxn ang="0">
                  <a:pos x="0" y="189"/>
                </a:cxn>
                <a:cxn ang="0">
                  <a:pos x="0" y="5"/>
                </a:cxn>
              </a:cxnLst>
              <a:rect l="0" t="0" r="r" b="b"/>
              <a:pathLst>
                <a:path w="112" h="189">
                  <a:moveTo>
                    <a:pt x="0" y="5"/>
                  </a:moveTo>
                  <a:cubicBezTo>
                    <a:pt x="53" y="5"/>
                    <a:pt x="53" y="5"/>
                    <a:pt x="53" y="5"/>
                  </a:cubicBezTo>
                  <a:cubicBezTo>
                    <a:pt x="53" y="42"/>
                    <a:pt x="53" y="42"/>
                    <a:pt x="53" y="42"/>
                  </a:cubicBezTo>
                  <a:cubicBezTo>
                    <a:pt x="63" y="16"/>
                    <a:pt x="80" y="0"/>
                    <a:pt x="112" y="1"/>
                  </a:cubicBezTo>
                  <a:cubicBezTo>
                    <a:pt x="112" y="56"/>
                    <a:pt x="112" y="56"/>
                    <a:pt x="112" y="56"/>
                  </a:cubicBezTo>
                  <a:cubicBezTo>
                    <a:pt x="109" y="56"/>
                    <a:pt x="109" y="56"/>
                    <a:pt x="109" y="56"/>
                  </a:cubicBezTo>
                  <a:cubicBezTo>
                    <a:pt x="74" y="56"/>
                    <a:pt x="53" y="77"/>
                    <a:pt x="53" y="121"/>
                  </a:cubicBezTo>
                  <a:cubicBezTo>
                    <a:pt x="53" y="189"/>
                    <a:pt x="53" y="189"/>
                    <a:pt x="53" y="189"/>
                  </a:cubicBezTo>
                  <a:cubicBezTo>
                    <a:pt x="0" y="189"/>
                    <a:pt x="0" y="189"/>
                    <a:pt x="0" y="189"/>
                  </a:cubicBezTo>
                  <a:lnTo>
                    <a:pt x="0" y="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14" name="Freeform 20"/>
            <p:cNvSpPr>
              <a:spLocks noEditPoints="1"/>
            </p:cNvSpPr>
            <p:nvPr userDrawn="1"/>
          </p:nvSpPr>
          <p:spPr bwMode="auto">
            <a:xfrm>
              <a:off x="8491538" y="287338"/>
              <a:ext cx="39688" cy="42863"/>
            </a:xfrm>
            <a:custGeom>
              <a:avLst/>
              <a:gdLst/>
              <a:ahLst/>
              <a:cxnLst>
                <a:cxn ang="0">
                  <a:pos x="130" y="82"/>
                </a:cxn>
                <a:cxn ang="0">
                  <a:pos x="91" y="42"/>
                </a:cxn>
                <a:cxn ang="0">
                  <a:pos x="51" y="82"/>
                </a:cxn>
                <a:cxn ang="0">
                  <a:pos x="130" y="82"/>
                </a:cxn>
                <a:cxn ang="0">
                  <a:pos x="0" y="97"/>
                </a:cxn>
                <a:cxn ang="0">
                  <a:pos x="0" y="96"/>
                </a:cxn>
                <a:cxn ang="0">
                  <a:pos x="91" y="0"/>
                </a:cxn>
                <a:cxn ang="0">
                  <a:pos x="181" y="101"/>
                </a:cxn>
                <a:cxn ang="0">
                  <a:pos x="181" y="114"/>
                </a:cxn>
                <a:cxn ang="0">
                  <a:pos x="52" y="114"/>
                </a:cxn>
                <a:cxn ang="0">
                  <a:pos x="97" y="151"/>
                </a:cxn>
                <a:cxn ang="0">
                  <a:pos x="142" y="132"/>
                </a:cxn>
                <a:cxn ang="0">
                  <a:pos x="172" y="158"/>
                </a:cxn>
                <a:cxn ang="0">
                  <a:pos x="97" y="193"/>
                </a:cxn>
                <a:cxn ang="0">
                  <a:pos x="0" y="97"/>
                </a:cxn>
              </a:cxnLst>
              <a:rect l="0" t="0" r="r" b="b"/>
              <a:pathLst>
                <a:path w="181" h="193">
                  <a:moveTo>
                    <a:pt x="130" y="82"/>
                  </a:moveTo>
                  <a:cubicBezTo>
                    <a:pt x="127" y="58"/>
                    <a:pt x="113" y="42"/>
                    <a:pt x="91" y="42"/>
                  </a:cubicBezTo>
                  <a:cubicBezTo>
                    <a:pt x="70" y="42"/>
                    <a:pt x="56" y="58"/>
                    <a:pt x="51" y="82"/>
                  </a:cubicBezTo>
                  <a:lnTo>
                    <a:pt x="130" y="82"/>
                  </a:lnTo>
                  <a:close/>
                  <a:moveTo>
                    <a:pt x="0" y="97"/>
                  </a:moveTo>
                  <a:cubicBezTo>
                    <a:pt x="0" y="96"/>
                    <a:pt x="0" y="96"/>
                    <a:pt x="0" y="96"/>
                  </a:cubicBezTo>
                  <a:cubicBezTo>
                    <a:pt x="0" y="44"/>
                    <a:pt x="38" y="0"/>
                    <a:pt x="91" y="0"/>
                  </a:cubicBezTo>
                  <a:cubicBezTo>
                    <a:pt x="153" y="0"/>
                    <a:pt x="181" y="48"/>
                    <a:pt x="181" y="101"/>
                  </a:cubicBezTo>
                  <a:cubicBezTo>
                    <a:pt x="181" y="105"/>
                    <a:pt x="181" y="110"/>
                    <a:pt x="181" y="114"/>
                  </a:cubicBezTo>
                  <a:cubicBezTo>
                    <a:pt x="52" y="114"/>
                    <a:pt x="52" y="114"/>
                    <a:pt x="52" y="114"/>
                  </a:cubicBezTo>
                  <a:cubicBezTo>
                    <a:pt x="57" y="138"/>
                    <a:pt x="74" y="151"/>
                    <a:pt x="97" y="151"/>
                  </a:cubicBezTo>
                  <a:cubicBezTo>
                    <a:pt x="115" y="151"/>
                    <a:pt x="128" y="145"/>
                    <a:pt x="142" y="132"/>
                  </a:cubicBezTo>
                  <a:cubicBezTo>
                    <a:pt x="172" y="158"/>
                    <a:pt x="172" y="158"/>
                    <a:pt x="172" y="158"/>
                  </a:cubicBezTo>
                  <a:cubicBezTo>
                    <a:pt x="155" y="180"/>
                    <a:pt x="130" y="193"/>
                    <a:pt x="97" y="193"/>
                  </a:cubicBezTo>
                  <a:cubicBezTo>
                    <a:pt x="41" y="193"/>
                    <a:pt x="0" y="154"/>
                    <a:pt x="0" y="97"/>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15" name="Freeform 21"/>
            <p:cNvSpPr>
              <a:spLocks noEditPoints="1"/>
            </p:cNvSpPr>
            <p:nvPr userDrawn="1"/>
          </p:nvSpPr>
          <p:spPr bwMode="auto">
            <a:xfrm>
              <a:off x="8537575" y="273051"/>
              <a:ext cx="44450" cy="57150"/>
            </a:xfrm>
            <a:custGeom>
              <a:avLst/>
              <a:gdLst/>
              <a:ahLst/>
              <a:cxnLst>
                <a:cxn ang="0">
                  <a:pos x="142" y="159"/>
                </a:cxn>
                <a:cxn ang="0">
                  <a:pos x="142" y="159"/>
                </a:cxn>
                <a:cxn ang="0">
                  <a:pos x="98" y="108"/>
                </a:cxn>
                <a:cxn ang="0">
                  <a:pos x="52" y="159"/>
                </a:cxn>
                <a:cxn ang="0">
                  <a:pos x="52" y="159"/>
                </a:cxn>
                <a:cxn ang="0">
                  <a:pos x="98" y="210"/>
                </a:cxn>
                <a:cxn ang="0">
                  <a:pos x="142" y="159"/>
                </a:cxn>
                <a:cxn ang="0">
                  <a:pos x="0" y="159"/>
                </a:cxn>
                <a:cxn ang="0">
                  <a:pos x="0" y="159"/>
                </a:cxn>
                <a:cxn ang="0">
                  <a:pos x="84" y="63"/>
                </a:cxn>
                <a:cxn ang="0">
                  <a:pos x="142" y="91"/>
                </a:cxn>
                <a:cxn ang="0">
                  <a:pos x="142" y="0"/>
                </a:cxn>
                <a:cxn ang="0">
                  <a:pos x="194" y="0"/>
                </a:cxn>
                <a:cxn ang="0">
                  <a:pos x="194" y="251"/>
                </a:cxn>
                <a:cxn ang="0">
                  <a:pos x="142" y="251"/>
                </a:cxn>
                <a:cxn ang="0">
                  <a:pos x="142" y="225"/>
                </a:cxn>
                <a:cxn ang="0">
                  <a:pos x="84" y="255"/>
                </a:cxn>
                <a:cxn ang="0">
                  <a:pos x="0" y="159"/>
                </a:cxn>
              </a:cxnLst>
              <a:rect l="0" t="0" r="r" b="b"/>
              <a:pathLst>
                <a:path w="194" h="255">
                  <a:moveTo>
                    <a:pt x="142" y="159"/>
                  </a:moveTo>
                  <a:cubicBezTo>
                    <a:pt x="142" y="159"/>
                    <a:pt x="142" y="159"/>
                    <a:pt x="142" y="159"/>
                  </a:cubicBezTo>
                  <a:cubicBezTo>
                    <a:pt x="142" y="128"/>
                    <a:pt x="122" y="108"/>
                    <a:pt x="98" y="108"/>
                  </a:cubicBezTo>
                  <a:cubicBezTo>
                    <a:pt x="73" y="108"/>
                    <a:pt x="52" y="128"/>
                    <a:pt x="52" y="159"/>
                  </a:cubicBezTo>
                  <a:cubicBezTo>
                    <a:pt x="52" y="159"/>
                    <a:pt x="52" y="159"/>
                    <a:pt x="52" y="159"/>
                  </a:cubicBezTo>
                  <a:cubicBezTo>
                    <a:pt x="52" y="190"/>
                    <a:pt x="73" y="210"/>
                    <a:pt x="98" y="210"/>
                  </a:cubicBezTo>
                  <a:cubicBezTo>
                    <a:pt x="122" y="210"/>
                    <a:pt x="142" y="190"/>
                    <a:pt x="142" y="159"/>
                  </a:cubicBezTo>
                  <a:moveTo>
                    <a:pt x="0" y="159"/>
                  </a:moveTo>
                  <a:cubicBezTo>
                    <a:pt x="0" y="159"/>
                    <a:pt x="0" y="159"/>
                    <a:pt x="0" y="159"/>
                  </a:cubicBezTo>
                  <a:cubicBezTo>
                    <a:pt x="0" y="97"/>
                    <a:pt x="40" y="63"/>
                    <a:pt x="84" y="63"/>
                  </a:cubicBezTo>
                  <a:cubicBezTo>
                    <a:pt x="112" y="63"/>
                    <a:pt x="129" y="76"/>
                    <a:pt x="142" y="91"/>
                  </a:cubicBezTo>
                  <a:cubicBezTo>
                    <a:pt x="142" y="0"/>
                    <a:pt x="142" y="0"/>
                    <a:pt x="142" y="0"/>
                  </a:cubicBezTo>
                  <a:cubicBezTo>
                    <a:pt x="194" y="0"/>
                    <a:pt x="194" y="0"/>
                    <a:pt x="194" y="0"/>
                  </a:cubicBezTo>
                  <a:cubicBezTo>
                    <a:pt x="194" y="251"/>
                    <a:pt x="194" y="251"/>
                    <a:pt x="194" y="251"/>
                  </a:cubicBezTo>
                  <a:cubicBezTo>
                    <a:pt x="142" y="251"/>
                    <a:pt x="142" y="251"/>
                    <a:pt x="142" y="251"/>
                  </a:cubicBezTo>
                  <a:cubicBezTo>
                    <a:pt x="142" y="225"/>
                    <a:pt x="142" y="225"/>
                    <a:pt x="142" y="225"/>
                  </a:cubicBezTo>
                  <a:cubicBezTo>
                    <a:pt x="129" y="242"/>
                    <a:pt x="111" y="255"/>
                    <a:pt x="84" y="255"/>
                  </a:cubicBezTo>
                  <a:cubicBezTo>
                    <a:pt x="41" y="255"/>
                    <a:pt x="0" y="221"/>
                    <a:pt x="0" y="159"/>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16" name="Freeform 22"/>
            <p:cNvSpPr>
              <a:spLocks noEditPoints="1"/>
            </p:cNvSpPr>
            <p:nvPr userDrawn="1"/>
          </p:nvSpPr>
          <p:spPr bwMode="auto">
            <a:xfrm>
              <a:off x="8250238" y="365126"/>
              <a:ext cx="42863" cy="57150"/>
            </a:xfrm>
            <a:custGeom>
              <a:avLst/>
              <a:gdLst/>
              <a:ahLst/>
              <a:cxnLst>
                <a:cxn ang="0">
                  <a:pos x="141" y="159"/>
                </a:cxn>
                <a:cxn ang="0">
                  <a:pos x="141" y="158"/>
                </a:cxn>
                <a:cxn ang="0">
                  <a:pos x="96" y="107"/>
                </a:cxn>
                <a:cxn ang="0">
                  <a:pos x="51" y="158"/>
                </a:cxn>
                <a:cxn ang="0">
                  <a:pos x="51" y="159"/>
                </a:cxn>
                <a:cxn ang="0">
                  <a:pos x="96" y="210"/>
                </a:cxn>
                <a:cxn ang="0">
                  <a:pos x="141" y="159"/>
                </a:cxn>
                <a:cxn ang="0">
                  <a:pos x="52" y="227"/>
                </a:cxn>
                <a:cxn ang="0">
                  <a:pos x="52" y="251"/>
                </a:cxn>
                <a:cxn ang="0">
                  <a:pos x="0" y="251"/>
                </a:cxn>
                <a:cxn ang="0">
                  <a:pos x="0" y="0"/>
                </a:cxn>
                <a:cxn ang="0">
                  <a:pos x="52" y="0"/>
                </a:cxn>
                <a:cxn ang="0">
                  <a:pos x="52" y="93"/>
                </a:cxn>
                <a:cxn ang="0">
                  <a:pos x="110" y="63"/>
                </a:cxn>
                <a:cxn ang="0">
                  <a:pos x="194" y="158"/>
                </a:cxn>
                <a:cxn ang="0">
                  <a:pos x="194" y="159"/>
                </a:cxn>
                <a:cxn ang="0">
                  <a:pos x="110" y="255"/>
                </a:cxn>
                <a:cxn ang="0">
                  <a:pos x="52" y="227"/>
                </a:cxn>
              </a:cxnLst>
              <a:rect l="0" t="0" r="r" b="b"/>
              <a:pathLst>
                <a:path w="194" h="255">
                  <a:moveTo>
                    <a:pt x="141" y="159"/>
                  </a:moveTo>
                  <a:cubicBezTo>
                    <a:pt x="141" y="158"/>
                    <a:pt x="141" y="158"/>
                    <a:pt x="141" y="158"/>
                  </a:cubicBezTo>
                  <a:cubicBezTo>
                    <a:pt x="141" y="128"/>
                    <a:pt x="121" y="107"/>
                    <a:pt x="96" y="107"/>
                  </a:cubicBezTo>
                  <a:cubicBezTo>
                    <a:pt x="72" y="107"/>
                    <a:pt x="51" y="128"/>
                    <a:pt x="51" y="158"/>
                  </a:cubicBezTo>
                  <a:cubicBezTo>
                    <a:pt x="51" y="159"/>
                    <a:pt x="51" y="159"/>
                    <a:pt x="51" y="159"/>
                  </a:cubicBezTo>
                  <a:cubicBezTo>
                    <a:pt x="51" y="190"/>
                    <a:pt x="72" y="210"/>
                    <a:pt x="96" y="210"/>
                  </a:cubicBezTo>
                  <a:cubicBezTo>
                    <a:pt x="121" y="210"/>
                    <a:pt x="141" y="190"/>
                    <a:pt x="141" y="159"/>
                  </a:cubicBezTo>
                  <a:moveTo>
                    <a:pt x="52" y="227"/>
                  </a:moveTo>
                  <a:cubicBezTo>
                    <a:pt x="52" y="251"/>
                    <a:pt x="52" y="251"/>
                    <a:pt x="52" y="251"/>
                  </a:cubicBezTo>
                  <a:cubicBezTo>
                    <a:pt x="0" y="251"/>
                    <a:pt x="0" y="251"/>
                    <a:pt x="0" y="251"/>
                  </a:cubicBezTo>
                  <a:cubicBezTo>
                    <a:pt x="0" y="0"/>
                    <a:pt x="0" y="0"/>
                    <a:pt x="0" y="0"/>
                  </a:cubicBezTo>
                  <a:cubicBezTo>
                    <a:pt x="52" y="0"/>
                    <a:pt x="52" y="0"/>
                    <a:pt x="52" y="0"/>
                  </a:cubicBezTo>
                  <a:cubicBezTo>
                    <a:pt x="52" y="93"/>
                    <a:pt x="52" y="93"/>
                    <a:pt x="52" y="93"/>
                  </a:cubicBezTo>
                  <a:cubicBezTo>
                    <a:pt x="65" y="76"/>
                    <a:pt x="82" y="63"/>
                    <a:pt x="110" y="63"/>
                  </a:cubicBezTo>
                  <a:cubicBezTo>
                    <a:pt x="153" y="63"/>
                    <a:pt x="194" y="97"/>
                    <a:pt x="194" y="158"/>
                  </a:cubicBezTo>
                  <a:cubicBezTo>
                    <a:pt x="194" y="159"/>
                    <a:pt x="194" y="159"/>
                    <a:pt x="194" y="159"/>
                  </a:cubicBezTo>
                  <a:cubicBezTo>
                    <a:pt x="194" y="221"/>
                    <a:pt x="153" y="255"/>
                    <a:pt x="110" y="255"/>
                  </a:cubicBezTo>
                  <a:cubicBezTo>
                    <a:pt x="82" y="255"/>
                    <a:pt x="65" y="242"/>
                    <a:pt x="52" y="227"/>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17" name="Freeform 23"/>
            <p:cNvSpPr>
              <a:spLocks/>
            </p:cNvSpPr>
            <p:nvPr userDrawn="1"/>
          </p:nvSpPr>
          <p:spPr bwMode="auto">
            <a:xfrm>
              <a:off x="8296275" y="379413"/>
              <a:ext cx="42863" cy="53975"/>
            </a:xfrm>
            <a:custGeom>
              <a:avLst/>
              <a:gdLst/>
              <a:ahLst/>
              <a:cxnLst>
                <a:cxn ang="0">
                  <a:pos x="14" y="229"/>
                </a:cxn>
                <a:cxn ang="0">
                  <a:pos x="32" y="191"/>
                </a:cxn>
                <a:cxn ang="0">
                  <a:pos x="54" y="198"/>
                </a:cxn>
                <a:cxn ang="0">
                  <a:pos x="73" y="186"/>
                </a:cxn>
                <a:cxn ang="0">
                  <a:pos x="0" y="0"/>
                </a:cxn>
                <a:cxn ang="0">
                  <a:pos x="56" y="0"/>
                </a:cxn>
                <a:cxn ang="0">
                  <a:pos x="98" y="126"/>
                </a:cxn>
                <a:cxn ang="0">
                  <a:pos x="138" y="0"/>
                </a:cxn>
                <a:cxn ang="0">
                  <a:pos x="193" y="0"/>
                </a:cxn>
                <a:cxn ang="0">
                  <a:pos x="122" y="190"/>
                </a:cxn>
                <a:cxn ang="0">
                  <a:pos x="61" y="241"/>
                </a:cxn>
                <a:cxn ang="0">
                  <a:pos x="14" y="229"/>
                </a:cxn>
              </a:cxnLst>
              <a:rect l="0" t="0" r="r" b="b"/>
              <a:pathLst>
                <a:path w="193" h="241">
                  <a:moveTo>
                    <a:pt x="14" y="229"/>
                  </a:moveTo>
                  <a:cubicBezTo>
                    <a:pt x="32" y="191"/>
                    <a:pt x="32" y="191"/>
                    <a:pt x="32" y="191"/>
                  </a:cubicBezTo>
                  <a:cubicBezTo>
                    <a:pt x="39" y="195"/>
                    <a:pt x="47" y="198"/>
                    <a:pt x="54" y="198"/>
                  </a:cubicBezTo>
                  <a:cubicBezTo>
                    <a:pt x="63" y="198"/>
                    <a:pt x="68" y="195"/>
                    <a:pt x="73" y="186"/>
                  </a:cubicBezTo>
                  <a:cubicBezTo>
                    <a:pt x="0" y="0"/>
                    <a:pt x="0" y="0"/>
                    <a:pt x="0" y="0"/>
                  </a:cubicBezTo>
                  <a:cubicBezTo>
                    <a:pt x="56" y="0"/>
                    <a:pt x="56" y="0"/>
                    <a:pt x="56" y="0"/>
                  </a:cubicBezTo>
                  <a:cubicBezTo>
                    <a:pt x="98" y="126"/>
                    <a:pt x="98" y="126"/>
                    <a:pt x="98" y="126"/>
                  </a:cubicBezTo>
                  <a:cubicBezTo>
                    <a:pt x="138" y="0"/>
                    <a:pt x="138" y="0"/>
                    <a:pt x="138" y="0"/>
                  </a:cubicBezTo>
                  <a:cubicBezTo>
                    <a:pt x="193" y="0"/>
                    <a:pt x="193" y="0"/>
                    <a:pt x="193" y="0"/>
                  </a:cubicBezTo>
                  <a:cubicBezTo>
                    <a:pt x="122" y="190"/>
                    <a:pt x="122" y="190"/>
                    <a:pt x="122" y="190"/>
                  </a:cubicBezTo>
                  <a:cubicBezTo>
                    <a:pt x="107" y="227"/>
                    <a:pt x="92" y="241"/>
                    <a:pt x="61" y="241"/>
                  </a:cubicBezTo>
                  <a:cubicBezTo>
                    <a:pt x="42" y="241"/>
                    <a:pt x="28" y="237"/>
                    <a:pt x="14" y="229"/>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grpSp>
      <p:grpSp>
        <p:nvGrpSpPr>
          <p:cNvPr id="19" name="logo scp klein"/>
          <p:cNvGrpSpPr>
            <a:grpSpLocks noChangeAspect="1"/>
          </p:cNvGrpSpPr>
          <p:nvPr userDrawn="1"/>
        </p:nvGrpSpPr>
        <p:grpSpPr bwMode="auto">
          <a:xfrm>
            <a:off x="414820" y="260648"/>
            <a:ext cx="1296144" cy="542677"/>
            <a:chOff x="1615" y="2638"/>
            <a:chExt cx="289" cy="121"/>
          </a:xfrm>
        </p:grpSpPr>
        <p:sp>
          <p:nvSpPr>
            <p:cNvPr id="20" name="Freeform 13"/>
            <p:cNvSpPr>
              <a:spLocks noEditPoints="1"/>
            </p:cNvSpPr>
            <p:nvPr/>
          </p:nvSpPr>
          <p:spPr bwMode="auto">
            <a:xfrm>
              <a:off x="1664" y="2678"/>
              <a:ext cx="42" cy="81"/>
            </a:xfrm>
            <a:custGeom>
              <a:avLst/>
              <a:gdLst/>
              <a:ahLst/>
              <a:cxnLst>
                <a:cxn ang="0">
                  <a:pos x="13" y="0"/>
                </a:cxn>
                <a:cxn ang="0">
                  <a:pos x="0" y="0"/>
                </a:cxn>
                <a:cxn ang="0">
                  <a:pos x="0" y="638"/>
                </a:cxn>
                <a:cxn ang="0">
                  <a:pos x="13" y="638"/>
                </a:cxn>
                <a:cxn ang="0">
                  <a:pos x="332" y="319"/>
                </a:cxn>
                <a:cxn ang="0">
                  <a:pos x="13" y="0"/>
                </a:cxn>
                <a:cxn ang="0">
                  <a:pos x="220" y="526"/>
                </a:cxn>
                <a:cxn ang="0">
                  <a:pos x="27" y="611"/>
                </a:cxn>
                <a:cxn ang="0">
                  <a:pos x="27" y="28"/>
                </a:cxn>
                <a:cxn ang="0">
                  <a:pos x="220" y="113"/>
                </a:cxn>
                <a:cxn ang="0">
                  <a:pos x="305" y="319"/>
                </a:cxn>
                <a:cxn ang="0">
                  <a:pos x="220" y="526"/>
                </a:cxn>
              </a:cxnLst>
              <a:rect l="0" t="0" r="r" b="b"/>
              <a:pathLst>
                <a:path w="332" h="638">
                  <a:moveTo>
                    <a:pt x="13" y="0"/>
                  </a:moveTo>
                  <a:cubicBezTo>
                    <a:pt x="0" y="0"/>
                    <a:pt x="0" y="0"/>
                    <a:pt x="0" y="0"/>
                  </a:cubicBezTo>
                  <a:cubicBezTo>
                    <a:pt x="0" y="638"/>
                    <a:pt x="0" y="638"/>
                    <a:pt x="0" y="638"/>
                  </a:cubicBezTo>
                  <a:cubicBezTo>
                    <a:pt x="13" y="638"/>
                    <a:pt x="13" y="638"/>
                    <a:pt x="13" y="638"/>
                  </a:cubicBezTo>
                  <a:cubicBezTo>
                    <a:pt x="190" y="638"/>
                    <a:pt x="332" y="495"/>
                    <a:pt x="332" y="319"/>
                  </a:cubicBezTo>
                  <a:cubicBezTo>
                    <a:pt x="332" y="143"/>
                    <a:pt x="190" y="0"/>
                    <a:pt x="13" y="0"/>
                  </a:cubicBezTo>
                  <a:close/>
                  <a:moveTo>
                    <a:pt x="220" y="526"/>
                  </a:moveTo>
                  <a:cubicBezTo>
                    <a:pt x="170" y="576"/>
                    <a:pt x="102" y="607"/>
                    <a:pt x="27" y="611"/>
                  </a:cubicBezTo>
                  <a:cubicBezTo>
                    <a:pt x="27" y="28"/>
                    <a:pt x="27" y="28"/>
                    <a:pt x="27" y="28"/>
                  </a:cubicBezTo>
                  <a:cubicBezTo>
                    <a:pt x="102" y="31"/>
                    <a:pt x="170" y="63"/>
                    <a:pt x="220" y="113"/>
                  </a:cubicBezTo>
                  <a:cubicBezTo>
                    <a:pt x="273" y="166"/>
                    <a:pt x="305" y="239"/>
                    <a:pt x="305" y="319"/>
                  </a:cubicBezTo>
                  <a:cubicBezTo>
                    <a:pt x="305" y="400"/>
                    <a:pt x="273" y="473"/>
                    <a:pt x="220" y="526"/>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1" name="Freeform 14"/>
            <p:cNvSpPr>
              <a:spLocks noEditPoints="1"/>
            </p:cNvSpPr>
            <p:nvPr/>
          </p:nvSpPr>
          <p:spPr bwMode="auto">
            <a:xfrm>
              <a:off x="1615" y="2717"/>
              <a:ext cx="42" cy="42"/>
            </a:xfrm>
            <a:custGeom>
              <a:avLst/>
              <a:gdLst/>
              <a:ahLst/>
              <a:cxnLst>
                <a:cxn ang="0">
                  <a:pos x="14" y="0"/>
                </a:cxn>
                <a:cxn ang="0">
                  <a:pos x="0" y="0"/>
                </a:cxn>
                <a:cxn ang="0">
                  <a:pos x="0" y="332"/>
                </a:cxn>
                <a:cxn ang="0">
                  <a:pos x="333" y="332"/>
                </a:cxn>
                <a:cxn ang="0">
                  <a:pos x="333" y="319"/>
                </a:cxn>
                <a:cxn ang="0">
                  <a:pos x="14" y="0"/>
                </a:cxn>
                <a:cxn ang="0">
                  <a:pos x="27" y="27"/>
                </a:cxn>
                <a:cxn ang="0">
                  <a:pos x="220" y="112"/>
                </a:cxn>
                <a:cxn ang="0">
                  <a:pos x="305" y="305"/>
                </a:cxn>
                <a:cxn ang="0">
                  <a:pos x="27" y="305"/>
                </a:cxn>
                <a:cxn ang="0">
                  <a:pos x="27" y="27"/>
                </a:cxn>
              </a:cxnLst>
              <a:rect l="0" t="0" r="r" b="b"/>
              <a:pathLst>
                <a:path w="333" h="332">
                  <a:moveTo>
                    <a:pt x="14" y="0"/>
                  </a:moveTo>
                  <a:cubicBezTo>
                    <a:pt x="0" y="0"/>
                    <a:pt x="0" y="0"/>
                    <a:pt x="0" y="0"/>
                  </a:cubicBezTo>
                  <a:cubicBezTo>
                    <a:pt x="0" y="332"/>
                    <a:pt x="0" y="332"/>
                    <a:pt x="0" y="332"/>
                  </a:cubicBezTo>
                  <a:cubicBezTo>
                    <a:pt x="333" y="332"/>
                    <a:pt x="333" y="332"/>
                    <a:pt x="333" y="332"/>
                  </a:cubicBezTo>
                  <a:cubicBezTo>
                    <a:pt x="333" y="319"/>
                    <a:pt x="333" y="319"/>
                    <a:pt x="333" y="319"/>
                  </a:cubicBezTo>
                  <a:cubicBezTo>
                    <a:pt x="333" y="143"/>
                    <a:pt x="190" y="0"/>
                    <a:pt x="14" y="0"/>
                  </a:cubicBezTo>
                  <a:close/>
                  <a:moveTo>
                    <a:pt x="27" y="27"/>
                  </a:moveTo>
                  <a:cubicBezTo>
                    <a:pt x="102" y="31"/>
                    <a:pt x="170" y="62"/>
                    <a:pt x="220" y="112"/>
                  </a:cubicBezTo>
                  <a:cubicBezTo>
                    <a:pt x="270" y="162"/>
                    <a:pt x="301" y="230"/>
                    <a:pt x="305" y="305"/>
                  </a:cubicBezTo>
                  <a:cubicBezTo>
                    <a:pt x="27" y="305"/>
                    <a:pt x="27" y="305"/>
                    <a:pt x="27" y="305"/>
                  </a:cubicBezTo>
                  <a:lnTo>
                    <a:pt x="27"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2" name="Freeform 15"/>
            <p:cNvSpPr>
              <a:spLocks noEditPoints="1"/>
            </p:cNvSpPr>
            <p:nvPr/>
          </p:nvSpPr>
          <p:spPr bwMode="auto">
            <a:xfrm>
              <a:off x="1615" y="2638"/>
              <a:ext cx="42" cy="82"/>
            </a:xfrm>
            <a:custGeom>
              <a:avLst/>
              <a:gdLst/>
              <a:ahLst/>
              <a:cxnLst>
                <a:cxn ang="0">
                  <a:pos x="0" y="318"/>
                </a:cxn>
                <a:cxn ang="0">
                  <a:pos x="319" y="637"/>
                </a:cxn>
                <a:cxn ang="0">
                  <a:pos x="333" y="637"/>
                </a:cxn>
                <a:cxn ang="0">
                  <a:pos x="333" y="0"/>
                </a:cxn>
                <a:cxn ang="0">
                  <a:pos x="319" y="0"/>
                </a:cxn>
                <a:cxn ang="0">
                  <a:pos x="0" y="318"/>
                </a:cxn>
                <a:cxn ang="0">
                  <a:pos x="27" y="318"/>
                </a:cxn>
                <a:cxn ang="0">
                  <a:pos x="113" y="112"/>
                </a:cxn>
                <a:cxn ang="0">
                  <a:pos x="306" y="27"/>
                </a:cxn>
                <a:cxn ang="0">
                  <a:pos x="306" y="610"/>
                </a:cxn>
                <a:cxn ang="0">
                  <a:pos x="113" y="525"/>
                </a:cxn>
                <a:cxn ang="0">
                  <a:pos x="27" y="318"/>
                </a:cxn>
              </a:cxnLst>
              <a:rect l="0" t="0" r="r" b="b"/>
              <a:pathLst>
                <a:path w="333" h="637">
                  <a:moveTo>
                    <a:pt x="0" y="318"/>
                  </a:moveTo>
                  <a:cubicBezTo>
                    <a:pt x="0" y="495"/>
                    <a:pt x="143" y="637"/>
                    <a:pt x="319" y="637"/>
                  </a:cubicBezTo>
                  <a:cubicBezTo>
                    <a:pt x="333" y="637"/>
                    <a:pt x="333" y="637"/>
                    <a:pt x="333" y="637"/>
                  </a:cubicBezTo>
                  <a:cubicBezTo>
                    <a:pt x="333" y="0"/>
                    <a:pt x="333" y="0"/>
                    <a:pt x="333" y="0"/>
                  </a:cubicBezTo>
                  <a:cubicBezTo>
                    <a:pt x="319" y="0"/>
                    <a:pt x="319" y="0"/>
                    <a:pt x="319" y="0"/>
                  </a:cubicBezTo>
                  <a:cubicBezTo>
                    <a:pt x="143" y="0"/>
                    <a:pt x="0" y="142"/>
                    <a:pt x="0" y="318"/>
                  </a:cubicBezTo>
                  <a:close/>
                  <a:moveTo>
                    <a:pt x="27" y="318"/>
                  </a:moveTo>
                  <a:cubicBezTo>
                    <a:pt x="27" y="238"/>
                    <a:pt x="60" y="165"/>
                    <a:pt x="113" y="112"/>
                  </a:cubicBezTo>
                  <a:cubicBezTo>
                    <a:pt x="162" y="62"/>
                    <a:pt x="230" y="31"/>
                    <a:pt x="306" y="27"/>
                  </a:cubicBezTo>
                  <a:cubicBezTo>
                    <a:pt x="306" y="610"/>
                    <a:pt x="306" y="610"/>
                    <a:pt x="306" y="610"/>
                  </a:cubicBezTo>
                  <a:cubicBezTo>
                    <a:pt x="230" y="606"/>
                    <a:pt x="162" y="575"/>
                    <a:pt x="113" y="525"/>
                  </a:cubicBezTo>
                  <a:cubicBezTo>
                    <a:pt x="60" y="472"/>
                    <a:pt x="27" y="399"/>
                    <a:pt x="27" y="318"/>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3" name="Freeform 16"/>
            <p:cNvSpPr>
              <a:spLocks noEditPoints="1"/>
            </p:cNvSpPr>
            <p:nvPr/>
          </p:nvSpPr>
          <p:spPr bwMode="auto">
            <a:xfrm>
              <a:off x="1763" y="2717"/>
              <a:ext cx="43" cy="42"/>
            </a:xfrm>
            <a:custGeom>
              <a:avLst/>
              <a:gdLst/>
              <a:ahLst/>
              <a:cxnLst>
                <a:cxn ang="0">
                  <a:pos x="0" y="332"/>
                </a:cxn>
                <a:cxn ang="0">
                  <a:pos x="13" y="332"/>
                </a:cxn>
                <a:cxn ang="0">
                  <a:pos x="332" y="13"/>
                </a:cxn>
                <a:cxn ang="0">
                  <a:pos x="332" y="0"/>
                </a:cxn>
                <a:cxn ang="0">
                  <a:pos x="0" y="0"/>
                </a:cxn>
                <a:cxn ang="0">
                  <a:pos x="0" y="332"/>
                </a:cxn>
                <a:cxn ang="0">
                  <a:pos x="304" y="27"/>
                </a:cxn>
                <a:cxn ang="0">
                  <a:pos x="219" y="220"/>
                </a:cxn>
                <a:cxn ang="0">
                  <a:pos x="26" y="305"/>
                </a:cxn>
                <a:cxn ang="0">
                  <a:pos x="26" y="27"/>
                </a:cxn>
                <a:cxn ang="0">
                  <a:pos x="304" y="27"/>
                </a:cxn>
              </a:cxnLst>
              <a:rect l="0" t="0" r="r" b="b"/>
              <a:pathLst>
                <a:path w="332" h="332">
                  <a:moveTo>
                    <a:pt x="0" y="332"/>
                  </a:moveTo>
                  <a:cubicBezTo>
                    <a:pt x="13" y="332"/>
                    <a:pt x="13" y="332"/>
                    <a:pt x="13" y="332"/>
                  </a:cubicBezTo>
                  <a:cubicBezTo>
                    <a:pt x="189" y="332"/>
                    <a:pt x="332" y="189"/>
                    <a:pt x="332" y="13"/>
                  </a:cubicBezTo>
                  <a:cubicBezTo>
                    <a:pt x="332" y="0"/>
                    <a:pt x="332" y="0"/>
                    <a:pt x="332" y="0"/>
                  </a:cubicBezTo>
                  <a:cubicBezTo>
                    <a:pt x="0" y="0"/>
                    <a:pt x="0" y="0"/>
                    <a:pt x="0" y="0"/>
                  </a:cubicBezTo>
                  <a:lnTo>
                    <a:pt x="0" y="332"/>
                  </a:lnTo>
                  <a:close/>
                  <a:moveTo>
                    <a:pt x="304" y="27"/>
                  </a:moveTo>
                  <a:cubicBezTo>
                    <a:pt x="301" y="102"/>
                    <a:pt x="269" y="170"/>
                    <a:pt x="219" y="220"/>
                  </a:cubicBezTo>
                  <a:cubicBezTo>
                    <a:pt x="170" y="270"/>
                    <a:pt x="102" y="301"/>
                    <a:pt x="26" y="305"/>
                  </a:cubicBezTo>
                  <a:cubicBezTo>
                    <a:pt x="26" y="27"/>
                    <a:pt x="26" y="27"/>
                    <a:pt x="26" y="27"/>
                  </a:cubicBezTo>
                  <a:lnTo>
                    <a:pt x="304"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4" name="Freeform 17"/>
            <p:cNvSpPr>
              <a:spLocks noEditPoints="1"/>
            </p:cNvSpPr>
            <p:nvPr/>
          </p:nvSpPr>
          <p:spPr bwMode="auto">
            <a:xfrm>
              <a:off x="1664" y="2638"/>
              <a:ext cx="42" cy="43"/>
            </a:xfrm>
            <a:custGeom>
              <a:avLst/>
              <a:gdLst/>
              <a:ahLst/>
              <a:cxnLst>
                <a:cxn ang="0">
                  <a:pos x="0" y="13"/>
                </a:cxn>
                <a:cxn ang="0">
                  <a:pos x="319" y="332"/>
                </a:cxn>
                <a:cxn ang="0">
                  <a:pos x="332" y="332"/>
                </a:cxn>
                <a:cxn ang="0">
                  <a:pos x="332" y="0"/>
                </a:cxn>
                <a:cxn ang="0">
                  <a:pos x="0" y="0"/>
                </a:cxn>
                <a:cxn ang="0">
                  <a:pos x="0" y="13"/>
                </a:cxn>
                <a:cxn ang="0">
                  <a:pos x="305" y="304"/>
                </a:cxn>
                <a:cxn ang="0">
                  <a:pos x="112" y="220"/>
                </a:cxn>
                <a:cxn ang="0">
                  <a:pos x="28" y="27"/>
                </a:cxn>
                <a:cxn ang="0">
                  <a:pos x="305" y="27"/>
                </a:cxn>
                <a:cxn ang="0">
                  <a:pos x="305" y="304"/>
                </a:cxn>
              </a:cxnLst>
              <a:rect l="0" t="0" r="r" b="b"/>
              <a:pathLst>
                <a:path w="332" h="332">
                  <a:moveTo>
                    <a:pt x="0" y="13"/>
                  </a:moveTo>
                  <a:cubicBezTo>
                    <a:pt x="0" y="189"/>
                    <a:pt x="143" y="332"/>
                    <a:pt x="319" y="332"/>
                  </a:cubicBezTo>
                  <a:cubicBezTo>
                    <a:pt x="332" y="332"/>
                    <a:pt x="332" y="332"/>
                    <a:pt x="332" y="332"/>
                  </a:cubicBezTo>
                  <a:cubicBezTo>
                    <a:pt x="332" y="0"/>
                    <a:pt x="332" y="0"/>
                    <a:pt x="332" y="0"/>
                  </a:cubicBezTo>
                  <a:cubicBezTo>
                    <a:pt x="0" y="0"/>
                    <a:pt x="0" y="0"/>
                    <a:pt x="0" y="0"/>
                  </a:cubicBezTo>
                  <a:lnTo>
                    <a:pt x="0" y="13"/>
                  </a:lnTo>
                  <a:close/>
                  <a:moveTo>
                    <a:pt x="305" y="304"/>
                  </a:moveTo>
                  <a:cubicBezTo>
                    <a:pt x="230" y="301"/>
                    <a:pt x="162" y="269"/>
                    <a:pt x="112" y="220"/>
                  </a:cubicBezTo>
                  <a:cubicBezTo>
                    <a:pt x="63" y="170"/>
                    <a:pt x="31" y="102"/>
                    <a:pt x="28" y="27"/>
                  </a:cubicBezTo>
                  <a:cubicBezTo>
                    <a:pt x="305" y="27"/>
                    <a:pt x="305" y="27"/>
                    <a:pt x="305" y="27"/>
                  </a:cubicBezTo>
                  <a:lnTo>
                    <a:pt x="305" y="30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5" name="Freeform 18"/>
            <p:cNvSpPr>
              <a:spLocks noEditPoints="1"/>
            </p:cNvSpPr>
            <p:nvPr/>
          </p:nvSpPr>
          <p:spPr bwMode="auto">
            <a:xfrm>
              <a:off x="1814" y="2638"/>
              <a:ext cx="41" cy="121"/>
            </a:xfrm>
            <a:custGeom>
              <a:avLst/>
              <a:gdLst/>
              <a:ahLst/>
              <a:cxnLst>
                <a:cxn ang="0">
                  <a:pos x="0" y="120"/>
                </a:cxn>
                <a:cxn ang="0">
                  <a:pos x="0" y="121"/>
                </a:cxn>
                <a:cxn ang="0">
                  <a:pos x="41" y="121"/>
                </a:cxn>
                <a:cxn ang="0">
                  <a:pos x="41" y="0"/>
                </a:cxn>
                <a:cxn ang="0">
                  <a:pos x="0" y="0"/>
                </a:cxn>
                <a:cxn ang="0">
                  <a:pos x="0" y="120"/>
                </a:cxn>
                <a:cxn ang="0">
                  <a:pos x="37" y="4"/>
                </a:cxn>
                <a:cxn ang="0">
                  <a:pos x="37" y="118"/>
                </a:cxn>
                <a:cxn ang="0">
                  <a:pos x="4" y="118"/>
                </a:cxn>
                <a:cxn ang="0">
                  <a:pos x="4" y="4"/>
                </a:cxn>
                <a:cxn ang="0">
                  <a:pos x="37" y="4"/>
                </a:cxn>
              </a:cxnLst>
              <a:rect l="0" t="0" r="r" b="b"/>
              <a:pathLst>
                <a:path w="41" h="121">
                  <a:moveTo>
                    <a:pt x="0" y="120"/>
                  </a:moveTo>
                  <a:lnTo>
                    <a:pt x="0" y="121"/>
                  </a:lnTo>
                  <a:lnTo>
                    <a:pt x="41" y="121"/>
                  </a:lnTo>
                  <a:lnTo>
                    <a:pt x="41" y="0"/>
                  </a:lnTo>
                  <a:lnTo>
                    <a:pt x="0" y="0"/>
                  </a:lnTo>
                  <a:lnTo>
                    <a:pt x="0" y="120"/>
                  </a:lnTo>
                  <a:close/>
                  <a:moveTo>
                    <a:pt x="37" y="4"/>
                  </a:moveTo>
                  <a:lnTo>
                    <a:pt x="37" y="118"/>
                  </a:lnTo>
                  <a:lnTo>
                    <a:pt x="4" y="118"/>
                  </a:lnTo>
                  <a:lnTo>
                    <a:pt x="4" y="4"/>
                  </a:lnTo>
                  <a:lnTo>
                    <a:pt x="37" y="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6" name="Freeform 19"/>
            <p:cNvSpPr>
              <a:spLocks noEditPoints="1"/>
            </p:cNvSpPr>
            <p:nvPr/>
          </p:nvSpPr>
          <p:spPr bwMode="auto">
            <a:xfrm>
              <a:off x="1861" y="2638"/>
              <a:ext cx="43" cy="82"/>
            </a:xfrm>
            <a:custGeom>
              <a:avLst/>
              <a:gdLst/>
              <a:ahLst/>
              <a:cxnLst>
                <a:cxn ang="0">
                  <a:pos x="14" y="0"/>
                </a:cxn>
                <a:cxn ang="0">
                  <a:pos x="0" y="0"/>
                </a:cxn>
                <a:cxn ang="0">
                  <a:pos x="0" y="638"/>
                </a:cxn>
                <a:cxn ang="0">
                  <a:pos x="14" y="638"/>
                </a:cxn>
                <a:cxn ang="0">
                  <a:pos x="333" y="319"/>
                </a:cxn>
                <a:cxn ang="0">
                  <a:pos x="14" y="0"/>
                </a:cxn>
                <a:cxn ang="0">
                  <a:pos x="220" y="525"/>
                </a:cxn>
                <a:cxn ang="0">
                  <a:pos x="27" y="610"/>
                </a:cxn>
                <a:cxn ang="0">
                  <a:pos x="27" y="28"/>
                </a:cxn>
                <a:cxn ang="0">
                  <a:pos x="220" y="112"/>
                </a:cxn>
                <a:cxn ang="0">
                  <a:pos x="306" y="319"/>
                </a:cxn>
                <a:cxn ang="0">
                  <a:pos x="220" y="525"/>
                </a:cxn>
              </a:cxnLst>
              <a:rect l="0" t="0" r="r" b="b"/>
              <a:pathLst>
                <a:path w="333" h="638">
                  <a:moveTo>
                    <a:pt x="14" y="0"/>
                  </a:moveTo>
                  <a:cubicBezTo>
                    <a:pt x="0" y="0"/>
                    <a:pt x="0" y="0"/>
                    <a:pt x="0" y="0"/>
                  </a:cubicBezTo>
                  <a:cubicBezTo>
                    <a:pt x="0" y="638"/>
                    <a:pt x="0" y="638"/>
                    <a:pt x="0" y="638"/>
                  </a:cubicBezTo>
                  <a:cubicBezTo>
                    <a:pt x="14" y="638"/>
                    <a:pt x="14" y="638"/>
                    <a:pt x="14" y="638"/>
                  </a:cubicBezTo>
                  <a:cubicBezTo>
                    <a:pt x="190" y="638"/>
                    <a:pt x="333" y="495"/>
                    <a:pt x="333" y="319"/>
                  </a:cubicBezTo>
                  <a:cubicBezTo>
                    <a:pt x="333" y="143"/>
                    <a:pt x="190" y="0"/>
                    <a:pt x="14" y="0"/>
                  </a:cubicBezTo>
                  <a:close/>
                  <a:moveTo>
                    <a:pt x="220" y="525"/>
                  </a:moveTo>
                  <a:cubicBezTo>
                    <a:pt x="170" y="575"/>
                    <a:pt x="103" y="607"/>
                    <a:pt x="27" y="610"/>
                  </a:cubicBezTo>
                  <a:cubicBezTo>
                    <a:pt x="27" y="28"/>
                    <a:pt x="27" y="28"/>
                    <a:pt x="27" y="28"/>
                  </a:cubicBezTo>
                  <a:cubicBezTo>
                    <a:pt x="103" y="31"/>
                    <a:pt x="170" y="63"/>
                    <a:pt x="220" y="112"/>
                  </a:cubicBezTo>
                  <a:cubicBezTo>
                    <a:pt x="273" y="165"/>
                    <a:pt x="306" y="238"/>
                    <a:pt x="306" y="319"/>
                  </a:cubicBezTo>
                  <a:cubicBezTo>
                    <a:pt x="306" y="400"/>
                    <a:pt x="273" y="473"/>
                    <a:pt x="220" y="525"/>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7" name="Freeform 20"/>
            <p:cNvSpPr>
              <a:spLocks noEditPoints="1"/>
            </p:cNvSpPr>
            <p:nvPr/>
          </p:nvSpPr>
          <p:spPr bwMode="auto">
            <a:xfrm>
              <a:off x="1763" y="2638"/>
              <a:ext cx="43" cy="43"/>
            </a:xfrm>
            <a:custGeom>
              <a:avLst/>
              <a:gdLst/>
              <a:ahLst/>
              <a:cxnLst>
                <a:cxn ang="0">
                  <a:pos x="0" y="332"/>
                </a:cxn>
                <a:cxn ang="0">
                  <a:pos x="13" y="332"/>
                </a:cxn>
                <a:cxn ang="0">
                  <a:pos x="332" y="13"/>
                </a:cxn>
                <a:cxn ang="0">
                  <a:pos x="332" y="0"/>
                </a:cxn>
                <a:cxn ang="0">
                  <a:pos x="0" y="0"/>
                </a:cxn>
                <a:cxn ang="0">
                  <a:pos x="0" y="332"/>
                </a:cxn>
                <a:cxn ang="0">
                  <a:pos x="305" y="27"/>
                </a:cxn>
                <a:cxn ang="0">
                  <a:pos x="220" y="220"/>
                </a:cxn>
                <a:cxn ang="0">
                  <a:pos x="27" y="305"/>
                </a:cxn>
                <a:cxn ang="0">
                  <a:pos x="27" y="27"/>
                </a:cxn>
                <a:cxn ang="0">
                  <a:pos x="305" y="27"/>
                </a:cxn>
              </a:cxnLst>
              <a:rect l="0" t="0" r="r" b="b"/>
              <a:pathLst>
                <a:path w="332" h="332">
                  <a:moveTo>
                    <a:pt x="0" y="332"/>
                  </a:moveTo>
                  <a:cubicBezTo>
                    <a:pt x="13" y="332"/>
                    <a:pt x="13" y="332"/>
                    <a:pt x="13" y="332"/>
                  </a:cubicBezTo>
                  <a:cubicBezTo>
                    <a:pt x="190" y="332"/>
                    <a:pt x="332" y="189"/>
                    <a:pt x="332" y="13"/>
                  </a:cubicBezTo>
                  <a:cubicBezTo>
                    <a:pt x="332" y="0"/>
                    <a:pt x="332" y="0"/>
                    <a:pt x="332" y="0"/>
                  </a:cubicBezTo>
                  <a:cubicBezTo>
                    <a:pt x="0" y="0"/>
                    <a:pt x="0" y="0"/>
                    <a:pt x="0" y="0"/>
                  </a:cubicBezTo>
                  <a:lnTo>
                    <a:pt x="0" y="332"/>
                  </a:lnTo>
                  <a:close/>
                  <a:moveTo>
                    <a:pt x="305" y="27"/>
                  </a:moveTo>
                  <a:cubicBezTo>
                    <a:pt x="301" y="102"/>
                    <a:pt x="270" y="170"/>
                    <a:pt x="220" y="220"/>
                  </a:cubicBezTo>
                  <a:cubicBezTo>
                    <a:pt x="170" y="270"/>
                    <a:pt x="102" y="301"/>
                    <a:pt x="27" y="305"/>
                  </a:cubicBezTo>
                  <a:cubicBezTo>
                    <a:pt x="27" y="27"/>
                    <a:pt x="27" y="27"/>
                    <a:pt x="27" y="27"/>
                  </a:cubicBezTo>
                  <a:lnTo>
                    <a:pt x="305"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sp>
          <p:nvSpPr>
            <p:cNvPr id="28" name="Freeform 21"/>
            <p:cNvSpPr>
              <a:spLocks noEditPoints="1"/>
            </p:cNvSpPr>
            <p:nvPr/>
          </p:nvSpPr>
          <p:spPr bwMode="auto">
            <a:xfrm>
              <a:off x="1714" y="2638"/>
              <a:ext cx="43" cy="121"/>
            </a:xfrm>
            <a:custGeom>
              <a:avLst/>
              <a:gdLst/>
              <a:ahLst/>
              <a:cxnLst>
                <a:cxn ang="0">
                  <a:pos x="0" y="319"/>
                </a:cxn>
                <a:cxn ang="0">
                  <a:pos x="0" y="624"/>
                </a:cxn>
                <a:cxn ang="0">
                  <a:pos x="319" y="943"/>
                </a:cxn>
                <a:cxn ang="0">
                  <a:pos x="332" y="943"/>
                </a:cxn>
                <a:cxn ang="0">
                  <a:pos x="332" y="624"/>
                </a:cxn>
                <a:cxn ang="0">
                  <a:pos x="332" y="319"/>
                </a:cxn>
                <a:cxn ang="0">
                  <a:pos x="332" y="0"/>
                </a:cxn>
                <a:cxn ang="0">
                  <a:pos x="319" y="0"/>
                </a:cxn>
                <a:cxn ang="0">
                  <a:pos x="0" y="319"/>
                </a:cxn>
                <a:cxn ang="0">
                  <a:pos x="27" y="624"/>
                </a:cxn>
                <a:cxn ang="0">
                  <a:pos x="27" y="319"/>
                </a:cxn>
                <a:cxn ang="0">
                  <a:pos x="112" y="112"/>
                </a:cxn>
                <a:cxn ang="0">
                  <a:pos x="305" y="27"/>
                </a:cxn>
                <a:cxn ang="0">
                  <a:pos x="305" y="319"/>
                </a:cxn>
                <a:cxn ang="0">
                  <a:pos x="305" y="624"/>
                </a:cxn>
                <a:cxn ang="0">
                  <a:pos x="305" y="916"/>
                </a:cxn>
                <a:cxn ang="0">
                  <a:pos x="112" y="831"/>
                </a:cxn>
                <a:cxn ang="0">
                  <a:pos x="27" y="624"/>
                </a:cxn>
              </a:cxnLst>
              <a:rect l="0" t="0" r="r" b="b"/>
              <a:pathLst>
                <a:path w="332" h="943">
                  <a:moveTo>
                    <a:pt x="0" y="319"/>
                  </a:moveTo>
                  <a:cubicBezTo>
                    <a:pt x="0" y="624"/>
                    <a:pt x="0" y="624"/>
                    <a:pt x="0" y="624"/>
                  </a:cubicBezTo>
                  <a:cubicBezTo>
                    <a:pt x="0" y="800"/>
                    <a:pt x="142" y="943"/>
                    <a:pt x="319" y="943"/>
                  </a:cubicBezTo>
                  <a:cubicBezTo>
                    <a:pt x="332" y="943"/>
                    <a:pt x="332" y="943"/>
                    <a:pt x="332" y="943"/>
                  </a:cubicBezTo>
                  <a:cubicBezTo>
                    <a:pt x="332" y="624"/>
                    <a:pt x="332" y="624"/>
                    <a:pt x="332" y="624"/>
                  </a:cubicBezTo>
                  <a:cubicBezTo>
                    <a:pt x="332" y="319"/>
                    <a:pt x="332" y="319"/>
                    <a:pt x="332" y="319"/>
                  </a:cubicBezTo>
                  <a:cubicBezTo>
                    <a:pt x="332" y="0"/>
                    <a:pt x="332" y="0"/>
                    <a:pt x="332" y="0"/>
                  </a:cubicBezTo>
                  <a:cubicBezTo>
                    <a:pt x="319" y="0"/>
                    <a:pt x="319" y="0"/>
                    <a:pt x="319" y="0"/>
                  </a:cubicBezTo>
                  <a:cubicBezTo>
                    <a:pt x="142" y="0"/>
                    <a:pt x="0" y="143"/>
                    <a:pt x="0" y="319"/>
                  </a:cubicBezTo>
                  <a:close/>
                  <a:moveTo>
                    <a:pt x="27" y="624"/>
                  </a:moveTo>
                  <a:cubicBezTo>
                    <a:pt x="27" y="319"/>
                    <a:pt x="27" y="319"/>
                    <a:pt x="27" y="319"/>
                  </a:cubicBezTo>
                  <a:cubicBezTo>
                    <a:pt x="27" y="238"/>
                    <a:pt x="59" y="165"/>
                    <a:pt x="112" y="112"/>
                  </a:cubicBezTo>
                  <a:cubicBezTo>
                    <a:pt x="162" y="62"/>
                    <a:pt x="230" y="31"/>
                    <a:pt x="305" y="27"/>
                  </a:cubicBezTo>
                  <a:cubicBezTo>
                    <a:pt x="305" y="319"/>
                    <a:pt x="305" y="319"/>
                    <a:pt x="305" y="319"/>
                  </a:cubicBezTo>
                  <a:cubicBezTo>
                    <a:pt x="305" y="624"/>
                    <a:pt x="305" y="624"/>
                    <a:pt x="305" y="624"/>
                  </a:cubicBezTo>
                  <a:cubicBezTo>
                    <a:pt x="305" y="916"/>
                    <a:pt x="305" y="916"/>
                    <a:pt x="305" y="916"/>
                  </a:cubicBezTo>
                  <a:cubicBezTo>
                    <a:pt x="230" y="912"/>
                    <a:pt x="162" y="881"/>
                    <a:pt x="112" y="831"/>
                  </a:cubicBezTo>
                  <a:cubicBezTo>
                    <a:pt x="59" y="778"/>
                    <a:pt x="27" y="705"/>
                    <a:pt x="27" y="62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en-US" noProof="1"/>
            </a:p>
          </p:txBody>
        </p:sp>
      </p:grpSp>
      <p:sp>
        <p:nvSpPr>
          <p:cNvPr id="31" name="Rectangle 5"/>
          <p:cNvSpPr>
            <a:spLocks noChangeArrowheads="1"/>
          </p:cNvSpPr>
          <p:nvPr userDrawn="1"/>
        </p:nvSpPr>
        <p:spPr bwMode="auto">
          <a:xfrm>
            <a:off x="393700" y="6210301"/>
            <a:ext cx="8358188" cy="9525"/>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2" name="Rectangle 7"/>
          <p:cNvSpPr>
            <a:spLocks noChangeArrowheads="1"/>
          </p:cNvSpPr>
          <p:nvPr userDrawn="1"/>
        </p:nvSpPr>
        <p:spPr bwMode="auto">
          <a:xfrm>
            <a:off x="393700" y="2246313"/>
            <a:ext cx="8358188" cy="7938"/>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4" name="Rectangle 7"/>
          <p:cNvSpPr>
            <a:spLocks noChangeArrowheads="1"/>
          </p:cNvSpPr>
          <p:nvPr userDrawn="1"/>
        </p:nvSpPr>
        <p:spPr bwMode="auto">
          <a:xfrm>
            <a:off x="393700" y="4218258"/>
            <a:ext cx="8358188" cy="7938"/>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noProof="1"/>
          </a:p>
        </p:txBody>
      </p:sp>
      <p:sp>
        <p:nvSpPr>
          <p:cNvPr id="35" name="Tijdelijke aanduiding voor tekst 3"/>
          <p:cNvSpPr>
            <a:spLocks noGrp="1"/>
          </p:cNvSpPr>
          <p:nvPr>
            <p:ph type="body" sz="quarter" idx="11" hasCustomPrompt="1"/>
          </p:nvPr>
        </p:nvSpPr>
        <p:spPr>
          <a:xfrm>
            <a:off x="394440" y="2270464"/>
            <a:ext cx="1080000" cy="180000"/>
          </a:xfrm>
        </p:spPr>
        <p:txBody>
          <a:bodyPr/>
          <a:lstStyle>
            <a:lvl1pPr marL="0" indent="0">
              <a:lnSpc>
                <a:spcPct val="125000"/>
              </a:lnSpc>
              <a:buNone/>
              <a:defRPr sz="1000"/>
            </a:lvl1pPr>
            <a:lvl2pPr marL="0" indent="0">
              <a:lnSpc>
                <a:spcPct val="125000"/>
              </a:lnSpc>
              <a:buFont typeface="Arial" pitchFamily="34" charset="0"/>
              <a:buNone/>
              <a:defRPr sz="1000" baseline="0"/>
            </a:lvl2pPr>
          </a:lstStyle>
          <a:p>
            <a:pPr lvl="1"/>
            <a:r>
              <a:rPr lang="en-US" noProof="1" smtClean="0"/>
              <a:t>Public Partners</a:t>
            </a:r>
            <a:endParaRPr lang="en-US" noProof="1"/>
          </a:p>
        </p:txBody>
      </p:sp>
      <p:sp>
        <p:nvSpPr>
          <p:cNvPr id="36" name="Tijdelijke aanduiding voor tekst 3"/>
          <p:cNvSpPr>
            <a:spLocks noGrp="1"/>
          </p:cNvSpPr>
          <p:nvPr>
            <p:ph type="body" sz="quarter" idx="12" hasCustomPrompt="1"/>
          </p:nvPr>
        </p:nvSpPr>
        <p:spPr>
          <a:xfrm>
            <a:off x="394440" y="4242409"/>
            <a:ext cx="2340000" cy="180000"/>
          </a:xfrm>
        </p:spPr>
        <p:txBody>
          <a:bodyPr/>
          <a:lstStyle>
            <a:lvl1pPr marL="0" indent="0">
              <a:lnSpc>
                <a:spcPct val="125000"/>
              </a:lnSpc>
              <a:buNone/>
              <a:defRPr sz="1000"/>
            </a:lvl1pPr>
            <a:lvl2pPr marL="0" indent="0">
              <a:lnSpc>
                <a:spcPct val="125000"/>
              </a:lnSpc>
              <a:buFont typeface="Arial" pitchFamily="34" charset="0"/>
              <a:buNone/>
              <a:defRPr sz="1000" baseline="0"/>
            </a:lvl2pPr>
          </a:lstStyle>
          <a:p>
            <a:pPr lvl="1"/>
            <a:r>
              <a:rPr lang="en-US" noProof="1" smtClean="0"/>
              <a:t>Steering Committee Members</a:t>
            </a:r>
            <a:endParaRPr lang="en-US" noProof="1"/>
          </a:p>
        </p:txBody>
      </p:sp>
      <p:sp>
        <p:nvSpPr>
          <p:cNvPr id="38" name="Afgeronde rechthoek 37"/>
          <p:cNvSpPr/>
          <p:nvPr userDrawn="1"/>
        </p:nvSpPr>
        <p:spPr>
          <a:xfrm>
            <a:off x="-1731443" y="98556"/>
            <a:ext cx="1609522" cy="3311394"/>
          </a:xfrm>
          <a:prstGeom prst="roundRect">
            <a:avLst>
              <a:gd name="adj" fmla="val 970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r>
              <a:rPr lang="en-US" sz="900" baseline="0" noProof="0" dirty="0" smtClean="0">
                <a:solidFill>
                  <a:schemeClr val="accent2"/>
                </a:solidFill>
              </a:rPr>
              <a:t>This is an example of what a closing slide should look like. It showcases our public and private partners and has been agreed with our funders that it will always be present to give them visibility.</a:t>
            </a:r>
          </a:p>
          <a:p>
            <a:pPr algn="l"/>
            <a:endParaRPr lang="en-US" sz="900" baseline="0" noProof="0" dirty="0" smtClean="0">
              <a:solidFill>
                <a:schemeClr val="accent2"/>
              </a:solidFill>
            </a:endParaRPr>
          </a:p>
          <a:p>
            <a:pPr algn="l"/>
            <a:r>
              <a:rPr lang="en-US" sz="900" baseline="0" noProof="0" dirty="0" smtClean="0">
                <a:solidFill>
                  <a:schemeClr val="accent2"/>
                </a:solidFill>
              </a:rPr>
              <a:t>If you accidently changed the lay-out of the slide, then open a new presentation and copy the title slide to your presentation.</a:t>
            </a:r>
          </a:p>
          <a:p>
            <a:pPr algn="l"/>
            <a:endParaRPr lang="en-US" sz="900" baseline="0" noProof="0" dirty="0" smtClean="0">
              <a:solidFill>
                <a:schemeClr val="accent2"/>
              </a:solidFill>
            </a:endParaRPr>
          </a:p>
          <a:p>
            <a:pPr algn="l"/>
            <a:r>
              <a:rPr lang="en-US" sz="900" baseline="0" noProof="0" dirty="0" smtClean="0">
                <a:solidFill>
                  <a:schemeClr val="accent2"/>
                </a:solidFill>
              </a:rPr>
              <a:t>This instruction will not be shown during presentation or printing, and therefore no need to delete this instruction.</a:t>
            </a:r>
          </a:p>
          <a:p>
            <a:pPr algn="l"/>
            <a:endParaRPr lang="en-US" sz="900" baseline="0" noProof="0" dirty="0" smtClean="0">
              <a:solidFill>
                <a:schemeClr val="accent2"/>
              </a:solidFill>
            </a:endParaRPr>
          </a:p>
          <a:p>
            <a:pPr algn="l"/>
            <a:endParaRPr lang="en-US" sz="900" baseline="0" noProof="0" dirty="0" smtClean="0">
              <a:solidFill>
                <a:schemeClr val="accent2"/>
              </a:solidFill>
            </a:endParaRPr>
          </a:p>
          <a:p>
            <a:pPr algn="l"/>
            <a:endParaRPr lang="en-US" sz="900" baseline="0" noProof="0" dirty="0" smtClean="0">
              <a:solidFill>
                <a:schemeClr val="accent2"/>
              </a:solidFill>
            </a:endParaRPr>
          </a:p>
          <a:p>
            <a:pPr algn="l"/>
            <a:endParaRPr lang="en-US" sz="900" baseline="0" noProof="0" dirty="0" smtClean="0">
              <a:solidFill>
                <a:schemeClr val="accent2"/>
              </a:solidFill>
            </a:endParaRPr>
          </a:p>
          <a:p>
            <a:pPr algn="l"/>
            <a:endParaRPr lang="en-US" sz="900" noProof="0" dirty="0">
              <a:solidFill>
                <a:schemeClr val="accent2"/>
              </a:solidFill>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Use example slide (Contents)">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93700" y="2143125"/>
            <a:ext cx="8358188" cy="4076700"/>
            <a:chOff x="248" y="1350"/>
            <a:chExt cx="5265" cy="2568"/>
          </a:xfrm>
        </p:grpSpPr>
        <p:sp>
          <p:nvSpPr>
            <p:cNvPr id="6" name="Rectangle 5"/>
            <p:cNvSpPr>
              <a:spLocks noChangeArrowheads="1"/>
            </p:cNvSpPr>
            <p:nvPr/>
          </p:nvSpPr>
          <p:spPr bwMode="auto">
            <a:xfrm>
              <a:off x="248" y="3912"/>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8" name="Freeform 6"/>
            <p:cNvSpPr>
              <a:spLocks/>
            </p:cNvSpPr>
            <p:nvPr/>
          </p:nvSpPr>
          <p:spPr bwMode="auto">
            <a:xfrm>
              <a:off x="248" y="3912"/>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9" name="Rectangle 8"/>
            <p:cNvSpPr>
              <a:spLocks noChangeArrowheads="1"/>
            </p:cNvSpPr>
            <p:nvPr/>
          </p:nvSpPr>
          <p:spPr bwMode="auto">
            <a:xfrm>
              <a:off x="248" y="1350"/>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10" name="Freeform 9"/>
            <p:cNvSpPr>
              <a:spLocks/>
            </p:cNvSpPr>
            <p:nvPr/>
          </p:nvSpPr>
          <p:spPr bwMode="auto">
            <a:xfrm>
              <a:off x="248" y="1350"/>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grpSp>
        <p:nvGrpSpPr>
          <p:cNvPr id="5" name="logo scp klein"/>
          <p:cNvGrpSpPr>
            <a:grpSpLocks noChangeAspect="1"/>
          </p:cNvGrpSpPr>
          <p:nvPr userDrawn="1"/>
        </p:nvGrpSpPr>
        <p:grpSpPr bwMode="auto">
          <a:xfrm>
            <a:off x="8236800" y="6426000"/>
            <a:ext cx="515900" cy="216000"/>
            <a:chOff x="1615" y="2638"/>
            <a:chExt cx="289" cy="121"/>
          </a:xfrm>
        </p:grpSpPr>
        <p:sp>
          <p:nvSpPr>
            <p:cNvPr id="12" name="Freeform 13"/>
            <p:cNvSpPr>
              <a:spLocks noEditPoints="1"/>
            </p:cNvSpPr>
            <p:nvPr/>
          </p:nvSpPr>
          <p:spPr bwMode="auto">
            <a:xfrm>
              <a:off x="1664" y="2678"/>
              <a:ext cx="42" cy="81"/>
            </a:xfrm>
            <a:custGeom>
              <a:avLst/>
              <a:gdLst/>
              <a:ahLst/>
              <a:cxnLst>
                <a:cxn ang="0">
                  <a:pos x="13" y="0"/>
                </a:cxn>
                <a:cxn ang="0">
                  <a:pos x="0" y="0"/>
                </a:cxn>
                <a:cxn ang="0">
                  <a:pos x="0" y="638"/>
                </a:cxn>
                <a:cxn ang="0">
                  <a:pos x="13" y="638"/>
                </a:cxn>
                <a:cxn ang="0">
                  <a:pos x="332" y="319"/>
                </a:cxn>
                <a:cxn ang="0">
                  <a:pos x="13" y="0"/>
                </a:cxn>
                <a:cxn ang="0">
                  <a:pos x="220" y="526"/>
                </a:cxn>
                <a:cxn ang="0">
                  <a:pos x="27" y="611"/>
                </a:cxn>
                <a:cxn ang="0">
                  <a:pos x="27" y="28"/>
                </a:cxn>
                <a:cxn ang="0">
                  <a:pos x="220" y="113"/>
                </a:cxn>
                <a:cxn ang="0">
                  <a:pos x="305" y="319"/>
                </a:cxn>
                <a:cxn ang="0">
                  <a:pos x="220" y="526"/>
                </a:cxn>
              </a:cxnLst>
              <a:rect l="0" t="0" r="r" b="b"/>
              <a:pathLst>
                <a:path w="332" h="638">
                  <a:moveTo>
                    <a:pt x="13" y="0"/>
                  </a:moveTo>
                  <a:cubicBezTo>
                    <a:pt x="0" y="0"/>
                    <a:pt x="0" y="0"/>
                    <a:pt x="0" y="0"/>
                  </a:cubicBezTo>
                  <a:cubicBezTo>
                    <a:pt x="0" y="638"/>
                    <a:pt x="0" y="638"/>
                    <a:pt x="0" y="638"/>
                  </a:cubicBezTo>
                  <a:cubicBezTo>
                    <a:pt x="13" y="638"/>
                    <a:pt x="13" y="638"/>
                    <a:pt x="13" y="638"/>
                  </a:cubicBezTo>
                  <a:cubicBezTo>
                    <a:pt x="190" y="638"/>
                    <a:pt x="332" y="495"/>
                    <a:pt x="332" y="319"/>
                  </a:cubicBezTo>
                  <a:cubicBezTo>
                    <a:pt x="332" y="143"/>
                    <a:pt x="190" y="0"/>
                    <a:pt x="13" y="0"/>
                  </a:cubicBezTo>
                  <a:close/>
                  <a:moveTo>
                    <a:pt x="220" y="526"/>
                  </a:moveTo>
                  <a:cubicBezTo>
                    <a:pt x="170" y="576"/>
                    <a:pt x="102" y="607"/>
                    <a:pt x="27" y="611"/>
                  </a:cubicBezTo>
                  <a:cubicBezTo>
                    <a:pt x="27" y="28"/>
                    <a:pt x="27" y="28"/>
                    <a:pt x="27" y="28"/>
                  </a:cubicBezTo>
                  <a:cubicBezTo>
                    <a:pt x="102" y="31"/>
                    <a:pt x="170" y="63"/>
                    <a:pt x="220" y="113"/>
                  </a:cubicBezTo>
                  <a:cubicBezTo>
                    <a:pt x="273" y="166"/>
                    <a:pt x="305" y="239"/>
                    <a:pt x="305" y="319"/>
                  </a:cubicBezTo>
                  <a:cubicBezTo>
                    <a:pt x="305" y="400"/>
                    <a:pt x="273" y="473"/>
                    <a:pt x="220" y="526"/>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3" name="Freeform 14"/>
            <p:cNvSpPr>
              <a:spLocks noEditPoints="1"/>
            </p:cNvSpPr>
            <p:nvPr/>
          </p:nvSpPr>
          <p:spPr bwMode="auto">
            <a:xfrm>
              <a:off x="1615" y="2717"/>
              <a:ext cx="42" cy="42"/>
            </a:xfrm>
            <a:custGeom>
              <a:avLst/>
              <a:gdLst/>
              <a:ahLst/>
              <a:cxnLst>
                <a:cxn ang="0">
                  <a:pos x="14" y="0"/>
                </a:cxn>
                <a:cxn ang="0">
                  <a:pos x="0" y="0"/>
                </a:cxn>
                <a:cxn ang="0">
                  <a:pos x="0" y="332"/>
                </a:cxn>
                <a:cxn ang="0">
                  <a:pos x="333" y="332"/>
                </a:cxn>
                <a:cxn ang="0">
                  <a:pos x="333" y="319"/>
                </a:cxn>
                <a:cxn ang="0">
                  <a:pos x="14" y="0"/>
                </a:cxn>
                <a:cxn ang="0">
                  <a:pos x="27" y="27"/>
                </a:cxn>
                <a:cxn ang="0">
                  <a:pos x="220" y="112"/>
                </a:cxn>
                <a:cxn ang="0">
                  <a:pos x="305" y="305"/>
                </a:cxn>
                <a:cxn ang="0">
                  <a:pos x="27" y="305"/>
                </a:cxn>
                <a:cxn ang="0">
                  <a:pos x="27" y="27"/>
                </a:cxn>
              </a:cxnLst>
              <a:rect l="0" t="0" r="r" b="b"/>
              <a:pathLst>
                <a:path w="333" h="332">
                  <a:moveTo>
                    <a:pt x="14" y="0"/>
                  </a:moveTo>
                  <a:cubicBezTo>
                    <a:pt x="0" y="0"/>
                    <a:pt x="0" y="0"/>
                    <a:pt x="0" y="0"/>
                  </a:cubicBezTo>
                  <a:cubicBezTo>
                    <a:pt x="0" y="332"/>
                    <a:pt x="0" y="332"/>
                    <a:pt x="0" y="332"/>
                  </a:cubicBezTo>
                  <a:cubicBezTo>
                    <a:pt x="333" y="332"/>
                    <a:pt x="333" y="332"/>
                    <a:pt x="333" y="332"/>
                  </a:cubicBezTo>
                  <a:cubicBezTo>
                    <a:pt x="333" y="319"/>
                    <a:pt x="333" y="319"/>
                    <a:pt x="333" y="319"/>
                  </a:cubicBezTo>
                  <a:cubicBezTo>
                    <a:pt x="333" y="143"/>
                    <a:pt x="190" y="0"/>
                    <a:pt x="14" y="0"/>
                  </a:cubicBezTo>
                  <a:close/>
                  <a:moveTo>
                    <a:pt x="27" y="27"/>
                  </a:moveTo>
                  <a:cubicBezTo>
                    <a:pt x="102" y="31"/>
                    <a:pt x="170" y="62"/>
                    <a:pt x="220" y="112"/>
                  </a:cubicBezTo>
                  <a:cubicBezTo>
                    <a:pt x="270" y="162"/>
                    <a:pt x="301" y="230"/>
                    <a:pt x="305" y="305"/>
                  </a:cubicBezTo>
                  <a:cubicBezTo>
                    <a:pt x="27" y="305"/>
                    <a:pt x="27" y="305"/>
                    <a:pt x="27" y="305"/>
                  </a:cubicBezTo>
                  <a:lnTo>
                    <a:pt x="27"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4" name="Freeform 15"/>
            <p:cNvSpPr>
              <a:spLocks noEditPoints="1"/>
            </p:cNvSpPr>
            <p:nvPr/>
          </p:nvSpPr>
          <p:spPr bwMode="auto">
            <a:xfrm>
              <a:off x="1615" y="2638"/>
              <a:ext cx="42" cy="82"/>
            </a:xfrm>
            <a:custGeom>
              <a:avLst/>
              <a:gdLst/>
              <a:ahLst/>
              <a:cxnLst>
                <a:cxn ang="0">
                  <a:pos x="0" y="318"/>
                </a:cxn>
                <a:cxn ang="0">
                  <a:pos x="319" y="637"/>
                </a:cxn>
                <a:cxn ang="0">
                  <a:pos x="333" y="637"/>
                </a:cxn>
                <a:cxn ang="0">
                  <a:pos x="333" y="0"/>
                </a:cxn>
                <a:cxn ang="0">
                  <a:pos x="319" y="0"/>
                </a:cxn>
                <a:cxn ang="0">
                  <a:pos x="0" y="318"/>
                </a:cxn>
                <a:cxn ang="0">
                  <a:pos x="27" y="318"/>
                </a:cxn>
                <a:cxn ang="0">
                  <a:pos x="113" y="112"/>
                </a:cxn>
                <a:cxn ang="0">
                  <a:pos x="306" y="27"/>
                </a:cxn>
                <a:cxn ang="0">
                  <a:pos x="306" y="610"/>
                </a:cxn>
                <a:cxn ang="0">
                  <a:pos x="113" y="525"/>
                </a:cxn>
                <a:cxn ang="0">
                  <a:pos x="27" y="318"/>
                </a:cxn>
              </a:cxnLst>
              <a:rect l="0" t="0" r="r" b="b"/>
              <a:pathLst>
                <a:path w="333" h="637">
                  <a:moveTo>
                    <a:pt x="0" y="318"/>
                  </a:moveTo>
                  <a:cubicBezTo>
                    <a:pt x="0" y="495"/>
                    <a:pt x="143" y="637"/>
                    <a:pt x="319" y="637"/>
                  </a:cubicBezTo>
                  <a:cubicBezTo>
                    <a:pt x="333" y="637"/>
                    <a:pt x="333" y="637"/>
                    <a:pt x="333" y="637"/>
                  </a:cubicBezTo>
                  <a:cubicBezTo>
                    <a:pt x="333" y="0"/>
                    <a:pt x="333" y="0"/>
                    <a:pt x="333" y="0"/>
                  </a:cubicBezTo>
                  <a:cubicBezTo>
                    <a:pt x="319" y="0"/>
                    <a:pt x="319" y="0"/>
                    <a:pt x="319" y="0"/>
                  </a:cubicBezTo>
                  <a:cubicBezTo>
                    <a:pt x="143" y="0"/>
                    <a:pt x="0" y="142"/>
                    <a:pt x="0" y="318"/>
                  </a:cubicBezTo>
                  <a:close/>
                  <a:moveTo>
                    <a:pt x="27" y="318"/>
                  </a:moveTo>
                  <a:cubicBezTo>
                    <a:pt x="27" y="238"/>
                    <a:pt x="60" y="165"/>
                    <a:pt x="113" y="112"/>
                  </a:cubicBezTo>
                  <a:cubicBezTo>
                    <a:pt x="162" y="62"/>
                    <a:pt x="230" y="31"/>
                    <a:pt x="306" y="27"/>
                  </a:cubicBezTo>
                  <a:cubicBezTo>
                    <a:pt x="306" y="610"/>
                    <a:pt x="306" y="610"/>
                    <a:pt x="306" y="610"/>
                  </a:cubicBezTo>
                  <a:cubicBezTo>
                    <a:pt x="230" y="606"/>
                    <a:pt x="162" y="575"/>
                    <a:pt x="113" y="525"/>
                  </a:cubicBezTo>
                  <a:cubicBezTo>
                    <a:pt x="60" y="472"/>
                    <a:pt x="27" y="399"/>
                    <a:pt x="27" y="318"/>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5" name="Freeform 16"/>
            <p:cNvSpPr>
              <a:spLocks noEditPoints="1"/>
            </p:cNvSpPr>
            <p:nvPr/>
          </p:nvSpPr>
          <p:spPr bwMode="auto">
            <a:xfrm>
              <a:off x="1763" y="2717"/>
              <a:ext cx="43" cy="42"/>
            </a:xfrm>
            <a:custGeom>
              <a:avLst/>
              <a:gdLst/>
              <a:ahLst/>
              <a:cxnLst>
                <a:cxn ang="0">
                  <a:pos x="0" y="332"/>
                </a:cxn>
                <a:cxn ang="0">
                  <a:pos x="13" y="332"/>
                </a:cxn>
                <a:cxn ang="0">
                  <a:pos x="332" y="13"/>
                </a:cxn>
                <a:cxn ang="0">
                  <a:pos x="332" y="0"/>
                </a:cxn>
                <a:cxn ang="0">
                  <a:pos x="0" y="0"/>
                </a:cxn>
                <a:cxn ang="0">
                  <a:pos x="0" y="332"/>
                </a:cxn>
                <a:cxn ang="0">
                  <a:pos x="304" y="27"/>
                </a:cxn>
                <a:cxn ang="0">
                  <a:pos x="219" y="220"/>
                </a:cxn>
                <a:cxn ang="0">
                  <a:pos x="26" y="305"/>
                </a:cxn>
                <a:cxn ang="0">
                  <a:pos x="26" y="27"/>
                </a:cxn>
                <a:cxn ang="0">
                  <a:pos x="304" y="27"/>
                </a:cxn>
              </a:cxnLst>
              <a:rect l="0" t="0" r="r" b="b"/>
              <a:pathLst>
                <a:path w="332" h="332">
                  <a:moveTo>
                    <a:pt x="0" y="332"/>
                  </a:moveTo>
                  <a:cubicBezTo>
                    <a:pt x="13" y="332"/>
                    <a:pt x="13" y="332"/>
                    <a:pt x="13" y="332"/>
                  </a:cubicBezTo>
                  <a:cubicBezTo>
                    <a:pt x="189" y="332"/>
                    <a:pt x="332" y="189"/>
                    <a:pt x="332" y="13"/>
                  </a:cubicBezTo>
                  <a:cubicBezTo>
                    <a:pt x="332" y="0"/>
                    <a:pt x="332" y="0"/>
                    <a:pt x="332" y="0"/>
                  </a:cubicBezTo>
                  <a:cubicBezTo>
                    <a:pt x="0" y="0"/>
                    <a:pt x="0" y="0"/>
                    <a:pt x="0" y="0"/>
                  </a:cubicBezTo>
                  <a:lnTo>
                    <a:pt x="0" y="332"/>
                  </a:lnTo>
                  <a:close/>
                  <a:moveTo>
                    <a:pt x="304" y="27"/>
                  </a:moveTo>
                  <a:cubicBezTo>
                    <a:pt x="301" y="102"/>
                    <a:pt x="269" y="170"/>
                    <a:pt x="219" y="220"/>
                  </a:cubicBezTo>
                  <a:cubicBezTo>
                    <a:pt x="170" y="270"/>
                    <a:pt x="102" y="301"/>
                    <a:pt x="26" y="305"/>
                  </a:cubicBezTo>
                  <a:cubicBezTo>
                    <a:pt x="26" y="27"/>
                    <a:pt x="26" y="27"/>
                    <a:pt x="26" y="27"/>
                  </a:cubicBezTo>
                  <a:lnTo>
                    <a:pt x="304"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6" name="Freeform 17"/>
            <p:cNvSpPr>
              <a:spLocks noEditPoints="1"/>
            </p:cNvSpPr>
            <p:nvPr/>
          </p:nvSpPr>
          <p:spPr bwMode="auto">
            <a:xfrm>
              <a:off x="1664" y="2638"/>
              <a:ext cx="42" cy="43"/>
            </a:xfrm>
            <a:custGeom>
              <a:avLst/>
              <a:gdLst/>
              <a:ahLst/>
              <a:cxnLst>
                <a:cxn ang="0">
                  <a:pos x="0" y="13"/>
                </a:cxn>
                <a:cxn ang="0">
                  <a:pos x="319" y="332"/>
                </a:cxn>
                <a:cxn ang="0">
                  <a:pos x="332" y="332"/>
                </a:cxn>
                <a:cxn ang="0">
                  <a:pos x="332" y="0"/>
                </a:cxn>
                <a:cxn ang="0">
                  <a:pos x="0" y="0"/>
                </a:cxn>
                <a:cxn ang="0">
                  <a:pos x="0" y="13"/>
                </a:cxn>
                <a:cxn ang="0">
                  <a:pos x="305" y="304"/>
                </a:cxn>
                <a:cxn ang="0">
                  <a:pos x="112" y="220"/>
                </a:cxn>
                <a:cxn ang="0">
                  <a:pos x="28" y="27"/>
                </a:cxn>
                <a:cxn ang="0">
                  <a:pos x="305" y="27"/>
                </a:cxn>
                <a:cxn ang="0">
                  <a:pos x="305" y="304"/>
                </a:cxn>
              </a:cxnLst>
              <a:rect l="0" t="0" r="r" b="b"/>
              <a:pathLst>
                <a:path w="332" h="332">
                  <a:moveTo>
                    <a:pt x="0" y="13"/>
                  </a:moveTo>
                  <a:cubicBezTo>
                    <a:pt x="0" y="189"/>
                    <a:pt x="143" y="332"/>
                    <a:pt x="319" y="332"/>
                  </a:cubicBezTo>
                  <a:cubicBezTo>
                    <a:pt x="332" y="332"/>
                    <a:pt x="332" y="332"/>
                    <a:pt x="332" y="332"/>
                  </a:cubicBezTo>
                  <a:cubicBezTo>
                    <a:pt x="332" y="0"/>
                    <a:pt x="332" y="0"/>
                    <a:pt x="332" y="0"/>
                  </a:cubicBezTo>
                  <a:cubicBezTo>
                    <a:pt x="0" y="0"/>
                    <a:pt x="0" y="0"/>
                    <a:pt x="0" y="0"/>
                  </a:cubicBezTo>
                  <a:lnTo>
                    <a:pt x="0" y="13"/>
                  </a:lnTo>
                  <a:close/>
                  <a:moveTo>
                    <a:pt x="305" y="304"/>
                  </a:moveTo>
                  <a:cubicBezTo>
                    <a:pt x="230" y="301"/>
                    <a:pt x="162" y="269"/>
                    <a:pt x="112" y="220"/>
                  </a:cubicBezTo>
                  <a:cubicBezTo>
                    <a:pt x="63" y="170"/>
                    <a:pt x="31" y="102"/>
                    <a:pt x="28" y="27"/>
                  </a:cubicBezTo>
                  <a:cubicBezTo>
                    <a:pt x="305" y="27"/>
                    <a:pt x="305" y="27"/>
                    <a:pt x="305" y="27"/>
                  </a:cubicBezTo>
                  <a:lnTo>
                    <a:pt x="305" y="30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7" name="Freeform 18"/>
            <p:cNvSpPr>
              <a:spLocks noEditPoints="1"/>
            </p:cNvSpPr>
            <p:nvPr/>
          </p:nvSpPr>
          <p:spPr bwMode="auto">
            <a:xfrm>
              <a:off x="1814" y="2638"/>
              <a:ext cx="41" cy="121"/>
            </a:xfrm>
            <a:custGeom>
              <a:avLst/>
              <a:gdLst/>
              <a:ahLst/>
              <a:cxnLst>
                <a:cxn ang="0">
                  <a:pos x="0" y="120"/>
                </a:cxn>
                <a:cxn ang="0">
                  <a:pos x="0" y="121"/>
                </a:cxn>
                <a:cxn ang="0">
                  <a:pos x="41" y="121"/>
                </a:cxn>
                <a:cxn ang="0">
                  <a:pos x="41" y="0"/>
                </a:cxn>
                <a:cxn ang="0">
                  <a:pos x="0" y="0"/>
                </a:cxn>
                <a:cxn ang="0">
                  <a:pos x="0" y="120"/>
                </a:cxn>
                <a:cxn ang="0">
                  <a:pos x="37" y="4"/>
                </a:cxn>
                <a:cxn ang="0">
                  <a:pos x="37" y="118"/>
                </a:cxn>
                <a:cxn ang="0">
                  <a:pos x="4" y="118"/>
                </a:cxn>
                <a:cxn ang="0">
                  <a:pos x="4" y="4"/>
                </a:cxn>
                <a:cxn ang="0">
                  <a:pos x="37" y="4"/>
                </a:cxn>
              </a:cxnLst>
              <a:rect l="0" t="0" r="r" b="b"/>
              <a:pathLst>
                <a:path w="41" h="121">
                  <a:moveTo>
                    <a:pt x="0" y="120"/>
                  </a:moveTo>
                  <a:lnTo>
                    <a:pt x="0" y="121"/>
                  </a:lnTo>
                  <a:lnTo>
                    <a:pt x="41" y="121"/>
                  </a:lnTo>
                  <a:lnTo>
                    <a:pt x="41" y="0"/>
                  </a:lnTo>
                  <a:lnTo>
                    <a:pt x="0" y="0"/>
                  </a:lnTo>
                  <a:lnTo>
                    <a:pt x="0" y="120"/>
                  </a:lnTo>
                  <a:close/>
                  <a:moveTo>
                    <a:pt x="37" y="4"/>
                  </a:moveTo>
                  <a:lnTo>
                    <a:pt x="37" y="118"/>
                  </a:lnTo>
                  <a:lnTo>
                    <a:pt x="4" y="118"/>
                  </a:lnTo>
                  <a:lnTo>
                    <a:pt x="4" y="4"/>
                  </a:lnTo>
                  <a:lnTo>
                    <a:pt x="37" y="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8" name="Freeform 19"/>
            <p:cNvSpPr>
              <a:spLocks noEditPoints="1"/>
            </p:cNvSpPr>
            <p:nvPr/>
          </p:nvSpPr>
          <p:spPr bwMode="auto">
            <a:xfrm>
              <a:off x="1861" y="2638"/>
              <a:ext cx="43" cy="82"/>
            </a:xfrm>
            <a:custGeom>
              <a:avLst/>
              <a:gdLst/>
              <a:ahLst/>
              <a:cxnLst>
                <a:cxn ang="0">
                  <a:pos x="14" y="0"/>
                </a:cxn>
                <a:cxn ang="0">
                  <a:pos x="0" y="0"/>
                </a:cxn>
                <a:cxn ang="0">
                  <a:pos x="0" y="638"/>
                </a:cxn>
                <a:cxn ang="0">
                  <a:pos x="14" y="638"/>
                </a:cxn>
                <a:cxn ang="0">
                  <a:pos x="333" y="319"/>
                </a:cxn>
                <a:cxn ang="0">
                  <a:pos x="14" y="0"/>
                </a:cxn>
                <a:cxn ang="0">
                  <a:pos x="220" y="525"/>
                </a:cxn>
                <a:cxn ang="0">
                  <a:pos x="27" y="610"/>
                </a:cxn>
                <a:cxn ang="0">
                  <a:pos x="27" y="28"/>
                </a:cxn>
                <a:cxn ang="0">
                  <a:pos x="220" y="112"/>
                </a:cxn>
                <a:cxn ang="0">
                  <a:pos x="306" y="319"/>
                </a:cxn>
                <a:cxn ang="0">
                  <a:pos x="220" y="525"/>
                </a:cxn>
              </a:cxnLst>
              <a:rect l="0" t="0" r="r" b="b"/>
              <a:pathLst>
                <a:path w="333" h="638">
                  <a:moveTo>
                    <a:pt x="14" y="0"/>
                  </a:moveTo>
                  <a:cubicBezTo>
                    <a:pt x="0" y="0"/>
                    <a:pt x="0" y="0"/>
                    <a:pt x="0" y="0"/>
                  </a:cubicBezTo>
                  <a:cubicBezTo>
                    <a:pt x="0" y="638"/>
                    <a:pt x="0" y="638"/>
                    <a:pt x="0" y="638"/>
                  </a:cubicBezTo>
                  <a:cubicBezTo>
                    <a:pt x="14" y="638"/>
                    <a:pt x="14" y="638"/>
                    <a:pt x="14" y="638"/>
                  </a:cubicBezTo>
                  <a:cubicBezTo>
                    <a:pt x="190" y="638"/>
                    <a:pt x="333" y="495"/>
                    <a:pt x="333" y="319"/>
                  </a:cubicBezTo>
                  <a:cubicBezTo>
                    <a:pt x="333" y="143"/>
                    <a:pt x="190" y="0"/>
                    <a:pt x="14" y="0"/>
                  </a:cubicBezTo>
                  <a:close/>
                  <a:moveTo>
                    <a:pt x="220" y="525"/>
                  </a:moveTo>
                  <a:cubicBezTo>
                    <a:pt x="170" y="575"/>
                    <a:pt x="103" y="607"/>
                    <a:pt x="27" y="610"/>
                  </a:cubicBezTo>
                  <a:cubicBezTo>
                    <a:pt x="27" y="28"/>
                    <a:pt x="27" y="28"/>
                    <a:pt x="27" y="28"/>
                  </a:cubicBezTo>
                  <a:cubicBezTo>
                    <a:pt x="103" y="31"/>
                    <a:pt x="170" y="63"/>
                    <a:pt x="220" y="112"/>
                  </a:cubicBezTo>
                  <a:cubicBezTo>
                    <a:pt x="273" y="165"/>
                    <a:pt x="306" y="238"/>
                    <a:pt x="306" y="319"/>
                  </a:cubicBezTo>
                  <a:cubicBezTo>
                    <a:pt x="306" y="400"/>
                    <a:pt x="273" y="473"/>
                    <a:pt x="220" y="525"/>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9" name="Freeform 20"/>
            <p:cNvSpPr>
              <a:spLocks noEditPoints="1"/>
            </p:cNvSpPr>
            <p:nvPr/>
          </p:nvSpPr>
          <p:spPr bwMode="auto">
            <a:xfrm>
              <a:off x="1763" y="2638"/>
              <a:ext cx="43" cy="43"/>
            </a:xfrm>
            <a:custGeom>
              <a:avLst/>
              <a:gdLst/>
              <a:ahLst/>
              <a:cxnLst>
                <a:cxn ang="0">
                  <a:pos x="0" y="332"/>
                </a:cxn>
                <a:cxn ang="0">
                  <a:pos x="13" y="332"/>
                </a:cxn>
                <a:cxn ang="0">
                  <a:pos x="332" y="13"/>
                </a:cxn>
                <a:cxn ang="0">
                  <a:pos x="332" y="0"/>
                </a:cxn>
                <a:cxn ang="0">
                  <a:pos x="0" y="0"/>
                </a:cxn>
                <a:cxn ang="0">
                  <a:pos x="0" y="332"/>
                </a:cxn>
                <a:cxn ang="0">
                  <a:pos x="305" y="27"/>
                </a:cxn>
                <a:cxn ang="0">
                  <a:pos x="220" y="220"/>
                </a:cxn>
                <a:cxn ang="0">
                  <a:pos x="27" y="305"/>
                </a:cxn>
                <a:cxn ang="0">
                  <a:pos x="27" y="27"/>
                </a:cxn>
                <a:cxn ang="0">
                  <a:pos x="305" y="27"/>
                </a:cxn>
              </a:cxnLst>
              <a:rect l="0" t="0" r="r" b="b"/>
              <a:pathLst>
                <a:path w="332" h="332">
                  <a:moveTo>
                    <a:pt x="0" y="332"/>
                  </a:moveTo>
                  <a:cubicBezTo>
                    <a:pt x="13" y="332"/>
                    <a:pt x="13" y="332"/>
                    <a:pt x="13" y="332"/>
                  </a:cubicBezTo>
                  <a:cubicBezTo>
                    <a:pt x="190" y="332"/>
                    <a:pt x="332" y="189"/>
                    <a:pt x="332" y="13"/>
                  </a:cubicBezTo>
                  <a:cubicBezTo>
                    <a:pt x="332" y="0"/>
                    <a:pt x="332" y="0"/>
                    <a:pt x="332" y="0"/>
                  </a:cubicBezTo>
                  <a:cubicBezTo>
                    <a:pt x="0" y="0"/>
                    <a:pt x="0" y="0"/>
                    <a:pt x="0" y="0"/>
                  </a:cubicBezTo>
                  <a:lnTo>
                    <a:pt x="0" y="332"/>
                  </a:lnTo>
                  <a:close/>
                  <a:moveTo>
                    <a:pt x="305" y="27"/>
                  </a:moveTo>
                  <a:cubicBezTo>
                    <a:pt x="301" y="102"/>
                    <a:pt x="270" y="170"/>
                    <a:pt x="220" y="220"/>
                  </a:cubicBezTo>
                  <a:cubicBezTo>
                    <a:pt x="170" y="270"/>
                    <a:pt x="102" y="301"/>
                    <a:pt x="27" y="305"/>
                  </a:cubicBezTo>
                  <a:cubicBezTo>
                    <a:pt x="27" y="27"/>
                    <a:pt x="27" y="27"/>
                    <a:pt x="27" y="27"/>
                  </a:cubicBezTo>
                  <a:lnTo>
                    <a:pt x="305"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20" name="Freeform 21"/>
            <p:cNvSpPr>
              <a:spLocks noEditPoints="1"/>
            </p:cNvSpPr>
            <p:nvPr/>
          </p:nvSpPr>
          <p:spPr bwMode="auto">
            <a:xfrm>
              <a:off x="1714" y="2638"/>
              <a:ext cx="43" cy="121"/>
            </a:xfrm>
            <a:custGeom>
              <a:avLst/>
              <a:gdLst/>
              <a:ahLst/>
              <a:cxnLst>
                <a:cxn ang="0">
                  <a:pos x="0" y="319"/>
                </a:cxn>
                <a:cxn ang="0">
                  <a:pos x="0" y="624"/>
                </a:cxn>
                <a:cxn ang="0">
                  <a:pos x="319" y="943"/>
                </a:cxn>
                <a:cxn ang="0">
                  <a:pos x="332" y="943"/>
                </a:cxn>
                <a:cxn ang="0">
                  <a:pos x="332" y="624"/>
                </a:cxn>
                <a:cxn ang="0">
                  <a:pos x="332" y="319"/>
                </a:cxn>
                <a:cxn ang="0">
                  <a:pos x="332" y="0"/>
                </a:cxn>
                <a:cxn ang="0">
                  <a:pos x="319" y="0"/>
                </a:cxn>
                <a:cxn ang="0">
                  <a:pos x="0" y="319"/>
                </a:cxn>
                <a:cxn ang="0">
                  <a:pos x="27" y="624"/>
                </a:cxn>
                <a:cxn ang="0">
                  <a:pos x="27" y="319"/>
                </a:cxn>
                <a:cxn ang="0">
                  <a:pos x="112" y="112"/>
                </a:cxn>
                <a:cxn ang="0">
                  <a:pos x="305" y="27"/>
                </a:cxn>
                <a:cxn ang="0">
                  <a:pos x="305" y="319"/>
                </a:cxn>
                <a:cxn ang="0">
                  <a:pos x="305" y="624"/>
                </a:cxn>
                <a:cxn ang="0">
                  <a:pos x="305" y="916"/>
                </a:cxn>
                <a:cxn ang="0">
                  <a:pos x="112" y="831"/>
                </a:cxn>
                <a:cxn ang="0">
                  <a:pos x="27" y="624"/>
                </a:cxn>
              </a:cxnLst>
              <a:rect l="0" t="0" r="r" b="b"/>
              <a:pathLst>
                <a:path w="332" h="943">
                  <a:moveTo>
                    <a:pt x="0" y="319"/>
                  </a:moveTo>
                  <a:cubicBezTo>
                    <a:pt x="0" y="624"/>
                    <a:pt x="0" y="624"/>
                    <a:pt x="0" y="624"/>
                  </a:cubicBezTo>
                  <a:cubicBezTo>
                    <a:pt x="0" y="800"/>
                    <a:pt x="142" y="943"/>
                    <a:pt x="319" y="943"/>
                  </a:cubicBezTo>
                  <a:cubicBezTo>
                    <a:pt x="332" y="943"/>
                    <a:pt x="332" y="943"/>
                    <a:pt x="332" y="943"/>
                  </a:cubicBezTo>
                  <a:cubicBezTo>
                    <a:pt x="332" y="624"/>
                    <a:pt x="332" y="624"/>
                    <a:pt x="332" y="624"/>
                  </a:cubicBezTo>
                  <a:cubicBezTo>
                    <a:pt x="332" y="319"/>
                    <a:pt x="332" y="319"/>
                    <a:pt x="332" y="319"/>
                  </a:cubicBezTo>
                  <a:cubicBezTo>
                    <a:pt x="332" y="0"/>
                    <a:pt x="332" y="0"/>
                    <a:pt x="332" y="0"/>
                  </a:cubicBezTo>
                  <a:cubicBezTo>
                    <a:pt x="319" y="0"/>
                    <a:pt x="319" y="0"/>
                    <a:pt x="319" y="0"/>
                  </a:cubicBezTo>
                  <a:cubicBezTo>
                    <a:pt x="142" y="0"/>
                    <a:pt x="0" y="143"/>
                    <a:pt x="0" y="319"/>
                  </a:cubicBezTo>
                  <a:close/>
                  <a:moveTo>
                    <a:pt x="27" y="624"/>
                  </a:moveTo>
                  <a:cubicBezTo>
                    <a:pt x="27" y="319"/>
                    <a:pt x="27" y="319"/>
                    <a:pt x="27" y="319"/>
                  </a:cubicBezTo>
                  <a:cubicBezTo>
                    <a:pt x="27" y="238"/>
                    <a:pt x="59" y="165"/>
                    <a:pt x="112" y="112"/>
                  </a:cubicBezTo>
                  <a:cubicBezTo>
                    <a:pt x="162" y="62"/>
                    <a:pt x="230" y="31"/>
                    <a:pt x="305" y="27"/>
                  </a:cubicBezTo>
                  <a:cubicBezTo>
                    <a:pt x="305" y="319"/>
                    <a:pt x="305" y="319"/>
                    <a:pt x="305" y="319"/>
                  </a:cubicBezTo>
                  <a:cubicBezTo>
                    <a:pt x="305" y="624"/>
                    <a:pt x="305" y="624"/>
                    <a:pt x="305" y="624"/>
                  </a:cubicBezTo>
                  <a:cubicBezTo>
                    <a:pt x="305" y="916"/>
                    <a:pt x="305" y="916"/>
                    <a:pt x="305" y="916"/>
                  </a:cubicBezTo>
                  <a:cubicBezTo>
                    <a:pt x="230" y="912"/>
                    <a:pt x="162" y="881"/>
                    <a:pt x="112" y="831"/>
                  </a:cubicBezTo>
                  <a:cubicBezTo>
                    <a:pt x="59" y="778"/>
                    <a:pt x="27" y="705"/>
                    <a:pt x="27" y="62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sp>
        <p:nvSpPr>
          <p:cNvPr id="2" name="Titel 1"/>
          <p:cNvSpPr>
            <a:spLocks noGrp="1"/>
          </p:cNvSpPr>
          <p:nvPr>
            <p:ph type="title" hasCustomPrompt="1"/>
          </p:nvPr>
        </p:nvSpPr>
        <p:spPr/>
        <p:txBody>
          <a:bodyPr/>
          <a:lstStyle>
            <a:lvl1pPr>
              <a:defRPr sz="2800"/>
            </a:lvl1pPr>
          </a:lstStyle>
          <a:p>
            <a:r>
              <a:rPr lang="en-US" noProof="1" smtClean="0"/>
              <a:t>Title</a:t>
            </a:r>
            <a:endParaRPr lang="en-US" noProof="1"/>
          </a:p>
        </p:txBody>
      </p:sp>
      <p:sp>
        <p:nvSpPr>
          <p:cNvPr id="3" name="Tijdelijke aanduiding voor inhoud 2"/>
          <p:cNvSpPr>
            <a:spLocks noGrp="1"/>
          </p:cNvSpPr>
          <p:nvPr>
            <p:ph idx="1"/>
          </p:nvPr>
        </p:nvSpPr>
        <p:spPr>
          <a:xfrm>
            <a:off x="400869" y="2318627"/>
            <a:ext cx="8316000" cy="3996000"/>
          </a:xfrm>
        </p:spPr>
        <p:txBody>
          <a:bodyPr/>
          <a:lstStyle>
            <a:lvl1pPr>
              <a:lnSpc>
                <a:spcPct val="100000"/>
              </a:lnSpc>
              <a:spcBef>
                <a:spcPts val="0"/>
              </a:spcBef>
              <a:buFontTx/>
              <a:buNone/>
              <a:defRPr sz="2800">
                <a:solidFill>
                  <a:schemeClr val="accent1"/>
                </a:solidFill>
              </a:defRPr>
            </a:lvl1pPr>
            <a:lvl2pPr marL="540000" indent="-540000">
              <a:lnSpc>
                <a:spcPct val="100000"/>
              </a:lnSpc>
              <a:buFontTx/>
              <a:buNone/>
              <a:defRPr sz="2800">
                <a:solidFill>
                  <a:schemeClr val="tx1">
                    <a:lumMod val="50000"/>
                    <a:lumOff val="50000"/>
                  </a:schemeClr>
                </a:solidFill>
              </a:defRPr>
            </a:lvl2pPr>
            <a:lvl3pPr marL="0" indent="0">
              <a:lnSpc>
                <a:spcPct val="100000"/>
              </a:lnSpc>
              <a:buFontTx/>
              <a:buNone/>
              <a:defRPr sz="2800" b="1">
                <a:solidFill>
                  <a:schemeClr val="accent1"/>
                </a:solidFill>
              </a:defRPr>
            </a:lvl3pPr>
            <a:lvl4pPr>
              <a:lnSpc>
                <a:spcPct val="100000"/>
              </a:lnSpc>
              <a:defRPr sz="2800" b="0">
                <a:solidFill>
                  <a:schemeClr val="tx1">
                    <a:lumMod val="50000"/>
                    <a:lumOff val="50000"/>
                  </a:schemeClr>
                </a:solidFill>
              </a:defRPr>
            </a:lvl4pPr>
            <a:lvl5pPr marL="540000">
              <a:lnSpc>
                <a:spcPct val="100000"/>
              </a:lnSpc>
              <a:defRPr sz="2800">
                <a:solidFill>
                  <a:schemeClr val="tx1">
                    <a:lumMod val="50000"/>
                    <a:lumOff val="50000"/>
                  </a:schemeClr>
                </a:solidFill>
              </a:defRPr>
            </a:lvl5p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endParaRPr lang="en-US" noProof="1"/>
          </a:p>
        </p:txBody>
      </p:sp>
      <p:sp>
        <p:nvSpPr>
          <p:cNvPr id="7" name="Tijdelijke aanduiding voor dianummer 6"/>
          <p:cNvSpPr>
            <a:spLocks noGrp="1"/>
          </p:cNvSpPr>
          <p:nvPr>
            <p:ph type="sldNum" sz="quarter" idx="10"/>
          </p:nvPr>
        </p:nvSpPr>
        <p:spPr/>
        <p:txBody>
          <a:bodyPr/>
          <a:lstStyle>
            <a:lvl1pPr>
              <a:defRPr>
                <a:solidFill>
                  <a:schemeClr val="tx1"/>
                </a:solidFill>
              </a:defRPr>
            </a:lvl1pPr>
          </a:lstStyle>
          <a:p>
            <a:fld id="{1336C48C-F87C-4E4B-81EF-5027B17D1F61}" type="slidenum">
              <a:rPr lang="en-US" noProof="1" smtClean="0"/>
              <a:pPr/>
              <a:t>‹#›</a:t>
            </a:fld>
            <a:endParaRPr lang="en-US" noProof="1"/>
          </a:p>
        </p:txBody>
      </p:sp>
      <p:sp>
        <p:nvSpPr>
          <p:cNvPr id="22" name="Afgeronde rechthoek 21"/>
          <p:cNvSpPr/>
          <p:nvPr userDrawn="1"/>
        </p:nvSpPr>
        <p:spPr>
          <a:xfrm>
            <a:off x="-1731443" y="98556"/>
            <a:ext cx="1609522" cy="3311394"/>
          </a:xfrm>
          <a:prstGeom prst="roundRect">
            <a:avLst>
              <a:gd name="adj" fmla="val 970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r>
              <a:rPr lang="en-US" sz="900" baseline="0" noProof="0" dirty="0" smtClean="0">
                <a:solidFill>
                  <a:schemeClr val="accent2"/>
                </a:solidFill>
              </a:rPr>
              <a:t>This is an example slide for the contents. You can change, add or copy this slide.</a:t>
            </a:r>
          </a:p>
          <a:p>
            <a:pPr algn="l"/>
            <a:endParaRPr lang="en-US" sz="900" baseline="0" noProof="0" dirty="0" smtClean="0">
              <a:solidFill>
                <a:schemeClr val="accent2"/>
              </a:solidFill>
            </a:endParaRPr>
          </a:p>
          <a:p>
            <a:pPr algn="l"/>
            <a:r>
              <a:rPr lang="en-US" sz="900" baseline="0" noProof="0" dirty="0" smtClean="0">
                <a:solidFill>
                  <a:schemeClr val="accent2"/>
                </a:solidFill>
              </a:rPr>
              <a:t>Use for red level, level 1 and for gray, level 2</a:t>
            </a:r>
          </a:p>
          <a:p>
            <a:pPr algn="l"/>
            <a:endParaRPr lang="en-US" sz="900" baseline="0" noProof="0" dirty="0" smtClean="0">
              <a:solidFill>
                <a:schemeClr val="accent2"/>
              </a:solidFill>
            </a:endParaRPr>
          </a:p>
          <a:p>
            <a:pPr algn="l"/>
            <a:r>
              <a:rPr lang="en-US" sz="900" baseline="0" noProof="0" dirty="0" smtClean="0">
                <a:solidFill>
                  <a:schemeClr val="accent2"/>
                </a:solidFill>
              </a:rPr>
              <a:t>If you accidently changed the lay-out of the slide, then open a new presentation and copy the title slide to your presentation.</a:t>
            </a:r>
          </a:p>
          <a:p>
            <a:pPr algn="l"/>
            <a:endParaRPr lang="en-US" sz="900" baseline="0" noProof="0" dirty="0" smtClean="0">
              <a:solidFill>
                <a:schemeClr val="accent2"/>
              </a:solidFill>
            </a:endParaRPr>
          </a:p>
          <a:p>
            <a:pPr algn="l"/>
            <a:r>
              <a:rPr lang="en-US" sz="900" baseline="0" noProof="0" dirty="0" smtClean="0">
                <a:solidFill>
                  <a:schemeClr val="accent2"/>
                </a:solidFill>
              </a:rPr>
              <a:t>This instruction will not be shown during presentation or printing, and therefore no need to delete this instruction.</a:t>
            </a:r>
          </a:p>
          <a:p>
            <a:pPr algn="l"/>
            <a:endParaRPr lang="en-US" sz="900" baseline="0" noProof="0" dirty="0" smtClean="0">
              <a:solidFill>
                <a:schemeClr val="accent2"/>
              </a:solidFill>
            </a:endParaRPr>
          </a:p>
          <a:p>
            <a:pPr algn="l"/>
            <a:endParaRPr lang="en-US" sz="900" baseline="0" noProof="0" dirty="0" smtClean="0">
              <a:solidFill>
                <a:schemeClr val="accent2"/>
              </a:solidFill>
            </a:endParaRPr>
          </a:p>
          <a:p>
            <a:pPr algn="l"/>
            <a:endParaRPr lang="en-US" sz="900" baseline="0" noProof="0" dirty="0" smtClean="0">
              <a:solidFill>
                <a:schemeClr val="accent2"/>
              </a:solidFill>
            </a:endParaRPr>
          </a:p>
          <a:p>
            <a:pPr algn="l"/>
            <a:endParaRPr lang="en-US" sz="900" baseline="0" noProof="0" dirty="0" smtClean="0">
              <a:solidFill>
                <a:schemeClr val="accent2"/>
              </a:solidFill>
            </a:endParaRPr>
          </a:p>
          <a:p>
            <a:pPr algn="l"/>
            <a:endParaRPr lang="en-US" sz="900" noProof="0" dirty="0">
              <a:solidFill>
                <a:schemeClr val="accent2"/>
              </a:solidFill>
            </a:endParaRP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0869" y="312738"/>
            <a:ext cx="8229600" cy="951286"/>
          </a:xfrm>
        </p:spPr>
        <p:txBody>
          <a:bodyPr/>
          <a:lstStyle>
            <a:lvl1pPr>
              <a:defRPr sz="2400" b="1"/>
            </a:lvl1pPr>
          </a:lstStyle>
          <a:p>
            <a:r>
              <a:rPr lang="en-US" dirty="0" smtClean="0"/>
              <a:t>Click to edit Master title style</a:t>
            </a:r>
            <a:endParaRPr lang="en-US" dirty="0"/>
          </a:p>
        </p:txBody>
      </p:sp>
      <p:sp>
        <p:nvSpPr>
          <p:cNvPr id="3" name="Content Placeholder 2"/>
          <p:cNvSpPr>
            <a:spLocks noGrp="1"/>
          </p:cNvSpPr>
          <p:nvPr>
            <p:ph idx="1"/>
          </p:nvPr>
        </p:nvSpPr>
        <p:spPr>
          <a:xfrm>
            <a:off x="121491" y="1299038"/>
            <a:ext cx="8794113" cy="1077218"/>
          </a:xfrm>
        </p:spPr>
        <p:txBody>
          <a:bodyPr/>
          <a:lstStyle>
            <a:lvl1pPr>
              <a:buNone/>
              <a:defRPr sz="1400"/>
            </a:lvl1pPr>
            <a:lvl2pPr>
              <a:defRPr sz="1400"/>
            </a:lvl2pPr>
            <a:lvl3pPr>
              <a:defRPr sz="14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oc id"/>
          <p:cNvSpPr>
            <a:spLocks noGrp="1" noChangeArrowheads="1"/>
          </p:cNvSpPr>
          <p:nvPr>
            <p:ph type="ftr" sz="quarter" idx="10"/>
          </p:nvPr>
        </p:nvSpPr>
        <p:spPr>
          <a:xfrm>
            <a:off x="8915539" y="37257"/>
            <a:ext cx="66" cy="125612"/>
          </a:xfrm>
          <a:prstGeom prst="rect">
            <a:avLst/>
          </a:prstGeom>
          <a:ln/>
        </p:spPr>
        <p:txBody>
          <a:bodyPr/>
          <a:lstStyle>
            <a:lvl1pPr>
              <a:defRPr/>
            </a:lvl1pPr>
          </a:lstStyle>
          <a:p>
            <a:endParaRPr lang="en-US" dirty="0"/>
          </a:p>
        </p:txBody>
      </p:sp>
      <p:grpSp>
        <p:nvGrpSpPr>
          <p:cNvPr id="11" name="logo scp klein"/>
          <p:cNvGrpSpPr>
            <a:grpSpLocks noChangeAspect="1"/>
          </p:cNvGrpSpPr>
          <p:nvPr userDrawn="1"/>
        </p:nvGrpSpPr>
        <p:grpSpPr bwMode="auto">
          <a:xfrm>
            <a:off x="8236800" y="6426000"/>
            <a:ext cx="515900" cy="216000"/>
            <a:chOff x="1615" y="2638"/>
            <a:chExt cx="289" cy="121"/>
          </a:xfrm>
        </p:grpSpPr>
        <p:sp>
          <p:nvSpPr>
            <p:cNvPr id="12" name="Freeform 13"/>
            <p:cNvSpPr>
              <a:spLocks noEditPoints="1"/>
            </p:cNvSpPr>
            <p:nvPr/>
          </p:nvSpPr>
          <p:spPr bwMode="auto">
            <a:xfrm>
              <a:off x="1664" y="2678"/>
              <a:ext cx="42" cy="81"/>
            </a:xfrm>
            <a:custGeom>
              <a:avLst/>
              <a:gdLst/>
              <a:ahLst/>
              <a:cxnLst>
                <a:cxn ang="0">
                  <a:pos x="13" y="0"/>
                </a:cxn>
                <a:cxn ang="0">
                  <a:pos x="0" y="0"/>
                </a:cxn>
                <a:cxn ang="0">
                  <a:pos x="0" y="638"/>
                </a:cxn>
                <a:cxn ang="0">
                  <a:pos x="13" y="638"/>
                </a:cxn>
                <a:cxn ang="0">
                  <a:pos x="332" y="319"/>
                </a:cxn>
                <a:cxn ang="0">
                  <a:pos x="13" y="0"/>
                </a:cxn>
                <a:cxn ang="0">
                  <a:pos x="220" y="526"/>
                </a:cxn>
                <a:cxn ang="0">
                  <a:pos x="27" y="611"/>
                </a:cxn>
                <a:cxn ang="0">
                  <a:pos x="27" y="28"/>
                </a:cxn>
                <a:cxn ang="0">
                  <a:pos x="220" y="113"/>
                </a:cxn>
                <a:cxn ang="0">
                  <a:pos x="305" y="319"/>
                </a:cxn>
                <a:cxn ang="0">
                  <a:pos x="220" y="526"/>
                </a:cxn>
              </a:cxnLst>
              <a:rect l="0" t="0" r="r" b="b"/>
              <a:pathLst>
                <a:path w="332" h="638">
                  <a:moveTo>
                    <a:pt x="13" y="0"/>
                  </a:moveTo>
                  <a:cubicBezTo>
                    <a:pt x="0" y="0"/>
                    <a:pt x="0" y="0"/>
                    <a:pt x="0" y="0"/>
                  </a:cubicBezTo>
                  <a:cubicBezTo>
                    <a:pt x="0" y="638"/>
                    <a:pt x="0" y="638"/>
                    <a:pt x="0" y="638"/>
                  </a:cubicBezTo>
                  <a:cubicBezTo>
                    <a:pt x="13" y="638"/>
                    <a:pt x="13" y="638"/>
                    <a:pt x="13" y="638"/>
                  </a:cubicBezTo>
                  <a:cubicBezTo>
                    <a:pt x="190" y="638"/>
                    <a:pt x="332" y="495"/>
                    <a:pt x="332" y="319"/>
                  </a:cubicBezTo>
                  <a:cubicBezTo>
                    <a:pt x="332" y="143"/>
                    <a:pt x="190" y="0"/>
                    <a:pt x="13" y="0"/>
                  </a:cubicBezTo>
                  <a:close/>
                  <a:moveTo>
                    <a:pt x="220" y="526"/>
                  </a:moveTo>
                  <a:cubicBezTo>
                    <a:pt x="170" y="576"/>
                    <a:pt x="102" y="607"/>
                    <a:pt x="27" y="611"/>
                  </a:cubicBezTo>
                  <a:cubicBezTo>
                    <a:pt x="27" y="28"/>
                    <a:pt x="27" y="28"/>
                    <a:pt x="27" y="28"/>
                  </a:cubicBezTo>
                  <a:cubicBezTo>
                    <a:pt x="102" y="31"/>
                    <a:pt x="170" y="63"/>
                    <a:pt x="220" y="113"/>
                  </a:cubicBezTo>
                  <a:cubicBezTo>
                    <a:pt x="273" y="166"/>
                    <a:pt x="305" y="239"/>
                    <a:pt x="305" y="319"/>
                  </a:cubicBezTo>
                  <a:cubicBezTo>
                    <a:pt x="305" y="400"/>
                    <a:pt x="273" y="473"/>
                    <a:pt x="220" y="526"/>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3" name="Freeform 14"/>
            <p:cNvSpPr>
              <a:spLocks noEditPoints="1"/>
            </p:cNvSpPr>
            <p:nvPr/>
          </p:nvSpPr>
          <p:spPr bwMode="auto">
            <a:xfrm>
              <a:off x="1615" y="2717"/>
              <a:ext cx="42" cy="42"/>
            </a:xfrm>
            <a:custGeom>
              <a:avLst/>
              <a:gdLst/>
              <a:ahLst/>
              <a:cxnLst>
                <a:cxn ang="0">
                  <a:pos x="14" y="0"/>
                </a:cxn>
                <a:cxn ang="0">
                  <a:pos x="0" y="0"/>
                </a:cxn>
                <a:cxn ang="0">
                  <a:pos x="0" y="332"/>
                </a:cxn>
                <a:cxn ang="0">
                  <a:pos x="333" y="332"/>
                </a:cxn>
                <a:cxn ang="0">
                  <a:pos x="333" y="319"/>
                </a:cxn>
                <a:cxn ang="0">
                  <a:pos x="14" y="0"/>
                </a:cxn>
                <a:cxn ang="0">
                  <a:pos x="27" y="27"/>
                </a:cxn>
                <a:cxn ang="0">
                  <a:pos x="220" y="112"/>
                </a:cxn>
                <a:cxn ang="0">
                  <a:pos x="305" y="305"/>
                </a:cxn>
                <a:cxn ang="0">
                  <a:pos x="27" y="305"/>
                </a:cxn>
                <a:cxn ang="0">
                  <a:pos x="27" y="27"/>
                </a:cxn>
              </a:cxnLst>
              <a:rect l="0" t="0" r="r" b="b"/>
              <a:pathLst>
                <a:path w="333" h="332">
                  <a:moveTo>
                    <a:pt x="14" y="0"/>
                  </a:moveTo>
                  <a:cubicBezTo>
                    <a:pt x="0" y="0"/>
                    <a:pt x="0" y="0"/>
                    <a:pt x="0" y="0"/>
                  </a:cubicBezTo>
                  <a:cubicBezTo>
                    <a:pt x="0" y="332"/>
                    <a:pt x="0" y="332"/>
                    <a:pt x="0" y="332"/>
                  </a:cubicBezTo>
                  <a:cubicBezTo>
                    <a:pt x="333" y="332"/>
                    <a:pt x="333" y="332"/>
                    <a:pt x="333" y="332"/>
                  </a:cubicBezTo>
                  <a:cubicBezTo>
                    <a:pt x="333" y="319"/>
                    <a:pt x="333" y="319"/>
                    <a:pt x="333" y="319"/>
                  </a:cubicBezTo>
                  <a:cubicBezTo>
                    <a:pt x="333" y="143"/>
                    <a:pt x="190" y="0"/>
                    <a:pt x="14" y="0"/>
                  </a:cubicBezTo>
                  <a:close/>
                  <a:moveTo>
                    <a:pt x="27" y="27"/>
                  </a:moveTo>
                  <a:cubicBezTo>
                    <a:pt x="102" y="31"/>
                    <a:pt x="170" y="62"/>
                    <a:pt x="220" y="112"/>
                  </a:cubicBezTo>
                  <a:cubicBezTo>
                    <a:pt x="270" y="162"/>
                    <a:pt x="301" y="230"/>
                    <a:pt x="305" y="305"/>
                  </a:cubicBezTo>
                  <a:cubicBezTo>
                    <a:pt x="27" y="305"/>
                    <a:pt x="27" y="305"/>
                    <a:pt x="27" y="305"/>
                  </a:cubicBezTo>
                  <a:lnTo>
                    <a:pt x="27"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4" name="Freeform 15"/>
            <p:cNvSpPr>
              <a:spLocks noEditPoints="1"/>
            </p:cNvSpPr>
            <p:nvPr/>
          </p:nvSpPr>
          <p:spPr bwMode="auto">
            <a:xfrm>
              <a:off x="1615" y="2638"/>
              <a:ext cx="42" cy="82"/>
            </a:xfrm>
            <a:custGeom>
              <a:avLst/>
              <a:gdLst/>
              <a:ahLst/>
              <a:cxnLst>
                <a:cxn ang="0">
                  <a:pos x="0" y="318"/>
                </a:cxn>
                <a:cxn ang="0">
                  <a:pos x="319" y="637"/>
                </a:cxn>
                <a:cxn ang="0">
                  <a:pos x="333" y="637"/>
                </a:cxn>
                <a:cxn ang="0">
                  <a:pos x="333" y="0"/>
                </a:cxn>
                <a:cxn ang="0">
                  <a:pos x="319" y="0"/>
                </a:cxn>
                <a:cxn ang="0">
                  <a:pos x="0" y="318"/>
                </a:cxn>
                <a:cxn ang="0">
                  <a:pos x="27" y="318"/>
                </a:cxn>
                <a:cxn ang="0">
                  <a:pos x="113" y="112"/>
                </a:cxn>
                <a:cxn ang="0">
                  <a:pos x="306" y="27"/>
                </a:cxn>
                <a:cxn ang="0">
                  <a:pos x="306" y="610"/>
                </a:cxn>
                <a:cxn ang="0">
                  <a:pos x="113" y="525"/>
                </a:cxn>
                <a:cxn ang="0">
                  <a:pos x="27" y="318"/>
                </a:cxn>
              </a:cxnLst>
              <a:rect l="0" t="0" r="r" b="b"/>
              <a:pathLst>
                <a:path w="333" h="637">
                  <a:moveTo>
                    <a:pt x="0" y="318"/>
                  </a:moveTo>
                  <a:cubicBezTo>
                    <a:pt x="0" y="495"/>
                    <a:pt x="143" y="637"/>
                    <a:pt x="319" y="637"/>
                  </a:cubicBezTo>
                  <a:cubicBezTo>
                    <a:pt x="333" y="637"/>
                    <a:pt x="333" y="637"/>
                    <a:pt x="333" y="637"/>
                  </a:cubicBezTo>
                  <a:cubicBezTo>
                    <a:pt x="333" y="0"/>
                    <a:pt x="333" y="0"/>
                    <a:pt x="333" y="0"/>
                  </a:cubicBezTo>
                  <a:cubicBezTo>
                    <a:pt x="319" y="0"/>
                    <a:pt x="319" y="0"/>
                    <a:pt x="319" y="0"/>
                  </a:cubicBezTo>
                  <a:cubicBezTo>
                    <a:pt x="143" y="0"/>
                    <a:pt x="0" y="142"/>
                    <a:pt x="0" y="318"/>
                  </a:cubicBezTo>
                  <a:close/>
                  <a:moveTo>
                    <a:pt x="27" y="318"/>
                  </a:moveTo>
                  <a:cubicBezTo>
                    <a:pt x="27" y="238"/>
                    <a:pt x="60" y="165"/>
                    <a:pt x="113" y="112"/>
                  </a:cubicBezTo>
                  <a:cubicBezTo>
                    <a:pt x="162" y="62"/>
                    <a:pt x="230" y="31"/>
                    <a:pt x="306" y="27"/>
                  </a:cubicBezTo>
                  <a:cubicBezTo>
                    <a:pt x="306" y="610"/>
                    <a:pt x="306" y="610"/>
                    <a:pt x="306" y="610"/>
                  </a:cubicBezTo>
                  <a:cubicBezTo>
                    <a:pt x="230" y="606"/>
                    <a:pt x="162" y="575"/>
                    <a:pt x="113" y="525"/>
                  </a:cubicBezTo>
                  <a:cubicBezTo>
                    <a:pt x="60" y="472"/>
                    <a:pt x="27" y="399"/>
                    <a:pt x="27" y="318"/>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5" name="Freeform 16"/>
            <p:cNvSpPr>
              <a:spLocks noEditPoints="1"/>
            </p:cNvSpPr>
            <p:nvPr/>
          </p:nvSpPr>
          <p:spPr bwMode="auto">
            <a:xfrm>
              <a:off x="1763" y="2717"/>
              <a:ext cx="43" cy="42"/>
            </a:xfrm>
            <a:custGeom>
              <a:avLst/>
              <a:gdLst/>
              <a:ahLst/>
              <a:cxnLst>
                <a:cxn ang="0">
                  <a:pos x="0" y="332"/>
                </a:cxn>
                <a:cxn ang="0">
                  <a:pos x="13" y="332"/>
                </a:cxn>
                <a:cxn ang="0">
                  <a:pos x="332" y="13"/>
                </a:cxn>
                <a:cxn ang="0">
                  <a:pos x="332" y="0"/>
                </a:cxn>
                <a:cxn ang="0">
                  <a:pos x="0" y="0"/>
                </a:cxn>
                <a:cxn ang="0">
                  <a:pos x="0" y="332"/>
                </a:cxn>
                <a:cxn ang="0">
                  <a:pos x="304" y="27"/>
                </a:cxn>
                <a:cxn ang="0">
                  <a:pos x="219" y="220"/>
                </a:cxn>
                <a:cxn ang="0">
                  <a:pos x="26" y="305"/>
                </a:cxn>
                <a:cxn ang="0">
                  <a:pos x="26" y="27"/>
                </a:cxn>
                <a:cxn ang="0">
                  <a:pos x="304" y="27"/>
                </a:cxn>
              </a:cxnLst>
              <a:rect l="0" t="0" r="r" b="b"/>
              <a:pathLst>
                <a:path w="332" h="332">
                  <a:moveTo>
                    <a:pt x="0" y="332"/>
                  </a:moveTo>
                  <a:cubicBezTo>
                    <a:pt x="13" y="332"/>
                    <a:pt x="13" y="332"/>
                    <a:pt x="13" y="332"/>
                  </a:cubicBezTo>
                  <a:cubicBezTo>
                    <a:pt x="189" y="332"/>
                    <a:pt x="332" y="189"/>
                    <a:pt x="332" y="13"/>
                  </a:cubicBezTo>
                  <a:cubicBezTo>
                    <a:pt x="332" y="0"/>
                    <a:pt x="332" y="0"/>
                    <a:pt x="332" y="0"/>
                  </a:cubicBezTo>
                  <a:cubicBezTo>
                    <a:pt x="0" y="0"/>
                    <a:pt x="0" y="0"/>
                    <a:pt x="0" y="0"/>
                  </a:cubicBezTo>
                  <a:lnTo>
                    <a:pt x="0" y="332"/>
                  </a:lnTo>
                  <a:close/>
                  <a:moveTo>
                    <a:pt x="304" y="27"/>
                  </a:moveTo>
                  <a:cubicBezTo>
                    <a:pt x="301" y="102"/>
                    <a:pt x="269" y="170"/>
                    <a:pt x="219" y="220"/>
                  </a:cubicBezTo>
                  <a:cubicBezTo>
                    <a:pt x="170" y="270"/>
                    <a:pt x="102" y="301"/>
                    <a:pt x="26" y="305"/>
                  </a:cubicBezTo>
                  <a:cubicBezTo>
                    <a:pt x="26" y="27"/>
                    <a:pt x="26" y="27"/>
                    <a:pt x="26" y="27"/>
                  </a:cubicBezTo>
                  <a:lnTo>
                    <a:pt x="304"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6" name="Freeform 17"/>
            <p:cNvSpPr>
              <a:spLocks noEditPoints="1"/>
            </p:cNvSpPr>
            <p:nvPr/>
          </p:nvSpPr>
          <p:spPr bwMode="auto">
            <a:xfrm>
              <a:off x="1664" y="2638"/>
              <a:ext cx="42" cy="43"/>
            </a:xfrm>
            <a:custGeom>
              <a:avLst/>
              <a:gdLst/>
              <a:ahLst/>
              <a:cxnLst>
                <a:cxn ang="0">
                  <a:pos x="0" y="13"/>
                </a:cxn>
                <a:cxn ang="0">
                  <a:pos x="319" y="332"/>
                </a:cxn>
                <a:cxn ang="0">
                  <a:pos x="332" y="332"/>
                </a:cxn>
                <a:cxn ang="0">
                  <a:pos x="332" y="0"/>
                </a:cxn>
                <a:cxn ang="0">
                  <a:pos x="0" y="0"/>
                </a:cxn>
                <a:cxn ang="0">
                  <a:pos x="0" y="13"/>
                </a:cxn>
                <a:cxn ang="0">
                  <a:pos x="305" y="304"/>
                </a:cxn>
                <a:cxn ang="0">
                  <a:pos x="112" y="220"/>
                </a:cxn>
                <a:cxn ang="0">
                  <a:pos x="28" y="27"/>
                </a:cxn>
                <a:cxn ang="0">
                  <a:pos x="305" y="27"/>
                </a:cxn>
                <a:cxn ang="0">
                  <a:pos x="305" y="304"/>
                </a:cxn>
              </a:cxnLst>
              <a:rect l="0" t="0" r="r" b="b"/>
              <a:pathLst>
                <a:path w="332" h="332">
                  <a:moveTo>
                    <a:pt x="0" y="13"/>
                  </a:moveTo>
                  <a:cubicBezTo>
                    <a:pt x="0" y="189"/>
                    <a:pt x="143" y="332"/>
                    <a:pt x="319" y="332"/>
                  </a:cubicBezTo>
                  <a:cubicBezTo>
                    <a:pt x="332" y="332"/>
                    <a:pt x="332" y="332"/>
                    <a:pt x="332" y="332"/>
                  </a:cubicBezTo>
                  <a:cubicBezTo>
                    <a:pt x="332" y="0"/>
                    <a:pt x="332" y="0"/>
                    <a:pt x="332" y="0"/>
                  </a:cubicBezTo>
                  <a:cubicBezTo>
                    <a:pt x="0" y="0"/>
                    <a:pt x="0" y="0"/>
                    <a:pt x="0" y="0"/>
                  </a:cubicBezTo>
                  <a:lnTo>
                    <a:pt x="0" y="13"/>
                  </a:lnTo>
                  <a:close/>
                  <a:moveTo>
                    <a:pt x="305" y="304"/>
                  </a:moveTo>
                  <a:cubicBezTo>
                    <a:pt x="230" y="301"/>
                    <a:pt x="162" y="269"/>
                    <a:pt x="112" y="220"/>
                  </a:cubicBezTo>
                  <a:cubicBezTo>
                    <a:pt x="63" y="170"/>
                    <a:pt x="31" y="102"/>
                    <a:pt x="28" y="27"/>
                  </a:cubicBezTo>
                  <a:cubicBezTo>
                    <a:pt x="305" y="27"/>
                    <a:pt x="305" y="27"/>
                    <a:pt x="305" y="27"/>
                  </a:cubicBezTo>
                  <a:lnTo>
                    <a:pt x="305" y="30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7" name="Freeform 18"/>
            <p:cNvSpPr>
              <a:spLocks noEditPoints="1"/>
            </p:cNvSpPr>
            <p:nvPr/>
          </p:nvSpPr>
          <p:spPr bwMode="auto">
            <a:xfrm>
              <a:off x="1814" y="2638"/>
              <a:ext cx="41" cy="121"/>
            </a:xfrm>
            <a:custGeom>
              <a:avLst/>
              <a:gdLst/>
              <a:ahLst/>
              <a:cxnLst>
                <a:cxn ang="0">
                  <a:pos x="0" y="120"/>
                </a:cxn>
                <a:cxn ang="0">
                  <a:pos x="0" y="121"/>
                </a:cxn>
                <a:cxn ang="0">
                  <a:pos x="41" y="121"/>
                </a:cxn>
                <a:cxn ang="0">
                  <a:pos x="41" y="0"/>
                </a:cxn>
                <a:cxn ang="0">
                  <a:pos x="0" y="0"/>
                </a:cxn>
                <a:cxn ang="0">
                  <a:pos x="0" y="120"/>
                </a:cxn>
                <a:cxn ang="0">
                  <a:pos x="37" y="4"/>
                </a:cxn>
                <a:cxn ang="0">
                  <a:pos x="37" y="118"/>
                </a:cxn>
                <a:cxn ang="0">
                  <a:pos x="4" y="118"/>
                </a:cxn>
                <a:cxn ang="0">
                  <a:pos x="4" y="4"/>
                </a:cxn>
                <a:cxn ang="0">
                  <a:pos x="37" y="4"/>
                </a:cxn>
              </a:cxnLst>
              <a:rect l="0" t="0" r="r" b="b"/>
              <a:pathLst>
                <a:path w="41" h="121">
                  <a:moveTo>
                    <a:pt x="0" y="120"/>
                  </a:moveTo>
                  <a:lnTo>
                    <a:pt x="0" y="121"/>
                  </a:lnTo>
                  <a:lnTo>
                    <a:pt x="41" y="121"/>
                  </a:lnTo>
                  <a:lnTo>
                    <a:pt x="41" y="0"/>
                  </a:lnTo>
                  <a:lnTo>
                    <a:pt x="0" y="0"/>
                  </a:lnTo>
                  <a:lnTo>
                    <a:pt x="0" y="120"/>
                  </a:lnTo>
                  <a:close/>
                  <a:moveTo>
                    <a:pt x="37" y="4"/>
                  </a:moveTo>
                  <a:lnTo>
                    <a:pt x="37" y="118"/>
                  </a:lnTo>
                  <a:lnTo>
                    <a:pt x="4" y="118"/>
                  </a:lnTo>
                  <a:lnTo>
                    <a:pt x="4" y="4"/>
                  </a:lnTo>
                  <a:lnTo>
                    <a:pt x="37" y="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8" name="Freeform 19"/>
            <p:cNvSpPr>
              <a:spLocks noEditPoints="1"/>
            </p:cNvSpPr>
            <p:nvPr/>
          </p:nvSpPr>
          <p:spPr bwMode="auto">
            <a:xfrm>
              <a:off x="1861" y="2638"/>
              <a:ext cx="43" cy="82"/>
            </a:xfrm>
            <a:custGeom>
              <a:avLst/>
              <a:gdLst/>
              <a:ahLst/>
              <a:cxnLst>
                <a:cxn ang="0">
                  <a:pos x="14" y="0"/>
                </a:cxn>
                <a:cxn ang="0">
                  <a:pos x="0" y="0"/>
                </a:cxn>
                <a:cxn ang="0">
                  <a:pos x="0" y="638"/>
                </a:cxn>
                <a:cxn ang="0">
                  <a:pos x="14" y="638"/>
                </a:cxn>
                <a:cxn ang="0">
                  <a:pos x="333" y="319"/>
                </a:cxn>
                <a:cxn ang="0">
                  <a:pos x="14" y="0"/>
                </a:cxn>
                <a:cxn ang="0">
                  <a:pos x="220" y="525"/>
                </a:cxn>
                <a:cxn ang="0">
                  <a:pos x="27" y="610"/>
                </a:cxn>
                <a:cxn ang="0">
                  <a:pos x="27" y="28"/>
                </a:cxn>
                <a:cxn ang="0">
                  <a:pos x="220" y="112"/>
                </a:cxn>
                <a:cxn ang="0">
                  <a:pos x="306" y="319"/>
                </a:cxn>
                <a:cxn ang="0">
                  <a:pos x="220" y="525"/>
                </a:cxn>
              </a:cxnLst>
              <a:rect l="0" t="0" r="r" b="b"/>
              <a:pathLst>
                <a:path w="333" h="638">
                  <a:moveTo>
                    <a:pt x="14" y="0"/>
                  </a:moveTo>
                  <a:cubicBezTo>
                    <a:pt x="0" y="0"/>
                    <a:pt x="0" y="0"/>
                    <a:pt x="0" y="0"/>
                  </a:cubicBezTo>
                  <a:cubicBezTo>
                    <a:pt x="0" y="638"/>
                    <a:pt x="0" y="638"/>
                    <a:pt x="0" y="638"/>
                  </a:cubicBezTo>
                  <a:cubicBezTo>
                    <a:pt x="14" y="638"/>
                    <a:pt x="14" y="638"/>
                    <a:pt x="14" y="638"/>
                  </a:cubicBezTo>
                  <a:cubicBezTo>
                    <a:pt x="190" y="638"/>
                    <a:pt x="333" y="495"/>
                    <a:pt x="333" y="319"/>
                  </a:cubicBezTo>
                  <a:cubicBezTo>
                    <a:pt x="333" y="143"/>
                    <a:pt x="190" y="0"/>
                    <a:pt x="14" y="0"/>
                  </a:cubicBezTo>
                  <a:close/>
                  <a:moveTo>
                    <a:pt x="220" y="525"/>
                  </a:moveTo>
                  <a:cubicBezTo>
                    <a:pt x="170" y="575"/>
                    <a:pt x="103" y="607"/>
                    <a:pt x="27" y="610"/>
                  </a:cubicBezTo>
                  <a:cubicBezTo>
                    <a:pt x="27" y="28"/>
                    <a:pt x="27" y="28"/>
                    <a:pt x="27" y="28"/>
                  </a:cubicBezTo>
                  <a:cubicBezTo>
                    <a:pt x="103" y="31"/>
                    <a:pt x="170" y="63"/>
                    <a:pt x="220" y="112"/>
                  </a:cubicBezTo>
                  <a:cubicBezTo>
                    <a:pt x="273" y="165"/>
                    <a:pt x="306" y="238"/>
                    <a:pt x="306" y="319"/>
                  </a:cubicBezTo>
                  <a:cubicBezTo>
                    <a:pt x="306" y="400"/>
                    <a:pt x="273" y="473"/>
                    <a:pt x="220" y="525"/>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19" name="Freeform 20"/>
            <p:cNvSpPr>
              <a:spLocks noEditPoints="1"/>
            </p:cNvSpPr>
            <p:nvPr/>
          </p:nvSpPr>
          <p:spPr bwMode="auto">
            <a:xfrm>
              <a:off x="1763" y="2638"/>
              <a:ext cx="43" cy="43"/>
            </a:xfrm>
            <a:custGeom>
              <a:avLst/>
              <a:gdLst/>
              <a:ahLst/>
              <a:cxnLst>
                <a:cxn ang="0">
                  <a:pos x="0" y="332"/>
                </a:cxn>
                <a:cxn ang="0">
                  <a:pos x="13" y="332"/>
                </a:cxn>
                <a:cxn ang="0">
                  <a:pos x="332" y="13"/>
                </a:cxn>
                <a:cxn ang="0">
                  <a:pos x="332" y="0"/>
                </a:cxn>
                <a:cxn ang="0">
                  <a:pos x="0" y="0"/>
                </a:cxn>
                <a:cxn ang="0">
                  <a:pos x="0" y="332"/>
                </a:cxn>
                <a:cxn ang="0">
                  <a:pos x="305" y="27"/>
                </a:cxn>
                <a:cxn ang="0">
                  <a:pos x="220" y="220"/>
                </a:cxn>
                <a:cxn ang="0">
                  <a:pos x="27" y="305"/>
                </a:cxn>
                <a:cxn ang="0">
                  <a:pos x="27" y="27"/>
                </a:cxn>
                <a:cxn ang="0">
                  <a:pos x="305" y="27"/>
                </a:cxn>
              </a:cxnLst>
              <a:rect l="0" t="0" r="r" b="b"/>
              <a:pathLst>
                <a:path w="332" h="332">
                  <a:moveTo>
                    <a:pt x="0" y="332"/>
                  </a:moveTo>
                  <a:cubicBezTo>
                    <a:pt x="13" y="332"/>
                    <a:pt x="13" y="332"/>
                    <a:pt x="13" y="332"/>
                  </a:cubicBezTo>
                  <a:cubicBezTo>
                    <a:pt x="190" y="332"/>
                    <a:pt x="332" y="189"/>
                    <a:pt x="332" y="13"/>
                  </a:cubicBezTo>
                  <a:cubicBezTo>
                    <a:pt x="332" y="0"/>
                    <a:pt x="332" y="0"/>
                    <a:pt x="332" y="0"/>
                  </a:cubicBezTo>
                  <a:cubicBezTo>
                    <a:pt x="0" y="0"/>
                    <a:pt x="0" y="0"/>
                    <a:pt x="0" y="0"/>
                  </a:cubicBezTo>
                  <a:lnTo>
                    <a:pt x="0" y="332"/>
                  </a:lnTo>
                  <a:close/>
                  <a:moveTo>
                    <a:pt x="305" y="27"/>
                  </a:moveTo>
                  <a:cubicBezTo>
                    <a:pt x="301" y="102"/>
                    <a:pt x="270" y="170"/>
                    <a:pt x="220" y="220"/>
                  </a:cubicBezTo>
                  <a:cubicBezTo>
                    <a:pt x="170" y="270"/>
                    <a:pt x="102" y="301"/>
                    <a:pt x="27" y="305"/>
                  </a:cubicBezTo>
                  <a:cubicBezTo>
                    <a:pt x="27" y="27"/>
                    <a:pt x="27" y="27"/>
                    <a:pt x="27" y="27"/>
                  </a:cubicBezTo>
                  <a:lnTo>
                    <a:pt x="305"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20" name="Freeform 21"/>
            <p:cNvSpPr>
              <a:spLocks noEditPoints="1"/>
            </p:cNvSpPr>
            <p:nvPr/>
          </p:nvSpPr>
          <p:spPr bwMode="auto">
            <a:xfrm>
              <a:off x="1714" y="2638"/>
              <a:ext cx="43" cy="121"/>
            </a:xfrm>
            <a:custGeom>
              <a:avLst/>
              <a:gdLst/>
              <a:ahLst/>
              <a:cxnLst>
                <a:cxn ang="0">
                  <a:pos x="0" y="319"/>
                </a:cxn>
                <a:cxn ang="0">
                  <a:pos x="0" y="624"/>
                </a:cxn>
                <a:cxn ang="0">
                  <a:pos x="319" y="943"/>
                </a:cxn>
                <a:cxn ang="0">
                  <a:pos x="332" y="943"/>
                </a:cxn>
                <a:cxn ang="0">
                  <a:pos x="332" y="624"/>
                </a:cxn>
                <a:cxn ang="0">
                  <a:pos x="332" y="319"/>
                </a:cxn>
                <a:cxn ang="0">
                  <a:pos x="332" y="0"/>
                </a:cxn>
                <a:cxn ang="0">
                  <a:pos x="319" y="0"/>
                </a:cxn>
                <a:cxn ang="0">
                  <a:pos x="0" y="319"/>
                </a:cxn>
                <a:cxn ang="0">
                  <a:pos x="27" y="624"/>
                </a:cxn>
                <a:cxn ang="0">
                  <a:pos x="27" y="319"/>
                </a:cxn>
                <a:cxn ang="0">
                  <a:pos x="112" y="112"/>
                </a:cxn>
                <a:cxn ang="0">
                  <a:pos x="305" y="27"/>
                </a:cxn>
                <a:cxn ang="0">
                  <a:pos x="305" y="319"/>
                </a:cxn>
                <a:cxn ang="0">
                  <a:pos x="305" y="624"/>
                </a:cxn>
                <a:cxn ang="0">
                  <a:pos x="305" y="916"/>
                </a:cxn>
                <a:cxn ang="0">
                  <a:pos x="112" y="831"/>
                </a:cxn>
                <a:cxn ang="0">
                  <a:pos x="27" y="624"/>
                </a:cxn>
              </a:cxnLst>
              <a:rect l="0" t="0" r="r" b="b"/>
              <a:pathLst>
                <a:path w="332" h="943">
                  <a:moveTo>
                    <a:pt x="0" y="319"/>
                  </a:moveTo>
                  <a:cubicBezTo>
                    <a:pt x="0" y="624"/>
                    <a:pt x="0" y="624"/>
                    <a:pt x="0" y="624"/>
                  </a:cubicBezTo>
                  <a:cubicBezTo>
                    <a:pt x="0" y="800"/>
                    <a:pt x="142" y="943"/>
                    <a:pt x="319" y="943"/>
                  </a:cubicBezTo>
                  <a:cubicBezTo>
                    <a:pt x="332" y="943"/>
                    <a:pt x="332" y="943"/>
                    <a:pt x="332" y="943"/>
                  </a:cubicBezTo>
                  <a:cubicBezTo>
                    <a:pt x="332" y="624"/>
                    <a:pt x="332" y="624"/>
                    <a:pt x="332" y="624"/>
                  </a:cubicBezTo>
                  <a:cubicBezTo>
                    <a:pt x="332" y="319"/>
                    <a:pt x="332" y="319"/>
                    <a:pt x="332" y="319"/>
                  </a:cubicBezTo>
                  <a:cubicBezTo>
                    <a:pt x="332" y="0"/>
                    <a:pt x="332" y="0"/>
                    <a:pt x="332" y="0"/>
                  </a:cubicBezTo>
                  <a:cubicBezTo>
                    <a:pt x="319" y="0"/>
                    <a:pt x="319" y="0"/>
                    <a:pt x="319" y="0"/>
                  </a:cubicBezTo>
                  <a:cubicBezTo>
                    <a:pt x="142" y="0"/>
                    <a:pt x="0" y="143"/>
                    <a:pt x="0" y="319"/>
                  </a:cubicBezTo>
                  <a:close/>
                  <a:moveTo>
                    <a:pt x="27" y="624"/>
                  </a:moveTo>
                  <a:cubicBezTo>
                    <a:pt x="27" y="319"/>
                    <a:pt x="27" y="319"/>
                    <a:pt x="27" y="319"/>
                  </a:cubicBezTo>
                  <a:cubicBezTo>
                    <a:pt x="27" y="238"/>
                    <a:pt x="59" y="165"/>
                    <a:pt x="112" y="112"/>
                  </a:cubicBezTo>
                  <a:cubicBezTo>
                    <a:pt x="162" y="62"/>
                    <a:pt x="230" y="31"/>
                    <a:pt x="305" y="27"/>
                  </a:cubicBezTo>
                  <a:cubicBezTo>
                    <a:pt x="305" y="319"/>
                    <a:pt x="305" y="319"/>
                    <a:pt x="305" y="319"/>
                  </a:cubicBezTo>
                  <a:cubicBezTo>
                    <a:pt x="305" y="624"/>
                    <a:pt x="305" y="624"/>
                    <a:pt x="305" y="624"/>
                  </a:cubicBezTo>
                  <a:cubicBezTo>
                    <a:pt x="305" y="916"/>
                    <a:pt x="305" y="916"/>
                    <a:pt x="305" y="916"/>
                  </a:cubicBezTo>
                  <a:cubicBezTo>
                    <a:pt x="230" y="912"/>
                    <a:pt x="162" y="881"/>
                    <a:pt x="112" y="831"/>
                  </a:cubicBezTo>
                  <a:cubicBezTo>
                    <a:pt x="59" y="778"/>
                    <a:pt x="27" y="705"/>
                    <a:pt x="27" y="62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sp>
        <p:nvSpPr>
          <p:cNvPr id="21" name="Tijdelijke aanduiding voor dianummer 6"/>
          <p:cNvSpPr txBox="1">
            <a:spLocks/>
          </p:cNvSpPr>
          <p:nvPr userDrawn="1"/>
        </p:nvSpPr>
        <p:spPr>
          <a:xfrm>
            <a:off x="400869" y="6356350"/>
            <a:ext cx="684000" cy="365125"/>
          </a:xfrm>
          <a:prstGeom prst="rect">
            <a:avLst/>
          </a:prstGeom>
        </p:spPr>
        <p:txBody>
          <a:bodyPr vert="horz" lIns="0" tIns="0" rIns="0" bIns="0" rtlCol="0" anchor="ctr">
            <a:noAutofit/>
          </a:bodyPr>
          <a:lstStyle>
            <a:defPPr>
              <a:defRPr lang="nl-NL"/>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336C48C-F87C-4E4B-81EF-5027B17D1F61}" type="slidenum">
              <a:rPr lang="en-US" noProof="1" smtClean="0"/>
              <a:pPr/>
              <a:t>‹#›</a:t>
            </a:fld>
            <a:endParaRPr lang="en-US" noProof="1"/>
          </a:p>
        </p:txBody>
      </p:sp>
      <p:sp>
        <p:nvSpPr>
          <p:cNvPr id="23" name="Rectangle 22"/>
          <p:cNvSpPr>
            <a:spLocks noChangeArrowheads="1"/>
          </p:cNvSpPr>
          <p:nvPr/>
        </p:nvSpPr>
        <p:spPr bwMode="auto">
          <a:xfrm>
            <a:off x="393700" y="6210300"/>
            <a:ext cx="8358188" cy="9525"/>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24" name="Freeform 6"/>
          <p:cNvSpPr>
            <a:spLocks/>
          </p:cNvSpPr>
          <p:nvPr/>
        </p:nvSpPr>
        <p:spPr bwMode="auto">
          <a:xfrm>
            <a:off x="393700" y="6210300"/>
            <a:ext cx="8358188" cy="9525"/>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Tree>
    <p:extLst>
      <p:ext uri="{BB962C8B-B14F-4D97-AF65-F5344CB8AC3E}">
        <p14:creationId xmlns:p14="http://schemas.microsoft.com/office/powerpoint/2010/main" val="29124952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vmlDrawing" Target="../drawings/vmlDrawing1.vml"/><Relationship Id="rId13" Type="http://schemas.openxmlformats.org/officeDocument/2006/relationships/tags" Target="../tags/tag2.xml"/><Relationship Id="rId14" Type="http://schemas.openxmlformats.org/officeDocument/2006/relationships/oleObject" Target="../embeddings/oleObject1.bin"/><Relationship Id="rId15" Type="http://schemas.openxmlformats.org/officeDocument/2006/relationships/image" Target="../media/image1.emf"/><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3"/>
            </p:custDataLst>
            <p:extLst>
              <p:ext uri="{D42A27DB-BD31-4B8C-83A1-F6EECF244321}">
                <p14:modId xmlns:p14="http://schemas.microsoft.com/office/powerpoint/2010/main" val="279349804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2765" name="think-cell Slide" r:id="rId14" imgW="270" imgH="270" progId="TCLayout.ActiveDocument.1">
                  <p:embed/>
                </p:oleObj>
              </mc:Choice>
              <mc:Fallback>
                <p:oleObj name="think-cell Slide" r:id="rId14" imgW="270" imgH="270" progId="TCLayout.ActiveDocument.1">
                  <p:embed/>
                  <p:pic>
                    <p:nvPicPr>
                      <p:cNvPr id="0" name=""/>
                      <p:cNvPicPr/>
                      <p:nvPr/>
                    </p:nvPicPr>
                    <p:blipFill>
                      <a:blip r:embed="rId15"/>
                      <a:stretch>
                        <a:fillRect/>
                      </a:stretch>
                    </p:blipFill>
                    <p:spPr>
                      <a:xfrm>
                        <a:off x="1588" y="1588"/>
                        <a:ext cx="1587" cy="1587"/>
                      </a:xfrm>
                      <a:prstGeom prst="rect">
                        <a:avLst/>
                      </a:prstGeom>
                    </p:spPr>
                  </p:pic>
                </p:oleObj>
              </mc:Fallback>
            </mc:AlternateContent>
          </a:graphicData>
        </a:graphic>
      </p:graphicFrame>
      <p:sp>
        <p:nvSpPr>
          <p:cNvPr id="2" name="Tijdelijke aanduiding voor titel 1"/>
          <p:cNvSpPr>
            <a:spLocks noGrp="1"/>
          </p:cNvSpPr>
          <p:nvPr>
            <p:ph type="title"/>
          </p:nvPr>
        </p:nvSpPr>
        <p:spPr>
          <a:xfrm>
            <a:off x="400869" y="312738"/>
            <a:ext cx="8229600" cy="1548000"/>
          </a:xfrm>
          <a:prstGeom prst="rect">
            <a:avLst/>
          </a:prstGeom>
        </p:spPr>
        <p:txBody>
          <a:bodyPr vert="horz" lIns="0" tIns="0" rIns="0" bIns="0" rtlCol="0" anchor="t">
            <a:noAutofit/>
          </a:bodyPr>
          <a:lstStyle/>
          <a:p>
            <a:r>
              <a:rPr lang="en-US" noProof="1" smtClean="0"/>
              <a:t>Klik om de stijl te bewerken</a:t>
            </a:r>
            <a:endParaRPr lang="en-US" noProof="1"/>
          </a:p>
        </p:txBody>
      </p:sp>
      <p:sp>
        <p:nvSpPr>
          <p:cNvPr id="3" name="Tijdelijke aanduiding voor tekst 2"/>
          <p:cNvSpPr>
            <a:spLocks noGrp="1"/>
          </p:cNvSpPr>
          <p:nvPr>
            <p:ph type="body" idx="1"/>
          </p:nvPr>
        </p:nvSpPr>
        <p:spPr>
          <a:xfrm>
            <a:off x="400869" y="2160000"/>
            <a:ext cx="8316000" cy="3996000"/>
          </a:xfrm>
          <a:prstGeom prst="rect">
            <a:avLst/>
          </a:prstGeom>
        </p:spPr>
        <p:txBody>
          <a:bodyPr vert="horz" lIns="0" tIns="0" rIns="0" bIns="0" rtlCol="0">
            <a:noAutofit/>
          </a:bodyPr>
          <a:lstStyle/>
          <a:p>
            <a:pPr lvl="0"/>
            <a:r>
              <a:rPr lang="en-US" noProof="1" smtClean="0"/>
              <a:t>Klik om de modelstijlen te bewerken</a:t>
            </a:r>
          </a:p>
          <a:p>
            <a:pPr lvl="1"/>
            <a:r>
              <a:rPr lang="en-US" noProof="1" smtClean="0"/>
              <a:t>Tweede niveau</a:t>
            </a:r>
          </a:p>
          <a:p>
            <a:pPr lvl="2"/>
            <a:r>
              <a:rPr lang="en-US" noProof="1" smtClean="0"/>
              <a:t>Derde niveau</a:t>
            </a:r>
          </a:p>
          <a:p>
            <a:pPr lvl="3"/>
            <a:r>
              <a:rPr lang="en-US" noProof="1" smtClean="0"/>
              <a:t>Vierde niveau</a:t>
            </a:r>
          </a:p>
          <a:p>
            <a:pPr lvl="4"/>
            <a:r>
              <a:rPr lang="en-US" noProof="1" smtClean="0"/>
              <a:t>Vijfde niveau</a:t>
            </a:r>
          </a:p>
          <a:p>
            <a:pPr lvl="5"/>
            <a:r>
              <a:rPr lang="en-US" noProof="1" smtClean="0"/>
              <a:t>Zesde niveau</a:t>
            </a:r>
          </a:p>
          <a:p>
            <a:pPr lvl="6"/>
            <a:r>
              <a:rPr lang="en-US" noProof="1" smtClean="0"/>
              <a:t>Zevende niveau</a:t>
            </a:r>
          </a:p>
          <a:p>
            <a:pPr lvl="7"/>
            <a:r>
              <a:rPr lang="en-US" noProof="1" smtClean="0"/>
              <a:t>Achtste niveau</a:t>
            </a:r>
          </a:p>
          <a:p>
            <a:pPr lvl="8"/>
            <a:r>
              <a:rPr lang="en-US" noProof="1" smtClean="0"/>
              <a:t>Negende niveau</a:t>
            </a:r>
            <a:endParaRPr lang="en-US" noProof="1"/>
          </a:p>
        </p:txBody>
      </p:sp>
      <p:sp>
        <p:nvSpPr>
          <p:cNvPr id="6" name="Tijdelijke aanduiding voor dianummer 5"/>
          <p:cNvSpPr>
            <a:spLocks noGrp="1"/>
          </p:cNvSpPr>
          <p:nvPr>
            <p:ph type="sldNum" sz="quarter" idx="4"/>
          </p:nvPr>
        </p:nvSpPr>
        <p:spPr>
          <a:xfrm>
            <a:off x="400869" y="6356350"/>
            <a:ext cx="684000" cy="365125"/>
          </a:xfrm>
          <a:prstGeom prst="rect">
            <a:avLst/>
          </a:prstGeom>
        </p:spPr>
        <p:txBody>
          <a:bodyPr vert="horz" lIns="0" tIns="0" rIns="0" bIns="0" rtlCol="0" anchor="ctr">
            <a:noAutofit/>
          </a:bodyPr>
          <a:lstStyle>
            <a:lvl1pPr algn="l">
              <a:defRPr sz="1000">
                <a:solidFill>
                  <a:schemeClr val="tx1">
                    <a:tint val="75000"/>
                  </a:schemeClr>
                </a:solidFill>
                <a:latin typeface="+mn-lt"/>
              </a:defRPr>
            </a:lvl1pPr>
          </a:lstStyle>
          <a:p>
            <a:fld id="{1336C48C-F87C-4E4B-81EF-5027B17D1F61}" type="slidenum">
              <a:rPr lang="en-US" noProof="1" smtClean="0"/>
              <a:pPr/>
              <a:t>‹#›</a:t>
            </a:fld>
            <a:endParaRPr lang="en-US" noProof="1"/>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4" r:id="rId3"/>
    <p:sldLayoutId id="2147483656" r:id="rId4"/>
    <p:sldLayoutId id="2147483655" r:id="rId5"/>
    <p:sldLayoutId id="2147483657" r:id="rId6"/>
    <p:sldLayoutId id="2147483649" r:id="rId7"/>
    <p:sldLayoutId id="2147483658" r:id="rId8"/>
    <p:sldLayoutId id="2147483659" r:id="rId9"/>
    <p:sldLayoutId id="2147483660" r:id="rId10"/>
  </p:sldLayoutIdLst>
  <p:hf hdr="0" ftr="0" dt="0"/>
  <p:txStyles>
    <p:titleStyle>
      <a:lvl1pPr algn="l" defTabSz="914400" rtl="0" eaLnBrk="1" latinLnBrk="0" hangingPunct="1">
        <a:lnSpc>
          <a:spcPct val="90000"/>
        </a:lnSpc>
        <a:spcBef>
          <a:spcPct val="0"/>
        </a:spcBef>
        <a:buNone/>
        <a:defRPr sz="3200" b="0" kern="1200">
          <a:solidFill>
            <a:schemeClr val="accent1"/>
          </a:solidFill>
          <a:latin typeface="+mj-lt"/>
          <a:ea typeface="+mj-ea"/>
          <a:cs typeface="+mj-cs"/>
        </a:defRPr>
      </a:lvl1pPr>
    </p:titleStyle>
    <p:body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4" Type="http://schemas.openxmlformats.org/officeDocument/2006/relationships/oleObject" Target="../embeddings/oleObject2.bin"/><Relationship Id="rId5" Type="http://schemas.openxmlformats.org/officeDocument/2006/relationships/image" Target="../media/image1.emf"/><Relationship Id="rId6" Type="http://schemas.openxmlformats.org/officeDocument/2006/relationships/image" Target="../media/image3.jpg"/><Relationship Id="rId7" Type="http://schemas.openxmlformats.org/officeDocument/2006/relationships/image" Target="../media/image4.jpg"/><Relationship Id="rId8" Type="http://schemas.openxmlformats.org/officeDocument/2006/relationships/image" Target="../media/image5.JPG"/><Relationship Id="rId1" Type="http://schemas.openxmlformats.org/officeDocument/2006/relationships/vmlDrawing" Target="../drawings/vmlDrawing2.vml"/><Relationship Id="rId2" Type="http://schemas.openxmlformats.org/officeDocument/2006/relationships/tags" Target="../tags/tag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notesSlide" Target="../notesSlides/notesSlide1.xml"/><Relationship Id="rId5" Type="http://schemas.openxmlformats.org/officeDocument/2006/relationships/oleObject" Target="../embeddings/oleObject3.bin"/><Relationship Id="rId6" Type="http://schemas.openxmlformats.org/officeDocument/2006/relationships/image" Target="../media/image6.emf"/><Relationship Id="rId1" Type="http://schemas.openxmlformats.org/officeDocument/2006/relationships/vmlDrawing" Target="../drawings/vmlDrawing3.vml"/><Relationship Id="rId2"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notesSlide" Target="../notesSlides/notesSlide2.xml"/><Relationship Id="rId5" Type="http://schemas.openxmlformats.org/officeDocument/2006/relationships/oleObject" Target="../embeddings/oleObject4.bin"/><Relationship Id="rId6" Type="http://schemas.openxmlformats.org/officeDocument/2006/relationships/image" Target="../media/image6.emf"/><Relationship Id="rId1" Type="http://schemas.openxmlformats.org/officeDocument/2006/relationships/vmlDrawing" Target="../drawings/vmlDrawing4.vml"/><Relationship Id="rId2" Type="http://schemas.openxmlformats.org/officeDocument/2006/relationships/tags" Target="../tags/tag5.xml"/></Relationships>
</file>

<file path=ppt/slides/_rels/slide4.xml.rels><?xml version="1.0" encoding="UTF-8" standalone="yes"?>
<Relationships xmlns="http://schemas.openxmlformats.org/package/2006/relationships"><Relationship Id="rId13" Type="http://schemas.openxmlformats.org/officeDocument/2006/relationships/tags" Target="../tags/tag17.xml"/><Relationship Id="rId14" Type="http://schemas.openxmlformats.org/officeDocument/2006/relationships/tags" Target="../tags/tag18.xml"/><Relationship Id="rId15" Type="http://schemas.openxmlformats.org/officeDocument/2006/relationships/tags" Target="../tags/tag19.xml"/><Relationship Id="rId16" Type="http://schemas.openxmlformats.org/officeDocument/2006/relationships/tags" Target="../tags/tag20.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63" Type="http://schemas.openxmlformats.org/officeDocument/2006/relationships/oleObject" Target="../embeddings/oleObject17.bin"/><Relationship Id="rId64" Type="http://schemas.openxmlformats.org/officeDocument/2006/relationships/image" Target="../media/image18.emf"/><Relationship Id="rId50" Type="http://schemas.openxmlformats.org/officeDocument/2006/relationships/image" Target="../media/image11.emf"/><Relationship Id="rId51" Type="http://schemas.openxmlformats.org/officeDocument/2006/relationships/oleObject" Target="../embeddings/oleObject11.bin"/><Relationship Id="rId52" Type="http://schemas.openxmlformats.org/officeDocument/2006/relationships/image" Target="../media/image12.emf"/><Relationship Id="rId53" Type="http://schemas.openxmlformats.org/officeDocument/2006/relationships/oleObject" Target="../embeddings/oleObject12.bin"/><Relationship Id="rId54" Type="http://schemas.openxmlformats.org/officeDocument/2006/relationships/image" Target="../media/image13.emf"/><Relationship Id="rId55" Type="http://schemas.openxmlformats.org/officeDocument/2006/relationships/oleObject" Target="../embeddings/oleObject13.bin"/><Relationship Id="rId56" Type="http://schemas.openxmlformats.org/officeDocument/2006/relationships/image" Target="../media/image14.emf"/><Relationship Id="rId57" Type="http://schemas.openxmlformats.org/officeDocument/2006/relationships/oleObject" Target="../embeddings/oleObject14.bin"/><Relationship Id="rId58" Type="http://schemas.openxmlformats.org/officeDocument/2006/relationships/image" Target="../media/image15.emf"/><Relationship Id="rId59" Type="http://schemas.openxmlformats.org/officeDocument/2006/relationships/oleObject" Target="../embeddings/oleObject15.bin"/><Relationship Id="rId40" Type="http://schemas.openxmlformats.org/officeDocument/2006/relationships/image" Target="../media/image6.emf"/><Relationship Id="rId41" Type="http://schemas.openxmlformats.org/officeDocument/2006/relationships/oleObject" Target="../embeddings/oleObject6.bin"/><Relationship Id="rId42" Type="http://schemas.openxmlformats.org/officeDocument/2006/relationships/image" Target="../media/image7.emf"/><Relationship Id="rId43" Type="http://schemas.openxmlformats.org/officeDocument/2006/relationships/oleObject" Target="../embeddings/oleObject7.bin"/><Relationship Id="rId44" Type="http://schemas.openxmlformats.org/officeDocument/2006/relationships/image" Target="../media/image8.emf"/><Relationship Id="rId45" Type="http://schemas.openxmlformats.org/officeDocument/2006/relationships/oleObject" Target="../embeddings/oleObject8.bin"/><Relationship Id="rId46" Type="http://schemas.openxmlformats.org/officeDocument/2006/relationships/image" Target="../media/image9.emf"/><Relationship Id="rId47" Type="http://schemas.openxmlformats.org/officeDocument/2006/relationships/oleObject" Target="../embeddings/oleObject9.bin"/><Relationship Id="rId48" Type="http://schemas.openxmlformats.org/officeDocument/2006/relationships/image" Target="../media/image10.emf"/><Relationship Id="rId49" Type="http://schemas.openxmlformats.org/officeDocument/2006/relationships/oleObject" Target="../embeddings/oleObject10.bin"/><Relationship Id="rId1" Type="http://schemas.openxmlformats.org/officeDocument/2006/relationships/vmlDrawing" Target="../drawings/vmlDrawing5.v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30" Type="http://schemas.openxmlformats.org/officeDocument/2006/relationships/tags" Target="../tags/tag34.xml"/><Relationship Id="rId31" Type="http://schemas.openxmlformats.org/officeDocument/2006/relationships/tags" Target="../tags/tag35.xml"/><Relationship Id="rId32" Type="http://schemas.openxmlformats.org/officeDocument/2006/relationships/tags" Target="../tags/tag36.xml"/><Relationship Id="rId33" Type="http://schemas.openxmlformats.org/officeDocument/2006/relationships/tags" Target="../tags/tag37.xml"/><Relationship Id="rId34" Type="http://schemas.openxmlformats.org/officeDocument/2006/relationships/tags" Target="../tags/tag38.xml"/><Relationship Id="rId35" Type="http://schemas.openxmlformats.org/officeDocument/2006/relationships/tags" Target="../tags/tag39.xml"/><Relationship Id="rId36" Type="http://schemas.openxmlformats.org/officeDocument/2006/relationships/tags" Target="../tags/tag40.xml"/><Relationship Id="rId37" Type="http://schemas.openxmlformats.org/officeDocument/2006/relationships/slideLayout" Target="../slideLayouts/slideLayout10.xml"/><Relationship Id="rId38" Type="http://schemas.openxmlformats.org/officeDocument/2006/relationships/notesSlide" Target="../notesSlides/notesSlide3.xml"/><Relationship Id="rId39" Type="http://schemas.openxmlformats.org/officeDocument/2006/relationships/oleObject" Target="../embeddings/oleObject5.bin"/><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ags" Target="../tags/tag27.xml"/><Relationship Id="rId24" Type="http://schemas.openxmlformats.org/officeDocument/2006/relationships/tags" Target="../tags/tag28.xml"/><Relationship Id="rId25" Type="http://schemas.openxmlformats.org/officeDocument/2006/relationships/tags" Target="../tags/tag29.xml"/><Relationship Id="rId26" Type="http://schemas.openxmlformats.org/officeDocument/2006/relationships/tags" Target="../tags/tag30.xml"/><Relationship Id="rId27" Type="http://schemas.openxmlformats.org/officeDocument/2006/relationships/tags" Target="../tags/tag31.xml"/><Relationship Id="rId28" Type="http://schemas.openxmlformats.org/officeDocument/2006/relationships/tags" Target="../tags/tag32.xml"/><Relationship Id="rId29" Type="http://schemas.openxmlformats.org/officeDocument/2006/relationships/tags" Target="../tags/tag33.xml"/><Relationship Id="rId60" Type="http://schemas.openxmlformats.org/officeDocument/2006/relationships/image" Target="../media/image16.emf"/><Relationship Id="rId61" Type="http://schemas.openxmlformats.org/officeDocument/2006/relationships/oleObject" Target="../embeddings/oleObject16.bin"/><Relationship Id="rId62" Type="http://schemas.openxmlformats.org/officeDocument/2006/relationships/image" Target="../media/image17.emf"/><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tags" Target="../tags/tag16.xml"/></Relationships>
</file>

<file path=ppt/slides/_rels/slide5.xml.rels><?xml version="1.0" encoding="UTF-8" standalone="yes"?>
<Relationships xmlns="http://schemas.openxmlformats.org/package/2006/relationships"><Relationship Id="rId9" Type="http://schemas.openxmlformats.org/officeDocument/2006/relationships/tags" Target="../tags/tag48.xml"/><Relationship Id="rId20" Type="http://schemas.openxmlformats.org/officeDocument/2006/relationships/tags" Target="../tags/tag59.xml"/><Relationship Id="rId21" Type="http://schemas.openxmlformats.org/officeDocument/2006/relationships/tags" Target="../tags/tag60.xml"/><Relationship Id="rId22" Type="http://schemas.openxmlformats.org/officeDocument/2006/relationships/slideLayout" Target="../slideLayouts/slideLayout10.xml"/><Relationship Id="rId23" Type="http://schemas.openxmlformats.org/officeDocument/2006/relationships/oleObject" Target="../embeddings/oleObject18.bin"/><Relationship Id="rId24" Type="http://schemas.openxmlformats.org/officeDocument/2006/relationships/image" Target="../media/image6.emf"/><Relationship Id="rId25" Type="http://schemas.openxmlformats.org/officeDocument/2006/relationships/oleObject" Target="../embeddings/oleObject19.bin"/><Relationship Id="rId26" Type="http://schemas.openxmlformats.org/officeDocument/2006/relationships/image" Target="../media/image19.emf"/><Relationship Id="rId10" Type="http://schemas.openxmlformats.org/officeDocument/2006/relationships/tags" Target="../tags/tag49.xml"/><Relationship Id="rId11" Type="http://schemas.openxmlformats.org/officeDocument/2006/relationships/tags" Target="../tags/tag50.xml"/><Relationship Id="rId12" Type="http://schemas.openxmlformats.org/officeDocument/2006/relationships/tags" Target="../tags/tag51.xml"/><Relationship Id="rId13" Type="http://schemas.openxmlformats.org/officeDocument/2006/relationships/tags" Target="../tags/tag52.xml"/><Relationship Id="rId14" Type="http://schemas.openxmlformats.org/officeDocument/2006/relationships/tags" Target="../tags/tag53.xml"/><Relationship Id="rId15" Type="http://schemas.openxmlformats.org/officeDocument/2006/relationships/tags" Target="../tags/tag54.xml"/><Relationship Id="rId16" Type="http://schemas.openxmlformats.org/officeDocument/2006/relationships/tags" Target="../tags/tag55.xml"/><Relationship Id="rId17" Type="http://schemas.openxmlformats.org/officeDocument/2006/relationships/tags" Target="../tags/tag56.xml"/><Relationship Id="rId18" Type="http://schemas.openxmlformats.org/officeDocument/2006/relationships/tags" Target="../tags/tag57.xml"/><Relationship Id="rId19" Type="http://schemas.openxmlformats.org/officeDocument/2006/relationships/tags" Target="../tags/tag58.xml"/><Relationship Id="rId1" Type="http://schemas.openxmlformats.org/officeDocument/2006/relationships/vmlDrawing" Target="../drawings/vmlDrawing6.vml"/><Relationship Id="rId2" Type="http://schemas.openxmlformats.org/officeDocument/2006/relationships/tags" Target="../tags/tag41.xml"/><Relationship Id="rId3" Type="http://schemas.openxmlformats.org/officeDocument/2006/relationships/tags" Target="../tags/tag42.xml"/><Relationship Id="rId4" Type="http://schemas.openxmlformats.org/officeDocument/2006/relationships/tags" Target="../tags/tag43.xml"/><Relationship Id="rId5" Type="http://schemas.openxmlformats.org/officeDocument/2006/relationships/tags" Target="../tags/tag44.xml"/><Relationship Id="rId6" Type="http://schemas.openxmlformats.org/officeDocument/2006/relationships/tags" Target="../tags/tag45.xml"/><Relationship Id="rId7" Type="http://schemas.openxmlformats.org/officeDocument/2006/relationships/tags" Target="../tags/tag46.xml"/><Relationship Id="rId8" Type="http://schemas.openxmlformats.org/officeDocument/2006/relationships/tags" Target="../tags/tag47.xml"/></Relationships>
</file>

<file path=ppt/slides/_rels/slide6.xml.rels><?xml version="1.0" encoding="UTF-8" standalone="yes"?>
<Relationships xmlns="http://schemas.openxmlformats.org/package/2006/relationships"><Relationship Id="rId20" Type="http://schemas.openxmlformats.org/officeDocument/2006/relationships/tags" Target="../tags/tag79.xml"/><Relationship Id="rId21" Type="http://schemas.openxmlformats.org/officeDocument/2006/relationships/tags" Target="../tags/tag80.xml"/><Relationship Id="rId22" Type="http://schemas.openxmlformats.org/officeDocument/2006/relationships/tags" Target="../tags/tag81.xml"/><Relationship Id="rId23" Type="http://schemas.openxmlformats.org/officeDocument/2006/relationships/tags" Target="../tags/tag82.xml"/><Relationship Id="rId24" Type="http://schemas.openxmlformats.org/officeDocument/2006/relationships/tags" Target="../tags/tag83.xml"/><Relationship Id="rId25" Type="http://schemas.openxmlformats.org/officeDocument/2006/relationships/tags" Target="../tags/tag84.xml"/><Relationship Id="rId26" Type="http://schemas.openxmlformats.org/officeDocument/2006/relationships/tags" Target="../tags/tag85.xml"/><Relationship Id="rId27" Type="http://schemas.openxmlformats.org/officeDocument/2006/relationships/tags" Target="../tags/tag86.xml"/><Relationship Id="rId28" Type="http://schemas.openxmlformats.org/officeDocument/2006/relationships/tags" Target="../tags/tag87.xml"/><Relationship Id="rId29" Type="http://schemas.openxmlformats.org/officeDocument/2006/relationships/tags" Target="../tags/tag88.xml"/><Relationship Id="rId1" Type="http://schemas.openxmlformats.org/officeDocument/2006/relationships/vmlDrawing" Target="../drawings/vmlDrawing7.vml"/><Relationship Id="rId2" Type="http://schemas.openxmlformats.org/officeDocument/2006/relationships/tags" Target="../tags/tag61.xml"/><Relationship Id="rId3" Type="http://schemas.openxmlformats.org/officeDocument/2006/relationships/tags" Target="../tags/tag62.xml"/><Relationship Id="rId4" Type="http://schemas.openxmlformats.org/officeDocument/2006/relationships/tags" Target="../tags/tag63.xml"/><Relationship Id="rId5" Type="http://schemas.openxmlformats.org/officeDocument/2006/relationships/tags" Target="../tags/tag64.xml"/><Relationship Id="rId30" Type="http://schemas.openxmlformats.org/officeDocument/2006/relationships/tags" Target="../tags/tag89.xml"/><Relationship Id="rId31" Type="http://schemas.openxmlformats.org/officeDocument/2006/relationships/tags" Target="../tags/tag90.xml"/><Relationship Id="rId32" Type="http://schemas.openxmlformats.org/officeDocument/2006/relationships/slideLayout" Target="../slideLayouts/slideLayout10.xml"/><Relationship Id="rId9" Type="http://schemas.openxmlformats.org/officeDocument/2006/relationships/tags" Target="../tags/tag68.xml"/><Relationship Id="rId6" Type="http://schemas.openxmlformats.org/officeDocument/2006/relationships/tags" Target="../tags/tag65.xml"/><Relationship Id="rId7" Type="http://schemas.openxmlformats.org/officeDocument/2006/relationships/tags" Target="../tags/tag66.xml"/><Relationship Id="rId8" Type="http://schemas.openxmlformats.org/officeDocument/2006/relationships/tags" Target="../tags/tag67.xml"/><Relationship Id="rId33" Type="http://schemas.openxmlformats.org/officeDocument/2006/relationships/oleObject" Target="../embeddings/oleObject20.bin"/><Relationship Id="rId34" Type="http://schemas.openxmlformats.org/officeDocument/2006/relationships/image" Target="../media/image6.emf"/><Relationship Id="rId35" Type="http://schemas.openxmlformats.org/officeDocument/2006/relationships/oleObject" Target="../embeddings/oleObject21.bin"/><Relationship Id="rId36" Type="http://schemas.openxmlformats.org/officeDocument/2006/relationships/image" Target="../media/image20.emf"/><Relationship Id="rId10" Type="http://schemas.openxmlformats.org/officeDocument/2006/relationships/tags" Target="../tags/tag69.xml"/><Relationship Id="rId11" Type="http://schemas.openxmlformats.org/officeDocument/2006/relationships/tags" Target="../tags/tag70.xml"/><Relationship Id="rId12" Type="http://schemas.openxmlformats.org/officeDocument/2006/relationships/tags" Target="../tags/tag71.xml"/><Relationship Id="rId13" Type="http://schemas.openxmlformats.org/officeDocument/2006/relationships/tags" Target="../tags/tag72.xml"/><Relationship Id="rId14" Type="http://schemas.openxmlformats.org/officeDocument/2006/relationships/tags" Target="../tags/tag73.xml"/><Relationship Id="rId15" Type="http://schemas.openxmlformats.org/officeDocument/2006/relationships/tags" Target="../tags/tag74.xml"/><Relationship Id="rId16" Type="http://schemas.openxmlformats.org/officeDocument/2006/relationships/tags" Target="../tags/tag75.xml"/><Relationship Id="rId17" Type="http://schemas.openxmlformats.org/officeDocument/2006/relationships/tags" Target="../tags/tag76.xml"/><Relationship Id="rId18" Type="http://schemas.openxmlformats.org/officeDocument/2006/relationships/tags" Target="../tags/tag77.xml"/><Relationship Id="rId19" Type="http://schemas.openxmlformats.org/officeDocument/2006/relationships/tags" Target="../tags/tag78.xml"/></Relationships>
</file>

<file path=ppt/slides/_rels/slide7.xml.rels><?xml version="1.0" encoding="UTF-8" standalone="yes"?>
<Relationships xmlns="http://schemas.openxmlformats.org/package/2006/relationships"><Relationship Id="rId3" Type="http://schemas.openxmlformats.org/officeDocument/2006/relationships/tags" Target="../tags/tag92.xml"/><Relationship Id="rId4" Type="http://schemas.openxmlformats.org/officeDocument/2006/relationships/slideLayout" Target="../slideLayouts/slideLayout10.xml"/><Relationship Id="rId5" Type="http://schemas.openxmlformats.org/officeDocument/2006/relationships/notesSlide" Target="../notesSlides/notesSlide4.xml"/><Relationship Id="rId6" Type="http://schemas.openxmlformats.org/officeDocument/2006/relationships/oleObject" Target="../embeddings/oleObject22.bin"/><Relationship Id="rId7" Type="http://schemas.openxmlformats.org/officeDocument/2006/relationships/image" Target="../media/image1.emf"/><Relationship Id="rId8" Type="http://schemas.openxmlformats.org/officeDocument/2006/relationships/image" Target="../media/image21.jpeg"/><Relationship Id="rId1" Type="http://schemas.openxmlformats.org/officeDocument/2006/relationships/vmlDrawing" Target="../drawings/vmlDrawing8.vml"/><Relationship Id="rId2" Type="http://schemas.openxmlformats.org/officeDocument/2006/relationships/tags" Target="../tags/tag91.xml"/></Relationships>
</file>

<file path=ppt/slides/_rels/slide8.xml.rels><?xml version="1.0" encoding="UTF-8" standalone="yes"?>
<Relationships xmlns="http://schemas.openxmlformats.org/package/2006/relationships"><Relationship Id="rId9" Type="http://schemas.openxmlformats.org/officeDocument/2006/relationships/tags" Target="../tags/tag100.xml"/><Relationship Id="rId20" Type="http://schemas.openxmlformats.org/officeDocument/2006/relationships/tags" Target="../tags/tag111.xml"/><Relationship Id="rId21" Type="http://schemas.openxmlformats.org/officeDocument/2006/relationships/tags" Target="../tags/tag112.xml"/><Relationship Id="rId22" Type="http://schemas.openxmlformats.org/officeDocument/2006/relationships/tags" Target="../tags/tag113.xml"/><Relationship Id="rId23" Type="http://schemas.openxmlformats.org/officeDocument/2006/relationships/tags" Target="../tags/tag114.xml"/><Relationship Id="rId24" Type="http://schemas.openxmlformats.org/officeDocument/2006/relationships/tags" Target="../tags/tag115.xml"/><Relationship Id="rId25" Type="http://schemas.openxmlformats.org/officeDocument/2006/relationships/tags" Target="../tags/tag116.xml"/><Relationship Id="rId26" Type="http://schemas.openxmlformats.org/officeDocument/2006/relationships/slideLayout" Target="../slideLayouts/slideLayout10.xml"/><Relationship Id="rId27" Type="http://schemas.openxmlformats.org/officeDocument/2006/relationships/oleObject" Target="../embeddings/oleObject23.bin"/><Relationship Id="rId28" Type="http://schemas.openxmlformats.org/officeDocument/2006/relationships/image" Target="../media/image6.emf"/><Relationship Id="rId10" Type="http://schemas.openxmlformats.org/officeDocument/2006/relationships/tags" Target="../tags/tag101.xml"/><Relationship Id="rId11" Type="http://schemas.openxmlformats.org/officeDocument/2006/relationships/tags" Target="../tags/tag102.xml"/><Relationship Id="rId12" Type="http://schemas.openxmlformats.org/officeDocument/2006/relationships/tags" Target="../tags/tag103.xml"/><Relationship Id="rId13" Type="http://schemas.openxmlformats.org/officeDocument/2006/relationships/tags" Target="../tags/tag104.xml"/><Relationship Id="rId14" Type="http://schemas.openxmlformats.org/officeDocument/2006/relationships/tags" Target="../tags/tag105.xml"/><Relationship Id="rId15" Type="http://schemas.openxmlformats.org/officeDocument/2006/relationships/tags" Target="../tags/tag106.xml"/><Relationship Id="rId16" Type="http://schemas.openxmlformats.org/officeDocument/2006/relationships/tags" Target="../tags/tag107.xml"/><Relationship Id="rId17" Type="http://schemas.openxmlformats.org/officeDocument/2006/relationships/tags" Target="../tags/tag108.xml"/><Relationship Id="rId18" Type="http://schemas.openxmlformats.org/officeDocument/2006/relationships/tags" Target="../tags/tag109.xml"/><Relationship Id="rId19" Type="http://schemas.openxmlformats.org/officeDocument/2006/relationships/tags" Target="../tags/tag110.xml"/><Relationship Id="rId1" Type="http://schemas.openxmlformats.org/officeDocument/2006/relationships/vmlDrawing" Target="../drawings/vmlDrawing9.vml"/><Relationship Id="rId2" Type="http://schemas.openxmlformats.org/officeDocument/2006/relationships/tags" Target="../tags/tag93.xml"/><Relationship Id="rId3" Type="http://schemas.openxmlformats.org/officeDocument/2006/relationships/tags" Target="../tags/tag94.xml"/><Relationship Id="rId4" Type="http://schemas.openxmlformats.org/officeDocument/2006/relationships/tags" Target="../tags/tag95.xml"/><Relationship Id="rId5" Type="http://schemas.openxmlformats.org/officeDocument/2006/relationships/tags" Target="../tags/tag96.xml"/><Relationship Id="rId6" Type="http://schemas.openxmlformats.org/officeDocument/2006/relationships/tags" Target="../tags/tag97.xml"/><Relationship Id="rId7" Type="http://schemas.openxmlformats.org/officeDocument/2006/relationships/tags" Target="../tags/tag98.xml"/><Relationship Id="rId8" Type="http://schemas.openxmlformats.org/officeDocument/2006/relationships/tags" Target="../tags/tag99.xml"/></Relationships>
</file>

<file path=ppt/slides/_rels/slide9.xml.rels><?xml version="1.0" encoding="UTF-8" standalone="yes"?>
<Relationships xmlns="http://schemas.openxmlformats.org/package/2006/relationships"><Relationship Id="rId9" Type="http://schemas.openxmlformats.org/officeDocument/2006/relationships/tags" Target="../tags/tag124.xml"/><Relationship Id="rId20" Type="http://schemas.openxmlformats.org/officeDocument/2006/relationships/tags" Target="../tags/tag135.xml"/><Relationship Id="rId21" Type="http://schemas.openxmlformats.org/officeDocument/2006/relationships/slideLayout" Target="../slideLayouts/slideLayout10.xml"/><Relationship Id="rId22" Type="http://schemas.openxmlformats.org/officeDocument/2006/relationships/oleObject" Target="../embeddings/oleObject24.bin"/><Relationship Id="rId23" Type="http://schemas.openxmlformats.org/officeDocument/2006/relationships/image" Target="../media/image1.emf"/><Relationship Id="rId24" Type="http://schemas.openxmlformats.org/officeDocument/2006/relationships/oleObject" Target="../embeddings/oleObject25.bin"/><Relationship Id="rId25" Type="http://schemas.openxmlformats.org/officeDocument/2006/relationships/image" Target="../media/image22.emf"/><Relationship Id="rId10" Type="http://schemas.openxmlformats.org/officeDocument/2006/relationships/tags" Target="../tags/tag125.xml"/><Relationship Id="rId11" Type="http://schemas.openxmlformats.org/officeDocument/2006/relationships/tags" Target="../tags/tag126.xml"/><Relationship Id="rId12" Type="http://schemas.openxmlformats.org/officeDocument/2006/relationships/tags" Target="../tags/tag127.xml"/><Relationship Id="rId13" Type="http://schemas.openxmlformats.org/officeDocument/2006/relationships/tags" Target="../tags/tag128.xml"/><Relationship Id="rId14" Type="http://schemas.openxmlformats.org/officeDocument/2006/relationships/tags" Target="../tags/tag129.xml"/><Relationship Id="rId15" Type="http://schemas.openxmlformats.org/officeDocument/2006/relationships/tags" Target="../tags/tag130.xml"/><Relationship Id="rId16" Type="http://schemas.openxmlformats.org/officeDocument/2006/relationships/tags" Target="../tags/tag131.xml"/><Relationship Id="rId17" Type="http://schemas.openxmlformats.org/officeDocument/2006/relationships/tags" Target="../tags/tag132.xml"/><Relationship Id="rId18" Type="http://schemas.openxmlformats.org/officeDocument/2006/relationships/tags" Target="../tags/tag133.xml"/><Relationship Id="rId19" Type="http://schemas.openxmlformats.org/officeDocument/2006/relationships/tags" Target="../tags/tag134.xml"/><Relationship Id="rId1" Type="http://schemas.openxmlformats.org/officeDocument/2006/relationships/vmlDrawing" Target="../drawings/vmlDrawing10.vml"/><Relationship Id="rId2" Type="http://schemas.openxmlformats.org/officeDocument/2006/relationships/tags" Target="../tags/tag117.xml"/><Relationship Id="rId3" Type="http://schemas.openxmlformats.org/officeDocument/2006/relationships/tags" Target="../tags/tag118.xml"/><Relationship Id="rId4" Type="http://schemas.openxmlformats.org/officeDocument/2006/relationships/tags" Target="../tags/tag119.xml"/><Relationship Id="rId5" Type="http://schemas.openxmlformats.org/officeDocument/2006/relationships/tags" Target="../tags/tag120.xml"/><Relationship Id="rId6" Type="http://schemas.openxmlformats.org/officeDocument/2006/relationships/tags" Target="../tags/tag121.xml"/><Relationship Id="rId7" Type="http://schemas.openxmlformats.org/officeDocument/2006/relationships/tags" Target="../tags/tag122.xml"/><Relationship Id="rId8" Type="http://schemas.openxmlformats.org/officeDocument/2006/relationships/tags" Target="../tags/tag1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9" Type="http://schemas.openxmlformats.org/officeDocument/2006/relationships/tags" Target="../tags/tag143.xml"/><Relationship Id="rId20" Type="http://schemas.openxmlformats.org/officeDocument/2006/relationships/oleObject" Target="../embeddings/oleObject27.bin"/><Relationship Id="rId21" Type="http://schemas.openxmlformats.org/officeDocument/2006/relationships/image" Target="../media/image23.emf"/><Relationship Id="rId10" Type="http://schemas.openxmlformats.org/officeDocument/2006/relationships/tags" Target="../tags/tag144.xml"/><Relationship Id="rId11" Type="http://schemas.openxmlformats.org/officeDocument/2006/relationships/tags" Target="../tags/tag145.xml"/><Relationship Id="rId12" Type="http://schemas.openxmlformats.org/officeDocument/2006/relationships/tags" Target="../tags/tag146.xml"/><Relationship Id="rId13" Type="http://schemas.openxmlformats.org/officeDocument/2006/relationships/tags" Target="../tags/tag147.xml"/><Relationship Id="rId14" Type="http://schemas.openxmlformats.org/officeDocument/2006/relationships/tags" Target="../tags/tag148.xml"/><Relationship Id="rId15" Type="http://schemas.openxmlformats.org/officeDocument/2006/relationships/tags" Target="../tags/tag149.xml"/><Relationship Id="rId16" Type="http://schemas.openxmlformats.org/officeDocument/2006/relationships/tags" Target="../tags/tag150.xml"/><Relationship Id="rId17" Type="http://schemas.openxmlformats.org/officeDocument/2006/relationships/slideLayout" Target="../slideLayouts/slideLayout10.xml"/><Relationship Id="rId18" Type="http://schemas.openxmlformats.org/officeDocument/2006/relationships/oleObject" Target="../embeddings/oleObject26.bin"/><Relationship Id="rId19" Type="http://schemas.openxmlformats.org/officeDocument/2006/relationships/image" Target="../media/image1.emf"/><Relationship Id="rId1" Type="http://schemas.openxmlformats.org/officeDocument/2006/relationships/vmlDrawing" Target="../drawings/vmlDrawing11.vml"/><Relationship Id="rId2" Type="http://schemas.openxmlformats.org/officeDocument/2006/relationships/tags" Target="../tags/tag136.xml"/><Relationship Id="rId3" Type="http://schemas.openxmlformats.org/officeDocument/2006/relationships/tags" Target="../tags/tag137.xml"/><Relationship Id="rId4" Type="http://schemas.openxmlformats.org/officeDocument/2006/relationships/tags" Target="../tags/tag138.xml"/><Relationship Id="rId5" Type="http://schemas.openxmlformats.org/officeDocument/2006/relationships/tags" Target="../tags/tag139.xml"/><Relationship Id="rId6" Type="http://schemas.openxmlformats.org/officeDocument/2006/relationships/tags" Target="../tags/tag140.xml"/><Relationship Id="rId7" Type="http://schemas.openxmlformats.org/officeDocument/2006/relationships/tags" Target="../tags/tag141.xml"/><Relationship Id="rId8" Type="http://schemas.openxmlformats.org/officeDocument/2006/relationships/tags" Target="../tags/tag142.xml"/></Relationships>
</file>

<file path=ppt/slides/_rels/slide12.xml.rels><?xml version="1.0" encoding="UTF-8" standalone="yes"?>
<Relationships xmlns="http://schemas.openxmlformats.org/package/2006/relationships"><Relationship Id="rId9" Type="http://schemas.openxmlformats.org/officeDocument/2006/relationships/tags" Target="../tags/tag158.xml"/><Relationship Id="rId20" Type="http://schemas.openxmlformats.org/officeDocument/2006/relationships/tags" Target="../tags/tag169.xml"/><Relationship Id="rId21" Type="http://schemas.openxmlformats.org/officeDocument/2006/relationships/tags" Target="../tags/tag170.xml"/><Relationship Id="rId22" Type="http://schemas.openxmlformats.org/officeDocument/2006/relationships/tags" Target="../tags/tag171.xml"/><Relationship Id="rId23" Type="http://schemas.openxmlformats.org/officeDocument/2006/relationships/tags" Target="../tags/tag172.xml"/><Relationship Id="rId24" Type="http://schemas.openxmlformats.org/officeDocument/2006/relationships/tags" Target="../tags/tag173.xml"/><Relationship Id="rId25" Type="http://schemas.openxmlformats.org/officeDocument/2006/relationships/tags" Target="../tags/tag174.xml"/><Relationship Id="rId26" Type="http://schemas.openxmlformats.org/officeDocument/2006/relationships/slideLayout" Target="../slideLayouts/slideLayout4.xml"/><Relationship Id="rId27" Type="http://schemas.openxmlformats.org/officeDocument/2006/relationships/notesSlide" Target="../notesSlides/notesSlide5.xml"/><Relationship Id="rId28" Type="http://schemas.openxmlformats.org/officeDocument/2006/relationships/oleObject" Target="../embeddings/oleObject28.bin"/><Relationship Id="rId29" Type="http://schemas.openxmlformats.org/officeDocument/2006/relationships/oleObject" Target="../embeddings/oleObject29.bin"/><Relationship Id="rId30" Type="http://schemas.openxmlformats.org/officeDocument/2006/relationships/image" Target="../media/image24.emf"/><Relationship Id="rId10" Type="http://schemas.openxmlformats.org/officeDocument/2006/relationships/tags" Target="../tags/tag159.xml"/><Relationship Id="rId11" Type="http://schemas.openxmlformats.org/officeDocument/2006/relationships/tags" Target="../tags/tag160.xml"/><Relationship Id="rId12" Type="http://schemas.openxmlformats.org/officeDocument/2006/relationships/tags" Target="../tags/tag161.xml"/><Relationship Id="rId13" Type="http://schemas.openxmlformats.org/officeDocument/2006/relationships/tags" Target="../tags/tag162.xml"/><Relationship Id="rId14" Type="http://schemas.openxmlformats.org/officeDocument/2006/relationships/tags" Target="../tags/tag163.xml"/><Relationship Id="rId15" Type="http://schemas.openxmlformats.org/officeDocument/2006/relationships/tags" Target="../tags/tag164.xml"/><Relationship Id="rId16" Type="http://schemas.openxmlformats.org/officeDocument/2006/relationships/tags" Target="../tags/tag165.xml"/><Relationship Id="rId17" Type="http://schemas.openxmlformats.org/officeDocument/2006/relationships/tags" Target="../tags/tag166.xml"/><Relationship Id="rId18" Type="http://schemas.openxmlformats.org/officeDocument/2006/relationships/tags" Target="../tags/tag167.xml"/><Relationship Id="rId19" Type="http://schemas.openxmlformats.org/officeDocument/2006/relationships/tags" Target="../tags/tag168.xml"/><Relationship Id="rId1" Type="http://schemas.openxmlformats.org/officeDocument/2006/relationships/vmlDrawing" Target="../drawings/vmlDrawing12.vml"/><Relationship Id="rId2" Type="http://schemas.openxmlformats.org/officeDocument/2006/relationships/tags" Target="../tags/tag151.xml"/><Relationship Id="rId3" Type="http://schemas.openxmlformats.org/officeDocument/2006/relationships/tags" Target="../tags/tag152.xml"/><Relationship Id="rId4" Type="http://schemas.openxmlformats.org/officeDocument/2006/relationships/tags" Target="../tags/tag153.xml"/><Relationship Id="rId5" Type="http://schemas.openxmlformats.org/officeDocument/2006/relationships/tags" Target="../tags/tag154.xml"/><Relationship Id="rId6" Type="http://schemas.openxmlformats.org/officeDocument/2006/relationships/tags" Target="../tags/tag155.xml"/><Relationship Id="rId7" Type="http://schemas.openxmlformats.org/officeDocument/2006/relationships/tags" Target="../tags/tag156.xml"/><Relationship Id="rId8" Type="http://schemas.openxmlformats.org/officeDocument/2006/relationships/tags" Target="../tags/tag157.xml"/></Relationships>
</file>

<file path=ppt/slides/_rels/slide13.xml.rels><?xml version="1.0" encoding="UTF-8" standalone="yes"?>
<Relationships xmlns="http://schemas.openxmlformats.org/package/2006/relationships"><Relationship Id="rId20" Type="http://schemas.openxmlformats.org/officeDocument/2006/relationships/tags" Target="../tags/tag193.xml"/><Relationship Id="rId21" Type="http://schemas.openxmlformats.org/officeDocument/2006/relationships/tags" Target="../tags/tag194.xml"/><Relationship Id="rId22" Type="http://schemas.openxmlformats.org/officeDocument/2006/relationships/tags" Target="../tags/tag195.xml"/><Relationship Id="rId23" Type="http://schemas.openxmlformats.org/officeDocument/2006/relationships/tags" Target="../tags/tag196.xml"/><Relationship Id="rId24" Type="http://schemas.openxmlformats.org/officeDocument/2006/relationships/tags" Target="../tags/tag197.xml"/><Relationship Id="rId25" Type="http://schemas.openxmlformats.org/officeDocument/2006/relationships/tags" Target="../tags/tag198.xml"/><Relationship Id="rId26" Type="http://schemas.openxmlformats.org/officeDocument/2006/relationships/tags" Target="../tags/tag199.xml"/><Relationship Id="rId27" Type="http://schemas.openxmlformats.org/officeDocument/2006/relationships/tags" Target="../tags/tag200.xml"/><Relationship Id="rId28" Type="http://schemas.openxmlformats.org/officeDocument/2006/relationships/tags" Target="../tags/tag201.xml"/><Relationship Id="rId29" Type="http://schemas.openxmlformats.org/officeDocument/2006/relationships/tags" Target="../tags/tag202.xml"/><Relationship Id="rId1" Type="http://schemas.openxmlformats.org/officeDocument/2006/relationships/vmlDrawing" Target="../drawings/vmlDrawing13.vml"/><Relationship Id="rId2" Type="http://schemas.openxmlformats.org/officeDocument/2006/relationships/tags" Target="../tags/tag175.xml"/><Relationship Id="rId3" Type="http://schemas.openxmlformats.org/officeDocument/2006/relationships/tags" Target="../tags/tag176.xml"/><Relationship Id="rId4" Type="http://schemas.openxmlformats.org/officeDocument/2006/relationships/tags" Target="../tags/tag177.xml"/><Relationship Id="rId5" Type="http://schemas.openxmlformats.org/officeDocument/2006/relationships/tags" Target="../tags/tag178.xml"/><Relationship Id="rId30" Type="http://schemas.openxmlformats.org/officeDocument/2006/relationships/tags" Target="../tags/tag203.xml"/><Relationship Id="rId31" Type="http://schemas.openxmlformats.org/officeDocument/2006/relationships/tags" Target="../tags/tag204.xml"/><Relationship Id="rId32" Type="http://schemas.openxmlformats.org/officeDocument/2006/relationships/tags" Target="../tags/tag205.xml"/><Relationship Id="rId9" Type="http://schemas.openxmlformats.org/officeDocument/2006/relationships/tags" Target="../tags/tag182.xml"/><Relationship Id="rId6" Type="http://schemas.openxmlformats.org/officeDocument/2006/relationships/tags" Target="../tags/tag179.xml"/><Relationship Id="rId7" Type="http://schemas.openxmlformats.org/officeDocument/2006/relationships/tags" Target="../tags/tag180.xml"/><Relationship Id="rId8" Type="http://schemas.openxmlformats.org/officeDocument/2006/relationships/tags" Target="../tags/tag181.xml"/><Relationship Id="rId33" Type="http://schemas.openxmlformats.org/officeDocument/2006/relationships/tags" Target="../tags/tag206.xml"/><Relationship Id="rId34" Type="http://schemas.openxmlformats.org/officeDocument/2006/relationships/slideLayout" Target="../slideLayouts/slideLayout10.xml"/><Relationship Id="rId35" Type="http://schemas.openxmlformats.org/officeDocument/2006/relationships/notesSlide" Target="../notesSlides/notesSlide6.xml"/><Relationship Id="rId36" Type="http://schemas.openxmlformats.org/officeDocument/2006/relationships/oleObject" Target="../embeddings/oleObject30.bin"/><Relationship Id="rId10" Type="http://schemas.openxmlformats.org/officeDocument/2006/relationships/tags" Target="../tags/tag183.xml"/><Relationship Id="rId11" Type="http://schemas.openxmlformats.org/officeDocument/2006/relationships/tags" Target="../tags/tag184.xml"/><Relationship Id="rId12" Type="http://schemas.openxmlformats.org/officeDocument/2006/relationships/tags" Target="../tags/tag185.xml"/><Relationship Id="rId13" Type="http://schemas.openxmlformats.org/officeDocument/2006/relationships/tags" Target="../tags/tag186.xml"/><Relationship Id="rId14" Type="http://schemas.openxmlformats.org/officeDocument/2006/relationships/tags" Target="../tags/tag187.xml"/><Relationship Id="rId15" Type="http://schemas.openxmlformats.org/officeDocument/2006/relationships/tags" Target="../tags/tag188.xml"/><Relationship Id="rId16" Type="http://schemas.openxmlformats.org/officeDocument/2006/relationships/tags" Target="../tags/tag189.xml"/><Relationship Id="rId17" Type="http://schemas.openxmlformats.org/officeDocument/2006/relationships/tags" Target="../tags/tag190.xml"/><Relationship Id="rId18" Type="http://schemas.openxmlformats.org/officeDocument/2006/relationships/tags" Target="../tags/tag191.xml"/><Relationship Id="rId19" Type="http://schemas.openxmlformats.org/officeDocument/2006/relationships/tags" Target="../tags/tag192.xml"/><Relationship Id="rId37" Type="http://schemas.openxmlformats.org/officeDocument/2006/relationships/image" Target="../media/image6.emf"/><Relationship Id="rId38" Type="http://schemas.openxmlformats.org/officeDocument/2006/relationships/oleObject" Target="../embeddings/oleObject31.bin"/><Relationship Id="rId39" Type="http://schemas.openxmlformats.org/officeDocument/2006/relationships/image" Target="../media/image25.emf"/></Relationships>
</file>

<file path=ppt/slides/_rels/slide14.xml.rels><?xml version="1.0" encoding="UTF-8" standalone="yes"?>
<Relationships xmlns="http://schemas.openxmlformats.org/package/2006/relationships"><Relationship Id="rId11" Type="http://schemas.openxmlformats.org/officeDocument/2006/relationships/tags" Target="../tags/tag216.xml"/><Relationship Id="rId12" Type="http://schemas.openxmlformats.org/officeDocument/2006/relationships/tags" Target="../tags/tag217.xml"/><Relationship Id="rId13" Type="http://schemas.openxmlformats.org/officeDocument/2006/relationships/slideLayout" Target="../slideLayouts/slideLayout10.xml"/><Relationship Id="rId14" Type="http://schemas.openxmlformats.org/officeDocument/2006/relationships/oleObject" Target="../embeddings/oleObject32.bin"/><Relationship Id="rId15" Type="http://schemas.openxmlformats.org/officeDocument/2006/relationships/image" Target="../media/image6.emf"/><Relationship Id="rId1" Type="http://schemas.openxmlformats.org/officeDocument/2006/relationships/vmlDrawing" Target="../drawings/vmlDrawing14.vml"/><Relationship Id="rId2" Type="http://schemas.openxmlformats.org/officeDocument/2006/relationships/tags" Target="../tags/tag207.xml"/><Relationship Id="rId3" Type="http://schemas.openxmlformats.org/officeDocument/2006/relationships/tags" Target="../tags/tag208.xml"/><Relationship Id="rId4" Type="http://schemas.openxmlformats.org/officeDocument/2006/relationships/tags" Target="../tags/tag209.xml"/><Relationship Id="rId5" Type="http://schemas.openxmlformats.org/officeDocument/2006/relationships/tags" Target="../tags/tag210.xml"/><Relationship Id="rId6" Type="http://schemas.openxmlformats.org/officeDocument/2006/relationships/tags" Target="../tags/tag211.xml"/><Relationship Id="rId7" Type="http://schemas.openxmlformats.org/officeDocument/2006/relationships/tags" Target="../tags/tag212.xml"/><Relationship Id="rId8" Type="http://schemas.openxmlformats.org/officeDocument/2006/relationships/tags" Target="../tags/tag213.xml"/><Relationship Id="rId9" Type="http://schemas.openxmlformats.org/officeDocument/2006/relationships/tags" Target="../tags/tag214.xml"/><Relationship Id="rId10" Type="http://schemas.openxmlformats.org/officeDocument/2006/relationships/tags" Target="../tags/tag215.xml"/></Relationships>
</file>

<file path=ppt/slides/_rels/slide15.xml.rels><?xml version="1.0" encoding="UTF-8" standalone="yes"?>
<Relationships xmlns="http://schemas.openxmlformats.org/package/2006/relationships"><Relationship Id="rId20" Type="http://schemas.openxmlformats.org/officeDocument/2006/relationships/tags" Target="../tags/tag236.xml"/><Relationship Id="rId21" Type="http://schemas.openxmlformats.org/officeDocument/2006/relationships/tags" Target="../tags/tag237.xml"/><Relationship Id="rId22" Type="http://schemas.openxmlformats.org/officeDocument/2006/relationships/tags" Target="../tags/tag238.xml"/><Relationship Id="rId23" Type="http://schemas.openxmlformats.org/officeDocument/2006/relationships/tags" Target="../tags/tag239.xml"/><Relationship Id="rId24" Type="http://schemas.openxmlformats.org/officeDocument/2006/relationships/tags" Target="../tags/tag240.xml"/><Relationship Id="rId25" Type="http://schemas.openxmlformats.org/officeDocument/2006/relationships/tags" Target="../tags/tag241.xml"/><Relationship Id="rId26" Type="http://schemas.openxmlformats.org/officeDocument/2006/relationships/tags" Target="../tags/tag242.xml"/><Relationship Id="rId27" Type="http://schemas.openxmlformats.org/officeDocument/2006/relationships/tags" Target="../tags/tag243.xml"/><Relationship Id="rId28" Type="http://schemas.openxmlformats.org/officeDocument/2006/relationships/tags" Target="../tags/tag244.xml"/><Relationship Id="rId29" Type="http://schemas.openxmlformats.org/officeDocument/2006/relationships/tags" Target="../tags/tag245.xml"/><Relationship Id="rId1" Type="http://schemas.openxmlformats.org/officeDocument/2006/relationships/vmlDrawing" Target="../drawings/vmlDrawing15.vml"/><Relationship Id="rId2" Type="http://schemas.openxmlformats.org/officeDocument/2006/relationships/tags" Target="../tags/tag218.xml"/><Relationship Id="rId3" Type="http://schemas.openxmlformats.org/officeDocument/2006/relationships/tags" Target="../tags/tag219.xml"/><Relationship Id="rId4" Type="http://schemas.openxmlformats.org/officeDocument/2006/relationships/tags" Target="../tags/tag220.xml"/><Relationship Id="rId5" Type="http://schemas.openxmlformats.org/officeDocument/2006/relationships/tags" Target="../tags/tag221.xml"/><Relationship Id="rId30" Type="http://schemas.openxmlformats.org/officeDocument/2006/relationships/tags" Target="../tags/tag246.xml"/><Relationship Id="rId31" Type="http://schemas.openxmlformats.org/officeDocument/2006/relationships/tags" Target="../tags/tag247.xml"/><Relationship Id="rId32" Type="http://schemas.openxmlformats.org/officeDocument/2006/relationships/tags" Target="../tags/tag248.xml"/><Relationship Id="rId9" Type="http://schemas.openxmlformats.org/officeDocument/2006/relationships/tags" Target="../tags/tag225.xml"/><Relationship Id="rId6" Type="http://schemas.openxmlformats.org/officeDocument/2006/relationships/tags" Target="../tags/tag222.xml"/><Relationship Id="rId7" Type="http://schemas.openxmlformats.org/officeDocument/2006/relationships/tags" Target="../tags/tag223.xml"/><Relationship Id="rId8" Type="http://schemas.openxmlformats.org/officeDocument/2006/relationships/tags" Target="../tags/tag224.xml"/><Relationship Id="rId33" Type="http://schemas.openxmlformats.org/officeDocument/2006/relationships/tags" Target="../tags/tag249.xml"/><Relationship Id="rId34" Type="http://schemas.openxmlformats.org/officeDocument/2006/relationships/slideLayout" Target="../slideLayouts/slideLayout10.xml"/><Relationship Id="rId35" Type="http://schemas.openxmlformats.org/officeDocument/2006/relationships/oleObject" Target="../embeddings/oleObject33.bin"/><Relationship Id="rId36" Type="http://schemas.openxmlformats.org/officeDocument/2006/relationships/image" Target="../media/image26.emf"/><Relationship Id="rId10" Type="http://schemas.openxmlformats.org/officeDocument/2006/relationships/tags" Target="../tags/tag226.xml"/><Relationship Id="rId11" Type="http://schemas.openxmlformats.org/officeDocument/2006/relationships/tags" Target="../tags/tag227.xml"/><Relationship Id="rId12" Type="http://schemas.openxmlformats.org/officeDocument/2006/relationships/tags" Target="../tags/tag228.xml"/><Relationship Id="rId13" Type="http://schemas.openxmlformats.org/officeDocument/2006/relationships/tags" Target="../tags/tag229.xml"/><Relationship Id="rId14" Type="http://schemas.openxmlformats.org/officeDocument/2006/relationships/tags" Target="../tags/tag230.xml"/><Relationship Id="rId15" Type="http://schemas.openxmlformats.org/officeDocument/2006/relationships/tags" Target="../tags/tag231.xml"/><Relationship Id="rId16" Type="http://schemas.openxmlformats.org/officeDocument/2006/relationships/tags" Target="../tags/tag232.xml"/><Relationship Id="rId17" Type="http://schemas.openxmlformats.org/officeDocument/2006/relationships/tags" Target="../tags/tag233.xml"/><Relationship Id="rId18" Type="http://schemas.openxmlformats.org/officeDocument/2006/relationships/tags" Target="../tags/tag234.xml"/><Relationship Id="rId19" Type="http://schemas.openxmlformats.org/officeDocument/2006/relationships/tags" Target="../tags/tag235.xml"/><Relationship Id="rId37" Type="http://schemas.openxmlformats.org/officeDocument/2006/relationships/oleObject" Target="../embeddings/oleObject34.bin"/><Relationship Id="rId38" Type="http://schemas.openxmlformats.org/officeDocument/2006/relationships/image" Target="../media/image27.emf"/></Relationships>
</file>

<file path=ppt/slides/_rels/slide16.xml.rels><?xml version="1.0" encoding="UTF-8" standalone="yes"?>
<Relationships xmlns="http://schemas.openxmlformats.org/package/2006/relationships"><Relationship Id="rId9" Type="http://schemas.openxmlformats.org/officeDocument/2006/relationships/tags" Target="../tags/tag257.xml"/><Relationship Id="rId20" Type="http://schemas.openxmlformats.org/officeDocument/2006/relationships/tags" Target="../tags/tag268.xml"/><Relationship Id="rId21" Type="http://schemas.openxmlformats.org/officeDocument/2006/relationships/tags" Target="../tags/tag269.xml"/><Relationship Id="rId22" Type="http://schemas.openxmlformats.org/officeDocument/2006/relationships/tags" Target="../tags/tag270.xml"/><Relationship Id="rId23" Type="http://schemas.openxmlformats.org/officeDocument/2006/relationships/tags" Target="../tags/tag271.xml"/><Relationship Id="rId24" Type="http://schemas.openxmlformats.org/officeDocument/2006/relationships/tags" Target="../tags/tag272.xml"/><Relationship Id="rId25" Type="http://schemas.openxmlformats.org/officeDocument/2006/relationships/slideLayout" Target="../slideLayouts/slideLayout10.xml"/><Relationship Id="rId26" Type="http://schemas.openxmlformats.org/officeDocument/2006/relationships/oleObject" Target="../embeddings/oleObject35.bin"/><Relationship Id="rId27" Type="http://schemas.openxmlformats.org/officeDocument/2006/relationships/image" Target="../media/image6.emf"/><Relationship Id="rId28" Type="http://schemas.openxmlformats.org/officeDocument/2006/relationships/oleObject" Target="../embeddings/oleObject36.bin"/><Relationship Id="rId29" Type="http://schemas.openxmlformats.org/officeDocument/2006/relationships/image" Target="../media/image28.emf"/><Relationship Id="rId10" Type="http://schemas.openxmlformats.org/officeDocument/2006/relationships/tags" Target="../tags/tag258.xml"/><Relationship Id="rId11" Type="http://schemas.openxmlformats.org/officeDocument/2006/relationships/tags" Target="../tags/tag259.xml"/><Relationship Id="rId12" Type="http://schemas.openxmlformats.org/officeDocument/2006/relationships/tags" Target="../tags/tag260.xml"/><Relationship Id="rId13" Type="http://schemas.openxmlformats.org/officeDocument/2006/relationships/tags" Target="../tags/tag261.xml"/><Relationship Id="rId14" Type="http://schemas.openxmlformats.org/officeDocument/2006/relationships/tags" Target="../tags/tag262.xml"/><Relationship Id="rId15" Type="http://schemas.openxmlformats.org/officeDocument/2006/relationships/tags" Target="../tags/tag263.xml"/><Relationship Id="rId16" Type="http://schemas.openxmlformats.org/officeDocument/2006/relationships/tags" Target="../tags/tag264.xml"/><Relationship Id="rId17" Type="http://schemas.openxmlformats.org/officeDocument/2006/relationships/tags" Target="../tags/tag265.xml"/><Relationship Id="rId18" Type="http://schemas.openxmlformats.org/officeDocument/2006/relationships/tags" Target="../tags/tag266.xml"/><Relationship Id="rId19" Type="http://schemas.openxmlformats.org/officeDocument/2006/relationships/tags" Target="../tags/tag267.xml"/><Relationship Id="rId1" Type="http://schemas.openxmlformats.org/officeDocument/2006/relationships/vmlDrawing" Target="../drawings/vmlDrawing16.vml"/><Relationship Id="rId2" Type="http://schemas.openxmlformats.org/officeDocument/2006/relationships/tags" Target="../tags/tag250.xml"/><Relationship Id="rId3" Type="http://schemas.openxmlformats.org/officeDocument/2006/relationships/tags" Target="../tags/tag251.xml"/><Relationship Id="rId4" Type="http://schemas.openxmlformats.org/officeDocument/2006/relationships/tags" Target="../tags/tag252.xml"/><Relationship Id="rId5" Type="http://schemas.openxmlformats.org/officeDocument/2006/relationships/tags" Target="../tags/tag253.xml"/><Relationship Id="rId6" Type="http://schemas.openxmlformats.org/officeDocument/2006/relationships/tags" Target="../tags/tag254.xml"/><Relationship Id="rId7" Type="http://schemas.openxmlformats.org/officeDocument/2006/relationships/tags" Target="../tags/tag255.xml"/><Relationship Id="rId8" Type="http://schemas.openxmlformats.org/officeDocument/2006/relationships/tags" Target="../tags/tag256.xml"/></Relationships>
</file>

<file path=ppt/slides/_rels/slide17.xml.rels><?xml version="1.0" encoding="UTF-8" standalone="yes"?>
<Relationships xmlns="http://schemas.openxmlformats.org/package/2006/relationships"><Relationship Id="rId20" Type="http://schemas.openxmlformats.org/officeDocument/2006/relationships/tags" Target="../tags/tag291.xml"/><Relationship Id="rId21" Type="http://schemas.openxmlformats.org/officeDocument/2006/relationships/tags" Target="../tags/tag292.xml"/><Relationship Id="rId22" Type="http://schemas.openxmlformats.org/officeDocument/2006/relationships/tags" Target="../tags/tag293.xml"/><Relationship Id="rId23" Type="http://schemas.openxmlformats.org/officeDocument/2006/relationships/tags" Target="../tags/tag294.xml"/><Relationship Id="rId24" Type="http://schemas.openxmlformats.org/officeDocument/2006/relationships/tags" Target="../tags/tag295.xml"/><Relationship Id="rId25" Type="http://schemas.openxmlformats.org/officeDocument/2006/relationships/tags" Target="../tags/tag296.xml"/><Relationship Id="rId26" Type="http://schemas.openxmlformats.org/officeDocument/2006/relationships/tags" Target="../tags/tag297.xml"/><Relationship Id="rId27" Type="http://schemas.openxmlformats.org/officeDocument/2006/relationships/tags" Target="../tags/tag298.xml"/><Relationship Id="rId28" Type="http://schemas.openxmlformats.org/officeDocument/2006/relationships/tags" Target="../tags/tag299.xml"/><Relationship Id="rId29" Type="http://schemas.openxmlformats.org/officeDocument/2006/relationships/tags" Target="../tags/tag300.xml"/><Relationship Id="rId1" Type="http://schemas.openxmlformats.org/officeDocument/2006/relationships/vmlDrawing" Target="../drawings/vmlDrawing17.vml"/><Relationship Id="rId2" Type="http://schemas.openxmlformats.org/officeDocument/2006/relationships/tags" Target="../tags/tag273.xml"/><Relationship Id="rId3" Type="http://schemas.openxmlformats.org/officeDocument/2006/relationships/tags" Target="../tags/tag274.xml"/><Relationship Id="rId4" Type="http://schemas.openxmlformats.org/officeDocument/2006/relationships/tags" Target="../tags/tag275.xml"/><Relationship Id="rId5" Type="http://schemas.openxmlformats.org/officeDocument/2006/relationships/tags" Target="../tags/tag276.xml"/><Relationship Id="rId30" Type="http://schemas.openxmlformats.org/officeDocument/2006/relationships/tags" Target="../tags/tag301.xml"/><Relationship Id="rId31" Type="http://schemas.openxmlformats.org/officeDocument/2006/relationships/tags" Target="../tags/tag302.xml"/><Relationship Id="rId32" Type="http://schemas.openxmlformats.org/officeDocument/2006/relationships/tags" Target="../tags/tag303.xml"/><Relationship Id="rId9" Type="http://schemas.openxmlformats.org/officeDocument/2006/relationships/tags" Target="../tags/tag280.xml"/><Relationship Id="rId6" Type="http://schemas.openxmlformats.org/officeDocument/2006/relationships/tags" Target="../tags/tag277.xml"/><Relationship Id="rId7" Type="http://schemas.openxmlformats.org/officeDocument/2006/relationships/tags" Target="../tags/tag278.xml"/><Relationship Id="rId8" Type="http://schemas.openxmlformats.org/officeDocument/2006/relationships/tags" Target="../tags/tag279.xml"/><Relationship Id="rId33" Type="http://schemas.openxmlformats.org/officeDocument/2006/relationships/tags" Target="../tags/tag304.xml"/><Relationship Id="rId34" Type="http://schemas.openxmlformats.org/officeDocument/2006/relationships/slideLayout" Target="../slideLayouts/slideLayout10.xml"/><Relationship Id="rId35" Type="http://schemas.openxmlformats.org/officeDocument/2006/relationships/oleObject" Target="../embeddings/oleObject37.bin"/><Relationship Id="rId36" Type="http://schemas.openxmlformats.org/officeDocument/2006/relationships/image" Target="../media/image26.emf"/><Relationship Id="rId10" Type="http://schemas.openxmlformats.org/officeDocument/2006/relationships/tags" Target="../tags/tag281.xml"/><Relationship Id="rId11" Type="http://schemas.openxmlformats.org/officeDocument/2006/relationships/tags" Target="../tags/tag282.xml"/><Relationship Id="rId12" Type="http://schemas.openxmlformats.org/officeDocument/2006/relationships/tags" Target="../tags/tag283.xml"/><Relationship Id="rId13" Type="http://schemas.openxmlformats.org/officeDocument/2006/relationships/tags" Target="../tags/tag284.xml"/><Relationship Id="rId14" Type="http://schemas.openxmlformats.org/officeDocument/2006/relationships/tags" Target="../tags/tag285.xml"/><Relationship Id="rId15" Type="http://schemas.openxmlformats.org/officeDocument/2006/relationships/tags" Target="../tags/tag286.xml"/><Relationship Id="rId16" Type="http://schemas.openxmlformats.org/officeDocument/2006/relationships/tags" Target="../tags/tag287.xml"/><Relationship Id="rId17" Type="http://schemas.openxmlformats.org/officeDocument/2006/relationships/tags" Target="../tags/tag288.xml"/><Relationship Id="rId18" Type="http://schemas.openxmlformats.org/officeDocument/2006/relationships/tags" Target="../tags/tag289.xml"/><Relationship Id="rId19" Type="http://schemas.openxmlformats.org/officeDocument/2006/relationships/tags" Target="../tags/tag290.xml"/><Relationship Id="rId37" Type="http://schemas.openxmlformats.org/officeDocument/2006/relationships/oleObject" Target="../embeddings/oleObject38.bin"/><Relationship Id="rId38" Type="http://schemas.openxmlformats.org/officeDocument/2006/relationships/image" Target="../media/image29.emf"/></Relationships>
</file>

<file path=ppt/slides/_rels/slide18.xml.rels><?xml version="1.0" encoding="UTF-8" standalone="yes"?>
<Relationships xmlns="http://schemas.openxmlformats.org/package/2006/relationships"><Relationship Id="rId13" Type="http://schemas.openxmlformats.org/officeDocument/2006/relationships/tags" Target="../tags/tag316.xml"/><Relationship Id="rId14" Type="http://schemas.openxmlformats.org/officeDocument/2006/relationships/tags" Target="../tags/tag317.xml"/><Relationship Id="rId15" Type="http://schemas.openxmlformats.org/officeDocument/2006/relationships/tags" Target="../tags/tag318.xml"/><Relationship Id="rId16" Type="http://schemas.openxmlformats.org/officeDocument/2006/relationships/tags" Target="../tags/tag319.xml"/><Relationship Id="rId17" Type="http://schemas.openxmlformats.org/officeDocument/2006/relationships/tags" Target="../tags/tag320.xml"/><Relationship Id="rId18" Type="http://schemas.openxmlformats.org/officeDocument/2006/relationships/tags" Target="../tags/tag321.xml"/><Relationship Id="rId19" Type="http://schemas.openxmlformats.org/officeDocument/2006/relationships/tags" Target="../tags/tag322.xml"/><Relationship Id="rId50" Type="http://schemas.openxmlformats.org/officeDocument/2006/relationships/tags" Target="../tags/tag353.xml"/><Relationship Id="rId51" Type="http://schemas.openxmlformats.org/officeDocument/2006/relationships/tags" Target="../tags/tag354.xml"/><Relationship Id="rId52" Type="http://schemas.openxmlformats.org/officeDocument/2006/relationships/tags" Target="../tags/tag355.xml"/><Relationship Id="rId53" Type="http://schemas.openxmlformats.org/officeDocument/2006/relationships/slideLayout" Target="../slideLayouts/slideLayout10.xml"/><Relationship Id="rId54" Type="http://schemas.openxmlformats.org/officeDocument/2006/relationships/oleObject" Target="../embeddings/oleObject39.bin"/><Relationship Id="rId55" Type="http://schemas.openxmlformats.org/officeDocument/2006/relationships/image" Target="../media/image26.emf"/><Relationship Id="rId56" Type="http://schemas.openxmlformats.org/officeDocument/2006/relationships/oleObject" Target="../embeddings/oleObject40.bin"/><Relationship Id="rId57" Type="http://schemas.openxmlformats.org/officeDocument/2006/relationships/image" Target="../media/image30.emf"/><Relationship Id="rId58" Type="http://schemas.openxmlformats.org/officeDocument/2006/relationships/oleObject" Target="../embeddings/oleObject41.bin"/><Relationship Id="rId59" Type="http://schemas.openxmlformats.org/officeDocument/2006/relationships/image" Target="../media/image31.emf"/><Relationship Id="rId40" Type="http://schemas.openxmlformats.org/officeDocument/2006/relationships/tags" Target="../tags/tag343.xml"/><Relationship Id="rId41" Type="http://schemas.openxmlformats.org/officeDocument/2006/relationships/tags" Target="../tags/tag344.xml"/><Relationship Id="rId42" Type="http://schemas.openxmlformats.org/officeDocument/2006/relationships/tags" Target="../tags/tag345.xml"/><Relationship Id="rId43" Type="http://schemas.openxmlformats.org/officeDocument/2006/relationships/tags" Target="../tags/tag346.xml"/><Relationship Id="rId44" Type="http://schemas.openxmlformats.org/officeDocument/2006/relationships/tags" Target="../tags/tag347.xml"/><Relationship Id="rId45" Type="http://schemas.openxmlformats.org/officeDocument/2006/relationships/tags" Target="../tags/tag348.xml"/><Relationship Id="rId46" Type="http://schemas.openxmlformats.org/officeDocument/2006/relationships/tags" Target="../tags/tag349.xml"/><Relationship Id="rId47" Type="http://schemas.openxmlformats.org/officeDocument/2006/relationships/tags" Target="../tags/tag350.xml"/><Relationship Id="rId48" Type="http://schemas.openxmlformats.org/officeDocument/2006/relationships/tags" Target="../tags/tag351.xml"/><Relationship Id="rId49" Type="http://schemas.openxmlformats.org/officeDocument/2006/relationships/tags" Target="../tags/tag352.xml"/><Relationship Id="rId1" Type="http://schemas.openxmlformats.org/officeDocument/2006/relationships/vmlDrawing" Target="../drawings/vmlDrawing18.vml"/><Relationship Id="rId2" Type="http://schemas.openxmlformats.org/officeDocument/2006/relationships/tags" Target="../tags/tag305.xml"/><Relationship Id="rId3" Type="http://schemas.openxmlformats.org/officeDocument/2006/relationships/tags" Target="../tags/tag306.xml"/><Relationship Id="rId4" Type="http://schemas.openxmlformats.org/officeDocument/2006/relationships/tags" Target="../tags/tag307.xml"/><Relationship Id="rId5" Type="http://schemas.openxmlformats.org/officeDocument/2006/relationships/tags" Target="../tags/tag308.xml"/><Relationship Id="rId6" Type="http://schemas.openxmlformats.org/officeDocument/2006/relationships/tags" Target="../tags/tag309.xml"/><Relationship Id="rId7" Type="http://schemas.openxmlformats.org/officeDocument/2006/relationships/tags" Target="../tags/tag310.xml"/><Relationship Id="rId8" Type="http://schemas.openxmlformats.org/officeDocument/2006/relationships/tags" Target="../tags/tag311.xml"/><Relationship Id="rId9" Type="http://schemas.openxmlformats.org/officeDocument/2006/relationships/tags" Target="../tags/tag312.xml"/><Relationship Id="rId30" Type="http://schemas.openxmlformats.org/officeDocument/2006/relationships/tags" Target="../tags/tag333.xml"/><Relationship Id="rId31" Type="http://schemas.openxmlformats.org/officeDocument/2006/relationships/tags" Target="../tags/tag334.xml"/><Relationship Id="rId32" Type="http://schemas.openxmlformats.org/officeDocument/2006/relationships/tags" Target="../tags/tag335.xml"/><Relationship Id="rId33" Type="http://schemas.openxmlformats.org/officeDocument/2006/relationships/tags" Target="../tags/tag336.xml"/><Relationship Id="rId34" Type="http://schemas.openxmlformats.org/officeDocument/2006/relationships/tags" Target="../tags/tag337.xml"/><Relationship Id="rId35" Type="http://schemas.openxmlformats.org/officeDocument/2006/relationships/tags" Target="../tags/tag338.xml"/><Relationship Id="rId36" Type="http://schemas.openxmlformats.org/officeDocument/2006/relationships/tags" Target="../tags/tag339.xml"/><Relationship Id="rId37" Type="http://schemas.openxmlformats.org/officeDocument/2006/relationships/tags" Target="../tags/tag340.xml"/><Relationship Id="rId38" Type="http://schemas.openxmlformats.org/officeDocument/2006/relationships/tags" Target="../tags/tag341.xml"/><Relationship Id="rId39" Type="http://schemas.openxmlformats.org/officeDocument/2006/relationships/tags" Target="../tags/tag342.xml"/><Relationship Id="rId20" Type="http://schemas.openxmlformats.org/officeDocument/2006/relationships/tags" Target="../tags/tag323.xml"/><Relationship Id="rId21" Type="http://schemas.openxmlformats.org/officeDocument/2006/relationships/tags" Target="../tags/tag324.xml"/><Relationship Id="rId22" Type="http://schemas.openxmlformats.org/officeDocument/2006/relationships/tags" Target="../tags/tag325.xml"/><Relationship Id="rId23" Type="http://schemas.openxmlformats.org/officeDocument/2006/relationships/tags" Target="../tags/tag326.xml"/><Relationship Id="rId24" Type="http://schemas.openxmlformats.org/officeDocument/2006/relationships/tags" Target="../tags/tag327.xml"/><Relationship Id="rId25" Type="http://schemas.openxmlformats.org/officeDocument/2006/relationships/tags" Target="../tags/tag328.xml"/><Relationship Id="rId26" Type="http://schemas.openxmlformats.org/officeDocument/2006/relationships/tags" Target="../tags/tag329.xml"/><Relationship Id="rId27" Type="http://schemas.openxmlformats.org/officeDocument/2006/relationships/tags" Target="../tags/tag330.xml"/><Relationship Id="rId28" Type="http://schemas.openxmlformats.org/officeDocument/2006/relationships/tags" Target="../tags/tag331.xml"/><Relationship Id="rId29" Type="http://schemas.openxmlformats.org/officeDocument/2006/relationships/tags" Target="../tags/tag332.xml"/><Relationship Id="rId60" Type="http://schemas.openxmlformats.org/officeDocument/2006/relationships/oleObject" Target="../embeddings/oleObject42.bin"/><Relationship Id="rId61" Type="http://schemas.openxmlformats.org/officeDocument/2006/relationships/image" Target="../media/image32.emf"/><Relationship Id="rId10" Type="http://schemas.openxmlformats.org/officeDocument/2006/relationships/tags" Target="../tags/tag313.xml"/><Relationship Id="rId11" Type="http://schemas.openxmlformats.org/officeDocument/2006/relationships/tags" Target="../tags/tag314.xml"/><Relationship Id="rId12" Type="http://schemas.openxmlformats.org/officeDocument/2006/relationships/tags" Target="../tags/tag315.xml"/></Relationships>
</file>

<file path=ppt/slides/_rels/slide19.xml.rels><?xml version="1.0" encoding="UTF-8" standalone="yes"?>
<Relationships xmlns="http://schemas.openxmlformats.org/package/2006/relationships"><Relationship Id="rId9" Type="http://schemas.openxmlformats.org/officeDocument/2006/relationships/tags" Target="../tags/tag363.xml"/><Relationship Id="rId20" Type="http://schemas.openxmlformats.org/officeDocument/2006/relationships/tags" Target="../tags/tag374.xml"/><Relationship Id="rId21" Type="http://schemas.openxmlformats.org/officeDocument/2006/relationships/tags" Target="../tags/tag375.xml"/><Relationship Id="rId22" Type="http://schemas.openxmlformats.org/officeDocument/2006/relationships/tags" Target="../tags/tag376.xml"/><Relationship Id="rId23" Type="http://schemas.openxmlformats.org/officeDocument/2006/relationships/tags" Target="../tags/tag377.xml"/><Relationship Id="rId24" Type="http://schemas.openxmlformats.org/officeDocument/2006/relationships/tags" Target="../tags/tag378.xml"/><Relationship Id="rId25" Type="http://schemas.openxmlformats.org/officeDocument/2006/relationships/tags" Target="../tags/tag379.xml"/><Relationship Id="rId26" Type="http://schemas.openxmlformats.org/officeDocument/2006/relationships/tags" Target="../tags/tag380.xml"/><Relationship Id="rId27" Type="http://schemas.openxmlformats.org/officeDocument/2006/relationships/slideLayout" Target="../slideLayouts/slideLayout10.xml"/><Relationship Id="rId28" Type="http://schemas.openxmlformats.org/officeDocument/2006/relationships/oleObject" Target="../embeddings/oleObject43.bin"/><Relationship Id="rId29" Type="http://schemas.openxmlformats.org/officeDocument/2006/relationships/image" Target="../media/image26.emf"/><Relationship Id="rId30" Type="http://schemas.openxmlformats.org/officeDocument/2006/relationships/oleObject" Target="../embeddings/oleObject44.bin"/><Relationship Id="rId31" Type="http://schemas.openxmlformats.org/officeDocument/2006/relationships/image" Target="../media/image33.emf"/><Relationship Id="rId10" Type="http://schemas.openxmlformats.org/officeDocument/2006/relationships/tags" Target="../tags/tag364.xml"/><Relationship Id="rId11" Type="http://schemas.openxmlformats.org/officeDocument/2006/relationships/tags" Target="../tags/tag365.xml"/><Relationship Id="rId12" Type="http://schemas.openxmlformats.org/officeDocument/2006/relationships/tags" Target="../tags/tag366.xml"/><Relationship Id="rId13" Type="http://schemas.openxmlformats.org/officeDocument/2006/relationships/tags" Target="../tags/tag367.xml"/><Relationship Id="rId14" Type="http://schemas.openxmlformats.org/officeDocument/2006/relationships/tags" Target="../tags/tag368.xml"/><Relationship Id="rId15" Type="http://schemas.openxmlformats.org/officeDocument/2006/relationships/tags" Target="../tags/tag369.xml"/><Relationship Id="rId16" Type="http://schemas.openxmlformats.org/officeDocument/2006/relationships/tags" Target="../tags/tag370.xml"/><Relationship Id="rId17" Type="http://schemas.openxmlformats.org/officeDocument/2006/relationships/tags" Target="../tags/tag371.xml"/><Relationship Id="rId18" Type="http://schemas.openxmlformats.org/officeDocument/2006/relationships/tags" Target="../tags/tag372.xml"/><Relationship Id="rId19" Type="http://schemas.openxmlformats.org/officeDocument/2006/relationships/tags" Target="../tags/tag373.xml"/><Relationship Id="rId1" Type="http://schemas.openxmlformats.org/officeDocument/2006/relationships/vmlDrawing" Target="../drawings/vmlDrawing19.vml"/><Relationship Id="rId2" Type="http://schemas.openxmlformats.org/officeDocument/2006/relationships/tags" Target="../tags/tag356.xml"/><Relationship Id="rId3" Type="http://schemas.openxmlformats.org/officeDocument/2006/relationships/tags" Target="../tags/tag357.xml"/><Relationship Id="rId4" Type="http://schemas.openxmlformats.org/officeDocument/2006/relationships/tags" Target="../tags/tag358.xml"/><Relationship Id="rId5" Type="http://schemas.openxmlformats.org/officeDocument/2006/relationships/tags" Target="../tags/tag359.xml"/><Relationship Id="rId6" Type="http://schemas.openxmlformats.org/officeDocument/2006/relationships/tags" Target="../tags/tag360.xml"/><Relationship Id="rId7" Type="http://schemas.openxmlformats.org/officeDocument/2006/relationships/tags" Target="../tags/tag361.xml"/><Relationship Id="rId8" Type="http://schemas.openxmlformats.org/officeDocument/2006/relationships/tags" Target="../tags/tag362.xml"/></Relationships>
</file>

<file path=ppt/slides/_rels/slide20.xml.rels><?xml version="1.0" encoding="UTF-8" standalone="yes"?>
<Relationships xmlns="http://schemas.openxmlformats.org/package/2006/relationships"><Relationship Id="rId20" Type="http://schemas.openxmlformats.org/officeDocument/2006/relationships/tags" Target="../tags/tag399.xml"/><Relationship Id="rId21" Type="http://schemas.openxmlformats.org/officeDocument/2006/relationships/tags" Target="../tags/tag400.xml"/><Relationship Id="rId22" Type="http://schemas.openxmlformats.org/officeDocument/2006/relationships/tags" Target="../tags/tag401.xml"/><Relationship Id="rId23" Type="http://schemas.openxmlformats.org/officeDocument/2006/relationships/tags" Target="../tags/tag402.xml"/><Relationship Id="rId24" Type="http://schemas.openxmlformats.org/officeDocument/2006/relationships/tags" Target="../tags/tag403.xml"/><Relationship Id="rId25" Type="http://schemas.openxmlformats.org/officeDocument/2006/relationships/tags" Target="../tags/tag404.xml"/><Relationship Id="rId26" Type="http://schemas.openxmlformats.org/officeDocument/2006/relationships/tags" Target="../tags/tag405.xml"/><Relationship Id="rId27" Type="http://schemas.openxmlformats.org/officeDocument/2006/relationships/tags" Target="../tags/tag406.xml"/><Relationship Id="rId28" Type="http://schemas.openxmlformats.org/officeDocument/2006/relationships/tags" Target="../tags/tag407.xml"/><Relationship Id="rId29" Type="http://schemas.openxmlformats.org/officeDocument/2006/relationships/tags" Target="../tags/tag408.xml"/><Relationship Id="rId1" Type="http://schemas.openxmlformats.org/officeDocument/2006/relationships/vmlDrawing" Target="../drawings/vmlDrawing20.vml"/><Relationship Id="rId2" Type="http://schemas.openxmlformats.org/officeDocument/2006/relationships/tags" Target="../tags/tag381.xml"/><Relationship Id="rId3" Type="http://schemas.openxmlformats.org/officeDocument/2006/relationships/tags" Target="../tags/tag382.xml"/><Relationship Id="rId4" Type="http://schemas.openxmlformats.org/officeDocument/2006/relationships/tags" Target="../tags/tag383.xml"/><Relationship Id="rId5" Type="http://schemas.openxmlformats.org/officeDocument/2006/relationships/tags" Target="../tags/tag384.xml"/><Relationship Id="rId30" Type="http://schemas.openxmlformats.org/officeDocument/2006/relationships/tags" Target="../tags/tag409.xml"/><Relationship Id="rId31" Type="http://schemas.openxmlformats.org/officeDocument/2006/relationships/tags" Target="../tags/tag410.xml"/><Relationship Id="rId32" Type="http://schemas.openxmlformats.org/officeDocument/2006/relationships/tags" Target="../tags/tag411.xml"/><Relationship Id="rId9" Type="http://schemas.openxmlformats.org/officeDocument/2006/relationships/tags" Target="../tags/tag388.xml"/><Relationship Id="rId6" Type="http://schemas.openxmlformats.org/officeDocument/2006/relationships/tags" Target="../tags/tag385.xml"/><Relationship Id="rId7" Type="http://schemas.openxmlformats.org/officeDocument/2006/relationships/tags" Target="../tags/tag386.xml"/><Relationship Id="rId8" Type="http://schemas.openxmlformats.org/officeDocument/2006/relationships/tags" Target="../tags/tag387.xml"/><Relationship Id="rId33" Type="http://schemas.openxmlformats.org/officeDocument/2006/relationships/tags" Target="../tags/tag412.xml"/><Relationship Id="rId34" Type="http://schemas.openxmlformats.org/officeDocument/2006/relationships/tags" Target="../tags/tag413.xml"/><Relationship Id="rId35" Type="http://schemas.openxmlformats.org/officeDocument/2006/relationships/slideLayout" Target="../slideLayouts/slideLayout10.xml"/><Relationship Id="rId36" Type="http://schemas.openxmlformats.org/officeDocument/2006/relationships/oleObject" Target="../embeddings/oleObject45.bin"/><Relationship Id="rId10" Type="http://schemas.openxmlformats.org/officeDocument/2006/relationships/tags" Target="../tags/tag389.xml"/><Relationship Id="rId11" Type="http://schemas.openxmlformats.org/officeDocument/2006/relationships/tags" Target="../tags/tag390.xml"/><Relationship Id="rId12" Type="http://schemas.openxmlformats.org/officeDocument/2006/relationships/tags" Target="../tags/tag391.xml"/><Relationship Id="rId13" Type="http://schemas.openxmlformats.org/officeDocument/2006/relationships/tags" Target="../tags/tag392.xml"/><Relationship Id="rId14" Type="http://schemas.openxmlformats.org/officeDocument/2006/relationships/tags" Target="../tags/tag393.xml"/><Relationship Id="rId15" Type="http://schemas.openxmlformats.org/officeDocument/2006/relationships/tags" Target="../tags/tag394.xml"/><Relationship Id="rId16" Type="http://schemas.openxmlformats.org/officeDocument/2006/relationships/tags" Target="../tags/tag395.xml"/><Relationship Id="rId17" Type="http://schemas.openxmlformats.org/officeDocument/2006/relationships/tags" Target="../tags/tag396.xml"/><Relationship Id="rId18" Type="http://schemas.openxmlformats.org/officeDocument/2006/relationships/tags" Target="../tags/tag397.xml"/><Relationship Id="rId19" Type="http://schemas.openxmlformats.org/officeDocument/2006/relationships/tags" Target="../tags/tag398.xml"/><Relationship Id="rId37" Type="http://schemas.openxmlformats.org/officeDocument/2006/relationships/image" Target="../media/image1.emf"/><Relationship Id="rId38" Type="http://schemas.openxmlformats.org/officeDocument/2006/relationships/oleObject" Target="../embeddings/oleObject46.bin"/><Relationship Id="rId39" Type="http://schemas.openxmlformats.org/officeDocument/2006/relationships/image" Target="../media/image34.emf"/></Relationships>
</file>

<file path=ppt/slides/_rels/slide21.xml.rels><?xml version="1.0" encoding="UTF-8" standalone="yes"?>
<Relationships xmlns="http://schemas.openxmlformats.org/package/2006/relationships"><Relationship Id="rId20" Type="http://schemas.openxmlformats.org/officeDocument/2006/relationships/tags" Target="../tags/tag432.xml"/><Relationship Id="rId21" Type="http://schemas.openxmlformats.org/officeDocument/2006/relationships/tags" Target="../tags/tag433.xml"/><Relationship Id="rId22" Type="http://schemas.openxmlformats.org/officeDocument/2006/relationships/tags" Target="../tags/tag434.xml"/><Relationship Id="rId23" Type="http://schemas.openxmlformats.org/officeDocument/2006/relationships/tags" Target="../tags/tag435.xml"/><Relationship Id="rId24" Type="http://schemas.openxmlformats.org/officeDocument/2006/relationships/tags" Target="../tags/tag436.xml"/><Relationship Id="rId25" Type="http://schemas.openxmlformats.org/officeDocument/2006/relationships/tags" Target="../tags/tag437.xml"/><Relationship Id="rId26" Type="http://schemas.openxmlformats.org/officeDocument/2006/relationships/tags" Target="../tags/tag438.xml"/><Relationship Id="rId27" Type="http://schemas.openxmlformats.org/officeDocument/2006/relationships/slideLayout" Target="../slideLayouts/slideLayout10.xml"/><Relationship Id="rId28" Type="http://schemas.openxmlformats.org/officeDocument/2006/relationships/oleObject" Target="../embeddings/oleObject47.bin"/><Relationship Id="rId29" Type="http://schemas.openxmlformats.org/officeDocument/2006/relationships/image" Target="../media/image26.emf"/><Relationship Id="rId1" Type="http://schemas.openxmlformats.org/officeDocument/2006/relationships/vmlDrawing" Target="../drawings/vmlDrawing21.vml"/><Relationship Id="rId2" Type="http://schemas.openxmlformats.org/officeDocument/2006/relationships/tags" Target="../tags/tag414.xml"/><Relationship Id="rId3" Type="http://schemas.openxmlformats.org/officeDocument/2006/relationships/tags" Target="../tags/tag415.xml"/><Relationship Id="rId4" Type="http://schemas.openxmlformats.org/officeDocument/2006/relationships/tags" Target="../tags/tag416.xml"/><Relationship Id="rId5" Type="http://schemas.openxmlformats.org/officeDocument/2006/relationships/tags" Target="../tags/tag417.xml"/><Relationship Id="rId30" Type="http://schemas.openxmlformats.org/officeDocument/2006/relationships/oleObject" Target="../embeddings/oleObject48.bin"/><Relationship Id="rId31" Type="http://schemas.openxmlformats.org/officeDocument/2006/relationships/image" Target="../media/image35.emf"/><Relationship Id="rId32" Type="http://schemas.openxmlformats.org/officeDocument/2006/relationships/oleObject" Target="../embeddings/oleObject49.bin"/><Relationship Id="rId9" Type="http://schemas.openxmlformats.org/officeDocument/2006/relationships/tags" Target="../tags/tag421.xml"/><Relationship Id="rId6" Type="http://schemas.openxmlformats.org/officeDocument/2006/relationships/tags" Target="../tags/tag418.xml"/><Relationship Id="rId7" Type="http://schemas.openxmlformats.org/officeDocument/2006/relationships/tags" Target="../tags/tag419.xml"/><Relationship Id="rId8" Type="http://schemas.openxmlformats.org/officeDocument/2006/relationships/tags" Target="../tags/tag420.xml"/><Relationship Id="rId33" Type="http://schemas.openxmlformats.org/officeDocument/2006/relationships/image" Target="../media/image36.emf"/><Relationship Id="rId10" Type="http://schemas.openxmlformats.org/officeDocument/2006/relationships/tags" Target="../tags/tag422.xml"/><Relationship Id="rId11" Type="http://schemas.openxmlformats.org/officeDocument/2006/relationships/tags" Target="../tags/tag423.xml"/><Relationship Id="rId12" Type="http://schemas.openxmlformats.org/officeDocument/2006/relationships/tags" Target="../tags/tag424.xml"/><Relationship Id="rId13" Type="http://schemas.openxmlformats.org/officeDocument/2006/relationships/tags" Target="../tags/tag425.xml"/><Relationship Id="rId14" Type="http://schemas.openxmlformats.org/officeDocument/2006/relationships/tags" Target="../tags/tag426.xml"/><Relationship Id="rId15" Type="http://schemas.openxmlformats.org/officeDocument/2006/relationships/tags" Target="../tags/tag427.xml"/><Relationship Id="rId16" Type="http://schemas.openxmlformats.org/officeDocument/2006/relationships/tags" Target="../tags/tag428.xml"/><Relationship Id="rId17" Type="http://schemas.openxmlformats.org/officeDocument/2006/relationships/tags" Target="../tags/tag429.xml"/><Relationship Id="rId18" Type="http://schemas.openxmlformats.org/officeDocument/2006/relationships/tags" Target="../tags/tag430.xml"/><Relationship Id="rId19" Type="http://schemas.openxmlformats.org/officeDocument/2006/relationships/tags" Target="../tags/tag43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notesSlide" Target="../notesSlides/notesSlide7.xml"/><Relationship Id="rId5" Type="http://schemas.openxmlformats.org/officeDocument/2006/relationships/oleObject" Target="../embeddings/oleObject50.bin"/><Relationship Id="rId6" Type="http://schemas.openxmlformats.org/officeDocument/2006/relationships/image" Target="../media/image6.emf"/><Relationship Id="rId1" Type="http://schemas.openxmlformats.org/officeDocument/2006/relationships/vmlDrawing" Target="../drawings/vmlDrawing22.vml"/><Relationship Id="rId2" Type="http://schemas.openxmlformats.org/officeDocument/2006/relationships/tags" Target="../tags/tag43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notesSlide" Target="../notesSlides/notesSlide8.xml"/><Relationship Id="rId5" Type="http://schemas.openxmlformats.org/officeDocument/2006/relationships/oleObject" Target="../embeddings/oleObject51.bin"/><Relationship Id="rId6" Type="http://schemas.openxmlformats.org/officeDocument/2006/relationships/image" Target="../media/image6.emf"/><Relationship Id="rId1" Type="http://schemas.openxmlformats.org/officeDocument/2006/relationships/vmlDrawing" Target="../drawings/vmlDrawing23.vml"/><Relationship Id="rId2" Type="http://schemas.openxmlformats.org/officeDocument/2006/relationships/tags" Target="../tags/tag440.xml"/></Relationships>
</file>

<file path=ppt/slides/_rels/slide24.xml.rels><?xml version="1.0" encoding="UTF-8" standalone="yes"?>
<Relationships xmlns="http://schemas.openxmlformats.org/package/2006/relationships"><Relationship Id="rId20" Type="http://schemas.openxmlformats.org/officeDocument/2006/relationships/tags" Target="../tags/tag459.xml"/><Relationship Id="rId21" Type="http://schemas.openxmlformats.org/officeDocument/2006/relationships/tags" Target="../tags/tag460.xml"/><Relationship Id="rId22" Type="http://schemas.openxmlformats.org/officeDocument/2006/relationships/tags" Target="../tags/tag461.xml"/><Relationship Id="rId23" Type="http://schemas.openxmlformats.org/officeDocument/2006/relationships/tags" Target="../tags/tag462.xml"/><Relationship Id="rId24" Type="http://schemas.openxmlformats.org/officeDocument/2006/relationships/tags" Target="../tags/tag463.xml"/><Relationship Id="rId25" Type="http://schemas.openxmlformats.org/officeDocument/2006/relationships/tags" Target="../tags/tag464.xml"/><Relationship Id="rId26" Type="http://schemas.openxmlformats.org/officeDocument/2006/relationships/tags" Target="../tags/tag465.xml"/><Relationship Id="rId27" Type="http://schemas.openxmlformats.org/officeDocument/2006/relationships/tags" Target="../tags/tag466.xml"/><Relationship Id="rId28" Type="http://schemas.openxmlformats.org/officeDocument/2006/relationships/tags" Target="../tags/tag467.xml"/><Relationship Id="rId29" Type="http://schemas.openxmlformats.org/officeDocument/2006/relationships/tags" Target="../tags/tag468.xml"/><Relationship Id="rId1" Type="http://schemas.openxmlformats.org/officeDocument/2006/relationships/vmlDrawing" Target="../drawings/vmlDrawing24.vml"/><Relationship Id="rId2" Type="http://schemas.openxmlformats.org/officeDocument/2006/relationships/tags" Target="../tags/tag441.xml"/><Relationship Id="rId3" Type="http://schemas.openxmlformats.org/officeDocument/2006/relationships/tags" Target="../tags/tag442.xml"/><Relationship Id="rId4" Type="http://schemas.openxmlformats.org/officeDocument/2006/relationships/tags" Target="../tags/tag443.xml"/><Relationship Id="rId5" Type="http://schemas.openxmlformats.org/officeDocument/2006/relationships/tags" Target="../tags/tag444.xml"/><Relationship Id="rId30" Type="http://schemas.openxmlformats.org/officeDocument/2006/relationships/tags" Target="../tags/tag469.xml"/><Relationship Id="rId31" Type="http://schemas.openxmlformats.org/officeDocument/2006/relationships/tags" Target="../tags/tag470.xml"/><Relationship Id="rId32" Type="http://schemas.openxmlformats.org/officeDocument/2006/relationships/tags" Target="../tags/tag471.xml"/><Relationship Id="rId9" Type="http://schemas.openxmlformats.org/officeDocument/2006/relationships/tags" Target="../tags/tag448.xml"/><Relationship Id="rId6" Type="http://schemas.openxmlformats.org/officeDocument/2006/relationships/tags" Target="../tags/tag445.xml"/><Relationship Id="rId7" Type="http://schemas.openxmlformats.org/officeDocument/2006/relationships/tags" Target="../tags/tag446.xml"/><Relationship Id="rId8" Type="http://schemas.openxmlformats.org/officeDocument/2006/relationships/tags" Target="../tags/tag447.xml"/><Relationship Id="rId33" Type="http://schemas.openxmlformats.org/officeDocument/2006/relationships/slideLayout" Target="../slideLayouts/slideLayout10.xml"/><Relationship Id="rId34" Type="http://schemas.openxmlformats.org/officeDocument/2006/relationships/oleObject" Target="../embeddings/oleObject52.bin"/><Relationship Id="rId35" Type="http://schemas.openxmlformats.org/officeDocument/2006/relationships/image" Target="../media/image26.emf"/><Relationship Id="rId36" Type="http://schemas.openxmlformats.org/officeDocument/2006/relationships/oleObject" Target="../embeddings/oleObject53.bin"/><Relationship Id="rId10" Type="http://schemas.openxmlformats.org/officeDocument/2006/relationships/tags" Target="../tags/tag449.xml"/><Relationship Id="rId11" Type="http://schemas.openxmlformats.org/officeDocument/2006/relationships/tags" Target="../tags/tag450.xml"/><Relationship Id="rId12" Type="http://schemas.openxmlformats.org/officeDocument/2006/relationships/tags" Target="../tags/tag451.xml"/><Relationship Id="rId13" Type="http://schemas.openxmlformats.org/officeDocument/2006/relationships/tags" Target="../tags/tag452.xml"/><Relationship Id="rId14" Type="http://schemas.openxmlformats.org/officeDocument/2006/relationships/tags" Target="../tags/tag453.xml"/><Relationship Id="rId15" Type="http://schemas.openxmlformats.org/officeDocument/2006/relationships/tags" Target="../tags/tag454.xml"/><Relationship Id="rId16" Type="http://schemas.openxmlformats.org/officeDocument/2006/relationships/tags" Target="../tags/tag455.xml"/><Relationship Id="rId17" Type="http://schemas.openxmlformats.org/officeDocument/2006/relationships/tags" Target="../tags/tag456.xml"/><Relationship Id="rId18" Type="http://schemas.openxmlformats.org/officeDocument/2006/relationships/tags" Target="../tags/tag457.xml"/><Relationship Id="rId19" Type="http://schemas.openxmlformats.org/officeDocument/2006/relationships/tags" Target="../tags/tag458.xml"/><Relationship Id="rId37" Type="http://schemas.openxmlformats.org/officeDocument/2006/relationships/image" Target="../media/image37.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tags" Target="../tags/tag473.xml"/><Relationship Id="rId4" Type="http://schemas.openxmlformats.org/officeDocument/2006/relationships/slideLayout" Target="../slideLayouts/slideLayout10.xml"/><Relationship Id="rId5" Type="http://schemas.openxmlformats.org/officeDocument/2006/relationships/notesSlide" Target="../notesSlides/notesSlide9.xml"/><Relationship Id="rId6" Type="http://schemas.openxmlformats.org/officeDocument/2006/relationships/oleObject" Target="../embeddings/oleObject54.bin"/><Relationship Id="rId7" Type="http://schemas.openxmlformats.org/officeDocument/2006/relationships/image" Target="../media/image1.emf"/><Relationship Id="rId8" Type="http://schemas.openxmlformats.org/officeDocument/2006/relationships/image" Target="../media/image38.emf"/><Relationship Id="rId1" Type="http://schemas.openxmlformats.org/officeDocument/2006/relationships/vmlDrawing" Target="../drawings/vmlDrawing25.vml"/><Relationship Id="rId2" Type="http://schemas.openxmlformats.org/officeDocument/2006/relationships/tags" Target="../tags/tag472.xml"/></Relationships>
</file>

<file path=ppt/slides/_rels/slide27.xml.rels><?xml version="1.0" encoding="UTF-8" standalone="yes"?>
<Relationships xmlns="http://schemas.openxmlformats.org/package/2006/relationships"><Relationship Id="rId20" Type="http://schemas.openxmlformats.org/officeDocument/2006/relationships/tags" Target="../tags/tag492.xml"/><Relationship Id="rId21" Type="http://schemas.openxmlformats.org/officeDocument/2006/relationships/tags" Target="../tags/tag493.xml"/><Relationship Id="rId22" Type="http://schemas.openxmlformats.org/officeDocument/2006/relationships/tags" Target="../tags/tag494.xml"/><Relationship Id="rId23" Type="http://schemas.openxmlformats.org/officeDocument/2006/relationships/tags" Target="../tags/tag495.xml"/><Relationship Id="rId24" Type="http://schemas.openxmlformats.org/officeDocument/2006/relationships/tags" Target="../tags/tag496.xml"/><Relationship Id="rId25" Type="http://schemas.openxmlformats.org/officeDocument/2006/relationships/tags" Target="../tags/tag497.xml"/><Relationship Id="rId26" Type="http://schemas.openxmlformats.org/officeDocument/2006/relationships/tags" Target="../tags/tag498.xml"/><Relationship Id="rId27" Type="http://schemas.openxmlformats.org/officeDocument/2006/relationships/tags" Target="../tags/tag499.xml"/><Relationship Id="rId28" Type="http://schemas.openxmlformats.org/officeDocument/2006/relationships/tags" Target="../tags/tag500.xml"/><Relationship Id="rId29" Type="http://schemas.openxmlformats.org/officeDocument/2006/relationships/tags" Target="../tags/tag501.xml"/><Relationship Id="rId1" Type="http://schemas.openxmlformats.org/officeDocument/2006/relationships/vmlDrawing" Target="../drawings/vmlDrawing26.vml"/><Relationship Id="rId2" Type="http://schemas.openxmlformats.org/officeDocument/2006/relationships/tags" Target="../tags/tag474.xml"/><Relationship Id="rId3" Type="http://schemas.openxmlformats.org/officeDocument/2006/relationships/tags" Target="../tags/tag475.xml"/><Relationship Id="rId4" Type="http://schemas.openxmlformats.org/officeDocument/2006/relationships/tags" Target="../tags/tag476.xml"/><Relationship Id="rId5" Type="http://schemas.openxmlformats.org/officeDocument/2006/relationships/tags" Target="../tags/tag477.xml"/><Relationship Id="rId30" Type="http://schemas.openxmlformats.org/officeDocument/2006/relationships/tags" Target="../tags/tag502.xml"/><Relationship Id="rId31" Type="http://schemas.openxmlformats.org/officeDocument/2006/relationships/tags" Target="../tags/tag503.xml"/><Relationship Id="rId32" Type="http://schemas.openxmlformats.org/officeDocument/2006/relationships/tags" Target="../tags/tag504.xml"/><Relationship Id="rId9" Type="http://schemas.openxmlformats.org/officeDocument/2006/relationships/tags" Target="../tags/tag481.xml"/><Relationship Id="rId6" Type="http://schemas.openxmlformats.org/officeDocument/2006/relationships/tags" Target="../tags/tag478.xml"/><Relationship Id="rId7" Type="http://schemas.openxmlformats.org/officeDocument/2006/relationships/tags" Target="../tags/tag479.xml"/><Relationship Id="rId8" Type="http://schemas.openxmlformats.org/officeDocument/2006/relationships/tags" Target="../tags/tag480.xml"/><Relationship Id="rId33" Type="http://schemas.openxmlformats.org/officeDocument/2006/relationships/slideLayout" Target="../slideLayouts/slideLayout10.xml"/><Relationship Id="rId34" Type="http://schemas.openxmlformats.org/officeDocument/2006/relationships/oleObject" Target="../embeddings/oleObject55.bin"/><Relationship Id="rId35" Type="http://schemas.openxmlformats.org/officeDocument/2006/relationships/image" Target="../media/image1.emf"/><Relationship Id="rId36" Type="http://schemas.openxmlformats.org/officeDocument/2006/relationships/oleObject" Target="../embeddings/oleObject56.bin"/><Relationship Id="rId10" Type="http://schemas.openxmlformats.org/officeDocument/2006/relationships/tags" Target="../tags/tag482.xml"/><Relationship Id="rId11" Type="http://schemas.openxmlformats.org/officeDocument/2006/relationships/tags" Target="../tags/tag483.xml"/><Relationship Id="rId12" Type="http://schemas.openxmlformats.org/officeDocument/2006/relationships/tags" Target="../tags/tag484.xml"/><Relationship Id="rId13" Type="http://schemas.openxmlformats.org/officeDocument/2006/relationships/tags" Target="../tags/tag485.xml"/><Relationship Id="rId14" Type="http://schemas.openxmlformats.org/officeDocument/2006/relationships/tags" Target="../tags/tag486.xml"/><Relationship Id="rId15" Type="http://schemas.openxmlformats.org/officeDocument/2006/relationships/tags" Target="../tags/tag487.xml"/><Relationship Id="rId16" Type="http://schemas.openxmlformats.org/officeDocument/2006/relationships/tags" Target="../tags/tag488.xml"/><Relationship Id="rId17" Type="http://schemas.openxmlformats.org/officeDocument/2006/relationships/tags" Target="../tags/tag489.xml"/><Relationship Id="rId18" Type="http://schemas.openxmlformats.org/officeDocument/2006/relationships/tags" Target="../tags/tag490.xml"/><Relationship Id="rId19" Type="http://schemas.openxmlformats.org/officeDocument/2006/relationships/tags" Target="../tags/tag491.xml"/><Relationship Id="rId37" Type="http://schemas.openxmlformats.org/officeDocument/2006/relationships/image" Target="../media/image39.emf"/><Relationship Id="rId38" Type="http://schemas.openxmlformats.org/officeDocument/2006/relationships/oleObject" Target="../embeddings/oleObject57.bin"/><Relationship Id="rId39" Type="http://schemas.openxmlformats.org/officeDocument/2006/relationships/image" Target="../media/image40.emf"/></Relationships>
</file>

<file path=ppt/slides/_rels/slide28.xml.rels><?xml version="1.0" encoding="UTF-8" standalone="yes"?>
<Relationships xmlns="http://schemas.openxmlformats.org/package/2006/relationships"><Relationship Id="rId9" Type="http://schemas.openxmlformats.org/officeDocument/2006/relationships/tags" Target="../tags/tag512.xml"/><Relationship Id="rId20" Type="http://schemas.openxmlformats.org/officeDocument/2006/relationships/tags" Target="../tags/tag523.xml"/><Relationship Id="rId21" Type="http://schemas.openxmlformats.org/officeDocument/2006/relationships/tags" Target="../tags/tag524.xml"/><Relationship Id="rId22" Type="http://schemas.openxmlformats.org/officeDocument/2006/relationships/tags" Target="../tags/tag525.xml"/><Relationship Id="rId23" Type="http://schemas.openxmlformats.org/officeDocument/2006/relationships/tags" Target="../tags/tag526.xml"/><Relationship Id="rId24" Type="http://schemas.openxmlformats.org/officeDocument/2006/relationships/tags" Target="../tags/tag527.xml"/><Relationship Id="rId25" Type="http://schemas.openxmlformats.org/officeDocument/2006/relationships/slideLayout" Target="../slideLayouts/slideLayout10.xml"/><Relationship Id="rId26" Type="http://schemas.openxmlformats.org/officeDocument/2006/relationships/oleObject" Target="../embeddings/oleObject58.bin"/><Relationship Id="rId27" Type="http://schemas.openxmlformats.org/officeDocument/2006/relationships/image" Target="../media/image6.emf"/><Relationship Id="rId28" Type="http://schemas.openxmlformats.org/officeDocument/2006/relationships/oleObject" Target="../embeddings/oleObject59.bin"/><Relationship Id="rId29" Type="http://schemas.openxmlformats.org/officeDocument/2006/relationships/image" Target="../media/image41.emf"/><Relationship Id="rId10" Type="http://schemas.openxmlformats.org/officeDocument/2006/relationships/tags" Target="../tags/tag513.xml"/><Relationship Id="rId11" Type="http://schemas.openxmlformats.org/officeDocument/2006/relationships/tags" Target="../tags/tag514.xml"/><Relationship Id="rId12" Type="http://schemas.openxmlformats.org/officeDocument/2006/relationships/tags" Target="../tags/tag515.xml"/><Relationship Id="rId13" Type="http://schemas.openxmlformats.org/officeDocument/2006/relationships/tags" Target="../tags/tag516.xml"/><Relationship Id="rId14" Type="http://schemas.openxmlformats.org/officeDocument/2006/relationships/tags" Target="../tags/tag517.xml"/><Relationship Id="rId15" Type="http://schemas.openxmlformats.org/officeDocument/2006/relationships/tags" Target="../tags/tag518.xml"/><Relationship Id="rId16" Type="http://schemas.openxmlformats.org/officeDocument/2006/relationships/tags" Target="../tags/tag519.xml"/><Relationship Id="rId17" Type="http://schemas.openxmlformats.org/officeDocument/2006/relationships/tags" Target="../tags/tag520.xml"/><Relationship Id="rId18" Type="http://schemas.openxmlformats.org/officeDocument/2006/relationships/tags" Target="../tags/tag521.xml"/><Relationship Id="rId19" Type="http://schemas.openxmlformats.org/officeDocument/2006/relationships/tags" Target="../tags/tag522.xml"/><Relationship Id="rId1" Type="http://schemas.openxmlformats.org/officeDocument/2006/relationships/vmlDrawing" Target="../drawings/vmlDrawing27.vml"/><Relationship Id="rId2" Type="http://schemas.openxmlformats.org/officeDocument/2006/relationships/tags" Target="../tags/tag505.xml"/><Relationship Id="rId3" Type="http://schemas.openxmlformats.org/officeDocument/2006/relationships/tags" Target="../tags/tag506.xml"/><Relationship Id="rId4" Type="http://schemas.openxmlformats.org/officeDocument/2006/relationships/tags" Target="../tags/tag507.xml"/><Relationship Id="rId5" Type="http://schemas.openxmlformats.org/officeDocument/2006/relationships/tags" Target="../tags/tag508.xml"/><Relationship Id="rId6" Type="http://schemas.openxmlformats.org/officeDocument/2006/relationships/tags" Target="../tags/tag509.xml"/><Relationship Id="rId7" Type="http://schemas.openxmlformats.org/officeDocument/2006/relationships/tags" Target="../tags/tag510.xml"/><Relationship Id="rId8" Type="http://schemas.openxmlformats.org/officeDocument/2006/relationships/tags" Target="../tags/tag511.xml"/></Relationships>
</file>

<file path=ppt/slides/_rels/slide29.xml.rels><?xml version="1.0" encoding="UTF-8" standalone="yes"?>
<Relationships xmlns="http://schemas.openxmlformats.org/package/2006/relationships"><Relationship Id="rId9" Type="http://schemas.openxmlformats.org/officeDocument/2006/relationships/tags" Target="../tags/tag535.xml"/><Relationship Id="rId20" Type="http://schemas.openxmlformats.org/officeDocument/2006/relationships/tags" Target="../tags/tag546.xml"/><Relationship Id="rId21" Type="http://schemas.openxmlformats.org/officeDocument/2006/relationships/tags" Target="../tags/tag547.xml"/><Relationship Id="rId22" Type="http://schemas.openxmlformats.org/officeDocument/2006/relationships/tags" Target="../tags/tag548.xml"/><Relationship Id="rId23" Type="http://schemas.openxmlformats.org/officeDocument/2006/relationships/tags" Target="../tags/tag549.xml"/><Relationship Id="rId24" Type="http://schemas.openxmlformats.org/officeDocument/2006/relationships/tags" Target="../tags/tag550.xml"/><Relationship Id="rId25" Type="http://schemas.openxmlformats.org/officeDocument/2006/relationships/slideLayout" Target="../slideLayouts/slideLayout10.xml"/><Relationship Id="rId26" Type="http://schemas.openxmlformats.org/officeDocument/2006/relationships/oleObject" Target="../embeddings/oleObject60.bin"/><Relationship Id="rId27" Type="http://schemas.openxmlformats.org/officeDocument/2006/relationships/image" Target="../media/image6.emf"/><Relationship Id="rId28" Type="http://schemas.openxmlformats.org/officeDocument/2006/relationships/oleObject" Target="../embeddings/oleObject61.bin"/><Relationship Id="rId29" Type="http://schemas.openxmlformats.org/officeDocument/2006/relationships/image" Target="../media/image42.emf"/><Relationship Id="rId10" Type="http://schemas.openxmlformats.org/officeDocument/2006/relationships/tags" Target="../tags/tag536.xml"/><Relationship Id="rId11" Type="http://schemas.openxmlformats.org/officeDocument/2006/relationships/tags" Target="../tags/tag537.xml"/><Relationship Id="rId12" Type="http://schemas.openxmlformats.org/officeDocument/2006/relationships/tags" Target="../tags/tag538.xml"/><Relationship Id="rId13" Type="http://schemas.openxmlformats.org/officeDocument/2006/relationships/tags" Target="../tags/tag539.xml"/><Relationship Id="rId14" Type="http://schemas.openxmlformats.org/officeDocument/2006/relationships/tags" Target="../tags/tag540.xml"/><Relationship Id="rId15" Type="http://schemas.openxmlformats.org/officeDocument/2006/relationships/tags" Target="../tags/tag541.xml"/><Relationship Id="rId16" Type="http://schemas.openxmlformats.org/officeDocument/2006/relationships/tags" Target="../tags/tag542.xml"/><Relationship Id="rId17" Type="http://schemas.openxmlformats.org/officeDocument/2006/relationships/tags" Target="../tags/tag543.xml"/><Relationship Id="rId18" Type="http://schemas.openxmlformats.org/officeDocument/2006/relationships/tags" Target="../tags/tag544.xml"/><Relationship Id="rId19" Type="http://schemas.openxmlformats.org/officeDocument/2006/relationships/tags" Target="../tags/tag545.xml"/><Relationship Id="rId1" Type="http://schemas.openxmlformats.org/officeDocument/2006/relationships/vmlDrawing" Target="../drawings/vmlDrawing28.vml"/><Relationship Id="rId2" Type="http://schemas.openxmlformats.org/officeDocument/2006/relationships/tags" Target="../tags/tag528.xml"/><Relationship Id="rId3" Type="http://schemas.openxmlformats.org/officeDocument/2006/relationships/tags" Target="../tags/tag529.xml"/><Relationship Id="rId4" Type="http://schemas.openxmlformats.org/officeDocument/2006/relationships/tags" Target="../tags/tag530.xml"/><Relationship Id="rId5" Type="http://schemas.openxmlformats.org/officeDocument/2006/relationships/tags" Target="../tags/tag531.xml"/><Relationship Id="rId6" Type="http://schemas.openxmlformats.org/officeDocument/2006/relationships/tags" Target="../tags/tag532.xml"/><Relationship Id="rId7" Type="http://schemas.openxmlformats.org/officeDocument/2006/relationships/tags" Target="../tags/tag533.xml"/><Relationship Id="rId8" Type="http://schemas.openxmlformats.org/officeDocument/2006/relationships/tags" Target="../tags/tag534.xml"/></Relationships>
</file>

<file path=ppt/slides/_rels/slide30.xml.rels><?xml version="1.0" encoding="UTF-8" standalone="yes"?>
<Relationships xmlns="http://schemas.openxmlformats.org/package/2006/relationships"><Relationship Id="rId3" Type="http://schemas.openxmlformats.org/officeDocument/2006/relationships/tags" Target="../tags/tag552.xml"/><Relationship Id="rId4" Type="http://schemas.openxmlformats.org/officeDocument/2006/relationships/slideLayout" Target="../slideLayouts/slideLayout10.xml"/><Relationship Id="rId5" Type="http://schemas.openxmlformats.org/officeDocument/2006/relationships/oleObject" Target="../embeddings/oleObject62.bin"/><Relationship Id="rId6" Type="http://schemas.openxmlformats.org/officeDocument/2006/relationships/image" Target="../media/image26.emf"/><Relationship Id="rId7" Type="http://schemas.openxmlformats.org/officeDocument/2006/relationships/image" Target="../media/image43.emf"/><Relationship Id="rId1" Type="http://schemas.openxmlformats.org/officeDocument/2006/relationships/vmlDrawing" Target="../drawings/vmlDrawing29.vml"/><Relationship Id="rId2" Type="http://schemas.openxmlformats.org/officeDocument/2006/relationships/tags" Target="../tags/tag551.xml"/></Relationships>
</file>

<file path=ppt/slides/_rels/slide31.xml.rels><?xml version="1.0" encoding="UTF-8" standalone="yes"?>
<Relationships xmlns="http://schemas.openxmlformats.org/package/2006/relationships"><Relationship Id="rId9" Type="http://schemas.openxmlformats.org/officeDocument/2006/relationships/tags" Target="../tags/tag560.xml"/><Relationship Id="rId20" Type="http://schemas.openxmlformats.org/officeDocument/2006/relationships/tags" Target="../tags/tag571.xml"/><Relationship Id="rId21" Type="http://schemas.openxmlformats.org/officeDocument/2006/relationships/tags" Target="../tags/tag572.xml"/><Relationship Id="rId22" Type="http://schemas.openxmlformats.org/officeDocument/2006/relationships/tags" Target="../tags/tag573.xml"/><Relationship Id="rId23" Type="http://schemas.openxmlformats.org/officeDocument/2006/relationships/tags" Target="../tags/tag574.xml"/><Relationship Id="rId24" Type="http://schemas.openxmlformats.org/officeDocument/2006/relationships/tags" Target="../tags/tag575.xml"/><Relationship Id="rId25" Type="http://schemas.openxmlformats.org/officeDocument/2006/relationships/tags" Target="../tags/tag576.xml"/><Relationship Id="rId26" Type="http://schemas.openxmlformats.org/officeDocument/2006/relationships/tags" Target="../tags/tag577.xml"/><Relationship Id="rId27" Type="http://schemas.openxmlformats.org/officeDocument/2006/relationships/slideLayout" Target="../slideLayouts/slideLayout10.xml"/><Relationship Id="rId28" Type="http://schemas.openxmlformats.org/officeDocument/2006/relationships/oleObject" Target="../embeddings/oleObject63.bin"/><Relationship Id="rId29" Type="http://schemas.openxmlformats.org/officeDocument/2006/relationships/image" Target="../media/image26.emf"/><Relationship Id="rId30" Type="http://schemas.openxmlformats.org/officeDocument/2006/relationships/oleObject" Target="../embeddings/oleObject64.bin"/><Relationship Id="rId31" Type="http://schemas.openxmlformats.org/officeDocument/2006/relationships/image" Target="../media/image44.emf"/><Relationship Id="rId10" Type="http://schemas.openxmlformats.org/officeDocument/2006/relationships/tags" Target="../tags/tag561.xml"/><Relationship Id="rId11" Type="http://schemas.openxmlformats.org/officeDocument/2006/relationships/tags" Target="../tags/tag562.xml"/><Relationship Id="rId12" Type="http://schemas.openxmlformats.org/officeDocument/2006/relationships/tags" Target="../tags/tag563.xml"/><Relationship Id="rId13" Type="http://schemas.openxmlformats.org/officeDocument/2006/relationships/tags" Target="../tags/tag564.xml"/><Relationship Id="rId14" Type="http://schemas.openxmlformats.org/officeDocument/2006/relationships/tags" Target="../tags/tag565.xml"/><Relationship Id="rId15" Type="http://schemas.openxmlformats.org/officeDocument/2006/relationships/tags" Target="../tags/tag566.xml"/><Relationship Id="rId16" Type="http://schemas.openxmlformats.org/officeDocument/2006/relationships/tags" Target="../tags/tag567.xml"/><Relationship Id="rId17" Type="http://schemas.openxmlformats.org/officeDocument/2006/relationships/tags" Target="../tags/tag568.xml"/><Relationship Id="rId18" Type="http://schemas.openxmlformats.org/officeDocument/2006/relationships/tags" Target="../tags/tag569.xml"/><Relationship Id="rId19" Type="http://schemas.openxmlformats.org/officeDocument/2006/relationships/tags" Target="../tags/tag570.xml"/><Relationship Id="rId1" Type="http://schemas.openxmlformats.org/officeDocument/2006/relationships/vmlDrawing" Target="../drawings/vmlDrawing30.vml"/><Relationship Id="rId2" Type="http://schemas.openxmlformats.org/officeDocument/2006/relationships/tags" Target="../tags/tag553.xml"/><Relationship Id="rId3" Type="http://schemas.openxmlformats.org/officeDocument/2006/relationships/tags" Target="../tags/tag554.xml"/><Relationship Id="rId4" Type="http://schemas.openxmlformats.org/officeDocument/2006/relationships/tags" Target="../tags/tag555.xml"/><Relationship Id="rId5" Type="http://schemas.openxmlformats.org/officeDocument/2006/relationships/tags" Target="../tags/tag556.xml"/><Relationship Id="rId6" Type="http://schemas.openxmlformats.org/officeDocument/2006/relationships/tags" Target="../tags/tag557.xml"/><Relationship Id="rId7" Type="http://schemas.openxmlformats.org/officeDocument/2006/relationships/tags" Target="../tags/tag558.xml"/><Relationship Id="rId8" Type="http://schemas.openxmlformats.org/officeDocument/2006/relationships/tags" Target="../tags/tag559.xml"/></Relationships>
</file>

<file path=ppt/slides/_rels/slide32.xml.rels><?xml version="1.0" encoding="UTF-8" standalone="yes"?>
<Relationships xmlns="http://schemas.openxmlformats.org/package/2006/relationships"><Relationship Id="rId9" Type="http://schemas.openxmlformats.org/officeDocument/2006/relationships/tags" Target="../tags/tag585.xml"/><Relationship Id="rId20" Type="http://schemas.openxmlformats.org/officeDocument/2006/relationships/tags" Target="../tags/tag596.xml"/><Relationship Id="rId21" Type="http://schemas.openxmlformats.org/officeDocument/2006/relationships/slideLayout" Target="../slideLayouts/slideLayout10.xml"/><Relationship Id="rId22" Type="http://schemas.openxmlformats.org/officeDocument/2006/relationships/notesSlide" Target="../notesSlides/notesSlide10.xml"/><Relationship Id="rId23" Type="http://schemas.openxmlformats.org/officeDocument/2006/relationships/oleObject" Target="../embeddings/oleObject65.bin"/><Relationship Id="rId24" Type="http://schemas.openxmlformats.org/officeDocument/2006/relationships/image" Target="../media/image6.emf"/><Relationship Id="rId25" Type="http://schemas.openxmlformats.org/officeDocument/2006/relationships/oleObject" Target="../embeddings/oleObject66.bin"/><Relationship Id="rId26" Type="http://schemas.openxmlformats.org/officeDocument/2006/relationships/image" Target="../media/image45.emf"/><Relationship Id="rId10" Type="http://schemas.openxmlformats.org/officeDocument/2006/relationships/tags" Target="../tags/tag586.xml"/><Relationship Id="rId11" Type="http://schemas.openxmlformats.org/officeDocument/2006/relationships/tags" Target="../tags/tag587.xml"/><Relationship Id="rId12" Type="http://schemas.openxmlformats.org/officeDocument/2006/relationships/tags" Target="../tags/tag588.xml"/><Relationship Id="rId13" Type="http://schemas.openxmlformats.org/officeDocument/2006/relationships/tags" Target="../tags/tag589.xml"/><Relationship Id="rId14" Type="http://schemas.openxmlformats.org/officeDocument/2006/relationships/tags" Target="../tags/tag590.xml"/><Relationship Id="rId15" Type="http://schemas.openxmlformats.org/officeDocument/2006/relationships/tags" Target="../tags/tag591.xml"/><Relationship Id="rId16" Type="http://schemas.openxmlformats.org/officeDocument/2006/relationships/tags" Target="../tags/tag592.xml"/><Relationship Id="rId17" Type="http://schemas.openxmlformats.org/officeDocument/2006/relationships/tags" Target="../tags/tag593.xml"/><Relationship Id="rId18" Type="http://schemas.openxmlformats.org/officeDocument/2006/relationships/tags" Target="../tags/tag594.xml"/><Relationship Id="rId19" Type="http://schemas.openxmlformats.org/officeDocument/2006/relationships/tags" Target="../tags/tag595.xml"/><Relationship Id="rId1" Type="http://schemas.openxmlformats.org/officeDocument/2006/relationships/vmlDrawing" Target="../drawings/vmlDrawing31.vml"/><Relationship Id="rId2" Type="http://schemas.openxmlformats.org/officeDocument/2006/relationships/tags" Target="../tags/tag578.xml"/><Relationship Id="rId3" Type="http://schemas.openxmlformats.org/officeDocument/2006/relationships/tags" Target="../tags/tag579.xml"/><Relationship Id="rId4" Type="http://schemas.openxmlformats.org/officeDocument/2006/relationships/tags" Target="../tags/tag580.xml"/><Relationship Id="rId5" Type="http://schemas.openxmlformats.org/officeDocument/2006/relationships/tags" Target="../tags/tag581.xml"/><Relationship Id="rId6" Type="http://schemas.openxmlformats.org/officeDocument/2006/relationships/tags" Target="../tags/tag582.xml"/><Relationship Id="rId7" Type="http://schemas.openxmlformats.org/officeDocument/2006/relationships/tags" Target="../tags/tag583.xml"/><Relationship Id="rId8" Type="http://schemas.openxmlformats.org/officeDocument/2006/relationships/tags" Target="../tags/tag584.xml"/></Relationships>
</file>

<file path=ppt/slides/_rels/slide33.xml.rels><?xml version="1.0" encoding="UTF-8" standalone="yes"?>
<Relationships xmlns="http://schemas.openxmlformats.org/package/2006/relationships"><Relationship Id="rId11" Type="http://schemas.openxmlformats.org/officeDocument/2006/relationships/oleObject" Target="../embeddings/oleObject67.bin"/><Relationship Id="rId12" Type="http://schemas.openxmlformats.org/officeDocument/2006/relationships/image" Target="../media/image6.emf"/><Relationship Id="rId13" Type="http://schemas.openxmlformats.org/officeDocument/2006/relationships/image" Target="../media/image46.jpeg"/><Relationship Id="rId14" Type="http://schemas.openxmlformats.org/officeDocument/2006/relationships/image" Target="../media/image47.jpeg"/><Relationship Id="rId15" Type="http://schemas.openxmlformats.org/officeDocument/2006/relationships/image" Target="../media/image48.jpeg"/><Relationship Id="rId1" Type="http://schemas.openxmlformats.org/officeDocument/2006/relationships/vmlDrawing" Target="../drawings/vmlDrawing32.vml"/><Relationship Id="rId2" Type="http://schemas.openxmlformats.org/officeDocument/2006/relationships/tags" Target="../tags/tag597.xml"/><Relationship Id="rId3" Type="http://schemas.openxmlformats.org/officeDocument/2006/relationships/tags" Target="../tags/tag598.xml"/><Relationship Id="rId4" Type="http://schemas.openxmlformats.org/officeDocument/2006/relationships/tags" Target="../tags/tag599.xml"/><Relationship Id="rId5" Type="http://schemas.openxmlformats.org/officeDocument/2006/relationships/tags" Target="../tags/tag600.xml"/><Relationship Id="rId6" Type="http://schemas.openxmlformats.org/officeDocument/2006/relationships/tags" Target="../tags/tag601.xml"/><Relationship Id="rId7" Type="http://schemas.openxmlformats.org/officeDocument/2006/relationships/tags" Target="../tags/tag602.xml"/><Relationship Id="rId8" Type="http://schemas.openxmlformats.org/officeDocument/2006/relationships/tags" Target="../tags/tag603.xml"/><Relationship Id="rId9" Type="http://schemas.openxmlformats.org/officeDocument/2006/relationships/tags" Target="../tags/tag604.xml"/><Relationship Id="rId10"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notesSlide" Target="../notesSlides/notesSlide11.xml"/><Relationship Id="rId5" Type="http://schemas.openxmlformats.org/officeDocument/2006/relationships/oleObject" Target="../embeddings/oleObject68.bin"/><Relationship Id="rId6" Type="http://schemas.openxmlformats.org/officeDocument/2006/relationships/image" Target="../media/image6.emf"/><Relationship Id="rId1" Type="http://schemas.openxmlformats.org/officeDocument/2006/relationships/vmlDrawing" Target="../drawings/vmlDrawing33.vml"/><Relationship Id="rId2" Type="http://schemas.openxmlformats.org/officeDocument/2006/relationships/tags" Target="../tags/tag605.xml"/></Relationships>
</file>

<file path=ppt/slides/_rels/slide35.xml.rels><?xml version="1.0" encoding="UTF-8" standalone="yes"?>
<Relationships xmlns="http://schemas.openxmlformats.org/package/2006/relationships"><Relationship Id="rId11" Type="http://schemas.openxmlformats.org/officeDocument/2006/relationships/oleObject" Target="../embeddings/oleObject69.bin"/><Relationship Id="rId12" Type="http://schemas.openxmlformats.org/officeDocument/2006/relationships/image" Target="../media/image6.emf"/><Relationship Id="rId13" Type="http://schemas.openxmlformats.org/officeDocument/2006/relationships/image" Target="../media/image46.jpeg"/><Relationship Id="rId14" Type="http://schemas.openxmlformats.org/officeDocument/2006/relationships/image" Target="../media/image47.jpeg"/><Relationship Id="rId15" Type="http://schemas.openxmlformats.org/officeDocument/2006/relationships/image" Target="../media/image48.jpeg"/><Relationship Id="rId1" Type="http://schemas.openxmlformats.org/officeDocument/2006/relationships/vmlDrawing" Target="../drawings/vmlDrawing34.vml"/><Relationship Id="rId2" Type="http://schemas.openxmlformats.org/officeDocument/2006/relationships/tags" Target="../tags/tag606.xml"/><Relationship Id="rId3" Type="http://schemas.openxmlformats.org/officeDocument/2006/relationships/tags" Target="../tags/tag607.xml"/><Relationship Id="rId4" Type="http://schemas.openxmlformats.org/officeDocument/2006/relationships/tags" Target="../tags/tag608.xml"/><Relationship Id="rId5" Type="http://schemas.openxmlformats.org/officeDocument/2006/relationships/tags" Target="../tags/tag609.xml"/><Relationship Id="rId6" Type="http://schemas.openxmlformats.org/officeDocument/2006/relationships/tags" Target="../tags/tag610.xml"/><Relationship Id="rId7" Type="http://schemas.openxmlformats.org/officeDocument/2006/relationships/tags" Target="../tags/tag611.xml"/><Relationship Id="rId8" Type="http://schemas.openxmlformats.org/officeDocument/2006/relationships/tags" Target="../tags/tag612.xml"/><Relationship Id="rId9" Type="http://schemas.openxmlformats.org/officeDocument/2006/relationships/tags" Target="../tags/tag613.xml"/><Relationship Id="rId10"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9" Type="http://schemas.openxmlformats.org/officeDocument/2006/relationships/tags" Target="../tags/tag621.xml"/><Relationship Id="rId20" Type="http://schemas.openxmlformats.org/officeDocument/2006/relationships/slideLayout" Target="../slideLayouts/slideLayout10.xml"/><Relationship Id="rId21" Type="http://schemas.openxmlformats.org/officeDocument/2006/relationships/notesSlide" Target="../notesSlides/notesSlide12.xml"/><Relationship Id="rId22" Type="http://schemas.openxmlformats.org/officeDocument/2006/relationships/oleObject" Target="../embeddings/oleObject70.bin"/><Relationship Id="rId23" Type="http://schemas.openxmlformats.org/officeDocument/2006/relationships/image" Target="../media/image6.emf"/><Relationship Id="rId24" Type="http://schemas.openxmlformats.org/officeDocument/2006/relationships/oleObject" Target="../embeddings/oleObject71.bin"/><Relationship Id="rId25" Type="http://schemas.openxmlformats.org/officeDocument/2006/relationships/image" Target="../media/image49.emf"/><Relationship Id="rId10" Type="http://schemas.openxmlformats.org/officeDocument/2006/relationships/tags" Target="../tags/tag622.xml"/><Relationship Id="rId11" Type="http://schemas.openxmlformats.org/officeDocument/2006/relationships/tags" Target="../tags/tag623.xml"/><Relationship Id="rId12" Type="http://schemas.openxmlformats.org/officeDocument/2006/relationships/tags" Target="../tags/tag624.xml"/><Relationship Id="rId13" Type="http://schemas.openxmlformats.org/officeDocument/2006/relationships/tags" Target="../tags/tag625.xml"/><Relationship Id="rId14" Type="http://schemas.openxmlformats.org/officeDocument/2006/relationships/tags" Target="../tags/tag626.xml"/><Relationship Id="rId15" Type="http://schemas.openxmlformats.org/officeDocument/2006/relationships/tags" Target="../tags/tag627.xml"/><Relationship Id="rId16" Type="http://schemas.openxmlformats.org/officeDocument/2006/relationships/tags" Target="../tags/tag628.xml"/><Relationship Id="rId17" Type="http://schemas.openxmlformats.org/officeDocument/2006/relationships/tags" Target="../tags/tag629.xml"/><Relationship Id="rId18" Type="http://schemas.openxmlformats.org/officeDocument/2006/relationships/tags" Target="../tags/tag630.xml"/><Relationship Id="rId19" Type="http://schemas.openxmlformats.org/officeDocument/2006/relationships/tags" Target="../tags/tag631.xml"/><Relationship Id="rId1" Type="http://schemas.openxmlformats.org/officeDocument/2006/relationships/vmlDrawing" Target="../drawings/vmlDrawing35.vml"/><Relationship Id="rId2" Type="http://schemas.openxmlformats.org/officeDocument/2006/relationships/tags" Target="../tags/tag614.xml"/><Relationship Id="rId3" Type="http://schemas.openxmlformats.org/officeDocument/2006/relationships/tags" Target="../tags/tag615.xml"/><Relationship Id="rId4" Type="http://schemas.openxmlformats.org/officeDocument/2006/relationships/tags" Target="../tags/tag616.xml"/><Relationship Id="rId5" Type="http://schemas.openxmlformats.org/officeDocument/2006/relationships/tags" Target="../tags/tag617.xml"/><Relationship Id="rId6" Type="http://schemas.openxmlformats.org/officeDocument/2006/relationships/tags" Target="../tags/tag618.xml"/><Relationship Id="rId7" Type="http://schemas.openxmlformats.org/officeDocument/2006/relationships/tags" Target="../tags/tag619.xml"/><Relationship Id="rId8" Type="http://schemas.openxmlformats.org/officeDocument/2006/relationships/tags" Target="../tags/tag620.xml"/></Relationships>
</file>

<file path=ppt/slides/_rels/slide37.xml.rels><?xml version="1.0" encoding="UTF-8" standalone="yes"?>
<Relationships xmlns="http://schemas.openxmlformats.org/package/2006/relationships"><Relationship Id="rId9" Type="http://schemas.openxmlformats.org/officeDocument/2006/relationships/tags" Target="../tags/tag639.xml"/><Relationship Id="rId20" Type="http://schemas.openxmlformats.org/officeDocument/2006/relationships/image" Target="../media/image6.emf"/><Relationship Id="rId21" Type="http://schemas.openxmlformats.org/officeDocument/2006/relationships/oleObject" Target="../embeddings/oleObject73.bin"/><Relationship Id="rId22" Type="http://schemas.openxmlformats.org/officeDocument/2006/relationships/image" Target="../media/image50.emf"/><Relationship Id="rId10" Type="http://schemas.openxmlformats.org/officeDocument/2006/relationships/tags" Target="../tags/tag640.xml"/><Relationship Id="rId11" Type="http://schemas.openxmlformats.org/officeDocument/2006/relationships/tags" Target="../tags/tag641.xml"/><Relationship Id="rId12" Type="http://schemas.openxmlformats.org/officeDocument/2006/relationships/tags" Target="../tags/tag642.xml"/><Relationship Id="rId13" Type="http://schemas.openxmlformats.org/officeDocument/2006/relationships/tags" Target="../tags/tag643.xml"/><Relationship Id="rId14" Type="http://schemas.openxmlformats.org/officeDocument/2006/relationships/tags" Target="../tags/tag644.xml"/><Relationship Id="rId15" Type="http://schemas.openxmlformats.org/officeDocument/2006/relationships/tags" Target="../tags/tag645.xml"/><Relationship Id="rId16" Type="http://schemas.openxmlformats.org/officeDocument/2006/relationships/tags" Target="../tags/tag646.xml"/><Relationship Id="rId17" Type="http://schemas.openxmlformats.org/officeDocument/2006/relationships/slideLayout" Target="../slideLayouts/slideLayout10.xml"/><Relationship Id="rId18" Type="http://schemas.openxmlformats.org/officeDocument/2006/relationships/notesSlide" Target="../notesSlides/notesSlide13.xml"/><Relationship Id="rId19" Type="http://schemas.openxmlformats.org/officeDocument/2006/relationships/oleObject" Target="../embeddings/oleObject72.bin"/><Relationship Id="rId1" Type="http://schemas.openxmlformats.org/officeDocument/2006/relationships/vmlDrawing" Target="../drawings/vmlDrawing36.vml"/><Relationship Id="rId2" Type="http://schemas.openxmlformats.org/officeDocument/2006/relationships/tags" Target="../tags/tag632.xml"/><Relationship Id="rId3" Type="http://schemas.openxmlformats.org/officeDocument/2006/relationships/tags" Target="../tags/tag633.xml"/><Relationship Id="rId4" Type="http://schemas.openxmlformats.org/officeDocument/2006/relationships/tags" Target="../tags/tag634.xml"/><Relationship Id="rId5" Type="http://schemas.openxmlformats.org/officeDocument/2006/relationships/tags" Target="../tags/tag635.xml"/><Relationship Id="rId6" Type="http://schemas.openxmlformats.org/officeDocument/2006/relationships/tags" Target="../tags/tag636.xml"/><Relationship Id="rId7" Type="http://schemas.openxmlformats.org/officeDocument/2006/relationships/tags" Target="../tags/tag637.xml"/><Relationship Id="rId8" Type="http://schemas.openxmlformats.org/officeDocument/2006/relationships/tags" Target="../tags/tag638.xml"/></Relationships>
</file>

<file path=ppt/slides/_rels/slide38.xml.rels><?xml version="1.0" encoding="UTF-8" standalone="yes"?>
<Relationships xmlns="http://schemas.openxmlformats.org/package/2006/relationships"><Relationship Id="rId9" Type="http://schemas.openxmlformats.org/officeDocument/2006/relationships/tags" Target="../tags/tag654.xml"/><Relationship Id="rId20" Type="http://schemas.openxmlformats.org/officeDocument/2006/relationships/tags" Target="../tags/tag665.xml"/><Relationship Id="rId21" Type="http://schemas.openxmlformats.org/officeDocument/2006/relationships/tags" Target="../tags/tag666.xml"/><Relationship Id="rId22" Type="http://schemas.openxmlformats.org/officeDocument/2006/relationships/tags" Target="../tags/tag667.xml"/><Relationship Id="rId23" Type="http://schemas.openxmlformats.org/officeDocument/2006/relationships/tags" Target="../tags/tag668.xml"/><Relationship Id="rId24" Type="http://schemas.openxmlformats.org/officeDocument/2006/relationships/tags" Target="../tags/tag669.xml"/><Relationship Id="rId25" Type="http://schemas.openxmlformats.org/officeDocument/2006/relationships/slideLayout" Target="../slideLayouts/slideLayout10.xml"/><Relationship Id="rId26" Type="http://schemas.openxmlformats.org/officeDocument/2006/relationships/notesSlide" Target="../notesSlides/notesSlide14.xml"/><Relationship Id="rId27" Type="http://schemas.openxmlformats.org/officeDocument/2006/relationships/oleObject" Target="../embeddings/oleObject74.bin"/><Relationship Id="rId28" Type="http://schemas.openxmlformats.org/officeDocument/2006/relationships/image" Target="../media/image26.emf"/><Relationship Id="rId29" Type="http://schemas.openxmlformats.org/officeDocument/2006/relationships/oleObject" Target="../embeddings/oleObject75.bin"/><Relationship Id="rId30" Type="http://schemas.openxmlformats.org/officeDocument/2006/relationships/image" Target="../media/image51.emf"/><Relationship Id="rId10" Type="http://schemas.openxmlformats.org/officeDocument/2006/relationships/tags" Target="../tags/tag655.xml"/><Relationship Id="rId11" Type="http://schemas.openxmlformats.org/officeDocument/2006/relationships/tags" Target="../tags/tag656.xml"/><Relationship Id="rId12" Type="http://schemas.openxmlformats.org/officeDocument/2006/relationships/tags" Target="../tags/tag657.xml"/><Relationship Id="rId13" Type="http://schemas.openxmlformats.org/officeDocument/2006/relationships/tags" Target="../tags/tag658.xml"/><Relationship Id="rId14" Type="http://schemas.openxmlformats.org/officeDocument/2006/relationships/tags" Target="../tags/tag659.xml"/><Relationship Id="rId15" Type="http://schemas.openxmlformats.org/officeDocument/2006/relationships/tags" Target="../tags/tag660.xml"/><Relationship Id="rId16" Type="http://schemas.openxmlformats.org/officeDocument/2006/relationships/tags" Target="../tags/tag661.xml"/><Relationship Id="rId17" Type="http://schemas.openxmlformats.org/officeDocument/2006/relationships/tags" Target="../tags/tag662.xml"/><Relationship Id="rId18" Type="http://schemas.openxmlformats.org/officeDocument/2006/relationships/tags" Target="../tags/tag663.xml"/><Relationship Id="rId19" Type="http://schemas.openxmlformats.org/officeDocument/2006/relationships/tags" Target="../tags/tag664.xml"/><Relationship Id="rId1" Type="http://schemas.openxmlformats.org/officeDocument/2006/relationships/vmlDrawing" Target="../drawings/vmlDrawing37.vml"/><Relationship Id="rId2" Type="http://schemas.openxmlformats.org/officeDocument/2006/relationships/tags" Target="../tags/tag647.xml"/><Relationship Id="rId3" Type="http://schemas.openxmlformats.org/officeDocument/2006/relationships/tags" Target="../tags/tag648.xml"/><Relationship Id="rId4" Type="http://schemas.openxmlformats.org/officeDocument/2006/relationships/tags" Target="../tags/tag649.xml"/><Relationship Id="rId5" Type="http://schemas.openxmlformats.org/officeDocument/2006/relationships/tags" Target="../tags/tag650.xml"/><Relationship Id="rId6" Type="http://schemas.openxmlformats.org/officeDocument/2006/relationships/tags" Target="../tags/tag651.xml"/><Relationship Id="rId7" Type="http://schemas.openxmlformats.org/officeDocument/2006/relationships/tags" Target="../tags/tag652.xml"/><Relationship Id="rId8" Type="http://schemas.openxmlformats.org/officeDocument/2006/relationships/tags" Target="../tags/tag653.xml"/></Relationships>
</file>

<file path=ppt/slides/_rels/slide39.xml.rels><?xml version="1.0" encoding="UTF-8" standalone="yes"?>
<Relationships xmlns="http://schemas.openxmlformats.org/package/2006/relationships"><Relationship Id="rId3" Type="http://schemas.openxmlformats.org/officeDocument/2006/relationships/tags" Target="../tags/tag671.xml"/><Relationship Id="rId4" Type="http://schemas.openxmlformats.org/officeDocument/2006/relationships/tags" Target="../tags/tag672.xml"/><Relationship Id="rId5" Type="http://schemas.openxmlformats.org/officeDocument/2006/relationships/slideLayout" Target="../slideLayouts/slideLayout10.xml"/><Relationship Id="rId6" Type="http://schemas.openxmlformats.org/officeDocument/2006/relationships/notesSlide" Target="../notesSlides/notesSlide15.xml"/><Relationship Id="rId7" Type="http://schemas.openxmlformats.org/officeDocument/2006/relationships/oleObject" Target="../embeddings/oleObject76.bin"/><Relationship Id="rId8" Type="http://schemas.openxmlformats.org/officeDocument/2006/relationships/image" Target="../media/image6.emf"/><Relationship Id="rId9" Type="http://schemas.openxmlformats.org/officeDocument/2006/relationships/oleObject" Target="../embeddings/oleObject77.bin"/><Relationship Id="rId10" Type="http://schemas.openxmlformats.org/officeDocument/2006/relationships/image" Target="../media/image52.emf"/><Relationship Id="rId1" Type="http://schemas.openxmlformats.org/officeDocument/2006/relationships/vmlDrawing" Target="../drawings/vmlDrawing38.vml"/><Relationship Id="rId2" Type="http://schemas.openxmlformats.org/officeDocument/2006/relationships/tags" Target="../tags/tag670.xml"/></Relationships>
</file>

<file path=ppt/slides/_rels/slide40.xml.rels><?xml version="1.0" encoding="UTF-8" standalone="yes"?>
<Relationships xmlns="http://schemas.openxmlformats.org/package/2006/relationships"><Relationship Id="rId9" Type="http://schemas.openxmlformats.org/officeDocument/2006/relationships/tags" Target="../tags/tag680.xml"/><Relationship Id="rId20" Type="http://schemas.openxmlformats.org/officeDocument/2006/relationships/tags" Target="../tags/tag691.xml"/><Relationship Id="rId21" Type="http://schemas.openxmlformats.org/officeDocument/2006/relationships/tags" Target="../tags/tag692.xml"/><Relationship Id="rId22" Type="http://schemas.openxmlformats.org/officeDocument/2006/relationships/tags" Target="../tags/tag693.xml"/><Relationship Id="rId23" Type="http://schemas.openxmlformats.org/officeDocument/2006/relationships/tags" Target="../tags/tag694.xml"/><Relationship Id="rId24" Type="http://schemas.openxmlformats.org/officeDocument/2006/relationships/tags" Target="../tags/tag695.xml"/><Relationship Id="rId25" Type="http://schemas.openxmlformats.org/officeDocument/2006/relationships/tags" Target="../tags/tag696.xml"/><Relationship Id="rId26" Type="http://schemas.openxmlformats.org/officeDocument/2006/relationships/tags" Target="../tags/tag697.xml"/><Relationship Id="rId27" Type="http://schemas.openxmlformats.org/officeDocument/2006/relationships/slideLayout" Target="../slideLayouts/slideLayout10.xml"/><Relationship Id="rId28" Type="http://schemas.openxmlformats.org/officeDocument/2006/relationships/notesSlide" Target="../notesSlides/notesSlide16.xml"/><Relationship Id="rId29" Type="http://schemas.openxmlformats.org/officeDocument/2006/relationships/oleObject" Target="../embeddings/oleObject78.bin"/><Relationship Id="rId30" Type="http://schemas.openxmlformats.org/officeDocument/2006/relationships/image" Target="../media/image26.emf"/><Relationship Id="rId31" Type="http://schemas.openxmlformats.org/officeDocument/2006/relationships/oleObject" Target="../embeddings/oleObject79.bin"/><Relationship Id="rId32" Type="http://schemas.openxmlformats.org/officeDocument/2006/relationships/image" Target="../media/image53.emf"/><Relationship Id="rId10" Type="http://schemas.openxmlformats.org/officeDocument/2006/relationships/tags" Target="../tags/tag681.xml"/><Relationship Id="rId11" Type="http://schemas.openxmlformats.org/officeDocument/2006/relationships/tags" Target="../tags/tag682.xml"/><Relationship Id="rId12" Type="http://schemas.openxmlformats.org/officeDocument/2006/relationships/tags" Target="../tags/tag683.xml"/><Relationship Id="rId13" Type="http://schemas.openxmlformats.org/officeDocument/2006/relationships/tags" Target="../tags/tag684.xml"/><Relationship Id="rId14" Type="http://schemas.openxmlformats.org/officeDocument/2006/relationships/tags" Target="../tags/tag685.xml"/><Relationship Id="rId15" Type="http://schemas.openxmlformats.org/officeDocument/2006/relationships/tags" Target="../tags/tag686.xml"/><Relationship Id="rId16" Type="http://schemas.openxmlformats.org/officeDocument/2006/relationships/tags" Target="../tags/tag687.xml"/><Relationship Id="rId17" Type="http://schemas.openxmlformats.org/officeDocument/2006/relationships/tags" Target="../tags/tag688.xml"/><Relationship Id="rId18" Type="http://schemas.openxmlformats.org/officeDocument/2006/relationships/tags" Target="../tags/tag689.xml"/><Relationship Id="rId19" Type="http://schemas.openxmlformats.org/officeDocument/2006/relationships/tags" Target="../tags/tag690.xml"/><Relationship Id="rId1" Type="http://schemas.openxmlformats.org/officeDocument/2006/relationships/vmlDrawing" Target="../drawings/vmlDrawing39.vml"/><Relationship Id="rId2" Type="http://schemas.openxmlformats.org/officeDocument/2006/relationships/tags" Target="../tags/tag673.xml"/><Relationship Id="rId3" Type="http://schemas.openxmlformats.org/officeDocument/2006/relationships/tags" Target="../tags/tag674.xml"/><Relationship Id="rId4" Type="http://schemas.openxmlformats.org/officeDocument/2006/relationships/tags" Target="../tags/tag675.xml"/><Relationship Id="rId5" Type="http://schemas.openxmlformats.org/officeDocument/2006/relationships/tags" Target="../tags/tag676.xml"/><Relationship Id="rId6" Type="http://schemas.openxmlformats.org/officeDocument/2006/relationships/tags" Target="../tags/tag677.xml"/><Relationship Id="rId7" Type="http://schemas.openxmlformats.org/officeDocument/2006/relationships/tags" Target="../tags/tag678.xml"/><Relationship Id="rId8" Type="http://schemas.openxmlformats.org/officeDocument/2006/relationships/tags" Target="../tags/tag679.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notesSlide" Target="../notesSlides/notesSlide17.xml"/><Relationship Id="rId5" Type="http://schemas.openxmlformats.org/officeDocument/2006/relationships/oleObject" Target="../embeddings/oleObject80.bin"/><Relationship Id="rId6" Type="http://schemas.openxmlformats.org/officeDocument/2006/relationships/image" Target="../media/image6.emf"/><Relationship Id="rId1" Type="http://schemas.openxmlformats.org/officeDocument/2006/relationships/vmlDrawing" Target="../drawings/vmlDrawing40.vml"/><Relationship Id="rId2" Type="http://schemas.openxmlformats.org/officeDocument/2006/relationships/tags" Target="../tags/tag698.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oleObject" Target="../embeddings/oleObject81.bin"/><Relationship Id="rId5" Type="http://schemas.openxmlformats.org/officeDocument/2006/relationships/image" Target="../media/image6.emf"/><Relationship Id="rId1" Type="http://schemas.openxmlformats.org/officeDocument/2006/relationships/vmlDrawing" Target="../drawings/vmlDrawing41.vml"/><Relationship Id="rId2" Type="http://schemas.openxmlformats.org/officeDocument/2006/relationships/tags" Target="../tags/tag699.xml"/></Relationships>
</file>

<file path=ppt/slides/_rels/slide43.xml.rels><?xml version="1.0" encoding="UTF-8" standalone="yes"?>
<Relationships xmlns="http://schemas.openxmlformats.org/package/2006/relationships"><Relationship Id="rId3" Type="http://schemas.openxmlformats.org/officeDocument/2006/relationships/tags" Target="../tags/tag701.xml"/><Relationship Id="rId4" Type="http://schemas.openxmlformats.org/officeDocument/2006/relationships/slideLayout" Target="../slideLayouts/slideLayout10.xml"/><Relationship Id="rId5" Type="http://schemas.openxmlformats.org/officeDocument/2006/relationships/notesSlide" Target="../notesSlides/notesSlide18.xml"/><Relationship Id="rId6" Type="http://schemas.openxmlformats.org/officeDocument/2006/relationships/oleObject" Target="../embeddings/oleObject82.bin"/><Relationship Id="rId7" Type="http://schemas.openxmlformats.org/officeDocument/2006/relationships/image" Target="../media/image6.emf"/><Relationship Id="rId1" Type="http://schemas.openxmlformats.org/officeDocument/2006/relationships/vmlDrawing" Target="../drawings/vmlDrawing42.vml"/><Relationship Id="rId2" Type="http://schemas.openxmlformats.org/officeDocument/2006/relationships/tags" Target="../tags/tag700.xml"/></Relationships>
</file>

<file path=ppt/slides/_rels/slide44.xml.rels><?xml version="1.0" encoding="UTF-8" standalone="yes"?>
<Relationships xmlns="http://schemas.openxmlformats.org/package/2006/relationships"><Relationship Id="rId3" Type="http://schemas.openxmlformats.org/officeDocument/2006/relationships/tags" Target="../tags/tag703.xml"/><Relationship Id="rId4" Type="http://schemas.openxmlformats.org/officeDocument/2006/relationships/slideLayout" Target="../slideLayouts/slideLayout10.xml"/><Relationship Id="rId5" Type="http://schemas.openxmlformats.org/officeDocument/2006/relationships/notesSlide" Target="../notesSlides/notesSlide19.xml"/><Relationship Id="rId6" Type="http://schemas.openxmlformats.org/officeDocument/2006/relationships/oleObject" Target="../embeddings/oleObject83.bin"/><Relationship Id="rId7" Type="http://schemas.openxmlformats.org/officeDocument/2006/relationships/image" Target="../media/image6.emf"/><Relationship Id="rId1" Type="http://schemas.openxmlformats.org/officeDocument/2006/relationships/vmlDrawing" Target="../drawings/vmlDrawing43.vml"/><Relationship Id="rId2" Type="http://schemas.openxmlformats.org/officeDocument/2006/relationships/tags" Target="../tags/tag702.xml"/></Relationships>
</file>

<file path=ppt/slides/_rels/slide45.xml.rels><?xml version="1.0" encoding="UTF-8" standalone="yes"?>
<Relationships xmlns="http://schemas.openxmlformats.org/package/2006/relationships"><Relationship Id="rId9" Type="http://schemas.openxmlformats.org/officeDocument/2006/relationships/tags" Target="../tags/tag711.xml"/><Relationship Id="rId20" Type="http://schemas.openxmlformats.org/officeDocument/2006/relationships/tags" Target="../tags/tag722.xml"/><Relationship Id="rId21" Type="http://schemas.openxmlformats.org/officeDocument/2006/relationships/tags" Target="../tags/tag723.xml"/><Relationship Id="rId22" Type="http://schemas.openxmlformats.org/officeDocument/2006/relationships/slideLayout" Target="../slideLayouts/slideLayout10.xml"/><Relationship Id="rId23" Type="http://schemas.openxmlformats.org/officeDocument/2006/relationships/notesSlide" Target="../notesSlides/notesSlide20.xml"/><Relationship Id="rId24" Type="http://schemas.openxmlformats.org/officeDocument/2006/relationships/oleObject" Target="../embeddings/oleObject84.bin"/><Relationship Id="rId25" Type="http://schemas.openxmlformats.org/officeDocument/2006/relationships/image" Target="../media/image6.emf"/><Relationship Id="rId26" Type="http://schemas.openxmlformats.org/officeDocument/2006/relationships/oleObject" Target="../embeddings/oleObject85.bin"/><Relationship Id="rId27" Type="http://schemas.openxmlformats.org/officeDocument/2006/relationships/image" Target="../media/image54.emf"/><Relationship Id="rId10" Type="http://schemas.openxmlformats.org/officeDocument/2006/relationships/tags" Target="../tags/tag712.xml"/><Relationship Id="rId11" Type="http://schemas.openxmlformats.org/officeDocument/2006/relationships/tags" Target="../tags/tag713.xml"/><Relationship Id="rId12" Type="http://schemas.openxmlformats.org/officeDocument/2006/relationships/tags" Target="../tags/tag714.xml"/><Relationship Id="rId13" Type="http://schemas.openxmlformats.org/officeDocument/2006/relationships/tags" Target="../tags/tag715.xml"/><Relationship Id="rId14" Type="http://schemas.openxmlformats.org/officeDocument/2006/relationships/tags" Target="../tags/tag716.xml"/><Relationship Id="rId15" Type="http://schemas.openxmlformats.org/officeDocument/2006/relationships/tags" Target="../tags/tag717.xml"/><Relationship Id="rId16" Type="http://schemas.openxmlformats.org/officeDocument/2006/relationships/tags" Target="../tags/tag718.xml"/><Relationship Id="rId17" Type="http://schemas.openxmlformats.org/officeDocument/2006/relationships/tags" Target="../tags/tag719.xml"/><Relationship Id="rId18" Type="http://schemas.openxmlformats.org/officeDocument/2006/relationships/tags" Target="../tags/tag720.xml"/><Relationship Id="rId19" Type="http://schemas.openxmlformats.org/officeDocument/2006/relationships/tags" Target="../tags/tag721.xml"/><Relationship Id="rId1" Type="http://schemas.openxmlformats.org/officeDocument/2006/relationships/vmlDrawing" Target="../drawings/vmlDrawing44.vml"/><Relationship Id="rId2" Type="http://schemas.openxmlformats.org/officeDocument/2006/relationships/tags" Target="../tags/tag704.xml"/><Relationship Id="rId3" Type="http://schemas.openxmlformats.org/officeDocument/2006/relationships/tags" Target="../tags/tag705.xml"/><Relationship Id="rId4" Type="http://schemas.openxmlformats.org/officeDocument/2006/relationships/tags" Target="../tags/tag706.xml"/><Relationship Id="rId5" Type="http://schemas.openxmlformats.org/officeDocument/2006/relationships/tags" Target="../tags/tag707.xml"/><Relationship Id="rId6" Type="http://schemas.openxmlformats.org/officeDocument/2006/relationships/tags" Target="../tags/tag708.xml"/><Relationship Id="rId7" Type="http://schemas.openxmlformats.org/officeDocument/2006/relationships/tags" Target="../tags/tag709.xml"/><Relationship Id="rId8" Type="http://schemas.openxmlformats.org/officeDocument/2006/relationships/tags" Target="../tags/tag710.xml"/></Relationships>
</file>

<file path=ppt/slides/_rels/slide46.xml.rels><?xml version="1.0" encoding="UTF-8" standalone="yes"?>
<Relationships xmlns="http://schemas.openxmlformats.org/package/2006/relationships"><Relationship Id="rId13" Type="http://schemas.openxmlformats.org/officeDocument/2006/relationships/tags" Target="../tags/tag735.xml"/><Relationship Id="rId14" Type="http://schemas.openxmlformats.org/officeDocument/2006/relationships/tags" Target="../tags/tag736.xml"/><Relationship Id="rId15" Type="http://schemas.openxmlformats.org/officeDocument/2006/relationships/tags" Target="../tags/tag737.xml"/><Relationship Id="rId16" Type="http://schemas.openxmlformats.org/officeDocument/2006/relationships/tags" Target="../tags/tag738.xml"/><Relationship Id="rId17" Type="http://schemas.openxmlformats.org/officeDocument/2006/relationships/tags" Target="../tags/tag739.xml"/><Relationship Id="rId18" Type="http://schemas.openxmlformats.org/officeDocument/2006/relationships/tags" Target="../tags/tag740.xml"/><Relationship Id="rId19" Type="http://schemas.openxmlformats.org/officeDocument/2006/relationships/tags" Target="../tags/tag741.xml"/><Relationship Id="rId63" Type="http://schemas.openxmlformats.org/officeDocument/2006/relationships/tags" Target="../tags/tag785.xml"/><Relationship Id="rId64" Type="http://schemas.openxmlformats.org/officeDocument/2006/relationships/tags" Target="../tags/tag786.xml"/><Relationship Id="rId65" Type="http://schemas.openxmlformats.org/officeDocument/2006/relationships/slideLayout" Target="../slideLayouts/slideLayout10.xml"/><Relationship Id="rId66" Type="http://schemas.openxmlformats.org/officeDocument/2006/relationships/oleObject" Target="../embeddings/oleObject86.bin"/><Relationship Id="rId67" Type="http://schemas.openxmlformats.org/officeDocument/2006/relationships/image" Target="../media/image1.emf"/><Relationship Id="rId68" Type="http://schemas.openxmlformats.org/officeDocument/2006/relationships/oleObject" Target="../embeddings/oleObject87.bin"/><Relationship Id="rId69" Type="http://schemas.openxmlformats.org/officeDocument/2006/relationships/image" Target="../media/image55.emf"/><Relationship Id="rId50" Type="http://schemas.openxmlformats.org/officeDocument/2006/relationships/tags" Target="../tags/tag772.xml"/><Relationship Id="rId51" Type="http://schemas.openxmlformats.org/officeDocument/2006/relationships/tags" Target="../tags/tag773.xml"/><Relationship Id="rId52" Type="http://schemas.openxmlformats.org/officeDocument/2006/relationships/tags" Target="../tags/tag774.xml"/><Relationship Id="rId53" Type="http://schemas.openxmlformats.org/officeDocument/2006/relationships/tags" Target="../tags/tag775.xml"/><Relationship Id="rId54" Type="http://schemas.openxmlformats.org/officeDocument/2006/relationships/tags" Target="../tags/tag776.xml"/><Relationship Id="rId55" Type="http://schemas.openxmlformats.org/officeDocument/2006/relationships/tags" Target="../tags/tag777.xml"/><Relationship Id="rId56" Type="http://schemas.openxmlformats.org/officeDocument/2006/relationships/tags" Target="../tags/tag778.xml"/><Relationship Id="rId57" Type="http://schemas.openxmlformats.org/officeDocument/2006/relationships/tags" Target="../tags/tag779.xml"/><Relationship Id="rId58" Type="http://schemas.openxmlformats.org/officeDocument/2006/relationships/tags" Target="../tags/tag780.xml"/><Relationship Id="rId59" Type="http://schemas.openxmlformats.org/officeDocument/2006/relationships/tags" Target="../tags/tag781.xml"/><Relationship Id="rId40" Type="http://schemas.openxmlformats.org/officeDocument/2006/relationships/tags" Target="../tags/tag762.xml"/><Relationship Id="rId41" Type="http://schemas.openxmlformats.org/officeDocument/2006/relationships/tags" Target="../tags/tag763.xml"/><Relationship Id="rId42" Type="http://schemas.openxmlformats.org/officeDocument/2006/relationships/tags" Target="../tags/tag764.xml"/><Relationship Id="rId43" Type="http://schemas.openxmlformats.org/officeDocument/2006/relationships/tags" Target="../tags/tag765.xml"/><Relationship Id="rId44" Type="http://schemas.openxmlformats.org/officeDocument/2006/relationships/tags" Target="../tags/tag766.xml"/><Relationship Id="rId45" Type="http://schemas.openxmlformats.org/officeDocument/2006/relationships/tags" Target="../tags/tag767.xml"/><Relationship Id="rId46" Type="http://schemas.openxmlformats.org/officeDocument/2006/relationships/tags" Target="../tags/tag768.xml"/><Relationship Id="rId47" Type="http://schemas.openxmlformats.org/officeDocument/2006/relationships/tags" Target="../tags/tag769.xml"/><Relationship Id="rId48" Type="http://schemas.openxmlformats.org/officeDocument/2006/relationships/tags" Target="../tags/tag770.xml"/><Relationship Id="rId49" Type="http://schemas.openxmlformats.org/officeDocument/2006/relationships/tags" Target="../tags/tag771.xml"/><Relationship Id="rId1" Type="http://schemas.openxmlformats.org/officeDocument/2006/relationships/vmlDrawing" Target="../drawings/vmlDrawing45.vml"/><Relationship Id="rId2" Type="http://schemas.openxmlformats.org/officeDocument/2006/relationships/tags" Target="../tags/tag724.xml"/><Relationship Id="rId3" Type="http://schemas.openxmlformats.org/officeDocument/2006/relationships/tags" Target="../tags/tag725.xml"/><Relationship Id="rId4" Type="http://schemas.openxmlformats.org/officeDocument/2006/relationships/tags" Target="../tags/tag726.xml"/><Relationship Id="rId5" Type="http://schemas.openxmlformats.org/officeDocument/2006/relationships/tags" Target="../tags/tag727.xml"/><Relationship Id="rId6" Type="http://schemas.openxmlformats.org/officeDocument/2006/relationships/tags" Target="../tags/tag728.xml"/><Relationship Id="rId7" Type="http://schemas.openxmlformats.org/officeDocument/2006/relationships/tags" Target="../tags/tag729.xml"/><Relationship Id="rId8" Type="http://schemas.openxmlformats.org/officeDocument/2006/relationships/tags" Target="../tags/tag730.xml"/><Relationship Id="rId9" Type="http://schemas.openxmlformats.org/officeDocument/2006/relationships/tags" Target="../tags/tag731.xml"/><Relationship Id="rId30" Type="http://schemas.openxmlformats.org/officeDocument/2006/relationships/tags" Target="../tags/tag752.xml"/><Relationship Id="rId31" Type="http://schemas.openxmlformats.org/officeDocument/2006/relationships/tags" Target="../tags/tag753.xml"/><Relationship Id="rId32" Type="http://schemas.openxmlformats.org/officeDocument/2006/relationships/tags" Target="../tags/tag754.xml"/><Relationship Id="rId33" Type="http://schemas.openxmlformats.org/officeDocument/2006/relationships/tags" Target="../tags/tag755.xml"/><Relationship Id="rId34" Type="http://schemas.openxmlformats.org/officeDocument/2006/relationships/tags" Target="../tags/tag756.xml"/><Relationship Id="rId35" Type="http://schemas.openxmlformats.org/officeDocument/2006/relationships/tags" Target="../tags/tag757.xml"/><Relationship Id="rId36" Type="http://schemas.openxmlformats.org/officeDocument/2006/relationships/tags" Target="../tags/tag758.xml"/><Relationship Id="rId37" Type="http://schemas.openxmlformats.org/officeDocument/2006/relationships/tags" Target="../tags/tag759.xml"/><Relationship Id="rId38" Type="http://schemas.openxmlformats.org/officeDocument/2006/relationships/tags" Target="../tags/tag760.xml"/><Relationship Id="rId39" Type="http://schemas.openxmlformats.org/officeDocument/2006/relationships/tags" Target="../tags/tag761.xml"/><Relationship Id="rId70" Type="http://schemas.openxmlformats.org/officeDocument/2006/relationships/oleObject" Target="../embeddings/oleObject88.bin"/><Relationship Id="rId71" Type="http://schemas.openxmlformats.org/officeDocument/2006/relationships/image" Target="../media/image56.emf"/><Relationship Id="rId72" Type="http://schemas.openxmlformats.org/officeDocument/2006/relationships/oleObject" Target="../embeddings/oleObject89.bin"/><Relationship Id="rId20" Type="http://schemas.openxmlformats.org/officeDocument/2006/relationships/tags" Target="../tags/tag742.xml"/><Relationship Id="rId21" Type="http://schemas.openxmlformats.org/officeDocument/2006/relationships/tags" Target="../tags/tag743.xml"/><Relationship Id="rId22" Type="http://schemas.openxmlformats.org/officeDocument/2006/relationships/tags" Target="../tags/tag744.xml"/><Relationship Id="rId23" Type="http://schemas.openxmlformats.org/officeDocument/2006/relationships/tags" Target="../tags/tag745.xml"/><Relationship Id="rId24" Type="http://schemas.openxmlformats.org/officeDocument/2006/relationships/tags" Target="../tags/tag746.xml"/><Relationship Id="rId25" Type="http://schemas.openxmlformats.org/officeDocument/2006/relationships/tags" Target="../tags/tag747.xml"/><Relationship Id="rId26" Type="http://schemas.openxmlformats.org/officeDocument/2006/relationships/tags" Target="../tags/tag748.xml"/><Relationship Id="rId27" Type="http://schemas.openxmlformats.org/officeDocument/2006/relationships/tags" Target="../tags/tag749.xml"/><Relationship Id="rId28" Type="http://schemas.openxmlformats.org/officeDocument/2006/relationships/tags" Target="../tags/tag750.xml"/><Relationship Id="rId29" Type="http://schemas.openxmlformats.org/officeDocument/2006/relationships/tags" Target="../tags/tag751.xml"/><Relationship Id="rId73" Type="http://schemas.openxmlformats.org/officeDocument/2006/relationships/image" Target="../media/image57.emf"/><Relationship Id="rId74" Type="http://schemas.openxmlformats.org/officeDocument/2006/relationships/oleObject" Target="../embeddings/oleObject90.bin"/><Relationship Id="rId75" Type="http://schemas.openxmlformats.org/officeDocument/2006/relationships/image" Target="../media/image58.emf"/><Relationship Id="rId60" Type="http://schemas.openxmlformats.org/officeDocument/2006/relationships/tags" Target="../tags/tag782.xml"/><Relationship Id="rId61" Type="http://schemas.openxmlformats.org/officeDocument/2006/relationships/tags" Target="../tags/tag783.xml"/><Relationship Id="rId62" Type="http://schemas.openxmlformats.org/officeDocument/2006/relationships/tags" Target="../tags/tag784.xml"/><Relationship Id="rId10" Type="http://schemas.openxmlformats.org/officeDocument/2006/relationships/tags" Target="../tags/tag732.xml"/><Relationship Id="rId11" Type="http://schemas.openxmlformats.org/officeDocument/2006/relationships/tags" Target="../tags/tag733.xml"/><Relationship Id="rId12" Type="http://schemas.openxmlformats.org/officeDocument/2006/relationships/tags" Target="../tags/tag734.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oleObject" Target="../embeddings/oleObject91.bin"/><Relationship Id="rId5" Type="http://schemas.openxmlformats.org/officeDocument/2006/relationships/image" Target="../media/image1.emf"/><Relationship Id="rId1" Type="http://schemas.openxmlformats.org/officeDocument/2006/relationships/vmlDrawing" Target="../drawings/vmlDrawing46.vml"/><Relationship Id="rId2" Type="http://schemas.openxmlformats.org/officeDocument/2006/relationships/tags" Target="../tags/tag787.xml"/></Relationships>
</file>

<file path=ppt/slides/_rels/slide48.xml.rels><?xml version="1.0" encoding="UTF-8" standalone="yes"?>
<Relationships xmlns="http://schemas.openxmlformats.org/package/2006/relationships"><Relationship Id="rId11" Type="http://schemas.openxmlformats.org/officeDocument/2006/relationships/oleObject" Target="../embeddings/oleObject92.bin"/><Relationship Id="rId12" Type="http://schemas.openxmlformats.org/officeDocument/2006/relationships/image" Target="../media/image6.emf"/><Relationship Id="rId13" Type="http://schemas.openxmlformats.org/officeDocument/2006/relationships/image" Target="../media/image46.jpeg"/><Relationship Id="rId14" Type="http://schemas.openxmlformats.org/officeDocument/2006/relationships/image" Target="../media/image47.jpeg"/><Relationship Id="rId15" Type="http://schemas.openxmlformats.org/officeDocument/2006/relationships/image" Target="../media/image48.jpeg"/><Relationship Id="rId1" Type="http://schemas.openxmlformats.org/officeDocument/2006/relationships/vmlDrawing" Target="../drawings/vmlDrawing47.vml"/><Relationship Id="rId2" Type="http://schemas.openxmlformats.org/officeDocument/2006/relationships/tags" Target="../tags/tag788.xml"/><Relationship Id="rId3" Type="http://schemas.openxmlformats.org/officeDocument/2006/relationships/tags" Target="../tags/tag789.xml"/><Relationship Id="rId4" Type="http://schemas.openxmlformats.org/officeDocument/2006/relationships/tags" Target="../tags/tag790.xml"/><Relationship Id="rId5" Type="http://schemas.openxmlformats.org/officeDocument/2006/relationships/tags" Target="../tags/tag791.xml"/><Relationship Id="rId6" Type="http://schemas.openxmlformats.org/officeDocument/2006/relationships/tags" Target="../tags/tag792.xml"/><Relationship Id="rId7" Type="http://schemas.openxmlformats.org/officeDocument/2006/relationships/tags" Target="../tags/tag793.xml"/><Relationship Id="rId8" Type="http://schemas.openxmlformats.org/officeDocument/2006/relationships/tags" Target="../tags/tag794.xml"/><Relationship Id="rId9" Type="http://schemas.openxmlformats.org/officeDocument/2006/relationships/tags" Target="../tags/tag795.xml"/><Relationship Id="rId10"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0" Type="http://schemas.openxmlformats.org/officeDocument/2006/relationships/tags" Target="../tags/tag814.xml"/><Relationship Id="rId21" Type="http://schemas.openxmlformats.org/officeDocument/2006/relationships/tags" Target="../tags/tag815.xml"/><Relationship Id="rId22" Type="http://schemas.openxmlformats.org/officeDocument/2006/relationships/tags" Target="../tags/tag816.xml"/><Relationship Id="rId23" Type="http://schemas.openxmlformats.org/officeDocument/2006/relationships/tags" Target="../tags/tag817.xml"/><Relationship Id="rId24" Type="http://schemas.openxmlformats.org/officeDocument/2006/relationships/tags" Target="../tags/tag818.xml"/><Relationship Id="rId25" Type="http://schemas.openxmlformats.org/officeDocument/2006/relationships/tags" Target="../tags/tag819.xml"/><Relationship Id="rId26" Type="http://schemas.openxmlformats.org/officeDocument/2006/relationships/tags" Target="../tags/tag820.xml"/><Relationship Id="rId27" Type="http://schemas.openxmlformats.org/officeDocument/2006/relationships/tags" Target="../tags/tag821.xml"/><Relationship Id="rId28" Type="http://schemas.openxmlformats.org/officeDocument/2006/relationships/tags" Target="../tags/tag822.xml"/><Relationship Id="rId29" Type="http://schemas.openxmlformats.org/officeDocument/2006/relationships/tags" Target="../tags/tag823.xml"/><Relationship Id="rId1" Type="http://schemas.openxmlformats.org/officeDocument/2006/relationships/vmlDrawing" Target="../drawings/vmlDrawing48.vml"/><Relationship Id="rId2" Type="http://schemas.openxmlformats.org/officeDocument/2006/relationships/tags" Target="../tags/tag796.xml"/><Relationship Id="rId3" Type="http://schemas.openxmlformats.org/officeDocument/2006/relationships/tags" Target="../tags/tag797.xml"/><Relationship Id="rId4" Type="http://schemas.openxmlformats.org/officeDocument/2006/relationships/tags" Target="../tags/tag798.xml"/><Relationship Id="rId5" Type="http://schemas.openxmlformats.org/officeDocument/2006/relationships/tags" Target="../tags/tag799.xml"/><Relationship Id="rId30" Type="http://schemas.openxmlformats.org/officeDocument/2006/relationships/tags" Target="../tags/tag824.xml"/><Relationship Id="rId31" Type="http://schemas.openxmlformats.org/officeDocument/2006/relationships/tags" Target="../tags/tag825.xml"/><Relationship Id="rId32" Type="http://schemas.openxmlformats.org/officeDocument/2006/relationships/tags" Target="../tags/tag826.xml"/><Relationship Id="rId9" Type="http://schemas.openxmlformats.org/officeDocument/2006/relationships/tags" Target="../tags/tag803.xml"/><Relationship Id="rId6" Type="http://schemas.openxmlformats.org/officeDocument/2006/relationships/tags" Target="../tags/tag800.xml"/><Relationship Id="rId7" Type="http://schemas.openxmlformats.org/officeDocument/2006/relationships/tags" Target="../tags/tag801.xml"/><Relationship Id="rId8" Type="http://schemas.openxmlformats.org/officeDocument/2006/relationships/tags" Target="../tags/tag802.xml"/><Relationship Id="rId33" Type="http://schemas.openxmlformats.org/officeDocument/2006/relationships/tags" Target="../tags/tag827.xml"/><Relationship Id="rId34" Type="http://schemas.openxmlformats.org/officeDocument/2006/relationships/slideLayout" Target="../slideLayouts/slideLayout10.xml"/><Relationship Id="rId35" Type="http://schemas.openxmlformats.org/officeDocument/2006/relationships/oleObject" Target="../embeddings/oleObject93.bin"/><Relationship Id="rId36" Type="http://schemas.openxmlformats.org/officeDocument/2006/relationships/image" Target="../media/image26.emf"/><Relationship Id="rId10" Type="http://schemas.openxmlformats.org/officeDocument/2006/relationships/tags" Target="../tags/tag804.xml"/><Relationship Id="rId11" Type="http://schemas.openxmlformats.org/officeDocument/2006/relationships/tags" Target="../tags/tag805.xml"/><Relationship Id="rId12" Type="http://schemas.openxmlformats.org/officeDocument/2006/relationships/tags" Target="../tags/tag806.xml"/><Relationship Id="rId13" Type="http://schemas.openxmlformats.org/officeDocument/2006/relationships/tags" Target="../tags/tag807.xml"/><Relationship Id="rId14" Type="http://schemas.openxmlformats.org/officeDocument/2006/relationships/tags" Target="../tags/tag808.xml"/><Relationship Id="rId15" Type="http://schemas.openxmlformats.org/officeDocument/2006/relationships/tags" Target="../tags/tag809.xml"/><Relationship Id="rId16" Type="http://schemas.openxmlformats.org/officeDocument/2006/relationships/tags" Target="../tags/tag810.xml"/><Relationship Id="rId17" Type="http://schemas.openxmlformats.org/officeDocument/2006/relationships/tags" Target="../tags/tag811.xml"/><Relationship Id="rId18" Type="http://schemas.openxmlformats.org/officeDocument/2006/relationships/tags" Target="../tags/tag812.xml"/><Relationship Id="rId19" Type="http://schemas.openxmlformats.org/officeDocument/2006/relationships/tags" Target="../tags/tag813.xml"/><Relationship Id="rId37" Type="http://schemas.openxmlformats.org/officeDocument/2006/relationships/oleObject" Target="../embeddings/oleObject94.bin"/><Relationship Id="rId38" Type="http://schemas.openxmlformats.org/officeDocument/2006/relationships/image" Target="../media/image59.emf"/></Relationships>
</file>

<file path=ppt/slides/_rels/slide50.xml.rels><?xml version="1.0" encoding="UTF-8" standalone="yes"?>
<Relationships xmlns="http://schemas.openxmlformats.org/package/2006/relationships"><Relationship Id="rId20" Type="http://schemas.openxmlformats.org/officeDocument/2006/relationships/tags" Target="../tags/tag846.xml"/><Relationship Id="rId21" Type="http://schemas.openxmlformats.org/officeDocument/2006/relationships/tags" Target="../tags/tag847.xml"/><Relationship Id="rId22" Type="http://schemas.openxmlformats.org/officeDocument/2006/relationships/tags" Target="../tags/tag848.xml"/><Relationship Id="rId23" Type="http://schemas.openxmlformats.org/officeDocument/2006/relationships/tags" Target="../tags/tag849.xml"/><Relationship Id="rId24" Type="http://schemas.openxmlformats.org/officeDocument/2006/relationships/tags" Target="../tags/tag850.xml"/><Relationship Id="rId25" Type="http://schemas.openxmlformats.org/officeDocument/2006/relationships/tags" Target="../tags/tag851.xml"/><Relationship Id="rId26" Type="http://schemas.openxmlformats.org/officeDocument/2006/relationships/tags" Target="../tags/tag852.xml"/><Relationship Id="rId27" Type="http://schemas.openxmlformats.org/officeDocument/2006/relationships/tags" Target="../tags/tag853.xml"/><Relationship Id="rId28" Type="http://schemas.openxmlformats.org/officeDocument/2006/relationships/tags" Target="../tags/tag854.xml"/><Relationship Id="rId29" Type="http://schemas.openxmlformats.org/officeDocument/2006/relationships/tags" Target="../tags/tag855.xml"/><Relationship Id="rId1" Type="http://schemas.openxmlformats.org/officeDocument/2006/relationships/vmlDrawing" Target="../drawings/vmlDrawing49.vml"/><Relationship Id="rId2" Type="http://schemas.openxmlformats.org/officeDocument/2006/relationships/tags" Target="../tags/tag828.xml"/><Relationship Id="rId3" Type="http://schemas.openxmlformats.org/officeDocument/2006/relationships/tags" Target="../tags/tag829.xml"/><Relationship Id="rId4" Type="http://schemas.openxmlformats.org/officeDocument/2006/relationships/tags" Target="../tags/tag830.xml"/><Relationship Id="rId5" Type="http://schemas.openxmlformats.org/officeDocument/2006/relationships/tags" Target="../tags/tag831.xml"/><Relationship Id="rId30" Type="http://schemas.openxmlformats.org/officeDocument/2006/relationships/slideLayout" Target="../slideLayouts/slideLayout10.xml"/><Relationship Id="rId31" Type="http://schemas.openxmlformats.org/officeDocument/2006/relationships/notesSlide" Target="../notesSlides/notesSlide21.xml"/><Relationship Id="rId32" Type="http://schemas.openxmlformats.org/officeDocument/2006/relationships/oleObject" Target="../embeddings/oleObject95.bin"/><Relationship Id="rId9" Type="http://schemas.openxmlformats.org/officeDocument/2006/relationships/tags" Target="../tags/tag835.xml"/><Relationship Id="rId6" Type="http://schemas.openxmlformats.org/officeDocument/2006/relationships/tags" Target="../tags/tag832.xml"/><Relationship Id="rId7" Type="http://schemas.openxmlformats.org/officeDocument/2006/relationships/tags" Target="../tags/tag833.xml"/><Relationship Id="rId8" Type="http://schemas.openxmlformats.org/officeDocument/2006/relationships/tags" Target="../tags/tag834.xml"/><Relationship Id="rId33" Type="http://schemas.openxmlformats.org/officeDocument/2006/relationships/image" Target="../media/image1.emf"/><Relationship Id="rId34" Type="http://schemas.openxmlformats.org/officeDocument/2006/relationships/oleObject" Target="../embeddings/oleObject96.bin"/><Relationship Id="rId35" Type="http://schemas.openxmlformats.org/officeDocument/2006/relationships/image" Target="../media/image60.emf"/><Relationship Id="rId36" Type="http://schemas.openxmlformats.org/officeDocument/2006/relationships/oleObject" Target="../embeddings/oleObject97.bin"/><Relationship Id="rId10" Type="http://schemas.openxmlformats.org/officeDocument/2006/relationships/tags" Target="../tags/tag836.xml"/><Relationship Id="rId11" Type="http://schemas.openxmlformats.org/officeDocument/2006/relationships/tags" Target="../tags/tag837.xml"/><Relationship Id="rId12" Type="http://schemas.openxmlformats.org/officeDocument/2006/relationships/tags" Target="../tags/tag838.xml"/><Relationship Id="rId13" Type="http://schemas.openxmlformats.org/officeDocument/2006/relationships/tags" Target="../tags/tag839.xml"/><Relationship Id="rId14" Type="http://schemas.openxmlformats.org/officeDocument/2006/relationships/tags" Target="../tags/tag840.xml"/><Relationship Id="rId15" Type="http://schemas.openxmlformats.org/officeDocument/2006/relationships/tags" Target="../tags/tag841.xml"/><Relationship Id="rId16" Type="http://schemas.openxmlformats.org/officeDocument/2006/relationships/tags" Target="../tags/tag842.xml"/><Relationship Id="rId17" Type="http://schemas.openxmlformats.org/officeDocument/2006/relationships/tags" Target="../tags/tag843.xml"/><Relationship Id="rId18" Type="http://schemas.openxmlformats.org/officeDocument/2006/relationships/tags" Target="../tags/tag844.xml"/><Relationship Id="rId19" Type="http://schemas.openxmlformats.org/officeDocument/2006/relationships/tags" Target="../tags/tag845.xml"/><Relationship Id="rId37" Type="http://schemas.openxmlformats.org/officeDocument/2006/relationships/image" Target="../media/image61.emf"/></Relationships>
</file>

<file path=ppt/slides/_rels/slide51.xml.rels><?xml version="1.0" encoding="UTF-8" standalone="yes"?>
<Relationships xmlns="http://schemas.openxmlformats.org/package/2006/relationships"><Relationship Id="rId20" Type="http://schemas.openxmlformats.org/officeDocument/2006/relationships/tags" Target="../tags/tag874.xml"/><Relationship Id="rId21" Type="http://schemas.openxmlformats.org/officeDocument/2006/relationships/tags" Target="../tags/tag875.xml"/><Relationship Id="rId22" Type="http://schemas.openxmlformats.org/officeDocument/2006/relationships/tags" Target="../tags/tag876.xml"/><Relationship Id="rId23" Type="http://schemas.openxmlformats.org/officeDocument/2006/relationships/tags" Target="../tags/tag877.xml"/><Relationship Id="rId24" Type="http://schemas.openxmlformats.org/officeDocument/2006/relationships/tags" Target="../tags/tag878.xml"/><Relationship Id="rId25" Type="http://schemas.openxmlformats.org/officeDocument/2006/relationships/tags" Target="../tags/tag879.xml"/><Relationship Id="rId26" Type="http://schemas.openxmlformats.org/officeDocument/2006/relationships/tags" Target="../tags/tag880.xml"/><Relationship Id="rId27" Type="http://schemas.openxmlformats.org/officeDocument/2006/relationships/tags" Target="../tags/tag881.xml"/><Relationship Id="rId28" Type="http://schemas.openxmlformats.org/officeDocument/2006/relationships/tags" Target="../tags/tag882.xml"/><Relationship Id="rId29" Type="http://schemas.openxmlformats.org/officeDocument/2006/relationships/slideLayout" Target="../slideLayouts/slideLayout10.xml"/><Relationship Id="rId1" Type="http://schemas.openxmlformats.org/officeDocument/2006/relationships/vmlDrawing" Target="../drawings/vmlDrawing50.vml"/><Relationship Id="rId2" Type="http://schemas.openxmlformats.org/officeDocument/2006/relationships/tags" Target="../tags/tag856.xml"/><Relationship Id="rId3" Type="http://schemas.openxmlformats.org/officeDocument/2006/relationships/tags" Target="../tags/tag857.xml"/><Relationship Id="rId4" Type="http://schemas.openxmlformats.org/officeDocument/2006/relationships/tags" Target="../tags/tag858.xml"/><Relationship Id="rId5" Type="http://schemas.openxmlformats.org/officeDocument/2006/relationships/tags" Target="../tags/tag859.xml"/><Relationship Id="rId30" Type="http://schemas.openxmlformats.org/officeDocument/2006/relationships/notesSlide" Target="../notesSlides/notesSlide22.xml"/><Relationship Id="rId31" Type="http://schemas.openxmlformats.org/officeDocument/2006/relationships/oleObject" Target="../embeddings/oleObject98.bin"/><Relationship Id="rId32" Type="http://schemas.openxmlformats.org/officeDocument/2006/relationships/image" Target="../media/image1.emf"/><Relationship Id="rId9" Type="http://schemas.openxmlformats.org/officeDocument/2006/relationships/tags" Target="../tags/tag863.xml"/><Relationship Id="rId6" Type="http://schemas.openxmlformats.org/officeDocument/2006/relationships/tags" Target="../tags/tag860.xml"/><Relationship Id="rId7" Type="http://schemas.openxmlformats.org/officeDocument/2006/relationships/tags" Target="../tags/tag861.xml"/><Relationship Id="rId8" Type="http://schemas.openxmlformats.org/officeDocument/2006/relationships/tags" Target="../tags/tag862.xml"/><Relationship Id="rId33" Type="http://schemas.openxmlformats.org/officeDocument/2006/relationships/oleObject" Target="../embeddings/oleObject99.bin"/><Relationship Id="rId34" Type="http://schemas.openxmlformats.org/officeDocument/2006/relationships/image" Target="../media/image62.emf"/><Relationship Id="rId35" Type="http://schemas.openxmlformats.org/officeDocument/2006/relationships/oleObject" Target="../embeddings/oleObject100.bin"/><Relationship Id="rId36" Type="http://schemas.openxmlformats.org/officeDocument/2006/relationships/image" Target="../media/image63.emf"/><Relationship Id="rId10" Type="http://schemas.openxmlformats.org/officeDocument/2006/relationships/tags" Target="../tags/tag864.xml"/><Relationship Id="rId11" Type="http://schemas.openxmlformats.org/officeDocument/2006/relationships/tags" Target="../tags/tag865.xml"/><Relationship Id="rId12" Type="http://schemas.openxmlformats.org/officeDocument/2006/relationships/tags" Target="../tags/tag866.xml"/><Relationship Id="rId13" Type="http://schemas.openxmlformats.org/officeDocument/2006/relationships/tags" Target="../tags/tag867.xml"/><Relationship Id="rId14" Type="http://schemas.openxmlformats.org/officeDocument/2006/relationships/tags" Target="../tags/tag868.xml"/><Relationship Id="rId15" Type="http://schemas.openxmlformats.org/officeDocument/2006/relationships/tags" Target="../tags/tag869.xml"/><Relationship Id="rId16" Type="http://schemas.openxmlformats.org/officeDocument/2006/relationships/tags" Target="../tags/tag870.xml"/><Relationship Id="rId17" Type="http://schemas.openxmlformats.org/officeDocument/2006/relationships/tags" Target="../tags/tag871.xml"/><Relationship Id="rId18" Type="http://schemas.openxmlformats.org/officeDocument/2006/relationships/tags" Target="../tags/tag872.xml"/><Relationship Id="rId19" Type="http://schemas.openxmlformats.org/officeDocument/2006/relationships/tags" Target="../tags/tag873.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notesSlide" Target="../notesSlides/notesSlide23.xml"/><Relationship Id="rId5" Type="http://schemas.openxmlformats.org/officeDocument/2006/relationships/oleObject" Target="../embeddings/oleObject101.bin"/><Relationship Id="rId6" Type="http://schemas.openxmlformats.org/officeDocument/2006/relationships/image" Target="../media/image6.emf"/><Relationship Id="rId1" Type="http://schemas.openxmlformats.org/officeDocument/2006/relationships/vmlDrawing" Target="../drawings/vmlDrawing51.vml"/><Relationship Id="rId2" Type="http://schemas.openxmlformats.org/officeDocument/2006/relationships/tags" Target="../tags/tag883.xml"/></Relationships>
</file>

<file path=ppt/slides/_rels/slide53.xml.rels><?xml version="1.0" encoding="UTF-8" standalone="yes"?>
<Relationships xmlns="http://schemas.openxmlformats.org/package/2006/relationships"><Relationship Id="rId20" Type="http://schemas.openxmlformats.org/officeDocument/2006/relationships/tags" Target="../tags/tag902.xml"/><Relationship Id="rId21" Type="http://schemas.openxmlformats.org/officeDocument/2006/relationships/tags" Target="../tags/tag903.xml"/><Relationship Id="rId22" Type="http://schemas.openxmlformats.org/officeDocument/2006/relationships/tags" Target="../tags/tag904.xml"/><Relationship Id="rId23" Type="http://schemas.openxmlformats.org/officeDocument/2006/relationships/tags" Target="../tags/tag905.xml"/><Relationship Id="rId24" Type="http://schemas.openxmlformats.org/officeDocument/2006/relationships/tags" Target="../tags/tag906.xml"/><Relationship Id="rId25" Type="http://schemas.openxmlformats.org/officeDocument/2006/relationships/tags" Target="../tags/tag907.xml"/><Relationship Id="rId26" Type="http://schemas.openxmlformats.org/officeDocument/2006/relationships/tags" Target="../tags/tag908.xml"/><Relationship Id="rId27" Type="http://schemas.openxmlformats.org/officeDocument/2006/relationships/tags" Target="../tags/tag909.xml"/><Relationship Id="rId28" Type="http://schemas.openxmlformats.org/officeDocument/2006/relationships/tags" Target="../tags/tag910.xml"/><Relationship Id="rId29" Type="http://schemas.openxmlformats.org/officeDocument/2006/relationships/tags" Target="../tags/tag911.xml"/><Relationship Id="rId1" Type="http://schemas.openxmlformats.org/officeDocument/2006/relationships/vmlDrawing" Target="../drawings/vmlDrawing52.vml"/><Relationship Id="rId2" Type="http://schemas.openxmlformats.org/officeDocument/2006/relationships/tags" Target="../tags/tag884.xml"/><Relationship Id="rId3" Type="http://schemas.openxmlformats.org/officeDocument/2006/relationships/tags" Target="../tags/tag885.xml"/><Relationship Id="rId4" Type="http://schemas.openxmlformats.org/officeDocument/2006/relationships/tags" Target="../tags/tag886.xml"/><Relationship Id="rId5" Type="http://schemas.openxmlformats.org/officeDocument/2006/relationships/tags" Target="../tags/tag887.xml"/><Relationship Id="rId30" Type="http://schemas.openxmlformats.org/officeDocument/2006/relationships/tags" Target="../tags/tag912.xml"/><Relationship Id="rId31" Type="http://schemas.openxmlformats.org/officeDocument/2006/relationships/slideLayout" Target="../slideLayouts/slideLayout10.xml"/><Relationship Id="rId32" Type="http://schemas.openxmlformats.org/officeDocument/2006/relationships/oleObject" Target="../embeddings/oleObject102.bin"/><Relationship Id="rId9" Type="http://schemas.openxmlformats.org/officeDocument/2006/relationships/tags" Target="../tags/tag891.xml"/><Relationship Id="rId6" Type="http://schemas.openxmlformats.org/officeDocument/2006/relationships/tags" Target="../tags/tag888.xml"/><Relationship Id="rId7" Type="http://schemas.openxmlformats.org/officeDocument/2006/relationships/tags" Target="../tags/tag889.xml"/><Relationship Id="rId8" Type="http://schemas.openxmlformats.org/officeDocument/2006/relationships/tags" Target="../tags/tag890.xml"/><Relationship Id="rId33" Type="http://schemas.openxmlformats.org/officeDocument/2006/relationships/image" Target="../media/image26.emf"/><Relationship Id="rId34" Type="http://schemas.openxmlformats.org/officeDocument/2006/relationships/oleObject" Target="../embeddings/oleObject103.bin"/><Relationship Id="rId35" Type="http://schemas.openxmlformats.org/officeDocument/2006/relationships/image" Target="../media/image64.emf"/><Relationship Id="rId10" Type="http://schemas.openxmlformats.org/officeDocument/2006/relationships/tags" Target="../tags/tag892.xml"/><Relationship Id="rId11" Type="http://schemas.openxmlformats.org/officeDocument/2006/relationships/tags" Target="../tags/tag893.xml"/><Relationship Id="rId12" Type="http://schemas.openxmlformats.org/officeDocument/2006/relationships/tags" Target="../tags/tag894.xml"/><Relationship Id="rId13" Type="http://schemas.openxmlformats.org/officeDocument/2006/relationships/tags" Target="../tags/tag895.xml"/><Relationship Id="rId14" Type="http://schemas.openxmlformats.org/officeDocument/2006/relationships/tags" Target="../tags/tag896.xml"/><Relationship Id="rId15" Type="http://schemas.openxmlformats.org/officeDocument/2006/relationships/tags" Target="../tags/tag897.xml"/><Relationship Id="rId16" Type="http://schemas.openxmlformats.org/officeDocument/2006/relationships/tags" Target="../tags/tag898.xml"/><Relationship Id="rId17" Type="http://schemas.openxmlformats.org/officeDocument/2006/relationships/tags" Target="../tags/tag899.xml"/><Relationship Id="rId18" Type="http://schemas.openxmlformats.org/officeDocument/2006/relationships/tags" Target="../tags/tag900.xml"/><Relationship Id="rId19" Type="http://schemas.openxmlformats.org/officeDocument/2006/relationships/tags" Target="../tags/tag901.xml"/></Relationships>
</file>

<file path=ppt/slides/_rels/slide54.xml.rels><?xml version="1.0" encoding="UTF-8" standalone="yes"?>
<Relationships xmlns="http://schemas.openxmlformats.org/package/2006/relationships"><Relationship Id="rId3" Type="http://schemas.openxmlformats.org/officeDocument/2006/relationships/tags" Target="../tags/tag914.xml"/><Relationship Id="rId4" Type="http://schemas.openxmlformats.org/officeDocument/2006/relationships/slideLayout" Target="../slideLayouts/slideLayout10.xml"/><Relationship Id="rId5" Type="http://schemas.openxmlformats.org/officeDocument/2006/relationships/oleObject" Target="../embeddings/oleObject104.bin"/><Relationship Id="rId6" Type="http://schemas.openxmlformats.org/officeDocument/2006/relationships/image" Target="../media/image1.emf"/><Relationship Id="rId1" Type="http://schemas.openxmlformats.org/officeDocument/2006/relationships/vmlDrawing" Target="../drawings/vmlDrawing53.vml"/><Relationship Id="rId2" Type="http://schemas.openxmlformats.org/officeDocument/2006/relationships/tags" Target="../tags/tag913.xml"/></Relationships>
</file>

<file path=ppt/slides/_rels/slide55.xml.rels><?xml version="1.0" encoding="UTF-8" standalone="yes"?>
<Relationships xmlns="http://schemas.openxmlformats.org/package/2006/relationships"><Relationship Id="rId13" Type="http://schemas.openxmlformats.org/officeDocument/2006/relationships/tags" Target="../tags/tag926.xml"/><Relationship Id="rId14" Type="http://schemas.openxmlformats.org/officeDocument/2006/relationships/tags" Target="../tags/tag927.xml"/><Relationship Id="rId15" Type="http://schemas.openxmlformats.org/officeDocument/2006/relationships/tags" Target="../tags/tag928.xml"/><Relationship Id="rId16" Type="http://schemas.openxmlformats.org/officeDocument/2006/relationships/tags" Target="../tags/tag929.xml"/><Relationship Id="rId17" Type="http://schemas.openxmlformats.org/officeDocument/2006/relationships/tags" Target="../tags/tag930.xml"/><Relationship Id="rId18" Type="http://schemas.openxmlformats.org/officeDocument/2006/relationships/tags" Target="../tags/tag931.xml"/><Relationship Id="rId19" Type="http://schemas.openxmlformats.org/officeDocument/2006/relationships/tags" Target="../tags/tag932.xml"/><Relationship Id="rId63" Type="http://schemas.openxmlformats.org/officeDocument/2006/relationships/slideLayout" Target="../slideLayouts/slideLayout10.xml"/><Relationship Id="rId64" Type="http://schemas.openxmlformats.org/officeDocument/2006/relationships/oleObject" Target="../embeddings/oleObject105.bin"/><Relationship Id="rId65" Type="http://schemas.openxmlformats.org/officeDocument/2006/relationships/image" Target="../media/image1.emf"/><Relationship Id="rId50" Type="http://schemas.openxmlformats.org/officeDocument/2006/relationships/tags" Target="../tags/tag963.xml"/><Relationship Id="rId51" Type="http://schemas.openxmlformats.org/officeDocument/2006/relationships/tags" Target="../tags/tag964.xml"/><Relationship Id="rId52" Type="http://schemas.openxmlformats.org/officeDocument/2006/relationships/tags" Target="../tags/tag965.xml"/><Relationship Id="rId53" Type="http://schemas.openxmlformats.org/officeDocument/2006/relationships/tags" Target="../tags/tag966.xml"/><Relationship Id="rId54" Type="http://schemas.openxmlformats.org/officeDocument/2006/relationships/tags" Target="../tags/tag967.xml"/><Relationship Id="rId55" Type="http://schemas.openxmlformats.org/officeDocument/2006/relationships/tags" Target="../tags/tag968.xml"/><Relationship Id="rId56" Type="http://schemas.openxmlformats.org/officeDocument/2006/relationships/tags" Target="../tags/tag969.xml"/><Relationship Id="rId57" Type="http://schemas.openxmlformats.org/officeDocument/2006/relationships/tags" Target="../tags/tag970.xml"/><Relationship Id="rId58" Type="http://schemas.openxmlformats.org/officeDocument/2006/relationships/tags" Target="../tags/tag971.xml"/><Relationship Id="rId59" Type="http://schemas.openxmlformats.org/officeDocument/2006/relationships/tags" Target="../tags/tag972.xml"/><Relationship Id="rId40" Type="http://schemas.openxmlformats.org/officeDocument/2006/relationships/tags" Target="../tags/tag953.xml"/><Relationship Id="rId41" Type="http://schemas.openxmlformats.org/officeDocument/2006/relationships/tags" Target="../tags/tag954.xml"/><Relationship Id="rId42" Type="http://schemas.openxmlformats.org/officeDocument/2006/relationships/tags" Target="../tags/tag955.xml"/><Relationship Id="rId43" Type="http://schemas.openxmlformats.org/officeDocument/2006/relationships/tags" Target="../tags/tag956.xml"/><Relationship Id="rId44" Type="http://schemas.openxmlformats.org/officeDocument/2006/relationships/tags" Target="../tags/tag957.xml"/><Relationship Id="rId45" Type="http://schemas.openxmlformats.org/officeDocument/2006/relationships/tags" Target="../tags/tag958.xml"/><Relationship Id="rId46" Type="http://schemas.openxmlformats.org/officeDocument/2006/relationships/tags" Target="../tags/tag959.xml"/><Relationship Id="rId47" Type="http://schemas.openxmlformats.org/officeDocument/2006/relationships/tags" Target="../tags/tag960.xml"/><Relationship Id="rId48" Type="http://schemas.openxmlformats.org/officeDocument/2006/relationships/tags" Target="../tags/tag961.xml"/><Relationship Id="rId49" Type="http://schemas.openxmlformats.org/officeDocument/2006/relationships/tags" Target="../tags/tag962.xml"/><Relationship Id="rId1" Type="http://schemas.openxmlformats.org/officeDocument/2006/relationships/vmlDrawing" Target="../drawings/vmlDrawing54.vml"/><Relationship Id="rId2" Type="http://schemas.openxmlformats.org/officeDocument/2006/relationships/tags" Target="../tags/tag915.xml"/><Relationship Id="rId3" Type="http://schemas.openxmlformats.org/officeDocument/2006/relationships/tags" Target="../tags/tag916.xml"/><Relationship Id="rId4" Type="http://schemas.openxmlformats.org/officeDocument/2006/relationships/tags" Target="../tags/tag917.xml"/><Relationship Id="rId5" Type="http://schemas.openxmlformats.org/officeDocument/2006/relationships/tags" Target="../tags/tag918.xml"/><Relationship Id="rId6" Type="http://schemas.openxmlformats.org/officeDocument/2006/relationships/tags" Target="../tags/tag919.xml"/><Relationship Id="rId7" Type="http://schemas.openxmlformats.org/officeDocument/2006/relationships/tags" Target="../tags/tag920.xml"/><Relationship Id="rId8" Type="http://schemas.openxmlformats.org/officeDocument/2006/relationships/tags" Target="../tags/tag921.xml"/><Relationship Id="rId9" Type="http://schemas.openxmlformats.org/officeDocument/2006/relationships/tags" Target="../tags/tag922.xml"/><Relationship Id="rId30" Type="http://schemas.openxmlformats.org/officeDocument/2006/relationships/tags" Target="../tags/tag943.xml"/><Relationship Id="rId31" Type="http://schemas.openxmlformats.org/officeDocument/2006/relationships/tags" Target="../tags/tag944.xml"/><Relationship Id="rId32" Type="http://schemas.openxmlformats.org/officeDocument/2006/relationships/tags" Target="../tags/tag945.xml"/><Relationship Id="rId33" Type="http://schemas.openxmlformats.org/officeDocument/2006/relationships/tags" Target="../tags/tag946.xml"/><Relationship Id="rId34" Type="http://schemas.openxmlformats.org/officeDocument/2006/relationships/tags" Target="../tags/tag947.xml"/><Relationship Id="rId35" Type="http://schemas.openxmlformats.org/officeDocument/2006/relationships/tags" Target="../tags/tag948.xml"/><Relationship Id="rId36" Type="http://schemas.openxmlformats.org/officeDocument/2006/relationships/tags" Target="../tags/tag949.xml"/><Relationship Id="rId37" Type="http://schemas.openxmlformats.org/officeDocument/2006/relationships/tags" Target="../tags/tag950.xml"/><Relationship Id="rId38" Type="http://schemas.openxmlformats.org/officeDocument/2006/relationships/tags" Target="../tags/tag951.xml"/><Relationship Id="rId39" Type="http://schemas.openxmlformats.org/officeDocument/2006/relationships/tags" Target="../tags/tag952.xml"/><Relationship Id="rId20" Type="http://schemas.openxmlformats.org/officeDocument/2006/relationships/tags" Target="../tags/tag933.xml"/><Relationship Id="rId21" Type="http://schemas.openxmlformats.org/officeDocument/2006/relationships/tags" Target="../tags/tag934.xml"/><Relationship Id="rId22" Type="http://schemas.openxmlformats.org/officeDocument/2006/relationships/tags" Target="../tags/tag935.xml"/><Relationship Id="rId23" Type="http://schemas.openxmlformats.org/officeDocument/2006/relationships/tags" Target="../tags/tag936.xml"/><Relationship Id="rId24" Type="http://schemas.openxmlformats.org/officeDocument/2006/relationships/tags" Target="../tags/tag937.xml"/><Relationship Id="rId25" Type="http://schemas.openxmlformats.org/officeDocument/2006/relationships/tags" Target="../tags/tag938.xml"/><Relationship Id="rId26" Type="http://schemas.openxmlformats.org/officeDocument/2006/relationships/tags" Target="../tags/tag939.xml"/><Relationship Id="rId27" Type="http://schemas.openxmlformats.org/officeDocument/2006/relationships/tags" Target="../tags/tag940.xml"/><Relationship Id="rId28" Type="http://schemas.openxmlformats.org/officeDocument/2006/relationships/tags" Target="../tags/tag941.xml"/><Relationship Id="rId29" Type="http://schemas.openxmlformats.org/officeDocument/2006/relationships/tags" Target="../tags/tag942.xml"/><Relationship Id="rId60" Type="http://schemas.openxmlformats.org/officeDocument/2006/relationships/tags" Target="../tags/tag973.xml"/><Relationship Id="rId61" Type="http://schemas.openxmlformats.org/officeDocument/2006/relationships/tags" Target="../tags/tag974.xml"/><Relationship Id="rId62" Type="http://schemas.openxmlformats.org/officeDocument/2006/relationships/tags" Target="../tags/tag975.xml"/><Relationship Id="rId10" Type="http://schemas.openxmlformats.org/officeDocument/2006/relationships/tags" Target="../tags/tag923.xml"/><Relationship Id="rId11" Type="http://schemas.openxmlformats.org/officeDocument/2006/relationships/tags" Target="../tags/tag924.xml"/><Relationship Id="rId12" Type="http://schemas.openxmlformats.org/officeDocument/2006/relationships/tags" Target="../tags/tag925.xml"/></Relationships>
</file>

<file path=ppt/slides/_rels/slide56.xml.rels><?xml version="1.0" encoding="UTF-8" standalone="yes"?>
<Relationships xmlns="http://schemas.openxmlformats.org/package/2006/relationships"><Relationship Id="rId9" Type="http://schemas.openxmlformats.org/officeDocument/2006/relationships/tags" Target="../tags/tag983.xml"/><Relationship Id="rId20" Type="http://schemas.openxmlformats.org/officeDocument/2006/relationships/oleObject" Target="../embeddings/oleObject106.bin"/><Relationship Id="rId21" Type="http://schemas.openxmlformats.org/officeDocument/2006/relationships/image" Target="../media/image1.emf"/><Relationship Id="rId22" Type="http://schemas.openxmlformats.org/officeDocument/2006/relationships/oleObject" Target="../embeddings/oleObject107.bin"/><Relationship Id="rId23" Type="http://schemas.openxmlformats.org/officeDocument/2006/relationships/image" Target="../media/image65.emf"/><Relationship Id="rId24" Type="http://schemas.openxmlformats.org/officeDocument/2006/relationships/oleObject" Target="../embeddings/oleObject108.bin"/><Relationship Id="rId25" Type="http://schemas.openxmlformats.org/officeDocument/2006/relationships/image" Target="../media/image66.emf"/><Relationship Id="rId26" Type="http://schemas.openxmlformats.org/officeDocument/2006/relationships/oleObject" Target="../embeddings/oleObject109.bin"/><Relationship Id="rId27" Type="http://schemas.openxmlformats.org/officeDocument/2006/relationships/image" Target="../media/image67.emf"/><Relationship Id="rId10" Type="http://schemas.openxmlformats.org/officeDocument/2006/relationships/tags" Target="../tags/tag984.xml"/><Relationship Id="rId11" Type="http://schemas.openxmlformats.org/officeDocument/2006/relationships/tags" Target="../tags/tag985.xml"/><Relationship Id="rId12" Type="http://schemas.openxmlformats.org/officeDocument/2006/relationships/tags" Target="../tags/tag986.xml"/><Relationship Id="rId13" Type="http://schemas.openxmlformats.org/officeDocument/2006/relationships/tags" Target="../tags/tag987.xml"/><Relationship Id="rId14" Type="http://schemas.openxmlformats.org/officeDocument/2006/relationships/tags" Target="../tags/tag988.xml"/><Relationship Id="rId15" Type="http://schemas.openxmlformats.org/officeDocument/2006/relationships/tags" Target="../tags/tag989.xml"/><Relationship Id="rId16" Type="http://schemas.openxmlformats.org/officeDocument/2006/relationships/tags" Target="../tags/tag990.xml"/><Relationship Id="rId17" Type="http://schemas.openxmlformats.org/officeDocument/2006/relationships/tags" Target="../tags/tag991.xml"/><Relationship Id="rId18" Type="http://schemas.openxmlformats.org/officeDocument/2006/relationships/tags" Target="../tags/tag992.xml"/><Relationship Id="rId19" Type="http://schemas.openxmlformats.org/officeDocument/2006/relationships/slideLayout" Target="../slideLayouts/slideLayout10.xml"/><Relationship Id="rId1" Type="http://schemas.openxmlformats.org/officeDocument/2006/relationships/vmlDrawing" Target="../drawings/vmlDrawing55.vml"/><Relationship Id="rId2" Type="http://schemas.openxmlformats.org/officeDocument/2006/relationships/tags" Target="../tags/tag976.xml"/><Relationship Id="rId3" Type="http://schemas.openxmlformats.org/officeDocument/2006/relationships/tags" Target="../tags/tag977.xml"/><Relationship Id="rId4" Type="http://schemas.openxmlformats.org/officeDocument/2006/relationships/tags" Target="../tags/tag978.xml"/><Relationship Id="rId5" Type="http://schemas.openxmlformats.org/officeDocument/2006/relationships/tags" Target="../tags/tag979.xml"/><Relationship Id="rId6" Type="http://schemas.openxmlformats.org/officeDocument/2006/relationships/tags" Target="../tags/tag980.xml"/><Relationship Id="rId7" Type="http://schemas.openxmlformats.org/officeDocument/2006/relationships/tags" Target="../tags/tag981.xml"/><Relationship Id="rId8" Type="http://schemas.openxmlformats.org/officeDocument/2006/relationships/tags" Target="../tags/tag982.xml"/></Relationships>
</file>

<file path=ppt/slides/_rels/slide57.xml.rels><?xml version="1.0" encoding="UTF-8" standalone="yes"?>
<Relationships xmlns="http://schemas.openxmlformats.org/package/2006/relationships"><Relationship Id="rId20" Type="http://schemas.openxmlformats.org/officeDocument/2006/relationships/tags" Target="../tags/tag1011.xml"/><Relationship Id="rId21" Type="http://schemas.openxmlformats.org/officeDocument/2006/relationships/tags" Target="../tags/tag1012.xml"/><Relationship Id="rId22" Type="http://schemas.openxmlformats.org/officeDocument/2006/relationships/tags" Target="../tags/tag1013.xml"/><Relationship Id="rId23" Type="http://schemas.openxmlformats.org/officeDocument/2006/relationships/tags" Target="../tags/tag1014.xml"/><Relationship Id="rId24" Type="http://schemas.openxmlformats.org/officeDocument/2006/relationships/tags" Target="../tags/tag1015.xml"/><Relationship Id="rId25" Type="http://schemas.openxmlformats.org/officeDocument/2006/relationships/tags" Target="../tags/tag1016.xml"/><Relationship Id="rId26" Type="http://schemas.openxmlformats.org/officeDocument/2006/relationships/tags" Target="../tags/tag1017.xml"/><Relationship Id="rId27" Type="http://schemas.openxmlformats.org/officeDocument/2006/relationships/tags" Target="../tags/tag1018.xml"/><Relationship Id="rId28" Type="http://schemas.openxmlformats.org/officeDocument/2006/relationships/tags" Target="../tags/tag1019.xml"/><Relationship Id="rId29" Type="http://schemas.openxmlformats.org/officeDocument/2006/relationships/slideLayout" Target="../slideLayouts/slideLayout10.xml"/><Relationship Id="rId1" Type="http://schemas.openxmlformats.org/officeDocument/2006/relationships/vmlDrawing" Target="../drawings/vmlDrawing56.vml"/><Relationship Id="rId2" Type="http://schemas.openxmlformats.org/officeDocument/2006/relationships/tags" Target="../tags/tag993.xml"/><Relationship Id="rId3" Type="http://schemas.openxmlformats.org/officeDocument/2006/relationships/tags" Target="../tags/tag994.xml"/><Relationship Id="rId4" Type="http://schemas.openxmlformats.org/officeDocument/2006/relationships/tags" Target="../tags/tag995.xml"/><Relationship Id="rId5" Type="http://schemas.openxmlformats.org/officeDocument/2006/relationships/tags" Target="../tags/tag996.xml"/><Relationship Id="rId30" Type="http://schemas.openxmlformats.org/officeDocument/2006/relationships/oleObject" Target="../embeddings/oleObject110.bin"/><Relationship Id="rId31" Type="http://schemas.openxmlformats.org/officeDocument/2006/relationships/image" Target="../media/image26.emf"/><Relationship Id="rId32" Type="http://schemas.openxmlformats.org/officeDocument/2006/relationships/oleObject" Target="../embeddings/oleObject111.bin"/><Relationship Id="rId9" Type="http://schemas.openxmlformats.org/officeDocument/2006/relationships/tags" Target="../tags/tag1000.xml"/><Relationship Id="rId6" Type="http://schemas.openxmlformats.org/officeDocument/2006/relationships/tags" Target="../tags/tag997.xml"/><Relationship Id="rId7" Type="http://schemas.openxmlformats.org/officeDocument/2006/relationships/tags" Target="../tags/tag998.xml"/><Relationship Id="rId8" Type="http://schemas.openxmlformats.org/officeDocument/2006/relationships/tags" Target="../tags/tag999.xml"/><Relationship Id="rId33" Type="http://schemas.openxmlformats.org/officeDocument/2006/relationships/image" Target="../media/image68.emf"/><Relationship Id="rId10" Type="http://schemas.openxmlformats.org/officeDocument/2006/relationships/tags" Target="../tags/tag1001.xml"/><Relationship Id="rId11" Type="http://schemas.openxmlformats.org/officeDocument/2006/relationships/tags" Target="../tags/tag1002.xml"/><Relationship Id="rId12" Type="http://schemas.openxmlformats.org/officeDocument/2006/relationships/tags" Target="../tags/tag1003.xml"/><Relationship Id="rId13" Type="http://schemas.openxmlformats.org/officeDocument/2006/relationships/tags" Target="../tags/tag1004.xml"/><Relationship Id="rId14" Type="http://schemas.openxmlformats.org/officeDocument/2006/relationships/tags" Target="../tags/tag1005.xml"/><Relationship Id="rId15" Type="http://schemas.openxmlformats.org/officeDocument/2006/relationships/tags" Target="../tags/tag1006.xml"/><Relationship Id="rId16" Type="http://schemas.openxmlformats.org/officeDocument/2006/relationships/tags" Target="../tags/tag1007.xml"/><Relationship Id="rId17" Type="http://schemas.openxmlformats.org/officeDocument/2006/relationships/tags" Target="../tags/tag1008.xml"/><Relationship Id="rId18" Type="http://schemas.openxmlformats.org/officeDocument/2006/relationships/tags" Target="../tags/tag1009.xml"/><Relationship Id="rId19" Type="http://schemas.openxmlformats.org/officeDocument/2006/relationships/tags" Target="../tags/tag1010.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oleObject" Target="../embeddings/oleObject112.bin"/><Relationship Id="rId5" Type="http://schemas.openxmlformats.org/officeDocument/2006/relationships/image" Target="../media/image1.emf"/><Relationship Id="rId1" Type="http://schemas.openxmlformats.org/officeDocument/2006/relationships/vmlDrawing" Target="../drawings/vmlDrawing57.vml"/><Relationship Id="rId2" Type="http://schemas.openxmlformats.org/officeDocument/2006/relationships/tags" Target="../tags/tag1020.xml"/></Relationships>
</file>

<file path=ppt/slides/_rels/slide59.xml.rels><?xml version="1.0" encoding="UTF-8" standalone="yes"?>
<Relationships xmlns="http://schemas.openxmlformats.org/package/2006/relationships"><Relationship Id="rId46" Type="http://schemas.openxmlformats.org/officeDocument/2006/relationships/image" Target="../media/image71.emf"/><Relationship Id="rId20" Type="http://schemas.openxmlformats.org/officeDocument/2006/relationships/tags" Target="../tags/tag1039.xml"/><Relationship Id="rId21" Type="http://schemas.openxmlformats.org/officeDocument/2006/relationships/tags" Target="../tags/tag1040.xml"/><Relationship Id="rId22" Type="http://schemas.openxmlformats.org/officeDocument/2006/relationships/tags" Target="../tags/tag1041.xml"/><Relationship Id="rId23" Type="http://schemas.openxmlformats.org/officeDocument/2006/relationships/tags" Target="../tags/tag1042.xml"/><Relationship Id="rId24" Type="http://schemas.openxmlformats.org/officeDocument/2006/relationships/tags" Target="../tags/tag1043.xml"/><Relationship Id="rId25" Type="http://schemas.openxmlformats.org/officeDocument/2006/relationships/tags" Target="../tags/tag1044.xml"/><Relationship Id="rId26" Type="http://schemas.openxmlformats.org/officeDocument/2006/relationships/tags" Target="../tags/tag1045.xml"/><Relationship Id="rId27" Type="http://schemas.openxmlformats.org/officeDocument/2006/relationships/tags" Target="../tags/tag1046.xml"/><Relationship Id="rId28" Type="http://schemas.openxmlformats.org/officeDocument/2006/relationships/tags" Target="../tags/tag1047.xml"/><Relationship Id="rId29" Type="http://schemas.openxmlformats.org/officeDocument/2006/relationships/tags" Target="../tags/tag1048.xml"/><Relationship Id="rId1" Type="http://schemas.openxmlformats.org/officeDocument/2006/relationships/vmlDrawing" Target="../drawings/vmlDrawing58.vml"/><Relationship Id="rId2" Type="http://schemas.openxmlformats.org/officeDocument/2006/relationships/tags" Target="../tags/tag1021.xml"/><Relationship Id="rId3" Type="http://schemas.openxmlformats.org/officeDocument/2006/relationships/tags" Target="../tags/tag1022.xml"/><Relationship Id="rId4" Type="http://schemas.openxmlformats.org/officeDocument/2006/relationships/tags" Target="../tags/tag1023.xml"/><Relationship Id="rId5" Type="http://schemas.openxmlformats.org/officeDocument/2006/relationships/tags" Target="../tags/tag1024.xml"/><Relationship Id="rId30" Type="http://schemas.openxmlformats.org/officeDocument/2006/relationships/tags" Target="../tags/tag1049.xml"/><Relationship Id="rId31" Type="http://schemas.openxmlformats.org/officeDocument/2006/relationships/tags" Target="../tags/tag1050.xml"/><Relationship Id="rId32" Type="http://schemas.openxmlformats.org/officeDocument/2006/relationships/tags" Target="../tags/tag1051.xml"/><Relationship Id="rId9" Type="http://schemas.openxmlformats.org/officeDocument/2006/relationships/tags" Target="../tags/tag1028.xml"/><Relationship Id="rId6" Type="http://schemas.openxmlformats.org/officeDocument/2006/relationships/tags" Target="../tags/tag1025.xml"/><Relationship Id="rId7" Type="http://schemas.openxmlformats.org/officeDocument/2006/relationships/tags" Target="../tags/tag1026.xml"/><Relationship Id="rId8" Type="http://schemas.openxmlformats.org/officeDocument/2006/relationships/tags" Target="../tags/tag1027.xml"/><Relationship Id="rId33" Type="http://schemas.openxmlformats.org/officeDocument/2006/relationships/tags" Target="../tags/tag1052.xml"/><Relationship Id="rId34" Type="http://schemas.openxmlformats.org/officeDocument/2006/relationships/tags" Target="../tags/tag1053.xml"/><Relationship Id="rId35" Type="http://schemas.openxmlformats.org/officeDocument/2006/relationships/tags" Target="../tags/tag1054.xml"/><Relationship Id="rId36" Type="http://schemas.openxmlformats.org/officeDocument/2006/relationships/tags" Target="../tags/tag1055.xml"/><Relationship Id="rId10" Type="http://schemas.openxmlformats.org/officeDocument/2006/relationships/tags" Target="../tags/tag1029.xml"/><Relationship Id="rId11" Type="http://schemas.openxmlformats.org/officeDocument/2006/relationships/tags" Target="../tags/tag1030.xml"/><Relationship Id="rId12" Type="http://schemas.openxmlformats.org/officeDocument/2006/relationships/tags" Target="../tags/tag1031.xml"/><Relationship Id="rId13" Type="http://schemas.openxmlformats.org/officeDocument/2006/relationships/tags" Target="../tags/tag1032.xml"/><Relationship Id="rId14" Type="http://schemas.openxmlformats.org/officeDocument/2006/relationships/tags" Target="../tags/tag1033.xml"/><Relationship Id="rId15" Type="http://schemas.openxmlformats.org/officeDocument/2006/relationships/tags" Target="../tags/tag1034.xml"/><Relationship Id="rId16" Type="http://schemas.openxmlformats.org/officeDocument/2006/relationships/tags" Target="../tags/tag1035.xml"/><Relationship Id="rId17" Type="http://schemas.openxmlformats.org/officeDocument/2006/relationships/tags" Target="../tags/tag1036.xml"/><Relationship Id="rId18" Type="http://schemas.openxmlformats.org/officeDocument/2006/relationships/tags" Target="../tags/tag1037.xml"/><Relationship Id="rId19" Type="http://schemas.openxmlformats.org/officeDocument/2006/relationships/tags" Target="../tags/tag1038.xml"/><Relationship Id="rId37" Type="http://schemas.openxmlformats.org/officeDocument/2006/relationships/tags" Target="../tags/tag1056.xml"/><Relationship Id="rId38" Type="http://schemas.openxmlformats.org/officeDocument/2006/relationships/slideLayout" Target="../slideLayouts/slideLayout10.xml"/><Relationship Id="rId39" Type="http://schemas.openxmlformats.org/officeDocument/2006/relationships/oleObject" Target="../embeddings/oleObject113.bin"/><Relationship Id="rId40" Type="http://schemas.openxmlformats.org/officeDocument/2006/relationships/image" Target="../media/image1.emf"/><Relationship Id="rId41" Type="http://schemas.openxmlformats.org/officeDocument/2006/relationships/oleObject" Target="../embeddings/oleObject114.bin"/><Relationship Id="rId42" Type="http://schemas.openxmlformats.org/officeDocument/2006/relationships/image" Target="../media/image69.emf"/><Relationship Id="rId43" Type="http://schemas.openxmlformats.org/officeDocument/2006/relationships/oleObject" Target="../embeddings/oleObject115.bin"/><Relationship Id="rId44" Type="http://schemas.openxmlformats.org/officeDocument/2006/relationships/image" Target="../media/image70.emf"/><Relationship Id="rId45" Type="http://schemas.openxmlformats.org/officeDocument/2006/relationships/oleObject" Target="../embeddings/oleObject116.bin"/></Relationships>
</file>

<file path=ppt/slides/_rels/slide60.xml.rels><?xml version="1.0" encoding="UTF-8" standalone="yes"?>
<Relationships xmlns="http://schemas.openxmlformats.org/package/2006/relationships"><Relationship Id="rId9" Type="http://schemas.openxmlformats.org/officeDocument/2006/relationships/tags" Target="../tags/tag1064.xml"/><Relationship Id="rId20" Type="http://schemas.openxmlformats.org/officeDocument/2006/relationships/tags" Target="../tags/tag1075.xml"/><Relationship Id="rId21" Type="http://schemas.openxmlformats.org/officeDocument/2006/relationships/tags" Target="../tags/tag1076.xml"/><Relationship Id="rId22" Type="http://schemas.openxmlformats.org/officeDocument/2006/relationships/tags" Target="../tags/tag1077.xml"/><Relationship Id="rId23" Type="http://schemas.openxmlformats.org/officeDocument/2006/relationships/tags" Target="../tags/tag1078.xml"/><Relationship Id="rId24" Type="http://schemas.openxmlformats.org/officeDocument/2006/relationships/tags" Target="../tags/tag1079.xml"/><Relationship Id="rId25" Type="http://schemas.openxmlformats.org/officeDocument/2006/relationships/slideLayout" Target="../slideLayouts/slideLayout10.xml"/><Relationship Id="rId26" Type="http://schemas.openxmlformats.org/officeDocument/2006/relationships/oleObject" Target="../embeddings/oleObject117.bin"/><Relationship Id="rId27" Type="http://schemas.openxmlformats.org/officeDocument/2006/relationships/image" Target="../media/image1.emf"/><Relationship Id="rId28" Type="http://schemas.openxmlformats.org/officeDocument/2006/relationships/oleObject" Target="../embeddings/oleObject118.bin"/><Relationship Id="rId29" Type="http://schemas.openxmlformats.org/officeDocument/2006/relationships/image" Target="../media/image72.emf"/><Relationship Id="rId10" Type="http://schemas.openxmlformats.org/officeDocument/2006/relationships/tags" Target="../tags/tag1065.xml"/><Relationship Id="rId11" Type="http://schemas.openxmlformats.org/officeDocument/2006/relationships/tags" Target="../tags/tag1066.xml"/><Relationship Id="rId12" Type="http://schemas.openxmlformats.org/officeDocument/2006/relationships/tags" Target="../tags/tag1067.xml"/><Relationship Id="rId13" Type="http://schemas.openxmlformats.org/officeDocument/2006/relationships/tags" Target="../tags/tag1068.xml"/><Relationship Id="rId14" Type="http://schemas.openxmlformats.org/officeDocument/2006/relationships/tags" Target="../tags/tag1069.xml"/><Relationship Id="rId15" Type="http://schemas.openxmlformats.org/officeDocument/2006/relationships/tags" Target="../tags/tag1070.xml"/><Relationship Id="rId16" Type="http://schemas.openxmlformats.org/officeDocument/2006/relationships/tags" Target="../tags/tag1071.xml"/><Relationship Id="rId17" Type="http://schemas.openxmlformats.org/officeDocument/2006/relationships/tags" Target="../tags/tag1072.xml"/><Relationship Id="rId18" Type="http://schemas.openxmlformats.org/officeDocument/2006/relationships/tags" Target="../tags/tag1073.xml"/><Relationship Id="rId19" Type="http://schemas.openxmlformats.org/officeDocument/2006/relationships/tags" Target="../tags/tag1074.xml"/><Relationship Id="rId1" Type="http://schemas.openxmlformats.org/officeDocument/2006/relationships/vmlDrawing" Target="../drawings/vmlDrawing59.vml"/><Relationship Id="rId2" Type="http://schemas.openxmlformats.org/officeDocument/2006/relationships/tags" Target="../tags/tag1057.xml"/><Relationship Id="rId3" Type="http://schemas.openxmlformats.org/officeDocument/2006/relationships/tags" Target="../tags/tag1058.xml"/><Relationship Id="rId4" Type="http://schemas.openxmlformats.org/officeDocument/2006/relationships/tags" Target="../tags/tag1059.xml"/><Relationship Id="rId5" Type="http://schemas.openxmlformats.org/officeDocument/2006/relationships/tags" Target="../tags/tag1060.xml"/><Relationship Id="rId6" Type="http://schemas.openxmlformats.org/officeDocument/2006/relationships/tags" Target="../tags/tag1061.xml"/><Relationship Id="rId7" Type="http://schemas.openxmlformats.org/officeDocument/2006/relationships/tags" Target="../tags/tag1062.xml"/><Relationship Id="rId8" Type="http://schemas.openxmlformats.org/officeDocument/2006/relationships/tags" Target="../tags/tag1063.xml"/></Relationships>
</file>

<file path=ppt/slides/_rels/slide61.xml.rels><?xml version="1.0" encoding="UTF-8" standalone="yes"?>
<Relationships xmlns="http://schemas.openxmlformats.org/package/2006/relationships"><Relationship Id="rId3" Type="http://schemas.openxmlformats.org/officeDocument/2006/relationships/tags" Target="../tags/tag1081.xml"/><Relationship Id="rId4" Type="http://schemas.openxmlformats.org/officeDocument/2006/relationships/slideLayout" Target="../slideLayouts/slideLayout10.xml"/><Relationship Id="rId5" Type="http://schemas.openxmlformats.org/officeDocument/2006/relationships/oleObject" Target="../embeddings/oleObject119.bin"/><Relationship Id="rId6" Type="http://schemas.openxmlformats.org/officeDocument/2006/relationships/image" Target="../media/image1.emf"/><Relationship Id="rId7" Type="http://schemas.openxmlformats.org/officeDocument/2006/relationships/image" Target="../media/image73.png"/><Relationship Id="rId1" Type="http://schemas.openxmlformats.org/officeDocument/2006/relationships/vmlDrawing" Target="../drawings/vmlDrawing60.vml"/><Relationship Id="rId2" Type="http://schemas.openxmlformats.org/officeDocument/2006/relationships/tags" Target="../tags/tag1080.xml"/></Relationships>
</file>

<file path=ppt/slides/_rels/slide62.xml.rels><?xml version="1.0" encoding="UTF-8" standalone="yes"?>
<Relationships xmlns="http://schemas.openxmlformats.org/package/2006/relationships"><Relationship Id="rId3" Type="http://schemas.openxmlformats.org/officeDocument/2006/relationships/tags" Target="../tags/tag1083.xml"/><Relationship Id="rId4" Type="http://schemas.openxmlformats.org/officeDocument/2006/relationships/slideLayout" Target="../slideLayouts/slideLayout10.xml"/><Relationship Id="rId5" Type="http://schemas.openxmlformats.org/officeDocument/2006/relationships/oleObject" Target="../embeddings/oleObject120.bin"/><Relationship Id="rId6" Type="http://schemas.openxmlformats.org/officeDocument/2006/relationships/image" Target="../media/image1.emf"/><Relationship Id="rId1" Type="http://schemas.openxmlformats.org/officeDocument/2006/relationships/vmlDrawing" Target="../drawings/vmlDrawing61.vml"/><Relationship Id="rId2" Type="http://schemas.openxmlformats.org/officeDocument/2006/relationships/tags" Target="../tags/tag1082.xml"/></Relationships>
</file>

<file path=ppt/slides/_rels/slide63.xml.rels><?xml version="1.0" encoding="UTF-8" standalone="yes"?>
<Relationships xmlns="http://schemas.openxmlformats.org/package/2006/relationships"><Relationship Id="rId9" Type="http://schemas.openxmlformats.org/officeDocument/2006/relationships/tags" Target="../tags/tag1091.xml"/><Relationship Id="rId20" Type="http://schemas.openxmlformats.org/officeDocument/2006/relationships/oleObject" Target="../embeddings/oleObject121.bin"/><Relationship Id="rId21" Type="http://schemas.openxmlformats.org/officeDocument/2006/relationships/image" Target="../media/image6.emf"/><Relationship Id="rId22" Type="http://schemas.openxmlformats.org/officeDocument/2006/relationships/oleObject" Target="../embeddings/oleObject122.bin"/><Relationship Id="rId23" Type="http://schemas.openxmlformats.org/officeDocument/2006/relationships/image" Target="../media/image74.emf"/><Relationship Id="rId24" Type="http://schemas.openxmlformats.org/officeDocument/2006/relationships/oleObject" Target="../embeddings/oleObject123.bin"/><Relationship Id="rId25" Type="http://schemas.openxmlformats.org/officeDocument/2006/relationships/image" Target="../media/image75.emf"/><Relationship Id="rId26" Type="http://schemas.openxmlformats.org/officeDocument/2006/relationships/oleObject" Target="../embeddings/oleObject124.bin"/><Relationship Id="rId27" Type="http://schemas.openxmlformats.org/officeDocument/2006/relationships/image" Target="../media/image76.emf"/><Relationship Id="rId10" Type="http://schemas.openxmlformats.org/officeDocument/2006/relationships/tags" Target="../tags/tag1092.xml"/><Relationship Id="rId11" Type="http://schemas.openxmlformats.org/officeDocument/2006/relationships/tags" Target="../tags/tag1093.xml"/><Relationship Id="rId12" Type="http://schemas.openxmlformats.org/officeDocument/2006/relationships/tags" Target="../tags/tag1094.xml"/><Relationship Id="rId13" Type="http://schemas.openxmlformats.org/officeDocument/2006/relationships/tags" Target="../tags/tag1095.xml"/><Relationship Id="rId14" Type="http://schemas.openxmlformats.org/officeDocument/2006/relationships/tags" Target="../tags/tag1096.xml"/><Relationship Id="rId15" Type="http://schemas.openxmlformats.org/officeDocument/2006/relationships/tags" Target="../tags/tag1097.xml"/><Relationship Id="rId16" Type="http://schemas.openxmlformats.org/officeDocument/2006/relationships/tags" Target="../tags/tag1098.xml"/><Relationship Id="rId17" Type="http://schemas.openxmlformats.org/officeDocument/2006/relationships/tags" Target="../tags/tag1099.xml"/><Relationship Id="rId18" Type="http://schemas.openxmlformats.org/officeDocument/2006/relationships/tags" Target="../tags/tag1100.xml"/><Relationship Id="rId19" Type="http://schemas.openxmlformats.org/officeDocument/2006/relationships/slideLayout" Target="../slideLayouts/slideLayout10.xml"/><Relationship Id="rId1" Type="http://schemas.openxmlformats.org/officeDocument/2006/relationships/vmlDrawing" Target="../drawings/vmlDrawing62.vml"/><Relationship Id="rId2" Type="http://schemas.openxmlformats.org/officeDocument/2006/relationships/tags" Target="../tags/tag1084.xml"/><Relationship Id="rId3" Type="http://schemas.openxmlformats.org/officeDocument/2006/relationships/tags" Target="../tags/tag1085.xml"/><Relationship Id="rId4" Type="http://schemas.openxmlformats.org/officeDocument/2006/relationships/tags" Target="../tags/tag1086.xml"/><Relationship Id="rId5" Type="http://schemas.openxmlformats.org/officeDocument/2006/relationships/tags" Target="../tags/tag1087.xml"/><Relationship Id="rId6" Type="http://schemas.openxmlformats.org/officeDocument/2006/relationships/tags" Target="../tags/tag1088.xml"/><Relationship Id="rId7" Type="http://schemas.openxmlformats.org/officeDocument/2006/relationships/tags" Target="../tags/tag1089.xml"/><Relationship Id="rId8" Type="http://schemas.openxmlformats.org/officeDocument/2006/relationships/tags" Target="../tags/tag1090.xml"/></Relationships>
</file>

<file path=ppt/slides/_rels/slide64.xml.rels><?xml version="1.0" encoding="UTF-8" standalone="yes"?>
<Relationships xmlns="http://schemas.openxmlformats.org/package/2006/relationships"><Relationship Id="rId11" Type="http://schemas.openxmlformats.org/officeDocument/2006/relationships/oleObject" Target="../embeddings/oleObject125.bin"/><Relationship Id="rId12" Type="http://schemas.openxmlformats.org/officeDocument/2006/relationships/image" Target="../media/image6.emf"/><Relationship Id="rId13" Type="http://schemas.openxmlformats.org/officeDocument/2006/relationships/image" Target="../media/image46.jpeg"/><Relationship Id="rId14" Type="http://schemas.openxmlformats.org/officeDocument/2006/relationships/image" Target="../media/image47.jpeg"/><Relationship Id="rId15" Type="http://schemas.openxmlformats.org/officeDocument/2006/relationships/image" Target="../media/image48.jpeg"/><Relationship Id="rId1" Type="http://schemas.openxmlformats.org/officeDocument/2006/relationships/vmlDrawing" Target="../drawings/vmlDrawing63.vml"/><Relationship Id="rId2" Type="http://schemas.openxmlformats.org/officeDocument/2006/relationships/tags" Target="../tags/tag1101.xml"/><Relationship Id="rId3" Type="http://schemas.openxmlformats.org/officeDocument/2006/relationships/tags" Target="../tags/tag1102.xml"/><Relationship Id="rId4" Type="http://schemas.openxmlformats.org/officeDocument/2006/relationships/tags" Target="../tags/tag1103.xml"/><Relationship Id="rId5" Type="http://schemas.openxmlformats.org/officeDocument/2006/relationships/tags" Target="../tags/tag1104.xml"/><Relationship Id="rId6" Type="http://schemas.openxmlformats.org/officeDocument/2006/relationships/tags" Target="../tags/tag1105.xml"/><Relationship Id="rId7" Type="http://schemas.openxmlformats.org/officeDocument/2006/relationships/tags" Target="../tags/tag1106.xml"/><Relationship Id="rId8" Type="http://schemas.openxmlformats.org/officeDocument/2006/relationships/tags" Target="../tags/tag1107.xml"/><Relationship Id="rId9" Type="http://schemas.openxmlformats.org/officeDocument/2006/relationships/tags" Target="../tags/tag1108.xml"/><Relationship Id="rId10"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extLst>
              <p:ext uri="{D42A27DB-BD31-4B8C-83A1-F6EECF244321}">
                <p14:modId xmlns:p14="http://schemas.microsoft.com/office/powerpoint/2010/main" val="267940068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383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7" name="Picture Placeholder 6"/>
          <p:cNvPicPr>
            <a:picLocks noGrp="1" noChangeAspect="1"/>
          </p:cNvPicPr>
          <p:nvPr>
            <p:ph type="pic" sz="quarter" idx="11"/>
          </p:nvPr>
        </p:nvPicPr>
        <p:blipFill>
          <a:blip r:embed="rId6">
            <a:extLst>
              <a:ext uri="{28A0092B-C50C-407E-A947-70E740481C1C}">
                <a14:useLocalDpi xmlns:a14="http://schemas.microsoft.com/office/drawing/2010/main" val="0"/>
              </a:ext>
            </a:extLst>
          </a:blip>
          <a:srcRect l="33082" r="33082"/>
          <a:stretch>
            <a:fillRect/>
          </a:stretch>
        </p:blipFill>
        <p:spPr/>
      </p:pic>
      <p:pic>
        <p:nvPicPr>
          <p:cNvPr id="19" name="Picture 6" descr="http://coffee.news.ubuycoffee.com/wp-content/uploads/2011/08/columbian-coffee-farmer.jpg"/>
          <p:cNvPicPr>
            <a:picLocks noChangeAspect="1" noChangeArrowheads="1"/>
          </p:cNvPicPr>
          <p:nvPr/>
        </p:nvPicPr>
        <p:blipFill rotWithShape="1">
          <a:blip r:embed="rId6">
            <a:extLst>
              <a:ext uri="{28A0092B-C50C-407E-A947-70E740481C1C}">
                <a14:useLocalDpi xmlns:a14="http://schemas.microsoft.com/office/drawing/2010/main" val="0"/>
              </a:ext>
            </a:extLst>
          </a:blip>
          <a:srcRect l="32087" r="27539"/>
          <a:stretch/>
        </p:blipFill>
        <p:spPr bwMode="auto">
          <a:xfrm>
            <a:off x="194310" y="2315426"/>
            <a:ext cx="2320290" cy="3816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Placeholder 4"/>
          <p:cNvPicPr>
            <a:picLocks noGrp="1" noChangeAspect="1"/>
          </p:cNvPicPr>
          <p:nvPr>
            <p:ph type="pic" sz="quarter" idx="15"/>
          </p:nvPr>
        </p:nvPicPr>
        <p:blipFill>
          <a:blip r:embed="rId7">
            <a:extLst>
              <a:ext uri="{28A0092B-C50C-407E-A947-70E740481C1C}">
                <a14:useLocalDpi xmlns:a14="http://schemas.microsoft.com/office/drawing/2010/main" val="0"/>
              </a:ext>
            </a:extLst>
          </a:blip>
          <a:srcRect l="11723" r="11723"/>
          <a:stretch>
            <a:fillRect/>
          </a:stretch>
        </p:blipFill>
        <p:spPr/>
      </p:pic>
      <p:pic>
        <p:nvPicPr>
          <p:cNvPr id="2" name="Picture Placeholder 1"/>
          <p:cNvPicPr>
            <a:picLocks noGrp="1" noChangeAspect="1"/>
          </p:cNvPicPr>
          <p:nvPr>
            <p:ph type="pic" sz="quarter" idx="16"/>
          </p:nvPr>
        </p:nvPicPr>
        <p:blipFill>
          <a:blip r:embed="rId8">
            <a:extLst>
              <a:ext uri="{28A0092B-C50C-407E-A947-70E740481C1C}">
                <a14:useLocalDpi xmlns:a14="http://schemas.microsoft.com/office/drawing/2010/main" val="0"/>
              </a:ext>
            </a:extLst>
          </a:blip>
          <a:srcRect l="20383" r="20383"/>
          <a:stretch>
            <a:fillRect/>
          </a:stretch>
        </p:blipFill>
        <p:spPr/>
      </p:pic>
      <p:sp>
        <p:nvSpPr>
          <p:cNvPr id="29" name="Titel 28"/>
          <p:cNvSpPr>
            <a:spLocks noGrp="1"/>
          </p:cNvSpPr>
          <p:nvPr>
            <p:ph type="ctrTitle"/>
          </p:nvPr>
        </p:nvSpPr>
        <p:spPr/>
        <p:txBody>
          <a:bodyPr/>
          <a:lstStyle/>
          <a:p>
            <a:r>
              <a:rPr lang="nl-NL" dirty="0" smtClean="0"/>
              <a:t>Colombia</a:t>
            </a:r>
            <a:endParaRPr lang="nl-NL" dirty="0"/>
          </a:p>
        </p:txBody>
      </p:sp>
      <p:sp>
        <p:nvSpPr>
          <p:cNvPr id="30" name="Ondertitel 29"/>
          <p:cNvSpPr>
            <a:spLocks noGrp="1"/>
          </p:cNvSpPr>
          <p:nvPr>
            <p:ph type="subTitle" idx="1"/>
          </p:nvPr>
        </p:nvSpPr>
        <p:spPr/>
        <p:txBody>
          <a:bodyPr/>
          <a:lstStyle/>
          <a:p>
            <a:r>
              <a:rPr lang="nl-NL" dirty="0" smtClean="0"/>
              <a:t>A business case for sustainable </a:t>
            </a:r>
          </a:p>
          <a:p>
            <a:r>
              <a:rPr lang="nl-NL" dirty="0" smtClean="0"/>
              <a:t>coffee production</a:t>
            </a:r>
            <a:endParaRPr lang="nl-NL" dirty="0"/>
          </a:p>
        </p:txBody>
      </p:sp>
      <p:sp>
        <p:nvSpPr>
          <p:cNvPr id="32" name="Tijdelijke aanduiding voor tekst 31"/>
          <p:cNvSpPr>
            <a:spLocks noGrp="1"/>
          </p:cNvSpPr>
          <p:nvPr>
            <p:ph type="body" sz="quarter" idx="14"/>
          </p:nvPr>
        </p:nvSpPr>
        <p:spPr/>
        <p:txBody>
          <a:bodyPr/>
          <a:lstStyle/>
          <a:p>
            <a:r>
              <a:rPr lang="nl-NL" dirty="0" smtClean="0">
                <a:solidFill>
                  <a:schemeClr val="accent1"/>
                </a:solidFill>
              </a:rPr>
              <a:t>August 2014</a:t>
            </a:r>
            <a:endParaRPr lang="nl-NL" dirty="0">
              <a:solidFill>
                <a:schemeClr val="accent1"/>
              </a:solidFill>
            </a:endParaRPr>
          </a:p>
        </p:txBody>
      </p:sp>
      <p:grpSp>
        <p:nvGrpSpPr>
          <p:cNvPr id="13" name="Group 4"/>
          <p:cNvGrpSpPr>
            <a:grpSpLocks noChangeAspect="1"/>
          </p:cNvGrpSpPr>
          <p:nvPr/>
        </p:nvGrpSpPr>
        <p:grpSpPr bwMode="auto">
          <a:xfrm>
            <a:off x="0" y="2246313"/>
            <a:ext cx="9144000" cy="3973513"/>
            <a:chOff x="0" y="1415"/>
            <a:chExt cx="5760" cy="2503"/>
          </a:xfrm>
        </p:grpSpPr>
        <p:sp>
          <p:nvSpPr>
            <p:cNvPr id="14" name="Rectangle 5"/>
            <p:cNvSpPr>
              <a:spLocks noChangeArrowheads="1"/>
            </p:cNvSpPr>
            <p:nvPr/>
          </p:nvSpPr>
          <p:spPr bwMode="auto">
            <a:xfrm>
              <a:off x="248" y="3912"/>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15" name="Rectangle 7"/>
            <p:cNvSpPr>
              <a:spLocks noChangeArrowheads="1"/>
            </p:cNvSpPr>
            <p:nvPr/>
          </p:nvSpPr>
          <p:spPr bwMode="auto">
            <a:xfrm>
              <a:off x="248" y="1415"/>
              <a:ext cx="5265" cy="5"/>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16" name="Freeform 9"/>
            <p:cNvSpPr>
              <a:spLocks noEditPoints="1"/>
            </p:cNvSpPr>
            <p:nvPr/>
          </p:nvSpPr>
          <p:spPr bwMode="auto">
            <a:xfrm>
              <a:off x="0" y="1446"/>
              <a:ext cx="5760" cy="2441"/>
            </a:xfrm>
            <a:custGeom>
              <a:avLst/>
              <a:gdLst/>
              <a:ahLst/>
              <a:cxnLst>
                <a:cxn ang="0">
                  <a:pos x="0" y="0"/>
                </a:cxn>
                <a:cxn ang="0">
                  <a:pos x="0" y="17360"/>
                </a:cxn>
                <a:cxn ang="0">
                  <a:pos x="40960" y="17360"/>
                </a:cxn>
                <a:cxn ang="0">
                  <a:pos x="40960" y="0"/>
                </a:cxn>
                <a:cxn ang="0">
                  <a:pos x="0" y="0"/>
                </a:cxn>
                <a:cxn ang="0">
                  <a:pos x="1760" y="17059"/>
                </a:cxn>
                <a:cxn ang="0">
                  <a:pos x="1760" y="307"/>
                </a:cxn>
                <a:cxn ang="0">
                  <a:pos x="10136" y="8683"/>
                </a:cxn>
                <a:cxn ang="0">
                  <a:pos x="1760" y="17059"/>
                </a:cxn>
                <a:cxn ang="0">
                  <a:pos x="19920" y="17059"/>
                </a:cxn>
                <a:cxn ang="0">
                  <a:pos x="11544" y="8683"/>
                </a:cxn>
                <a:cxn ang="0">
                  <a:pos x="19920" y="307"/>
                </a:cxn>
                <a:cxn ang="0">
                  <a:pos x="19920" y="17059"/>
                </a:cxn>
                <a:cxn ang="0">
                  <a:pos x="20800" y="17059"/>
                </a:cxn>
                <a:cxn ang="0">
                  <a:pos x="20800" y="307"/>
                </a:cxn>
                <a:cxn ang="0">
                  <a:pos x="29176" y="8683"/>
                </a:cxn>
                <a:cxn ang="0">
                  <a:pos x="20800" y="17059"/>
                </a:cxn>
                <a:cxn ang="0">
                  <a:pos x="39200" y="17059"/>
                </a:cxn>
                <a:cxn ang="0">
                  <a:pos x="30824" y="8683"/>
                </a:cxn>
                <a:cxn ang="0">
                  <a:pos x="39200" y="307"/>
                </a:cxn>
                <a:cxn ang="0">
                  <a:pos x="39200" y="17059"/>
                </a:cxn>
              </a:cxnLst>
              <a:rect l="0" t="0" r="r" b="b"/>
              <a:pathLst>
                <a:path w="40960" h="17360">
                  <a:moveTo>
                    <a:pt x="0" y="0"/>
                  </a:moveTo>
                  <a:cubicBezTo>
                    <a:pt x="0" y="17360"/>
                    <a:pt x="0" y="17360"/>
                    <a:pt x="0" y="17360"/>
                  </a:cubicBezTo>
                  <a:cubicBezTo>
                    <a:pt x="40960" y="17360"/>
                    <a:pt x="40960" y="17360"/>
                    <a:pt x="40960" y="17360"/>
                  </a:cubicBezTo>
                  <a:cubicBezTo>
                    <a:pt x="40960" y="0"/>
                    <a:pt x="40960" y="0"/>
                    <a:pt x="40960" y="0"/>
                  </a:cubicBezTo>
                  <a:lnTo>
                    <a:pt x="0" y="0"/>
                  </a:lnTo>
                  <a:close/>
                  <a:moveTo>
                    <a:pt x="1760" y="17059"/>
                  </a:moveTo>
                  <a:cubicBezTo>
                    <a:pt x="1760" y="307"/>
                    <a:pt x="1760" y="307"/>
                    <a:pt x="1760" y="307"/>
                  </a:cubicBezTo>
                  <a:cubicBezTo>
                    <a:pt x="6386" y="307"/>
                    <a:pt x="10136" y="4057"/>
                    <a:pt x="10136" y="8683"/>
                  </a:cubicBezTo>
                  <a:cubicBezTo>
                    <a:pt x="10136" y="13309"/>
                    <a:pt x="6386" y="17059"/>
                    <a:pt x="1760" y="17059"/>
                  </a:cubicBezTo>
                  <a:close/>
                  <a:moveTo>
                    <a:pt x="19920" y="17059"/>
                  </a:moveTo>
                  <a:cubicBezTo>
                    <a:pt x="15320" y="17059"/>
                    <a:pt x="11544" y="13309"/>
                    <a:pt x="11544" y="8683"/>
                  </a:cubicBezTo>
                  <a:cubicBezTo>
                    <a:pt x="11544" y="4057"/>
                    <a:pt x="15320" y="307"/>
                    <a:pt x="19920" y="307"/>
                  </a:cubicBezTo>
                  <a:lnTo>
                    <a:pt x="19920" y="17059"/>
                  </a:lnTo>
                  <a:close/>
                  <a:moveTo>
                    <a:pt x="20800" y="17059"/>
                  </a:moveTo>
                  <a:cubicBezTo>
                    <a:pt x="20800" y="307"/>
                    <a:pt x="20800" y="307"/>
                    <a:pt x="20800" y="307"/>
                  </a:cubicBezTo>
                  <a:cubicBezTo>
                    <a:pt x="25426" y="307"/>
                    <a:pt x="29176" y="4057"/>
                    <a:pt x="29176" y="8683"/>
                  </a:cubicBezTo>
                  <a:cubicBezTo>
                    <a:pt x="29176" y="13309"/>
                    <a:pt x="25426" y="17059"/>
                    <a:pt x="20800" y="17059"/>
                  </a:cubicBezTo>
                  <a:close/>
                  <a:moveTo>
                    <a:pt x="39200" y="17059"/>
                  </a:moveTo>
                  <a:cubicBezTo>
                    <a:pt x="34574" y="17059"/>
                    <a:pt x="30824" y="13309"/>
                    <a:pt x="30824" y="8683"/>
                  </a:cubicBezTo>
                  <a:cubicBezTo>
                    <a:pt x="30824" y="4057"/>
                    <a:pt x="34574" y="307"/>
                    <a:pt x="39200" y="307"/>
                  </a:cubicBezTo>
                  <a:lnTo>
                    <a:pt x="39200" y="1705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spTree>
    <p:extLst>
      <p:ext uri="{BB962C8B-B14F-4D97-AF65-F5344CB8AC3E}">
        <p14:creationId xmlns:p14="http://schemas.microsoft.com/office/powerpoint/2010/main" val="25691317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p:cNvGraphicFramePr>
          <p:nvPr>
            <p:custDataLst>
              <p:tags r:id="rId2"/>
            </p:custDataLst>
            <p:extLst>
              <p:ext uri="{D42A27DB-BD31-4B8C-83A1-F6EECF244321}">
                <p14:modId xmlns:p14="http://schemas.microsoft.com/office/powerpoint/2010/main" val="3237679408"/>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01925"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p:cNvSpPr>
            <a:spLocks noGrp="1"/>
          </p:cNvSpPr>
          <p:nvPr>
            <p:ph type="title"/>
          </p:nvPr>
        </p:nvSpPr>
        <p:spPr>
          <a:xfrm>
            <a:off x="400869" y="312738"/>
            <a:ext cx="8229600" cy="590232"/>
          </a:xfrm>
        </p:spPr>
        <p:txBody>
          <a:bodyPr/>
          <a:lstStyle/>
          <a:p>
            <a:r>
              <a:rPr lang="en-US" b="0" dirty="0" smtClean="0"/>
              <a:t>Executive summary</a:t>
            </a:r>
            <a:endParaRPr lang="en-US" b="0" dirty="0"/>
          </a:p>
        </p:txBody>
      </p:sp>
      <p:sp>
        <p:nvSpPr>
          <p:cNvPr id="2" name="TextBox 1"/>
          <p:cNvSpPr txBox="1"/>
          <p:nvPr/>
        </p:nvSpPr>
        <p:spPr>
          <a:xfrm>
            <a:off x="390294" y="915867"/>
            <a:ext cx="8575286" cy="5124480"/>
          </a:xfrm>
          <a:prstGeom prst="rect">
            <a:avLst/>
          </a:prstGeom>
          <a:noFill/>
        </p:spPr>
        <p:txBody>
          <a:bodyPr wrap="square" lIns="0" tIns="0" rIns="0" bIns="0" rtlCol="0">
            <a:spAutoFit/>
          </a:bodyPr>
          <a:lstStyle/>
          <a:p>
            <a:pPr>
              <a:spcAft>
                <a:spcPts val="600"/>
              </a:spcAft>
            </a:pPr>
            <a:r>
              <a:rPr lang="en-US" sz="1100" b="1" dirty="0"/>
              <a:t>Colombia is the world’s second largest Arabica producer, accounting for 15 percent of global Arabica exports</a:t>
            </a:r>
            <a:r>
              <a:rPr lang="en-US" sz="1100" dirty="0"/>
              <a:t>. Colombia has a rich tradition of coffee production, an efficient supply chain, and a premium market for most of its coffee exports. Coffee farming remains the </a:t>
            </a:r>
            <a:r>
              <a:rPr lang="en-US" sz="1100" dirty="0" smtClean="0"/>
              <a:t>leading </a:t>
            </a:r>
            <a:r>
              <a:rPr lang="en-US" sz="1100" dirty="0"/>
              <a:t>source of livelihood for rural Colombians, though its importance to the broader economy has declined in significance over the past several decades</a:t>
            </a:r>
            <a:r>
              <a:rPr lang="en-US" sz="1100" dirty="0" smtClean="0"/>
              <a:t>.</a:t>
            </a:r>
          </a:p>
          <a:p>
            <a:pPr>
              <a:spcAft>
                <a:spcPts val="600"/>
              </a:spcAft>
            </a:pPr>
            <a:r>
              <a:rPr lang="en-US" sz="1100" b="1" dirty="0" smtClean="0"/>
              <a:t>95</a:t>
            </a:r>
            <a:r>
              <a:rPr lang="en-US" sz="1100" b="1" dirty="0"/>
              <a:t>% of Colombian farms have less than 5 hectares of coffee and account for over 70% of national production</a:t>
            </a:r>
            <a:r>
              <a:rPr lang="en-US" sz="1100" dirty="0"/>
              <a:t>. Between 2008 and 2012, Colombia’s output dropped due to adverse weather conditions and a national tree renovation program to combat coffee leaf rust. </a:t>
            </a:r>
            <a:r>
              <a:rPr lang="en-US" sz="1100" dirty="0" smtClean="0"/>
              <a:t>Estimates </a:t>
            </a:r>
            <a:r>
              <a:rPr lang="en-US" sz="1100" dirty="0"/>
              <a:t>suggest that over 50% of coffee areas have been renovated so far. As these new trees start bearing, production has started to rise again and amounted to 10.9 million bags in 2013</a:t>
            </a:r>
            <a:r>
              <a:rPr lang="en-US" sz="1100" dirty="0" smtClean="0"/>
              <a:t>.</a:t>
            </a:r>
          </a:p>
          <a:p>
            <a:pPr>
              <a:spcAft>
                <a:spcPts val="600"/>
              </a:spcAft>
            </a:pPr>
            <a:r>
              <a:rPr lang="en-US" sz="1100" b="1" dirty="0" smtClean="0"/>
              <a:t>Farmers</a:t>
            </a:r>
            <a:r>
              <a:rPr lang="en-US" sz="1100" b="1" dirty="0"/>
              <a:t>’ margins from coffee have been eroding</a:t>
            </a:r>
            <a:r>
              <a:rPr lang="en-US" sz="1100" dirty="0"/>
              <a:t>. The costs associated with key </a:t>
            </a:r>
            <a:r>
              <a:rPr lang="en-US" sz="1100" dirty="0" smtClean="0"/>
              <a:t>production </a:t>
            </a:r>
            <a:r>
              <a:rPr lang="en-US" sz="1100" dirty="0"/>
              <a:t>inputs including labor and fertilizer have increased rapidly over the past decade. Rising costs have made Colombia less competitive than other Arabica origins. In 2013, for the first time the Colombian government provided direct cash subsidies to farmers and paid more than US$ 600 million to bolster farmers’ incomes. As a result, farmers are increasingly weighing the opportunity cost of coffee farming, both in terms of land and labor (time</a:t>
            </a:r>
            <a:r>
              <a:rPr lang="en-US" sz="1100" dirty="0" smtClean="0"/>
              <a:t>).</a:t>
            </a:r>
          </a:p>
          <a:p>
            <a:pPr>
              <a:spcAft>
                <a:spcPts val="600"/>
              </a:spcAft>
            </a:pPr>
            <a:r>
              <a:rPr lang="en-US" sz="1100" b="1" dirty="0" smtClean="0"/>
              <a:t>Colombia’s </a:t>
            </a:r>
            <a:r>
              <a:rPr lang="en-US" sz="1100" b="1" dirty="0"/>
              <a:t>coffee sector is at </a:t>
            </a:r>
            <a:r>
              <a:rPr lang="en-US" sz="1100" b="1" dirty="0" smtClean="0"/>
              <a:t>a crossroads. </a:t>
            </a:r>
            <a:r>
              <a:rPr lang="en-US" sz="1100" dirty="0" smtClean="0"/>
              <a:t>Efforts </a:t>
            </a:r>
            <a:r>
              <a:rPr lang="en-US" sz="1100" dirty="0"/>
              <a:t>targeted at producers should focus on making farms more profitable. No single solution can address this challenge. Some </a:t>
            </a:r>
            <a:r>
              <a:rPr lang="en-US" sz="1100" dirty="0" smtClean="0"/>
              <a:t>farmers </a:t>
            </a:r>
            <a:r>
              <a:rPr lang="en-US" sz="1100" dirty="0"/>
              <a:t>have opportunities to excel in specialty coffee; others may need to diversify their farm enterprises beyond coffee. However, for a large subset of the farmer population, there exist opportunities to boost yields, improve labor productivity, and reduce overall farming costs. These interventions offer the combined potential to increase farmers’ net incomes by 50% and reduce the overall amount of family labor required for coffee farming</a:t>
            </a:r>
            <a:r>
              <a:rPr lang="en-US" sz="1100" dirty="0" smtClean="0"/>
              <a:t>.</a:t>
            </a:r>
          </a:p>
          <a:p>
            <a:pPr>
              <a:spcAft>
                <a:spcPts val="600"/>
              </a:spcAft>
            </a:pPr>
            <a:r>
              <a:rPr lang="en-US" sz="1100" b="1" dirty="0" smtClean="0"/>
              <a:t>If </a:t>
            </a:r>
            <a:r>
              <a:rPr lang="en-US" sz="1100" b="1" dirty="0"/>
              <a:t>this issue is not addressed, it will be difficult for certification and verification to </a:t>
            </a:r>
            <a:r>
              <a:rPr lang="en-US" sz="1100" b="1" dirty="0" smtClean="0"/>
              <a:t>expand</a:t>
            </a:r>
            <a:r>
              <a:rPr lang="en-US" sz="1100" dirty="0"/>
              <a:t>. Colombia was an early adopter of certification</a:t>
            </a:r>
            <a:r>
              <a:rPr lang="en-US" sz="1100" dirty="0" smtClean="0"/>
              <a:t>/ verification </a:t>
            </a:r>
            <a:r>
              <a:rPr lang="en-US" sz="1100" dirty="0"/>
              <a:t>and has a higher share of certified/verified sales than other countries surveyed by IDH. In addition, large volumes are already double-certified. However, economic constraints may limit future growth. With </a:t>
            </a:r>
            <a:r>
              <a:rPr lang="en-US" sz="1100" dirty="0" smtClean="0"/>
              <a:t>farmers </a:t>
            </a:r>
            <a:r>
              <a:rPr lang="en-US" sz="1100" dirty="0"/>
              <a:t>already facing high production costs, there is resistance to the creation of new costs in the supply chain. New environmental laws, particularly regarding wastewater disposal, are likely to make compliance more difficult and costly for individual small farms in the future. Improving the profitability of farming would make it easier for farmers to absorb added </a:t>
            </a:r>
            <a:r>
              <a:rPr lang="en-US" sz="1100" dirty="0" smtClean="0"/>
              <a:t>sustainability </a:t>
            </a:r>
            <a:r>
              <a:rPr lang="en-US" sz="1100" dirty="0"/>
              <a:t>costs and thus improve the business case for them to invest in sustainability</a:t>
            </a:r>
            <a:r>
              <a:rPr lang="en-US" sz="1100" dirty="0" smtClean="0"/>
              <a:t>.</a:t>
            </a:r>
          </a:p>
          <a:p>
            <a:pPr>
              <a:spcAft>
                <a:spcPts val="600"/>
              </a:spcAft>
            </a:pPr>
            <a:r>
              <a:rPr lang="en-US" sz="1100" b="1" dirty="0" smtClean="0"/>
              <a:t>There </a:t>
            </a:r>
            <a:r>
              <a:rPr lang="en-US" sz="1100" b="1" dirty="0"/>
              <a:t>is a convincing business case for private and public market actors and the government to co-invest</a:t>
            </a:r>
            <a:r>
              <a:rPr lang="en-US" sz="1100" dirty="0"/>
              <a:t> in these efforts in order to improve the competitiveness of the sector and to avoid the exit of coffee farmers. An ambitious program could reach potentially up to 50% of active farmers (230,000 farmers) over 10 years and increase production by 1.5 </a:t>
            </a:r>
            <a:r>
              <a:rPr lang="en-US" sz="1100" dirty="0" smtClean="0"/>
              <a:t>million </a:t>
            </a:r>
            <a:r>
              <a:rPr lang="en-US" sz="1100" dirty="0"/>
              <a:t>bags. This would raise coffee export revenues by US$ 260 million while achieving cost savings of US$ 75 million. Implementing these opportunities would requiring new </a:t>
            </a:r>
            <a:r>
              <a:rPr lang="en-US" sz="1100" dirty="0" smtClean="0"/>
              <a:t>approaches </a:t>
            </a:r>
            <a:r>
              <a:rPr lang="en-US" sz="1100" dirty="0"/>
              <a:t>for reaching farmers and cost the sector approximately US$ 200 million over 10 years.</a:t>
            </a:r>
            <a:endParaRPr lang="en-US" sz="1100" dirty="0" smtClean="0"/>
          </a:p>
        </p:txBody>
      </p:sp>
    </p:spTree>
    <p:extLst>
      <p:ext uri="{BB962C8B-B14F-4D97-AF65-F5344CB8AC3E}">
        <p14:creationId xmlns:p14="http://schemas.microsoft.com/office/powerpoint/2010/main" val="30166017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p:cNvGraphicFramePr>
          <p:nvPr>
            <p:custDataLst>
              <p:tags r:id="rId2"/>
            </p:custDataLst>
            <p:extLst>
              <p:ext uri="{D42A27DB-BD31-4B8C-83A1-F6EECF244321}">
                <p14:modId xmlns:p14="http://schemas.microsoft.com/office/powerpoint/2010/main" val="127279415"/>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77409"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bwMode="auto">
          <a:xfrm>
            <a:off x="985837" y="1837316"/>
            <a:ext cx="7000875" cy="385763"/>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10" name="TextBox 9"/>
          <p:cNvSpPr txBox="1"/>
          <p:nvPr/>
        </p:nvSpPr>
        <p:spPr>
          <a:xfrm>
            <a:off x="1471614" y="1843086"/>
            <a:ext cx="6372225" cy="2031325"/>
          </a:xfrm>
          <a:prstGeom prst="rect">
            <a:avLst/>
          </a:prstGeom>
          <a:noFill/>
        </p:spPr>
        <p:txBody>
          <a:bodyPr wrap="square" rtlCol="0">
            <a:spAutoFit/>
          </a:bodyPr>
          <a:lstStyle/>
          <a:p>
            <a:pPr>
              <a:buFont typeface="Wingdings" pitchFamily="2" charset="2"/>
              <a:buChar char="q"/>
            </a:pPr>
            <a:r>
              <a:rPr lang="en-US" b="1" dirty="0" smtClean="0">
                <a:solidFill>
                  <a:schemeClr val="bg1"/>
                </a:solidFill>
              </a:rPr>
              <a:t> Colombia coffee industry primer</a:t>
            </a:r>
          </a:p>
          <a:p>
            <a:pPr>
              <a:buFont typeface="Wingdings" pitchFamily="2" charset="2"/>
              <a:buChar char="q"/>
            </a:pPr>
            <a:endParaRPr lang="en-US" dirty="0" smtClean="0"/>
          </a:p>
          <a:p>
            <a:pPr>
              <a:buFont typeface="Wingdings" pitchFamily="2" charset="2"/>
              <a:buChar char="q"/>
            </a:pPr>
            <a:endParaRPr lang="en-US" dirty="0" smtClean="0"/>
          </a:p>
          <a:p>
            <a:pPr>
              <a:buFont typeface="Wingdings" pitchFamily="2" charset="2"/>
              <a:buChar char="q"/>
            </a:pPr>
            <a:r>
              <a:rPr lang="en-US" dirty="0" smtClean="0">
                <a:solidFill>
                  <a:srgbClr val="FF0000"/>
                </a:solidFill>
              </a:rPr>
              <a:t> </a:t>
            </a:r>
            <a:r>
              <a:rPr lang="en-US" dirty="0" smtClean="0">
                <a:solidFill>
                  <a:schemeClr val="accent1"/>
                </a:solidFill>
              </a:rPr>
              <a:t>Analytical framework</a:t>
            </a:r>
          </a:p>
          <a:p>
            <a:pPr>
              <a:buFont typeface="Wingdings" pitchFamily="2" charset="2"/>
              <a:buChar char="q"/>
            </a:pPr>
            <a:endParaRPr lang="en-US" dirty="0" smtClean="0">
              <a:solidFill>
                <a:schemeClr val="accent1"/>
              </a:solidFill>
            </a:endParaRPr>
          </a:p>
          <a:p>
            <a:pPr>
              <a:buFont typeface="Wingdings" pitchFamily="2" charset="2"/>
              <a:buChar char="q"/>
            </a:pPr>
            <a:endParaRPr lang="en-US" dirty="0" smtClean="0">
              <a:solidFill>
                <a:schemeClr val="accent1"/>
              </a:solidFill>
            </a:endParaRPr>
          </a:p>
          <a:p>
            <a:pPr>
              <a:buFont typeface="Wingdings" pitchFamily="2" charset="2"/>
              <a:buChar char="q"/>
            </a:pPr>
            <a:r>
              <a:rPr lang="en-US" dirty="0" smtClean="0">
                <a:solidFill>
                  <a:schemeClr val="accent1"/>
                </a:solidFill>
              </a:rPr>
              <a:t> Colombia business case discussion</a:t>
            </a:r>
          </a:p>
        </p:txBody>
      </p:sp>
      <p:sp>
        <p:nvSpPr>
          <p:cNvPr id="3" name="Title 2"/>
          <p:cNvSpPr>
            <a:spLocks noGrp="1"/>
          </p:cNvSpPr>
          <p:nvPr>
            <p:ph type="title"/>
          </p:nvPr>
        </p:nvSpPr>
        <p:spPr>
          <a:xfrm>
            <a:off x="400869" y="312738"/>
            <a:ext cx="8229600" cy="590232"/>
          </a:xfrm>
        </p:spPr>
        <p:txBody>
          <a:bodyPr/>
          <a:lstStyle/>
          <a:p>
            <a:r>
              <a:rPr lang="en-US" b="0" dirty="0" smtClean="0"/>
              <a:t>Content</a:t>
            </a:r>
            <a:endParaRPr lang="en-US" b="0" dirty="0"/>
          </a:p>
        </p:txBody>
      </p:sp>
    </p:spTree>
    <p:extLst>
      <p:ext uri="{BB962C8B-B14F-4D97-AF65-F5344CB8AC3E}">
        <p14:creationId xmlns:p14="http://schemas.microsoft.com/office/powerpoint/2010/main" val="83351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p:cNvGraphicFramePr>
          <p:nvPr>
            <p:extLst>
              <p:ext uri="{D42A27DB-BD31-4B8C-83A1-F6EECF244321}">
                <p14:modId xmlns:p14="http://schemas.microsoft.com/office/powerpoint/2010/main" val="2781437955"/>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87096" name="think-cell Slide" r:id="rId39" imgW="360" imgH="360" progId="TCLayout.ActiveDocument.1">
                  <p:embed/>
                </p:oleObj>
              </mc:Choice>
              <mc:Fallback>
                <p:oleObj name="think-cell Slide" r:id="rId39" imgW="360" imgH="360" progId="TCLayout.ActiveDocument.1">
                  <p:embed/>
                  <p:pic>
                    <p:nvPicPr>
                      <p:cNvPr id="0" name=""/>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200" u="none" strike="noStrike" cap="none" normalizeH="0" smtClean="0">
              <a:ln>
                <a:noFill/>
              </a:ln>
              <a:solidFill>
                <a:schemeClr val="tx1"/>
              </a:solidFill>
              <a:effectLst/>
              <a:latin typeface="Arial"/>
              <a:sym typeface="Arial"/>
            </a:endParaRPr>
          </a:p>
        </p:txBody>
      </p:sp>
      <p:graphicFrame>
        <p:nvGraphicFramePr>
          <p:cNvPr id="134" name="Table 133"/>
          <p:cNvGraphicFramePr>
            <a:graphicFrameLocks noGrp="1"/>
          </p:cNvGraphicFramePr>
          <p:nvPr>
            <p:extLst>
              <p:ext uri="{D42A27DB-BD31-4B8C-83A1-F6EECF244321}">
                <p14:modId xmlns:p14="http://schemas.microsoft.com/office/powerpoint/2010/main" val="3287979436"/>
              </p:ext>
            </p:extLst>
          </p:nvPr>
        </p:nvGraphicFramePr>
        <p:xfrm>
          <a:off x="455613" y="1910557"/>
          <a:ext cx="7942261" cy="3991482"/>
        </p:xfrm>
        <a:graphic>
          <a:graphicData uri="http://schemas.openxmlformats.org/drawingml/2006/table">
            <a:tbl>
              <a:tblPr firstRow="1" bandRow="1">
                <a:tableStyleId>{2D5ABB26-0587-4C30-8999-92F81FD0307C}</a:tableStyleId>
              </a:tblPr>
              <a:tblGrid>
                <a:gridCol w="7316787"/>
                <a:gridCol w="625474"/>
              </a:tblGrid>
              <a:tr h="362862">
                <a:tc>
                  <a:txBody>
                    <a:bodyPr/>
                    <a:lstStyle/>
                    <a:p>
                      <a:endParaRPr lang="en-US" sz="1200" b="0" dirty="0">
                        <a:solidFill>
                          <a:schemeClr val="accent1"/>
                        </a:solidFill>
                        <a:latin typeface="+mj-lt"/>
                      </a:endParaRPr>
                    </a:p>
                  </a:txBody>
                  <a:tcPr/>
                </a:tc>
                <a:tc>
                  <a:txBody>
                    <a:bodyPr/>
                    <a:lstStyle/>
                    <a:p>
                      <a:pPr algn="l"/>
                      <a:r>
                        <a:rPr lang="en-US" sz="1200" b="0" dirty="0" smtClean="0">
                          <a:solidFill>
                            <a:schemeClr val="accent1"/>
                          </a:solidFill>
                          <a:latin typeface="+mj-lt"/>
                        </a:rPr>
                        <a:t>72% </a:t>
                      </a:r>
                      <a:endParaRPr lang="en-US" sz="1200" b="0" dirty="0">
                        <a:solidFill>
                          <a:schemeClr val="accent1"/>
                        </a:solidFill>
                        <a:latin typeface="+mj-lt"/>
                      </a:endParaRPr>
                    </a:p>
                  </a:txBody>
                  <a:tcPr anchor="ctr"/>
                </a:tc>
              </a:tr>
              <a:tr h="362862">
                <a:tc>
                  <a:txBody>
                    <a:bodyPr/>
                    <a:lstStyle/>
                    <a:p>
                      <a:endParaRPr lang="en-US" sz="1200" b="0" dirty="0">
                        <a:solidFill>
                          <a:schemeClr val="accent1"/>
                        </a:solidFill>
                        <a:latin typeface="+mj-lt"/>
                      </a:endParaRPr>
                    </a:p>
                  </a:txBody>
                  <a:tcPr/>
                </a:tc>
                <a:tc>
                  <a:txBody>
                    <a:bodyPr/>
                    <a:lstStyle/>
                    <a:p>
                      <a:pPr algn="l"/>
                      <a:r>
                        <a:rPr lang="en-US" sz="1200" b="1" dirty="0" smtClean="0">
                          <a:solidFill>
                            <a:schemeClr val="accent1"/>
                          </a:solidFill>
                          <a:latin typeface="+mj-lt"/>
                        </a:rPr>
                        <a:t>100%</a:t>
                      </a:r>
                      <a:endParaRPr lang="en-US" sz="1200" b="1" dirty="0">
                        <a:solidFill>
                          <a:schemeClr val="accent1"/>
                        </a:solidFill>
                        <a:latin typeface="+mj-lt"/>
                      </a:endParaRPr>
                    </a:p>
                  </a:txBody>
                  <a:tcPr anchor="ctr"/>
                </a:tc>
              </a:tr>
              <a:tr h="362862">
                <a:tc>
                  <a:txBody>
                    <a:bodyPr/>
                    <a:lstStyle/>
                    <a:p>
                      <a:endParaRPr lang="en-US" sz="1200" b="0" dirty="0">
                        <a:solidFill>
                          <a:schemeClr val="accent1"/>
                        </a:solidFill>
                        <a:latin typeface="+mj-lt"/>
                      </a:endParaRPr>
                    </a:p>
                  </a:txBody>
                  <a:tcPr/>
                </a:tc>
                <a:tc>
                  <a:txBody>
                    <a:bodyPr/>
                    <a:lstStyle/>
                    <a:p>
                      <a:pPr algn="l"/>
                      <a:r>
                        <a:rPr lang="en-US" sz="1200" b="0" dirty="0" smtClean="0">
                          <a:solidFill>
                            <a:schemeClr val="accent1"/>
                          </a:solidFill>
                          <a:latin typeface="+mj-lt"/>
                        </a:rPr>
                        <a:t>100%</a:t>
                      </a:r>
                      <a:endParaRPr lang="en-US" sz="1200" b="0" dirty="0">
                        <a:solidFill>
                          <a:schemeClr val="accent1"/>
                        </a:solidFill>
                        <a:latin typeface="+mj-lt"/>
                      </a:endParaRPr>
                    </a:p>
                  </a:txBody>
                  <a:tcPr anchor="ctr"/>
                </a:tc>
              </a:tr>
              <a:tr h="362862">
                <a:tc>
                  <a:txBody>
                    <a:bodyPr/>
                    <a:lstStyle/>
                    <a:p>
                      <a:endParaRPr lang="en-US" sz="1200" b="0" dirty="0">
                        <a:solidFill>
                          <a:schemeClr val="accent1"/>
                        </a:solidFill>
                        <a:latin typeface="+mj-lt"/>
                      </a:endParaRPr>
                    </a:p>
                  </a:txBody>
                  <a:tcPr/>
                </a:tc>
                <a:tc>
                  <a:txBody>
                    <a:bodyPr/>
                    <a:lstStyle/>
                    <a:p>
                      <a:pPr algn="l"/>
                      <a:r>
                        <a:rPr lang="en-US" sz="1200" b="0" dirty="0" smtClean="0">
                          <a:solidFill>
                            <a:schemeClr val="accent1"/>
                          </a:solidFill>
                          <a:latin typeface="+mj-lt"/>
                        </a:rPr>
                        <a:t>100%</a:t>
                      </a:r>
                      <a:endParaRPr lang="en-US" sz="1200" b="0" dirty="0">
                        <a:solidFill>
                          <a:schemeClr val="accent1"/>
                        </a:solidFill>
                        <a:latin typeface="+mj-lt"/>
                      </a:endParaRPr>
                    </a:p>
                  </a:txBody>
                  <a:tcPr anchor="ctr"/>
                </a:tc>
              </a:tr>
              <a:tr h="362862">
                <a:tc>
                  <a:txBody>
                    <a:bodyPr/>
                    <a:lstStyle/>
                    <a:p>
                      <a:endParaRPr lang="en-US" sz="1200" b="0" dirty="0">
                        <a:solidFill>
                          <a:schemeClr val="accent1"/>
                        </a:solidFill>
                        <a:latin typeface="+mj-lt"/>
                      </a:endParaRPr>
                    </a:p>
                  </a:txBody>
                  <a:tcPr/>
                </a:tc>
                <a:tc>
                  <a:txBody>
                    <a:bodyPr/>
                    <a:lstStyle/>
                    <a:p>
                      <a:pPr algn="l"/>
                      <a:r>
                        <a:rPr lang="en-US" sz="1200" b="0" dirty="0" smtClean="0">
                          <a:solidFill>
                            <a:schemeClr val="accent1"/>
                          </a:solidFill>
                          <a:latin typeface="+mj-lt"/>
                        </a:rPr>
                        <a:t>100%</a:t>
                      </a:r>
                      <a:endParaRPr lang="en-US" sz="1200" b="0" dirty="0">
                        <a:solidFill>
                          <a:schemeClr val="accent1"/>
                        </a:solidFill>
                        <a:latin typeface="+mj-lt"/>
                      </a:endParaRPr>
                    </a:p>
                  </a:txBody>
                  <a:tcPr anchor="ctr"/>
                </a:tc>
              </a:tr>
              <a:tr h="362862">
                <a:tc>
                  <a:txBody>
                    <a:bodyPr/>
                    <a:lstStyle/>
                    <a:p>
                      <a:endParaRPr lang="en-US" sz="1200" b="0">
                        <a:solidFill>
                          <a:schemeClr val="accent1"/>
                        </a:solidFill>
                        <a:latin typeface="+mj-lt"/>
                      </a:endParaRPr>
                    </a:p>
                  </a:txBody>
                  <a:tcPr/>
                </a:tc>
                <a:tc>
                  <a:txBody>
                    <a:bodyPr/>
                    <a:lstStyle/>
                    <a:p>
                      <a:pPr algn="l"/>
                      <a:r>
                        <a:rPr lang="en-US" sz="1200" b="0" dirty="0" smtClean="0">
                          <a:solidFill>
                            <a:schemeClr val="accent1"/>
                          </a:solidFill>
                          <a:latin typeface="+mj-lt"/>
                        </a:rPr>
                        <a:t>100%</a:t>
                      </a:r>
                      <a:endParaRPr lang="en-US" sz="1200" b="0" dirty="0">
                        <a:solidFill>
                          <a:schemeClr val="accent1"/>
                        </a:solidFill>
                        <a:latin typeface="+mj-lt"/>
                      </a:endParaRPr>
                    </a:p>
                  </a:txBody>
                  <a:tcPr anchor="ctr"/>
                </a:tc>
              </a:tr>
              <a:tr h="362862">
                <a:tc>
                  <a:txBody>
                    <a:bodyPr/>
                    <a:lstStyle/>
                    <a:p>
                      <a:endParaRPr lang="en-US" sz="1200" b="0" dirty="0">
                        <a:solidFill>
                          <a:schemeClr val="accent1"/>
                        </a:solidFill>
                        <a:latin typeface="+mj-lt"/>
                      </a:endParaRPr>
                    </a:p>
                  </a:txBody>
                  <a:tcPr/>
                </a:tc>
                <a:tc>
                  <a:txBody>
                    <a:bodyPr/>
                    <a:lstStyle/>
                    <a:p>
                      <a:pPr algn="l"/>
                      <a:r>
                        <a:rPr lang="en-US" sz="1200" b="0" dirty="0" smtClean="0">
                          <a:solidFill>
                            <a:schemeClr val="accent1"/>
                          </a:solidFill>
                          <a:latin typeface="+mj-lt"/>
                        </a:rPr>
                        <a:t>96%</a:t>
                      </a:r>
                      <a:endParaRPr lang="en-US" sz="1200" b="0" dirty="0">
                        <a:solidFill>
                          <a:schemeClr val="accent1"/>
                        </a:solidFill>
                        <a:latin typeface="+mj-lt"/>
                      </a:endParaRPr>
                    </a:p>
                  </a:txBody>
                  <a:tcPr anchor="ctr"/>
                </a:tc>
              </a:tr>
              <a:tr h="362862">
                <a:tc>
                  <a:txBody>
                    <a:bodyPr/>
                    <a:lstStyle/>
                    <a:p>
                      <a:endParaRPr lang="en-US" sz="1200" b="0" dirty="0">
                        <a:solidFill>
                          <a:schemeClr val="accent1"/>
                        </a:solidFill>
                        <a:latin typeface="+mj-lt"/>
                      </a:endParaRPr>
                    </a:p>
                  </a:txBody>
                  <a:tcPr/>
                </a:tc>
                <a:tc>
                  <a:txBody>
                    <a:bodyPr/>
                    <a:lstStyle/>
                    <a:p>
                      <a:pPr algn="l"/>
                      <a:r>
                        <a:rPr lang="en-US" sz="1200" b="0" dirty="0" smtClean="0">
                          <a:solidFill>
                            <a:schemeClr val="accent1"/>
                          </a:solidFill>
                          <a:latin typeface="+mj-lt"/>
                        </a:rPr>
                        <a:t>32%</a:t>
                      </a:r>
                      <a:endParaRPr lang="en-US" sz="1200" b="0" dirty="0">
                        <a:solidFill>
                          <a:schemeClr val="accent1"/>
                        </a:solidFill>
                        <a:latin typeface="+mj-lt"/>
                      </a:endParaRPr>
                    </a:p>
                  </a:txBody>
                  <a:tcPr anchor="ctr"/>
                </a:tc>
              </a:tr>
              <a:tr h="362862">
                <a:tc>
                  <a:txBody>
                    <a:bodyPr/>
                    <a:lstStyle/>
                    <a:p>
                      <a:endParaRPr lang="en-US" sz="1200" b="0">
                        <a:solidFill>
                          <a:schemeClr val="accent1"/>
                        </a:solidFill>
                        <a:latin typeface="+mj-lt"/>
                      </a:endParaRPr>
                    </a:p>
                  </a:txBody>
                  <a:tcPr/>
                </a:tc>
                <a:tc>
                  <a:txBody>
                    <a:bodyPr/>
                    <a:lstStyle/>
                    <a:p>
                      <a:pPr algn="l"/>
                      <a:r>
                        <a:rPr lang="en-US" sz="1200" b="0" dirty="0" smtClean="0">
                          <a:solidFill>
                            <a:schemeClr val="accent1"/>
                          </a:solidFill>
                          <a:latin typeface="+mj-lt"/>
                        </a:rPr>
                        <a:t>16%</a:t>
                      </a:r>
                      <a:endParaRPr lang="en-US" sz="1200" b="0" dirty="0">
                        <a:solidFill>
                          <a:schemeClr val="accent1"/>
                        </a:solidFill>
                        <a:latin typeface="+mj-lt"/>
                      </a:endParaRPr>
                    </a:p>
                  </a:txBody>
                  <a:tcPr anchor="ctr"/>
                </a:tc>
              </a:tr>
              <a:tr h="362862">
                <a:tc>
                  <a:txBody>
                    <a:bodyPr/>
                    <a:lstStyle/>
                    <a:p>
                      <a:endParaRPr lang="en-US" sz="1200" b="0" dirty="0">
                        <a:solidFill>
                          <a:schemeClr val="accent1"/>
                        </a:solidFill>
                        <a:latin typeface="+mj-lt"/>
                      </a:endParaRPr>
                    </a:p>
                  </a:txBody>
                  <a:tcPr/>
                </a:tc>
                <a:tc>
                  <a:txBody>
                    <a:bodyPr/>
                    <a:lstStyle/>
                    <a:p>
                      <a:pPr algn="l"/>
                      <a:r>
                        <a:rPr lang="en-US" sz="1200" b="0" dirty="0" smtClean="0">
                          <a:solidFill>
                            <a:schemeClr val="accent1"/>
                          </a:solidFill>
                          <a:latin typeface="+mj-lt"/>
                        </a:rPr>
                        <a:t>3%</a:t>
                      </a:r>
                      <a:endParaRPr lang="en-US" sz="1200" b="0" dirty="0">
                        <a:solidFill>
                          <a:schemeClr val="accent1"/>
                        </a:solidFill>
                        <a:latin typeface="+mj-lt"/>
                      </a:endParaRPr>
                    </a:p>
                  </a:txBody>
                  <a:tcPr anchor="ctr"/>
                </a:tc>
              </a:tr>
              <a:tr h="362862">
                <a:tc>
                  <a:txBody>
                    <a:bodyPr/>
                    <a:lstStyle/>
                    <a:p>
                      <a:endParaRPr lang="en-US" sz="1200" b="0" dirty="0">
                        <a:solidFill>
                          <a:schemeClr val="accent1"/>
                        </a:solidFill>
                        <a:latin typeface="+mj-lt"/>
                      </a:endParaRPr>
                    </a:p>
                  </a:txBody>
                  <a:tcPr/>
                </a:tc>
                <a:tc>
                  <a:txBody>
                    <a:bodyPr/>
                    <a:lstStyle/>
                    <a:p>
                      <a:pPr algn="l"/>
                      <a:r>
                        <a:rPr lang="en-US" sz="1200" b="0" dirty="0" smtClean="0">
                          <a:solidFill>
                            <a:schemeClr val="accent1"/>
                          </a:solidFill>
                          <a:latin typeface="+mj-lt"/>
                        </a:rPr>
                        <a:t>25%</a:t>
                      </a:r>
                      <a:endParaRPr lang="en-US" sz="1200" b="0" dirty="0">
                        <a:solidFill>
                          <a:schemeClr val="accent1"/>
                        </a:solidFill>
                        <a:latin typeface="+mj-lt"/>
                      </a:endParaRPr>
                    </a:p>
                  </a:txBody>
                  <a:tcPr anchor="ctr"/>
                </a:tc>
              </a:tr>
            </a:tbl>
          </a:graphicData>
        </a:graphic>
      </p:graphicFrame>
      <p:graphicFrame>
        <p:nvGraphicFramePr>
          <p:cNvPr id="3" name="Object 2"/>
          <p:cNvGraphicFramePr>
            <a:graphicFrameLocks/>
          </p:cNvGraphicFramePr>
          <p:nvPr>
            <p:custDataLst>
              <p:tags r:id="rId3"/>
            </p:custDataLst>
            <p:extLst>
              <p:ext uri="{D42A27DB-BD31-4B8C-83A1-F6EECF244321}">
                <p14:modId xmlns:p14="http://schemas.microsoft.com/office/powerpoint/2010/main" val="3111469469"/>
              </p:ext>
            </p:extLst>
          </p:nvPr>
        </p:nvGraphicFramePr>
        <p:xfrm>
          <a:off x="1562100" y="1790700"/>
          <a:ext cx="4714943" cy="4191090"/>
        </p:xfrm>
        <a:graphic>
          <a:graphicData uri="http://schemas.openxmlformats.org/presentationml/2006/ole">
            <mc:AlternateContent xmlns:mc="http://schemas.openxmlformats.org/markup-compatibility/2006">
              <mc:Choice xmlns:v="urn:schemas-microsoft-com:vml" Requires="v">
                <p:oleObj spid="_x0000_s287097" name="Chart" r:id="rId41" imgW="4714943" imgH="4191090" progId="MSGraph.Chart.8">
                  <p:embed followColorScheme="full"/>
                </p:oleObj>
              </mc:Choice>
              <mc:Fallback>
                <p:oleObj name="Chart" r:id="rId41" imgW="4714943" imgH="4191090" progId="MSGraph.Chart.8">
                  <p:embed followColorScheme="full"/>
                  <p:pic>
                    <p:nvPicPr>
                      <p:cNvPr id="0" name=""/>
                      <p:cNvPicPr/>
                      <p:nvPr/>
                    </p:nvPicPr>
                    <p:blipFill>
                      <a:blip r:embed="rId42"/>
                      <a:stretch>
                        <a:fillRect/>
                      </a:stretch>
                    </p:blipFill>
                    <p:spPr>
                      <a:xfrm>
                        <a:off x="1562100" y="1790700"/>
                        <a:ext cx="4714943" cy="4191090"/>
                      </a:xfrm>
                      <a:prstGeom prst="rect">
                        <a:avLst/>
                      </a:prstGeom>
                    </p:spPr>
                  </p:pic>
                </p:oleObj>
              </mc:Fallback>
            </mc:AlternateContent>
          </a:graphicData>
        </a:graphic>
      </p:graphicFrame>
      <p:sp>
        <p:nvSpPr>
          <p:cNvPr id="54" name="Text Placeholder 30"/>
          <p:cNvSpPr>
            <a:spLocks noGrp="1"/>
          </p:cNvSpPr>
          <p:nvPr>
            <p:custDataLst>
              <p:tags r:id="rId4"/>
            </p:custDataLst>
          </p:nvPr>
        </p:nvSpPr>
        <p:spPr bwMode="gray">
          <a:xfrm>
            <a:off x="1901825" y="4519613"/>
            <a:ext cx="2555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E8F03418-9ED0-458F-98E7-ED2523D1E2C2}" type="datetime'''1''.''''''7'''''''''''''''''''''''''''''''''''''''''''''''''">
              <a:rPr lang="en-US" sz="1200">
                <a:solidFill>
                  <a:schemeClr val="accent1"/>
                </a:solidFill>
                <a:latin typeface="Arial"/>
                <a:sym typeface="Arial"/>
              </a:rPr>
              <a:pPr marL="0" indent="0">
                <a:spcBef>
                  <a:spcPct val="0"/>
                </a:spcBef>
                <a:spcAft>
                  <a:spcPct val="0"/>
                </a:spcAft>
                <a:buNone/>
              </a:pPr>
              <a:t>1.7</a:t>
            </a:fld>
            <a:endParaRPr lang="en-US" sz="1200" dirty="0">
              <a:solidFill>
                <a:schemeClr val="accent1"/>
              </a:solidFill>
              <a:latin typeface="Arial"/>
              <a:sym typeface="Arial"/>
            </a:endParaRPr>
          </a:p>
        </p:txBody>
      </p:sp>
      <p:sp>
        <p:nvSpPr>
          <p:cNvPr id="9" name="Rectangle 8"/>
          <p:cNvSpPr/>
          <p:nvPr>
            <p:custDataLst>
              <p:tags r:id="rId5"/>
            </p:custDataLst>
          </p:nvPr>
        </p:nvSpPr>
        <p:spPr bwMode="auto">
          <a:xfrm>
            <a:off x="801688" y="5243513"/>
            <a:ext cx="554038"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0176482C-7DA0-464E-B9A7-B5024B944EEF}" type="datetime'''''''''V''''iet''''''''''na''''''''m'''''''''''''''''''''''">
              <a:rPr lang="en-US" sz="1200">
                <a:solidFill>
                  <a:schemeClr val="accent1"/>
                </a:solidFill>
              </a:rPr>
              <a:pPr fontAlgn="base">
                <a:spcBef>
                  <a:spcPct val="0"/>
                </a:spcBef>
                <a:spcAft>
                  <a:spcPct val="0"/>
                </a:spcAft>
              </a:pPr>
              <a:t>Vietnam</a:t>
            </a:fld>
            <a:endParaRPr lang="en-US" sz="1200" strike="noStrike" cap="none" normalizeH="0" dirty="0" smtClean="0">
              <a:ln>
                <a:noFill/>
              </a:ln>
              <a:solidFill>
                <a:schemeClr val="accent1"/>
              </a:solidFill>
              <a:effectLst/>
              <a:sym typeface="+mn-lt"/>
            </a:endParaRPr>
          </a:p>
        </p:txBody>
      </p:sp>
      <p:sp>
        <p:nvSpPr>
          <p:cNvPr id="56" name="Text Placeholder 32"/>
          <p:cNvSpPr>
            <a:spLocks noGrp="1"/>
          </p:cNvSpPr>
          <p:nvPr>
            <p:custDataLst>
              <p:tags r:id="rId6"/>
            </p:custDataLst>
          </p:nvPr>
        </p:nvSpPr>
        <p:spPr bwMode="gray">
          <a:xfrm>
            <a:off x="1882775" y="4881563"/>
            <a:ext cx="2555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BD569BA6-B64B-4EA6-B3A4-A3F51A51BA71}" type="datetime'''''1.''''''''''5'''''''''''''''''''''''''''''''''''''''''''''">
              <a:rPr lang="en-US" sz="1200">
                <a:solidFill>
                  <a:schemeClr val="accent1"/>
                </a:solidFill>
                <a:latin typeface="Arial"/>
                <a:sym typeface="Arial"/>
              </a:rPr>
              <a:pPr marL="0" indent="0">
                <a:spcBef>
                  <a:spcPct val="0"/>
                </a:spcBef>
                <a:spcAft>
                  <a:spcPct val="0"/>
                </a:spcAft>
                <a:buNone/>
              </a:pPr>
              <a:t>1.5</a:t>
            </a:fld>
            <a:endParaRPr lang="en-US" sz="1200" dirty="0">
              <a:solidFill>
                <a:schemeClr val="accent1"/>
              </a:solidFill>
              <a:latin typeface="Arial"/>
              <a:sym typeface="Arial"/>
            </a:endParaRPr>
          </a:p>
        </p:txBody>
      </p:sp>
      <p:sp>
        <p:nvSpPr>
          <p:cNvPr id="16" name="Rectangle 15"/>
          <p:cNvSpPr/>
          <p:nvPr>
            <p:custDataLst>
              <p:tags r:id="rId7"/>
            </p:custDataLst>
          </p:nvPr>
        </p:nvSpPr>
        <p:spPr bwMode="gray">
          <a:xfrm>
            <a:off x="1806575" y="5243513"/>
            <a:ext cx="255588"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22225" tIns="0" rIns="22225" bIns="0" numCol="1" rtlCol="0" anchor="ctr" anchorCtr="0" compatLnSpc="1">
            <a:prstTxWarp prst="textNoShape">
              <a:avLst/>
            </a:prstTxWarp>
          </a:bodyPr>
          <a:lstStyle/>
          <a:p>
            <a:pPr fontAlgn="base">
              <a:spcBef>
                <a:spcPct val="0"/>
              </a:spcBef>
              <a:spcAft>
                <a:spcPct val="0"/>
              </a:spcAft>
            </a:pPr>
            <a:fld id="{8120E616-2059-431C-B62D-55153995C166}" type="datetime'''0''''''.''''9'''''''''''''''''''''''''''''''''''''''''">
              <a:rPr lang="en-US" sz="1200">
                <a:solidFill>
                  <a:schemeClr val="accent1"/>
                </a:solidFill>
              </a:rPr>
              <a:pPr/>
              <a:t>0.9</a:t>
            </a:fld>
            <a:endParaRPr lang="en-US" sz="1200" strike="noStrike" cap="none" normalizeH="0" dirty="0" smtClean="0">
              <a:ln>
                <a:noFill/>
              </a:ln>
              <a:solidFill>
                <a:schemeClr val="accent1"/>
              </a:solidFill>
              <a:effectLst/>
              <a:sym typeface="+mn-lt"/>
            </a:endParaRPr>
          </a:p>
        </p:txBody>
      </p:sp>
      <p:sp>
        <p:nvSpPr>
          <p:cNvPr id="36" name="Rectangle 35"/>
          <p:cNvSpPr/>
          <p:nvPr>
            <p:custDataLst>
              <p:tags r:id="rId8"/>
            </p:custDataLst>
          </p:nvPr>
        </p:nvSpPr>
        <p:spPr bwMode="gray">
          <a:xfrm>
            <a:off x="1787525" y="5605463"/>
            <a:ext cx="255588"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22225" tIns="0" rIns="22225" bIns="0" numCol="1" rtlCol="0" anchor="ctr" anchorCtr="0" compatLnSpc="1">
            <a:prstTxWarp prst="textNoShape">
              <a:avLst/>
            </a:prstTxWarp>
          </a:bodyPr>
          <a:lstStyle/>
          <a:p>
            <a:pPr fontAlgn="base">
              <a:spcBef>
                <a:spcPct val="0"/>
              </a:spcBef>
              <a:spcAft>
                <a:spcPct val="0"/>
              </a:spcAft>
            </a:pPr>
            <a:fld id="{0AB71B84-F0D3-4854-885E-B8A5F75FA7BE}" type="datetime'''0''''''.''''''''''''''''''''''''8'">
              <a:rPr lang="en-US" sz="1200">
                <a:solidFill>
                  <a:schemeClr val="accent1"/>
                </a:solidFill>
              </a:rPr>
              <a:pPr/>
              <a:t>0.8</a:t>
            </a:fld>
            <a:endParaRPr lang="en-US" sz="1200" strike="noStrike" cap="none" normalizeH="0" dirty="0" smtClean="0">
              <a:ln>
                <a:noFill/>
              </a:ln>
              <a:solidFill>
                <a:schemeClr val="accent1"/>
              </a:solidFill>
              <a:effectLst/>
              <a:latin typeface="Arial"/>
              <a:sym typeface="Arial"/>
            </a:endParaRPr>
          </a:p>
        </p:txBody>
      </p:sp>
      <p:sp>
        <p:nvSpPr>
          <p:cNvPr id="55" name="Text Placeholder 31"/>
          <p:cNvSpPr>
            <a:spLocks noGrp="1"/>
          </p:cNvSpPr>
          <p:nvPr>
            <p:custDataLst>
              <p:tags r:id="rId9"/>
            </p:custDataLst>
          </p:nvPr>
        </p:nvSpPr>
        <p:spPr bwMode="auto">
          <a:xfrm>
            <a:off x="801688" y="4881563"/>
            <a:ext cx="6572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E4D43824-0CC8-4C1C-ABA6-1389C7D5629A}" type="datetime'''''In''''''''''''d''''on''''''''''es''''''''ia'''''''''">
              <a:rPr lang="en-US" sz="1200">
                <a:solidFill>
                  <a:schemeClr val="accent1"/>
                </a:solidFill>
              </a:rPr>
              <a:pPr marL="0" indent="0">
                <a:spcBef>
                  <a:spcPct val="0"/>
                </a:spcBef>
                <a:spcAft>
                  <a:spcPct val="0"/>
                </a:spcAft>
                <a:buNone/>
              </a:pPr>
              <a:t>Indonesia</a:t>
            </a:fld>
            <a:endParaRPr lang="en-US" sz="1200" dirty="0">
              <a:solidFill>
                <a:schemeClr val="accent1"/>
              </a:solidFill>
              <a:latin typeface="Arial"/>
              <a:sym typeface="Arial"/>
            </a:endParaRPr>
          </a:p>
        </p:txBody>
      </p:sp>
      <p:sp>
        <p:nvSpPr>
          <p:cNvPr id="44" name="Text Placeholder 7"/>
          <p:cNvSpPr>
            <a:spLocks noGrp="1"/>
          </p:cNvSpPr>
          <p:nvPr>
            <p:custDataLst>
              <p:tags r:id="rId10"/>
            </p:custDataLst>
          </p:nvPr>
        </p:nvSpPr>
        <p:spPr bwMode="gray">
          <a:xfrm>
            <a:off x="2454275" y="2719388"/>
            <a:ext cx="2555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8CC80844-0041-4BA6-B27F-D3234E217750}" type="datetime'''''''6''''''''''''''''''.''''''''''''3'''''''''''''''''''''">
              <a:rPr lang="en-US" sz="1200">
                <a:solidFill>
                  <a:schemeClr val="accent1"/>
                </a:solidFill>
                <a:latin typeface="Arial"/>
                <a:sym typeface="Arial"/>
              </a:rPr>
              <a:pPr marL="0" indent="0">
                <a:spcBef>
                  <a:spcPct val="0"/>
                </a:spcBef>
                <a:spcAft>
                  <a:spcPct val="0"/>
                </a:spcAft>
                <a:buNone/>
              </a:pPr>
              <a:t>6.3</a:t>
            </a:fld>
            <a:endParaRPr lang="en-US" sz="1200" dirty="0">
              <a:solidFill>
                <a:schemeClr val="accent1"/>
              </a:solidFill>
              <a:latin typeface="Arial"/>
              <a:sym typeface="Arial"/>
            </a:endParaRPr>
          </a:p>
        </p:txBody>
      </p:sp>
      <p:sp>
        <p:nvSpPr>
          <p:cNvPr id="45" name="Text Placeholder 8"/>
          <p:cNvSpPr>
            <a:spLocks noGrp="1"/>
          </p:cNvSpPr>
          <p:nvPr>
            <p:custDataLst>
              <p:tags r:id="rId11"/>
            </p:custDataLst>
          </p:nvPr>
        </p:nvSpPr>
        <p:spPr bwMode="auto">
          <a:xfrm>
            <a:off x="801688" y="3081338"/>
            <a:ext cx="6572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EEBB1BA3-7260-4CD1-AF92-8EE6D3DEA4FD}" type="datetime'H''''o''''n''''d''''u''r''''''''''''as'''''''">
              <a:rPr lang="en-US" sz="1200">
                <a:solidFill>
                  <a:schemeClr val="accent1"/>
                </a:solidFill>
              </a:rPr>
              <a:pPr marL="0" indent="0">
                <a:spcBef>
                  <a:spcPct val="0"/>
                </a:spcBef>
                <a:spcAft>
                  <a:spcPct val="0"/>
                </a:spcAft>
                <a:buNone/>
              </a:pPr>
              <a:t>Honduras</a:t>
            </a:fld>
            <a:endParaRPr lang="en-US" sz="1200" dirty="0">
              <a:solidFill>
                <a:schemeClr val="accent1"/>
              </a:solidFill>
              <a:latin typeface="Arial"/>
              <a:sym typeface="Arial"/>
            </a:endParaRPr>
          </a:p>
        </p:txBody>
      </p:sp>
      <p:sp>
        <p:nvSpPr>
          <p:cNvPr id="47" name="Text Placeholder 21"/>
          <p:cNvSpPr>
            <a:spLocks noGrp="1"/>
          </p:cNvSpPr>
          <p:nvPr>
            <p:custDataLst>
              <p:tags r:id="rId12"/>
            </p:custDataLst>
          </p:nvPr>
        </p:nvSpPr>
        <p:spPr bwMode="gray">
          <a:xfrm>
            <a:off x="2311400" y="3081338"/>
            <a:ext cx="2555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91DE9182-DBFA-45D4-AE69-97728298928D}" type="datetime'''''''''''5''''''''.''''''''''''''''''1'''''''''''''''''''''''">
              <a:rPr lang="en-US" sz="1200">
                <a:solidFill>
                  <a:schemeClr val="accent1"/>
                </a:solidFill>
                <a:latin typeface="Arial"/>
                <a:sym typeface="Arial"/>
              </a:rPr>
              <a:pPr marL="0" indent="0">
                <a:spcBef>
                  <a:spcPct val="0"/>
                </a:spcBef>
                <a:spcAft>
                  <a:spcPct val="0"/>
                </a:spcAft>
                <a:buNone/>
              </a:pPr>
              <a:t>5.1</a:t>
            </a:fld>
            <a:endParaRPr lang="en-US" sz="1200" dirty="0">
              <a:solidFill>
                <a:schemeClr val="accent1"/>
              </a:solidFill>
              <a:latin typeface="Arial"/>
              <a:sym typeface="Arial"/>
            </a:endParaRPr>
          </a:p>
        </p:txBody>
      </p:sp>
      <p:sp>
        <p:nvSpPr>
          <p:cNvPr id="41" name="Text Placeholder 4"/>
          <p:cNvSpPr>
            <a:spLocks noGrp="1"/>
          </p:cNvSpPr>
          <p:nvPr>
            <p:custDataLst>
              <p:tags r:id="rId13"/>
            </p:custDataLst>
          </p:nvPr>
        </p:nvSpPr>
        <p:spPr bwMode="auto">
          <a:xfrm>
            <a:off x="801688" y="2357438"/>
            <a:ext cx="7540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D8D32DA4-BA06-4AA1-8D18-BC19FFC902F6}" type="datetime'C''o''''l''''''''o''m''''''bi''''''''''''''a'''''''''''''''">
              <a:rPr lang="en-US" sz="1200" b="1" smtClean="0">
                <a:solidFill>
                  <a:schemeClr val="accent1"/>
                </a:solidFill>
              </a:rPr>
              <a:pPr marL="0" indent="0">
                <a:spcBef>
                  <a:spcPct val="0"/>
                </a:spcBef>
                <a:spcAft>
                  <a:spcPct val="0"/>
                </a:spcAft>
                <a:buNone/>
              </a:pPr>
              <a:t>Colombia</a:t>
            </a:fld>
            <a:r>
              <a:rPr lang="en-US" sz="1200" b="1" dirty="0" smtClean="0">
                <a:solidFill>
                  <a:schemeClr val="accent1"/>
                </a:solidFill>
              </a:rPr>
              <a:t>*</a:t>
            </a:r>
            <a:endParaRPr lang="en-US" sz="1200" b="1" dirty="0">
              <a:solidFill>
                <a:schemeClr val="accent1"/>
              </a:solidFill>
              <a:latin typeface="Arial"/>
              <a:sym typeface="Arial"/>
            </a:endParaRPr>
          </a:p>
        </p:txBody>
      </p:sp>
      <p:sp>
        <p:nvSpPr>
          <p:cNvPr id="53" name="Text Placeholder 29"/>
          <p:cNvSpPr>
            <a:spLocks noGrp="1"/>
          </p:cNvSpPr>
          <p:nvPr>
            <p:custDataLst>
              <p:tags r:id="rId14"/>
            </p:custDataLst>
          </p:nvPr>
        </p:nvSpPr>
        <p:spPr bwMode="auto">
          <a:xfrm>
            <a:off x="801688" y="4519613"/>
            <a:ext cx="32861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C2A96171-DB4A-4EFE-9A6B-7DEB7F0C56B7}" type="datetime'''I''''''''''''''''''''n''''''''''''''''di''''a'''''''''''''''">
              <a:rPr lang="en-US" sz="1200">
                <a:solidFill>
                  <a:schemeClr val="accent1"/>
                </a:solidFill>
              </a:rPr>
              <a:pPr marL="0" indent="0">
                <a:spcBef>
                  <a:spcPct val="0"/>
                </a:spcBef>
                <a:spcAft>
                  <a:spcPct val="0"/>
                </a:spcAft>
                <a:buNone/>
              </a:pPr>
              <a:t>India</a:t>
            </a:fld>
            <a:endParaRPr lang="en-US" sz="1200" dirty="0">
              <a:solidFill>
                <a:schemeClr val="accent1"/>
              </a:solidFill>
              <a:latin typeface="Arial"/>
              <a:sym typeface="Arial"/>
            </a:endParaRPr>
          </a:p>
        </p:txBody>
      </p:sp>
      <p:sp>
        <p:nvSpPr>
          <p:cNvPr id="26" name="Rectangle 25"/>
          <p:cNvSpPr/>
          <p:nvPr>
            <p:custDataLst>
              <p:tags r:id="rId15"/>
            </p:custDataLst>
          </p:nvPr>
        </p:nvSpPr>
        <p:spPr bwMode="auto">
          <a:xfrm>
            <a:off x="801688" y="5605463"/>
            <a:ext cx="530225"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92F9F302-1034-471A-B105-69AAEEBA58C8}" type="datetime'U''''g''''''a''''''''''''''''''''''''''''n''''d''''''''''a'">
              <a:rPr lang="en-US" sz="1200">
                <a:solidFill>
                  <a:schemeClr val="accent1"/>
                </a:solidFill>
                <a:latin typeface="Arial"/>
                <a:sym typeface="Arial"/>
              </a:rPr>
              <a:pPr fontAlgn="base">
                <a:spcBef>
                  <a:spcPct val="0"/>
                </a:spcBef>
                <a:spcAft>
                  <a:spcPct val="0"/>
                </a:spcAft>
              </a:pPr>
              <a:t>Uganda</a:t>
            </a:fld>
            <a:endParaRPr lang="en-US" sz="1200" strike="noStrike" cap="none" normalizeH="0" dirty="0" smtClean="0">
              <a:ln>
                <a:noFill/>
              </a:ln>
              <a:solidFill>
                <a:schemeClr val="accent1"/>
              </a:solidFill>
              <a:effectLst/>
              <a:latin typeface="Arial"/>
              <a:sym typeface="Arial"/>
            </a:endParaRPr>
          </a:p>
        </p:txBody>
      </p:sp>
      <p:sp>
        <p:nvSpPr>
          <p:cNvPr id="46" name="Text Placeholder 9"/>
          <p:cNvSpPr>
            <a:spLocks noGrp="1"/>
          </p:cNvSpPr>
          <p:nvPr>
            <p:custDataLst>
              <p:tags r:id="rId16"/>
            </p:custDataLst>
          </p:nvPr>
        </p:nvSpPr>
        <p:spPr bwMode="auto">
          <a:xfrm>
            <a:off x="801688" y="3443288"/>
            <a:ext cx="32067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0F540222-5401-4A71-AF27-CC8BDC240B3D}" type="datetime'''''''''''''P''''''''''''''e''''''''''''''ru'''''''''''''''">
              <a:rPr lang="en-US" sz="1200">
                <a:solidFill>
                  <a:schemeClr val="accent1"/>
                </a:solidFill>
              </a:rPr>
              <a:pPr marL="0" indent="0">
                <a:spcBef>
                  <a:spcPct val="0"/>
                </a:spcBef>
                <a:spcAft>
                  <a:spcPct val="0"/>
                </a:spcAft>
                <a:buNone/>
              </a:pPr>
              <a:t>Peru</a:t>
            </a:fld>
            <a:endParaRPr lang="en-US" sz="1200" dirty="0">
              <a:solidFill>
                <a:schemeClr val="accent1"/>
              </a:solidFill>
              <a:latin typeface="Arial"/>
              <a:sym typeface="Arial"/>
            </a:endParaRPr>
          </a:p>
        </p:txBody>
      </p:sp>
      <p:sp>
        <p:nvSpPr>
          <p:cNvPr id="48" name="Text Placeholder 24"/>
          <p:cNvSpPr>
            <a:spLocks noGrp="1"/>
          </p:cNvSpPr>
          <p:nvPr>
            <p:custDataLst>
              <p:tags r:id="rId17"/>
            </p:custDataLst>
          </p:nvPr>
        </p:nvSpPr>
        <p:spPr bwMode="gray">
          <a:xfrm>
            <a:off x="2263775" y="3443288"/>
            <a:ext cx="2555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E28D5E9E-537A-49F7-A0BF-55EB638D848C}" type="datetime'''''''4''''.''''''''''''''''''''8'''''''''''''''''''''''''">
              <a:rPr lang="en-US" sz="1200">
                <a:solidFill>
                  <a:schemeClr val="accent1"/>
                </a:solidFill>
                <a:latin typeface="Arial"/>
                <a:sym typeface="Arial"/>
              </a:rPr>
              <a:pPr marL="0" indent="0">
                <a:spcBef>
                  <a:spcPct val="0"/>
                </a:spcBef>
                <a:spcAft>
                  <a:spcPct val="0"/>
                </a:spcAft>
                <a:buNone/>
              </a:pPr>
              <a:t>4.8</a:t>
            </a:fld>
            <a:endParaRPr lang="en-US" sz="1200" dirty="0">
              <a:solidFill>
                <a:schemeClr val="accent1"/>
              </a:solidFill>
              <a:latin typeface="Arial"/>
              <a:sym typeface="Arial"/>
            </a:endParaRPr>
          </a:p>
        </p:txBody>
      </p:sp>
      <p:sp>
        <p:nvSpPr>
          <p:cNvPr id="52" name="Text Placeholder 28"/>
          <p:cNvSpPr>
            <a:spLocks noGrp="1"/>
          </p:cNvSpPr>
          <p:nvPr>
            <p:custDataLst>
              <p:tags r:id="rId18"/>
            </p:custDataLst>
          </p:nvPr>
        </p:nvSpPr>
        <p:spPr bwMode="gray">
          <a:xfrm>
            <a:off x="2216150" y="3800475"/>
            <a:ext cx="2555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A8D99EEF-6E76-4C50-ABAB-AB1A2953DBA2}" type="datetime'''''''''''''''4.''''''''''''''''''''''''''''3'''''''''''''''">
              <a:rPr lang="en-US" sz="1200">
                <a:solidFill>
                  <a:schemeClr val="accent1"/>
                </a:solidFill>
                <a:latin typeface="Arial"/>
                <a:sym typeface="Arial"/>
              </a:rPr>
              <a:pPr marL="0" indent="0">
                <a:spcBef>
                  <a:spcPct val="0"/>
                </a:spcBef>
                <a:spcAft>
                  <a:spcPct val="0"/>
                </a:spcAft>
                <a:buNone/>
              </a:pPr>
              <a:t>4.3</a:t>
            </a:fld>
            <a:endParaRPr lang="en-US" sz="1200" dirty="0">
              <a:solidFill>
                <a:schemeClr val="accent1"/>
              </a:solidFill>
              <a:latin typeface="Arial"/>
              <a:sym typeface="Arial"/>
            </a:endParaRPr>
          </a:p>
        </p:txBody>
      </p:sp>
      <p:sp>
        <p:nvSpPr>
          <p:cNvPr id="43" name="Text Placeholder 6"/>
          <p:cNvSpPr>
            <a:spLocks noGrp="1"/>
          </p:cNvSpPr>
          <p:nvPr>
            <p:custDataLst>
              <p:tags r:id="rId19"/>
            </p:custDataLst>
          </p:nvPr>
        </p:nvSpPr>
        <p:spPr bwMode="auto">
          <a:xfrm>
            <a:off x="801688" y="2719388"/>
            <a:ext cx="5476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1AD14F58-8502-4B0C-BBDA-22879C966D29}" type="datetime'''E''th''''''''i''''''''''''o''''''p''i''''a'''''''''''''''">
              <a:rPr lang="en-US" sz="1200">
                <a:solidFill>
                  <a:schemeClr val="accent1"/>
                </a:solidFill>
              </a:rPr>
              <a:pPr marL="0" indent="0">
                <a:spcBef>
                  <a:spcPct val="0"/>
                </a:spcBef>
                <a:spcAft>
                  <a:spcPct val="0"/>
                </a:spcAft>
                <a:buNone/>
              </a:pPr>
              <a:t>Ethiopia</a:t>
            </a:fld>
            <a:endParaRPr lang="en-US" sz="1200" dirty="0">
              <a:solidFill>
                <a:schemeClr val="accent1"/>
              </a:solidFill>
              <a:latin typeface="Arial"/>
              <a:sym typeface="Arial"/>
            </a:endParaRPr>
          </a:p>
        </p:txBody>
      </p:sp>
      <p:sp>
        <p:nvSpPr>
          <p:cNvPr id="51" name="Text Placeholder 27"/>
          <p:cNvSpPr>
            <a:spLocks noGrp="1"/>
          </p:cNvSpPr>
          <p:nvPr>
            <p:custDataLst>
              <p:tags r:id="rId20"/>
            </p:custDataLst>
          </p:nvPr>
        </p:nvSpPr>
        <p:spPr bwMode="gray">
          <a:xfrm>
            <a:off x="2197100" y="4157663"/>
            <a:ext cx="2555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639F8577-C342-43DD-A48D-88FD0D2E7BEB}" type="datetime'''''''''''''''''4''''''''''.''''''''''''''''''''2'''''''''''">
              <a:rPr lang="en-US" sz="1200">
                <a:solidFill>
                  <a:schemeClr val="accent1"/>
                </a:solidFill>
                <a:latin typeface="Arial"/>
                <a:sym typeface="Arial"/>
              </a:rPr>
              <a:pPr marL="0" indent="0">
                <a:spcBef>
                  <a:spcPct val="0"/>
                </a:spcBef>
                <a:spcAft>
                  <a:spcPct val="0"/>
                </a:spcAft>
                <a:buNone/>
              </a:pPr>
              <a:t>4.2</a:t>
            </a:fld>
            <a:endParaRPr lang="en-US" sz="1200" dirty="0">
              <a:solidFill>
                <a:schemeClr val="accent1"/>
              </a:solidFill>
              <a:latin typeface="Arial"/>
              <a:sym typeface="Arial"/>
            </a:endParaRPr>
          </a:p>
        </p:txBody>
      </p:sp>
      <p:sp>
        <p:nvSpPr>
          <p:cNvPr id="49" name="Text Placeholder 25"/>
          <p:cNvSpPr>
            <a:spLocks noGrp="1"/>
          </p:cNvSpPr>
          <p:nvPr>
            <p:custDataLst>
              <p:tags r:id="rId21"/>
            </p:custDataLst>
          </p:nvPr>
        </p:nvSpPr>
        <p:spPr bwMode="auto">
          <a:xfrm>
            <a:off x="801688" y="3800475"/>
            <a:ext cx="742950"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3A98081B-87B5-4CD6-8B0B-FCF35A96396D}" type="datetime'''''''G''''''''''''u''''''at''''''''em''''a''''l''''''a'''''">
              <a:rPr lang="en-US" sz="1200">
                <a:solidFill>
                  <a:schemeClr val="accent1"/>
                </a:solidFill>
              </a:rPr>
              <a:pPr marL="0" indent="0">
                <a:spcBef>
                  <a:spcPct val="0"/>
                </a:spcBef>
                <a:spcAft>
                  <a:spcPct val="0"/>
                </a:spcAft>
                <a:buNone/>
              </a:pPr>
              <a:t>Guatemala</a:t>
            </a:fld>
            <a:endParaRPr lang="en-US" sz="1200" dirty="0">
              <a:solidFill>
                <a:schemeClr val="accent1"/>
              </a:solidFill>
              <a:latin typeface="Arial"/>
              <a:sym typeface="Arial"/>
            </a:endParaRPr>
          </a:p>
        </p:txBody>
      </p:sp>
      <p:sp>
        <p:nvSpPr>
          <p:cNvPr id="50" name="Text Placeholder 26"/>
          <p:cNvSpPr>
            <a:spLocks noGrp="1"/>
          </p:cNvSpPr>
          <p:nvPr>
            <p:custDataLst>
              <p:tags r:id="rId22"/>
            </p:custDataLst>
          </p:nvPr>
        </p:nvSpPr>
        <p:spPr bwMode="auto">
          <a:xfrm>
            <a:off x="801688" y="4157663"/>
            <a:ext cx="48101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2FA60980-F3D8-4F8F-947E-B25B93B66133}" type="datetime'''''''''''''''''M''''e''''xi''''''''''''''''''''''c''''o'">
              <a:rPr lang="en-US" sz="1200">
                <a:solidFill>
                  <a:schemeClr val="accent1"/>
                </a:solidFill>
              </a:rPr>
              <a:pPr marL="0" indent="0">
                <a:spcBef>
                  <a:spcPct val="0"/>
                </a:spcBef>
                <a:spcAft>
                  <a:spcPct val="0"/>
                </a:spcAft>
                <a:buNone/>
              </a:pPr>
              <a:t>Mexico</a:t>
            </a:fld>
            <a:endParaRPr lang="en-US" sz="1200" dirty="0">
              <a:solidFill>
                <a:schemeClr val="accent1"/>
              </a:solidFill>
              <a:latin typeface="Arial"/>
              <a:sym typeface="Arial"/>
            </a:endParaRPr>
          </a:p>
        </p:txBody>
      </p:sp>
      <p:sp>
        <p:nvSpPr>
          <p:cNvPr id="42" name="Text Placeholder 5"/>
          <p:cNvSpPr>
            <a:spLocks noGrp="1"/>
          </p:cNvSpPr>
          <p:nvPr>
            <p:custDataLst>
              <p:tags r:id="rId23"/>
            </p:custDataLst>
          </p:nvPr>
        </p:nvSpPr>
        <p:spPr bwMode="gray">
          <a:xfrm>
            <a:off x="2740025" y="2357438"/>
            <a:ext cx="2555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CB7490D7-023A-4737-A732-4266F782CF5C}" type="datetime'''''''''''''''''''''''''''''''''''''8''''.8'''''''''''''">
              <a:rPr lang="en-US" sz="1200" b="1">
                <a:solidFill>
                  <a:schemeClr val="accent1"/>
                </a:solidFill>
                <a:latin typeface="Arial"/>
                <a:sym typeface="Arial"/>
              </a:rPr>
              <a:pPr marL="0" indent="0">
                <a:spcBef>
                  <a:spcPct val="0"/>
                </a:spcBef>
                <a:spcAft>
                  <a:spcPct val="0"/>
                </a:spcAft>
                <a:buNone/>
              </a:pPr>
              <a:t>8.8</a:t>
            </a:fld>
            <a:endParaRPr lang="en-US" sz="1200" b="1" dirty="0">
              <a:solidFill>
                <a:schemeClr val="accent1"/>
              </a:solidFill>
              <a:latin typeface="Arial"/>
              <a:sym typeface="Arial"/>
            </a:endParaRPr>
          </a:p>
        </p:txBody>
      </p:sp>
      <p:sp>
        <p:nvSpPr>
          <p:cNvPr id="4" name="Rectangle 3"/>
          <p:cNvSpPr/>
          <p:nvPr>
            <p:custDataLst>
              <p:tags r:id="rId24"/>
            </p:custDataLst>
          </p:nvPr>
        </p:nvSpPr>
        <p:spPr bwMode="auto">
          <a:xfrm>
            <a:off x="801688" y="1995488"/>
            <a:ext cx="379413"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A1E97092-8521-4619-BDFA-E064A4CB4CC5}" type="datetime'''''B''''''''r''''a''z''''''''''''''i''''''''''''''''''''l'">
              <a:rPr lang="en-US" sz="1200">
                <a:solidFill>
                  <a:schemeClr val="accent1"/>
                </a:solidFill>
              </a:rPr>
              <a:pPr fontAlgn="base">
                <a:spcBef>
                  <a:spcPct val="0"/>
                </a:spcBef>
                <a:spcAft>
                  <a:spcPct val="0"/>
                </a:spcAft>
              </a:pPr>
              <a:t>Brazil</a:t>
            </a:fld>
            <a:endParaRPr lang="en-US" sz="1200" strike="noStrike" cap="none" normalizeH="0" dirty="0" smtClean="0">
              <a:ln>
                <a:noFill/>
              </a:ln>
              <a:solidFill>
                <a:schemeClr val="accent1"/>
              </a:solidFill>
              <a:effectLst/>
              <a:sym typeface="+mn-lt"/>
            </a:endParaRPr>
          </a:p>
        </p:txBody>
      </p:sp>
      <p:sp>
        <p:nvSpPr>
          <p:cNvPr id="15" name="Rectangle 14"/>
          <p:cNvSpPr/>
          <p:nvPr>
            <p:custDataLst>
              <p:tags r:id="rId25"/>
            </p:custDataLst>
          </p:nvPr>
        </p:nvSpPr>
        <p:spPr bwMode="gray">
          <a:xfrm>
            <a:off x="6197600" y="1995488"/>
            <a:ext cx="339725"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22225" tIns="0" rIns="22225" bIns="0" numCol="1" rtlCol="0" anchor="ctr" anchorCtr="0" compatLnSpc="1">
            <a:prstTxWarp prst="textNoShape">
              <a:avLst/>
            </a:prstTxWarp>
          </a:bodyPr>
          <a:lstStyle/>
          <a:p>
            <a:pPr fontAlgn="base">
              <a:spcBef>
                <a:spcPct val="0"/>
              </a:spcBef>
              <a:spcAft>
                <a:spcPct val="0"/>
              </a:spcAft>
            </a:pPr>
            <a:fld id="{9D6FAE33-E884-4249-B9F5-94EE53CFBB04}" type="datetime'3''''''''''''''''7''''''.''''''''9'''">
              <a:rPr lang="en-US" sz="1200">
                <a:solidFill>
                  <a:schemeClr val="accent1"/>
                </a:solidFill>
              </a:rPr>
              <a:pPr/>
              <a:t>37.9</a:t>
            </a:fld>
            <a:endParaRPr lang="en-US" sz="1200" strike="noStrike" cap="none" normalizeH="0" dirty="0" smtClean="0">
              <a:ln>
                <a:noFill/>
              </a:ln>
              <a:solidFill>
                <a:schemeClr val="accent1"/>
              </a:solidFill>
              <a:effectLst/>
              <a:sym typeface="+mn-lt"/>
            </a:endParaRPr>
          </a:p>
        </p:txBody>
      </p:sp>
      <p:sp>
        <p:nvSpPr>
          <p:cNvPr id="128" name="AutoShape 71"/>
          <p:cNvSpPr>
            <a:spLocks noChangeArrowheads="1"/>
          </p:cNvSpPr>
          <p:nvPr/>
        </p:nvSpPr>
        <p:spPr bwMode="auto">
          <a:xfrm>
            <a:off x="485775" y="1466720"/>
            <a:ext cx="4056062" cy="387798"/>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18288" anchor="b">
            <a:spAutoFit/>
          </a:bodyPr>
          <a:lstStyle/>
          <a:p>
            <a:r>
              <a:rPr lang="en-US" sz="1200" b="1" dirty="0" smtClean="0">
                <a:solidFill>
                  <a:schemeClr val="accent1"/>
                </a:solidFill>
              </a:rPr>
              <a:t>Arabica coffee production*</a:t>
            </a:r>
          </a:p>
          <a:p>
            <a:r>
              <a:rPr lang="en-US" sz="1200" dirty="0" smtClean="0">
                <a:solidFill>
                  <a:schemeClr val="accent1"/>
                </a:solidFill>
              </a:rPr>
              <a:t>Bags (60-kg), </a:t>
            </a:r>
            <a:r>
              <a:rPr lang="en-US" sz="1200" dirty="0">
                <a:solidFill>
                  <a:schemeClr val="accent1"/>
                </a:solidFill>
              </a:rPr>
              <a:t>millions</a:t>
            </a:r>
          </a:p>
        </p:txBody>
      </p:sp>
      <p:cxnSp>
        <p:nvCxnSpPr>
          <p:cNvPr id="129" name="AutoShape 70"/>
          <p:cNvCxnSpPr>
            <a:cxnSpLocks noChangeShapeType="1"/>
          </p:cNvCxnSpPr>
          <p:nvPr/>
        </p:nvCxnSpPr>
        <p:spPr bwMode="auto">
          <a:xfrm>
            <a:off x="485775" y="1883093"/>
            <a:ext cx="6126480" cy="0"/>
          </a:xfrm>
          <a:prstGeom prst="straightConnector1">
            <a:avLst/>
          </a:prstGeom>
          <a:noFill/>
          <a:ln w="952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AutoShape 70"/>
          <p:cNvCxnSpPr>
            <a:cxnSpLocks noChangeShapeType="1"/>
            <a:stCxn id="132" idx="4"/>
            <a:endCxn id="132" idx="6"/>
          </p:cNvCxnSpPr>
          <p:nvPr/>
        </p:nvCxnSpPr>
        <p:spPr bwMode="auto">
          <a:xfrm>
            <a:off x="6813550" y="1883184"/>
            <a:ext cx="1804082" cy="0"/>
          </a:xfrm>
          <a:prstGeom prst="straightConnector1">
            <a:avLst/>
          </a:prstGeom>
          <a:noFill/>
          <a:ln w="952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AutoShape 71"/>
          <p:cNvSpPr>
            <a:spLocks noChangeArrowheads="1"/>
          </p:cNvSpPr>
          <p:nvPr/>
        </p:nvSpPr>
        <p:spPr bwMode="auto">
          <a:xfrm>
            <a:off x="6813550" y="1495386"/>
            <a:ext cx="1804082" cy="387798"/>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18288" anchor="b">
            <a:spAutoFit/>
          </a:bodyPr>
          <a:lstStyle/>
          <a:p>
            <a:r>
              <a:rPr lang="en-US" sz="1200" b="1" dirty="0" smtClean="0">
                <a:solidFill>
                  <a:schemeClr val="accent1"/>
                </a:solidFill>
              </a:rPr>
              <a:t>Arabica as share of  total production</a:t>
            </a:r>
          </a:p>
        </p:txBody>
      </p:sp>
      <p:sp>
        <p:nvSpPr>
          <p:cNvPr id="133" name="McK Footnote"/>
          <p:cNvSpPr txBox="1">
            <a:spLocks noChangeArrowheads="1"/>
          </p:cNvSpPr>
          <p:nvPr/>
        </p:nvSpPr>
        <p:spPr bwMode="auto">
          <a:xfrm>
            <a:off x="625361" y="6240201"/>
            <a:ext cx="7569200" cy="249299"/>
          </a:xfrm>
          <a:prstGeom prst="rect">
            <a:avLst/>
          </a:prstGeom>
          <a:noFill/>
          <a:ln w="9525">
            <a:noFill/>
            <a:miter lim="800000"/>
            <a:headEnd/>
            <a:tailEnd/>
          </a:ln>
        </p:spPr>
        <p:txBody>
          <a:bodyPr wrap="square" lIns="0" tIns="0" rIns="0" bIns="0" anchor="b">
            <a:spAutoFit/>
          </a:bodyPr>
          <a:lstStyle/>
          <a:p>
            <a:pPr marL="563563" indent="-563563" defTabSz="895350">
              <a:lnSpc>
                <a:spcPct val="80000"/>
              </a:lnSpc>
              <a:spcBef>
                <a:spcPct val="20000"/>
              </a:spcBef>
              <a:tabLst>
                <a:tab pos="517525" algn="r"/>
              </a:tabLst>
            </a:pPr>
            <a:r>
              <a:rPr lang="en-US" sz="900" dirty="0" smtClean="0">
                <a:solidFill>
                  <a:schemeClr val="tx1">
                    <a:lumMod val="65000"/>
                    <a:lumOff val="35000"/>
                  </a:schemeClr>
                </a:solidFill>
              </a:rPr>
              <a:t>* Average of 2011/12 and 2012/13 coffee years</a:t>
            </a:r>
          </a:p>
          <a:p>
            <a:pPr marL="563563" indent="-563563" defTabSz="895350">
              <a:lnSpc>
                <a:spcPct val="80000"/>
              </a:lnSpc>
              <a:spcBef>
                <a:spcPct val="20000"/>
              </a:spcBef>
              <a:tabLst>
                <a:tab pos="517525" algn="r"/>
              </a:tabLst>
            </a:pPr>
            <a:r>
              <a:rPr lang="en-US" sz="900" dirty="0" smtClean="0">
                <a:solidFill>
                  <a:schemeClr val="tx1">
                    <a:lumMod val="65000"/>
                    <a:lumOff val="35000"/>
                  </a:schemeClr>
                </a:solidFill>
              </a:rPr>
              <a:t>Source</a:t>
            </a:r>
            <a:r>
              <a:rPr lang="en-US" sz="900" dirty="0">
                <a:solidFill>
                  <a:schemeClr val="tx1">
                    <a:lumMod val="65000"/>
                    <a:lumOff val="35000"/>
                  </a:schemeClr>
                </a:solidFill>
              </a:rPr>
              <a:t>: </a:t>
            </a:r>
            <a:r>
              <a:rPr lang="en-US" sz="900" dirty="0" smtClean="0">
                <a:solidFill>
                  <a:schemeClr val="tx1">
                    <a:lumMod val="65000"/>
                    <a:lumOff val="35000"/>
                  </a:schemeClr>
                </a:solidFill>
              </a:rPr>
              <a:t>USDA; TechnoServe </a:t>
            </a:r>
            <a:r>
              <a:rPr lang="en-US" sz="900" dirty="0">
                <a:solidFill>
                  <a:schemeClr val="tx1">
                    <a:lumMod val="65000"/>
                    <a:lumOff val="35000"/>
                  </a:schemeClr>
                </a:solidFill>
              </a:rPr>
              <a:t>analysis</a:t>
            </a:r>
          </a:p>
        </p:txBody>
      </p:sp>
      <p:sp>
        <p:nvSpPr>
          <p:cNvPr id="6" name="Title 5"/>
          <p:cNvSpPr>
            <a:spLocks noGrp="1"/>
          </p:cNvSpPr>
          <p:nvPr>
            <p:ph type="title"/>
          </p:nvPr>
        </p:nvSpPr>
        <p:spPr/>
        <p:txBody>
          <a:bodyPr/>
          <a:lstStyle/>
          <a:p>
            <a:r>
              <a:rPr lang="en-US" b="0" dirty="0" smtClean="0"/>
              <a:t>Colombia is the world’s second largest Arabica producer</a:t>
            </a:r>
            <a:endParaRPr lang="en-US" b="0" dirty="0"/>
          </a:p>
        </p:txBody>
      </p:sp>
      <p:sp>
        <p:nvSpPr>
          <p:cNvPr id="2" name="Rectangle 1"/>
          <p:cNvSpPr/>
          <p:nvPr/>
        </p:nvSpPr>
        <p:spPr>
          <a:xfrm>
            <a:off x="485775" y="2268230"/>
            <a:ext cx="8212055" cy="361950"/>
          </a:xfrm>
          <a:prstGeom prst="rect">
            <a:avLst/>
          </a:prstGeom>
          <a:noFill/>
          <a:ln w="12700">
            <a:solidFill>
              <a:srgbClr val="21249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p:cNvGraphicFramePr>
            <a:graphicFrameLocks/>
          </p:cNvGraphicFramePr>
          <p:nvPr>
            <p:custDataLst>
              <p:tags r:id="rId26"/>
            </p:custDataLst>
            <p:extLst>
              <p:ext uri="{D42A27DB-BD31-4B8C-83A1-F6EECF244321}">
                <p14:modId xmlns:p14="http://schemas.microsoft.com/office/powerpoint/2010/main" val="2397889221"/>
              </p:ext>
            </p:extLst>
          </p:nvPr>
        </p:nvGraphicFramePr>
        <p:xfrm>
          <a:off x="7315200" y="1828800"/>
          <a:ext cx="1381057" cy="914400"/>
        </p:xfrm>
        <a:graphic>
          <a:graphicData uri="http://schemas.openxmlformats.org/presentationml/2006/ole">
            <mc:AlternateContent xmlns:mc="http://schemas.openxmlformats.org/markup-compatibility/2006">
              <mc:Choice xmlns:v="urn:schemas-microsoft-com:vml" Requires="v">
                <p:oleObj spid="_x0000_s287098" name="Chart" r:id="rId43" imgW="1381057" imgH="914400" progId="MSGraph.Chart.8">
                  <p:embed followColorScheme="full"/>
                </p:oleObj>
              </mc:Choice>
              <mc:Fallback>
                <p:oleObj name="Chart" r:id="rId43" imgW="1381057" imgH="914400" progId="MSGraph.Chart.8">
                  <p:embed followColorScheme="full"/>
                  <p:pic>
                    <p:nvPicPr>
                      <p:cNvPr id="0" name=""/>
                      <p:cNvPicPr/>
                      <p:nvPr/>
                    </p:nvPicPr>
                    <p:blipFill>
                      <a:blip r:embed="rId44"/>
                      <a:stretch>
                        <a:fillRect/>
                      </a:stretch>
                    </p:blipFill>
                    <p:spPr>
                      <a:xfrm>
                        <a:off x="7315200" y="1828800"/>
                        <a:ext cx="1381057" cy="914400"/>
                      </a:xfrm>
                      <a:prstGeom prst="rect">
                        <a:avLst/>
                      </a:prstGeom>
                    </p:spPr>
                  </p:pic>
                </p:oleObj>
              </mc:Fallback>
            </mc:AlternateContent>
          </a:graphicData>
        </a:graphic>
      </p:graphicFrame>
      <p:graphicFrame>
        <p:nvGraphicFramePr>
          <p:cNvPr id="81" name="Object 80"/>
          <p:cNvGraphicFramePr>
            <a:graphicFrameLocks/>
          </p:cNvGraphicFramePr>
          <p:nvPr>
            <p:custDataLst>
              <p:tags r:id="rId27"/>
            </p:custDataLst>
            <p:extLst>
              <p:ext uri="{D42A27DB-BD31-4B8C-83A1-F6EECF244321}">
                <p14:modId xmlns:p14="http://schemas.microsoft.com/office/powerpoint/2010/main" val="2801596228"/>
              </p:ext>
            </p:extLst>
          </p:nvPr>
        </p:nvGraphicFramePr>
        <p:xfrm>
          <a:off x="7315200" y="2209800"/>
          <a:ext cx="1381057" cy="914400"/>
        </p:xfrm>
        <a:graphic>
          <a:graphicData uri="http://schemas.openxmlformats.org/presentationml/2006/ole">
            <mc:AlternateContent xmlns:mc="http://schemas.openxmlformats.org/markup-compatibility/2006">
              <mc:Choice xmlns:v="urn:schemas-microsoft-com:vml" Requires="v">
                <p:oleObj spid="_x0000_s287099" name="Chart" r:id="rId45" imgW="1381057" imgH="914400" progId="MSGraph.Chart.8">
                  <p:embed followColorScheme="full"/>
                </p:oleObj>
              </mc:Choice>
              <mc:Fallback>
                <p:oleObj name="Chart" r:id="rId45" imgW="1381057" imgH="914400" progId="MSGraph.Chart.8">
                  <p:embed followColorScheme="full"/>
                  <p:pic>
                    <p:nvPicPr>
                      <p:cNvPr id="0" name=""/>
                      <p:cNvPicPr/>
                      <p:nvPr/>
                    </p:nvPicPr>
                    <p:blipFill>
                      <a:blip r:embed="rId46"/>
                      <a:stretch>
                        <a:fillRect/>
                      </a:stretch>
                    </p:blipFill>
                    <p:spPr>
                      <a:xfrm>
                        <a:off x="7315200" y="2209800"/>
                        <a:ext cx="1381057" cy="914400"/>
                      </a:xfrm>
                      <a:prstGeom prst="rect">
                        <a:avLst/>
                      </a:prstGeom>
                    </p:spPr>
                  </p:pic>
                </p:oleObj>
              </mc:Fallback>
            </mc:AlternateContent>
          </a:graphicData>
        </a:graphic>
      </p:graphicFrame>
      <p:graphicFrame>
        <p:nvGraphicFramePr>
          <p:cNvPr id="91" name="Object 90"/>
          <p:cNvGraphicFramePr>
            <a:graphicFrameLocks/>
          </p:cNvGraphicFramePr>
          <p:nvPr>
            <p:custDataLst>
              <p:tags r:id="rId28"/>
            </p:custDataLst>
            <p:extLst>
              <p:ext uri="{D42A27DB-BD31-4B8C-83A1-F6EECF244321}">
                <p14:modId xmlns:p14="http://schemas.microsoft.com/office/powerpoint/2010/main" val="2821597265"/>
              </p:ext>
            </p:extLst>
          </p:nvPr>
        </p:nvGraphicFramePr>
        <p:xfrm>
          <a:off x="7315200" y="2552700"/>
          <a:ext cx="1381057" cy="914400"/>
        </p:xfrm>
        <a:graphic>
          <a:graphicData uri="http://schemas.openxmlformats.org/presentationml/2006/ole">
            <mc:AlternateContent xmlns:mc="http://schemas.openxmlformats.org/markup-compatibility/2006">
              <mc:Choice xmlns:v="urn:schemas-microsoft-com:vml" Requires="v">
                <p:oleObj spid="_x0000_s287100" name="Chart" r:id="rId47" imgW="1381057" imgH="914400" progId="MSGraph.Chart.8">
                  <p:embed followColorScheme="full"/>
                </p:oleObj>
              </mc:Choice>
              <mc:Fallback>
                <p:oleObj name="Chart" r:id="rId47" imgW="1381057" imgH="914400" progId="MSGraph.Chart.8">
                  <p:embed followColorScheme="full"/>
                  <p:pic>
                    <p:nvPicPr>
                      <p:cNvPr id="0" name=""/>
                      <p:cNvPicPr/>
                      <p:nvPr/>
                    </p:nvPicPr>
                    <p:blipFill>
                      <a:blip r:embed="rId48"/>
                      <a:stretch>
                        <a:fillRect/>
                      </a:stretch>
                    </p:blipFill>
                    <p:spPr>
                      <a:xfrm>
                        <a:off x="7315200" y="2552700"/>
                        <a:ext cx="1381057" cy="914400"/>
                      </a:xfrm>
                      <a:prstGeom prst="rect">
                        <a:avLst/>
                      </a:prstGeom>
                    </p:spPr>
                  </p:pic>
                </p:oleObj>
              </mc:Fallback>
            </mc:AlternateContent>
          </a:graphicData>
        </a:graphic>
      </p:graphicFrame>
      <p:graphicFrame>
        <p:nvGraphicFramePr>
          <p:cNvPr id="92" name="Object 91"/>
          <p:cNvGraphicFramePr>
            <a:graphicFrameLocks/>
          </p:cNvGraphicFramePr>
          <p:nvPr>
            <p:custDataLst>
              <p:tags r:id="rId29"/>
            </p:custDataLst>
            <p:extLst>
              <p:ext uri="{D42A27DB-BD31-4B8C-83A1-F6EECF244321}">
                <p14:modId xmlns:p14="http://schemas.microsoft.com/office/powerpoint/2010/main" val="2272271316"/>
              </p:ext>
            </p:extLst>
          </p:nvPr>
        </p:nvGraphicFramePr>
        <p:xfrm>
          <a:off x="7315200" y="2933700"/>
          <a:ext cx="1381057" cy="914400"/>
        </p:xfrm>
        <a:graphic>
          <a:graphicData uri="http://schemas.openxmlformats.org/presentationml/2006/ole">
            <mc:AlternateContent xmlns:mc="http://schemas.openxmlformats.org/markup-compatibility/2006">
              <mc:Choice xmlns:v="urn:schemas-microsoft-com:vml" Requires="v">
                <p:oleObj spid="_x0000_s287101" name="Chart" r:id="rId49" imgW="1381057" imgH="914400" progId="MSGraph.Chart.8">
                  <p:embed followColorScheme="full"/>
                </p:oleObj>
              </mc:Choice>
              <mc:Fallback>
                <p:oleObj name="Chart" r:id="rId49" imgW="1381057" imgH="914400" progId="MSGraph.Chart.8">
                  <p:embed followColorScheme="full"/>
                  <p:pic>
                    <p:nvPicPr>
                      <p:cNvPr id="0" name=""/>
                      <p:cNvPicPr/>
                      <p:nvPr/>
                    </p:nvPicPr>
                    <p:blipFill>
                      <a:blip r:embed="rId50"/>
                      <a:stretch>
                        <a:fillRect/>
                      </a:stretch>
                    </p:blipFill>
                    <p:spPr>
                      <a:xfrm>
                        <a:off x="7315200" y="2933700"/>
                        <a:ext cx="1381057" cy="914400"/>
                      </a:xfrm>
                      <a:prstGeom prst="rect">
                        <a:avLst/>
                      </a:prstGeom>
                    </p:spPr>
                  </p:pic>
                </p:oleObj>
              </mc:Fallback>
            </mc:AlternateContent>
          </a:graphicData>
        </a:graphic>
      </p:graphicFrame>
      <p:graphicFrame>
        <p:nvGraphicFramePr>
          <p:cNvPr id="93" name="Object 92"/>
          <p:cNvGraphicFramePr>
            <a:graphicFrameLocks/>
          </p:cNvGraphicFramePr>
          <p:nvPr>
            <p:custDataLst>
              <p:tags r:id="rId30"/>
            </p:custDataLst>
            <p:extLst>
              <p:ext uri="{D42A27DB-BD31-4B8C-83A1-F6EECF244321}">
                <p14:modId xmlns:p14="http://schemas.microsoft.com/office/powerpoint/2010/main" val="646417145"/>
              </p:ext>
            </p:extLst>
          </p:nvPr>
        </p:nvGraphicFramePr>
        <p:xfrm>
          <a:off x="7315200" y="3276600"/>
          <a:ext cx="1381057" cy="914400"/>
        </p:xfrm>
        <a:graphic>
          <a:graphicData uri="http://schemas.openxmlformats.org/presentationml/2006/ole">
            <mc:AlternateContent xmlns:mc="http://schemas.openxmlformats.org/markup-compatibility/2006">
              <mc:Choice xmlns:v="urn:schemas-microsoft-com:vml" Requires="v">
                <p:oleObj spid="_x0000_s287102" name="Chart" r:id="rId51" imgW="1381057" imgH="914400" progId="MSGraph.Chart.8">
                  <p:embed followColorScheme="full"/>
                </p:oleObj>
              </mc:Choice>
              <mc:Fallback>
                <p:oleObj name="Chart" r:id="rId51" imgW="1381057" imgH="914400" progId="MSGraph.Chart.8">
                  <p:embed followColorScheme="full"/>
                  <p:pic>
                    <p:nvPicPr>
                      <p:cNvPr id="0" name=""/>
                      <p:cNvPicPr/>
                      <p:nvPr/>
                    </p:nvPicPr>
                    <p:blipFill>
                      <a:blip r:embed="rId52"/>
                      <a:stretch>
                        <a:fillRect/>
                      </a:stretch>
                    </p:blipFill>
                    <p:spPr>
                      <a:xfrm>
                        <a:off x="7315200" y="3276600"/>
                        <a:ext cx="1381057" cy="914400"/>
                      </a:xfrm>
                      <a:prstGeom prst="rect">
                        <a:avLst/>
                      </a:prstGeom>
                    </p:spPr>
                  </p:pic>
                </p:oleObj>
              </mc:Fallback>
            </mc:AlternateContent>
          </a:graphicData>
        </a:graphic>
      </p:graphicFrame>
      <p:graphicFrame>
        <p:nvGraphicFramePr>
          <p:cNvPr id="94" name="Object 93"/>
          <p:cNvGraphicFramePr>
            <a:graphicFrameLocks/>
          </p:cNvGraphicFramePr>
          <p:nvPr>
            <p:custDataLst>
              <p:tags r:id="rId31"/>
            </p:custDataLst>
            <p:extLst>
              <p:ext uri="{D42A27DB-BD31-4B8C-83A1-F6EECF244321}">
                <p14:modId xmlns:p14="http://schemas.microsoft.com/office/powerpoint/2010/main" val="3879435300"/>
              </p:ext>
            </p:extLst>
          </p:nvPr>
        </p:nvGraphicFramePr>
        <p:xfrm>
          <a:off x="7315200" y="3657600"/>
          <a:ext cx="1381057" cy="914400"/>
        </p:xfrm>
        <a:graphic>
          <a:graphicData uri="http://schemas.openxmlformats.org/presentationml/2006/ole">
            <mc:AlternateContent xmlns:mc="http://schemas.openxmlformats.org/markup-compatibility/2006">
              <mc:Choice xmlns:v="urn:schemas-microsoft-com:vml" Requires="v">
                <p:oleObj spid="_x0000_s287103" name="Chart" r:id="rId53" imgW="1381057" imgH="914400" progId="MSGraph.Chart.8">
                  <p:embed followColorScheme="full"/>
                </p:oleObj>
              </mc:Choice>
              <mc:Fallback>
                <p:oleObj name="Chart" r:id="rId53" imgW="1381057" imgH="914400" progId="MSGraph.Chart.8">
                  <p:embed followColorScheme="full"/>
                  <p:pic>
                    <p:nvPicPr>
                      <p:cNvPr id="0" name=""/>
                      <p:cNvPicPr/>
                      <p:nvPr/>
                    </p:nvPicPr>
                    <p:blipFill>
                      <a:blip r:embed="rId54"/>
                      <a:stretch>
                        <a:fillRect/>
                      </a:stretch>
                    </p:blipFill>
                    <p:spPr>
                      <a:xfrm>
                        <a:off x="7315200" y="3657600"/>
                        <a:ext cx="1381057" cy="914400"/>
                      </a:xfrm>
                      <a:prstGeom prst="rect">
                        <a:avLst/>
                      </a:prstGeom>
                    </p:spPr>
                  </p:pic>
                </p:oleObj>
              </mc:Fallback>
            </mc:AlternateContent>
          </a:graphicData>
        </a:graphic>
      </p:graphicFrame>
      <p:graphicFrame>
        <p:nvGraphicFramePr>
          <p:cNvPr id="95" name="Object 94"/>
          <p:cNvGraphicFramePr>
            <a:graphicFrameLocks/>
          </p:cNvGraphicFramePr>
          <p:nvPr>
            <p:custDataLst>
              <p:tags r:id="rId32"/>
            </p:custDataLst>
            <p:extLst>
              <p:ext uri="{D42A27DB-BD31-4B8C-83A1-F6EECF244321}">
                <p14:modId xmlns:p14="http://schemas.microsoft.com/office/powerpoint/2010/main" val="4076040001"/>
              </p:ext>
            </p:extLst>
          </p:nvPr>
        </p:nvGraphicFramePr>
        <p:xfrm>
          <a:off x="7315200" y="4000500"/>
          <a:ext cx="1381057" cy="914400"/>
        </p:xfrm>
        <a:graphic>
          <a:graphicData uri="http://schemas.openxmlformats.org/presentationml/2006/ole">
            <mc:AlternateContent xmlns:mc="http://schemas.openxmlformats.org/markup-compatibility/2006">
              <mc:Choice xmlns:v="urn:schemas-microsoft-com:vml" Requires="v">
                <p:oleObj spid="_x0000_s287104" name="Chart" r:id="rId55" imgW="1381057" imgH="914400" progId="MSGraph.Chart.8">
                  <p:embed followColorScheme="full"/>
                </p:oleObj>
              </mc:Choice>
              <mc:Fallback>
                <p:oleObj name="Chart" r:id="rId55" imgW="1381057" imgH="914400" progId="MSGraph.Chart.8">
                  <p:embed followColorScheme="full"/>
                  <p:pic>
                    <p:nvPicPr>
                      <p:cNvPr id="0" name=""/>
                      <p:cNvPicPr/>
                      <p:nvPr/>
                    </p:nvPicPr>
                    <p:blipFill>
                      <a:blip r:embed="rId56"/>
                      <a:stretch>
                        <a:fillRect/>
                      </a:stretch>
                    </p:blipFill>
                    <p:spPr>
                      <a:xfrm>
                        <a:off x="7315200" y="4000500"/>
                        <a:ext cx="1381057" cy="914400"/>
                      </a:xfrm>
                      <a:prstGeom prst="rect">
                        <a:avLst/>
                      </a:prstGeom>
                    </p:spPr>
                  </p:pic>
                </p:oleObj>
              </mc:Fallback>
            </mc:AlternateContent>
          </a:graphicData>
        </a:graphic>
      </p:graphicFrame>
      <p:graphicFrame>
        <p:nvGraphicFramePr>
          <p:cNvPr id="96" name="Object 95"/>
          <p:cNvGraphicFramePr>
            <a:graphicFrameLocks/>
          </p:cNvGraphicFramePr>
          <p:nvPr>
            <p:custDataLst>
              <p:tags r:id="rId33"/>
            </p:custDataLst>
            <p:extLst>
              <p:ext uri="{D42A27DB-BD31-4B8C-83A1-F6EECF244321}">
                <p14:modId xmlns:p14="http://schemas.microsoft.com/office/powerpoint/2010/main" val="4253088668"/>
              </p:ext>
            </p:extLst>
          </p:nvPr>
        </p:nvGraphicFramePr>
        <p:xfrm>
          <a:off x="7315200" y="4724400"/>
          <a:ext cx="1381057" cy="914400"/>
        </p:xfrm>
        <a:graphic>
          <a:graphicData uri="http://schemas.openxmlformats.org/presentationml/2006/ole">
            <mc:AlternateContent xmlns:mc="http://schemas.openxmlformats.org/markup-compatibility/2006">
              <mc:Choice xmlns:v="urn:schemas-microsoft-com:vml" Requires="v">
                <p:oleObj spid="_x0000_s287105" name="Chart" r:id="rId57" imgW="1381057" imgH="914400" progId="MSGraph.Chart.8">
                  <p:embed followColorScheme="full"/>
                </p:oleObj>
              </mc:Choice>
              <mc:Fallback>
                <p:oleObj name="Chart" r:id="rId57" imgW="1381057" imgH="914400" progId="MSGraph.Chart.8">
                  <p:embed followColorScheme="full"/>
                  <p:pic>
                    <p:nvPicPr>
                      <p:cNvPr id="0" name=""/>
                      <p:cNvPicPr/>
                      <p:nvPr/>
                    </p:nvPicPr>
                    <p:blipFill>
                      <a:blip r:embed="rId58"/>
                      <a:stretch>
                        <a:fillRect/>
                      </a:stretch>
                    </p:blipFill>
                    <p:spPr>
                      <a:xfrm>
                        <a:off x="7315200" y="4724400"/>
                        <a:ext cx="1381057" cy="914400"/>
                      </a:xfrm>
                      <a:prstGeom prst="rect">
                        <a:avLst/>
                      </a:prstGeom>
                    </p:spPr>
                  </p:pic>
                </p:oleObj>
              </mc:Fallback>
            </mc:AlternateContent>
          </a:graphicData>
        </a:graphic>
      </p:graphicFrame>
      <p:graphicFrame>
        <p:nvGraphicFramePr>
          <p:cNvPr id="97" name="Object 96"/>
          <p:cNvGraphicFramePr>
            <a:graphicFrameLocks/>
          </p:cNvGraphicFramePr>
          <p:nvPr>
            <p:custDataLst>
              <p:tags r:id="rId34"/>
            </p:custDataLst>
            <p:extLst>
              <p:ext uri="{D42A27DB-BD31-4B8C-83A1-F6EECF244321}">
                <p14:modId xmlns:p14="http://schemas.microsoft.com/office/powerpoint/2010/main" val="4001734278"/>
              </p:ext>
            </p:extLst>
          </p:nvPr>
        </p:nvGraphicFramePr>
        <p:xfrm>
          <a:off x="7315200" y="5105400"/>
          <a:ext cx="1381057" cy="914400"/>
        </p:xfrm>
        <a:graphic>
          <a:graphicData uri="http://schemas.openxmlformats.org/presentationml/2006/ole">
            <mc:AlternateContent xmlns:mc="http://schemas.openxmlformats.org/markup-compatibility/2006">
              <mc:Choice xmlns:v="urn:schemas-microsoft-com:vml" Requires="v">
                <p:oleObj spid="_x0000_s287106" name="Chart" r:id="rId59" imgW="1381057" imgH="914400" progId="MSGraph.Chart.8">
                  <p:embed followColorScheme="full"/>
                </p:oleObj>
              </mc:Choice>
              <mc:Fallback>
                <p:oleObj name="Chart" r:id="rId59" imgW="1381057" imgH="914400" progId="MSGraph.Chart.8">
                  <p:embed followColorScheme="full"/>
                  <p:pic>
                    <p:nvPicPr>
                      <p:cNvPr id="0" name=""/>
                      <p:cNvPicPr/>
                      <p:nvPr/>
                    </p:nvPicPr>
                    <p:blipFill>
                      <a:blip r:embed="rId60"/>
                      <a:stretch>
                        <a:fillRect/>
                      </a:stretch>
                    </p:blipFill>
                    <p:spPr>
                      <a:xfrm>
                        <a:off x="7315200" y="5105400"/>
                        <a:ext cx="1381057" cy="914400"/>
                      </a:xfrm>
                      <a:prstGeom prst="rect">
                        <a:avLst/>
                      </a:prstGeom>
                    </p:spPr>
                  </p:pic>
                </p:oleObj>
              </mc:Fallback>
            </mc:AlternateContent>
          </a:graphicData>
        </a:graphic>
      </p:graphicFrame>
      <p:graphicFrame>
        <p:nvGraphicFramePr>
          <p:cNvPr id="98" name="Object 97"/>
          <p:cNvGraphicFramePr>
            <a:graphicFrameLocks/>
          </p:cNvGraphicFramePr>
          <p:nvPr>
            <p:custDataLst>
              <p:tags r:id="rId35"/>
            </p:custDataLst>
            <p:extLst>
              <p:ext uri="{D42A27DB-BD31-4B8C-83A1-F6EECF244321}">
                <p14:modId xmlns:p14="http://schemas.microsoft.com/office/powerpoint/2010/main" val="3199611400"/>
              </p:ext>
            </p:extLst>
          </p:nvPr>
        </p:nvGraphicFramePr>
        <p:xfrm>
          <a:off x="7315200" y="4381500"/>
          <a:ext cx="1381057" cy="914400"/>
        </p:xfrm>
        <a:graphic>
          <a:graphicData uri="http://schemas.openxmlformats.org/presentationml/2006/ole">
            <mc:AlternateContent xmlns:mc="http://schemas.openxmlformats.org/markup-compatibility/2006">
              <mc:Choice xmlns:v="urn:schemas-microsoft-com:vml" Requires="v">
                <p:oleObj spid="_x0000_s287107" name="Chart" r:id="rId61" imgW="1381057" imgH="914400" progId="MSGraph.Chart.8">
                  <p:embed followColorScheme="full"/>
                </p:oleObj>
              </mc:Choice>
              <mc:Fallback>
                <p:oleObj name="Chart" r:id="rId61" imgW="1381057" imgH="914400" progId="MSGraph.Chart.8">
                  <p:embed followColorScheme="full"/>
                  <p:pic>
                    <p:nvPicPr>
                      <p:cNvPr id="0" name=""/>
                      <p:cNvPicPr/>
                      <p:nvPr/>
                    </p:nvPicPr>
                    <p:blipFill>
                      <a:blip r:embed="rId62"/>
                      <a:stretch>
                        <a:fillRect/>
                      </a:stretch>
                    </p:blipFill>
                    <p:spPr>
                      <a:xfrm>
                        <a:off x="7315200" y="4381500"/>
                        <a:ext cx="1381057" cy="914400"/>
                      </a:xfrm>
                      <a:prstGeom prst="rect">
                        <a:avLst/>
                      </a:prstGeom>
                    </p:spPr>
                  </p:pic>
                </p:oleObj>
              </mc:Fallback>
            </mc:AlternateContent>
          </a:graphicData>
        </a:graphic>
      </p:graphicFrame>
      <p:graphicFrame>
        <p:nvGraphicFramePr>
          <p:cNvPr id="99" name="Object 98"/>
          <p:cNvGraphicFramePr>
            <a:graphicFrameLocks/>
          </p:cNvGraphicFramePr>
          <p:nvPr>
            <p:custDataLst>
              <p:tags r:id="rId36"/>
            </p:custDataLst>
            <p:extLst>
              <p:ext uri="{D42A27DB-BD31-4B8C-83A1-F6EECF244321}">
                <p14:modId xmlns:p14="http://schemas.microsoft.com/office/powerpoint/2010/main" val="2036664719"/>
              </p:ext>
            </p:extLst>
          </p:nvPr>
        </p:nvGraphicFramePr>
        <p:xfrm>
          <a:off x="7315200" y="5448300"/>
          <a:ext cx="1381057" cy="914400"/>
        </p:xfrm>
        <a:graphic>
          <a:graphicData uri="http://schemas.openxmlformats.org/presentationml/2006/ole">
            <mc:AlternateContent xmlns:mc="http://schemas.openxmlformats.org/markup-compatibility/2006">
              <mc:Choice xmlns:v="urn:schemas-microsoft-com:vml" Requires="v">
                <p:oleObj spid="_x0000_s287108" name="Chart" r:id="rId63" imgW="1381057" imgH="914400" progId="MSGraph.Chart.8">
                  <p:embed followColorScheme="full"/>
                </p:oleObj>
              </mc:Choice>
              <mc:Fallback>
                <p:oleObj name="Chart" r:id="rId63" imgW="1381057" imgH="914400" progId="MSGraph.Chart.8">
                  <p:embed followColorScheme="full"/>
                  <p:pic>
                    <p:nvPicPr>
                      <p:cNvPr id="0" name=""/>
                      <p:cNvPicPr/>
                      <p:nvPr/>
                    </p:nvPicPr>
                    <p:blipFill>
                      <a:blip r:embed="rId64"/>
                      <a:stretch>
                        <a:fillRect/>
                      </a:stretch>
                    </p:blipFill>
                    <p:spPr>
                      <a:xfrm>
                        <a:off x="7315200" y="5448300"/>
                        <a:ext cx="1381057" cy="914400"/>
                      </a:xfrm>
                      <a:prstGeom prst="rect">
                        <a:avLst/>
                      </a:prstGeom>
                    </p:spPr>
                  </p:pic>
                </p:oleObj>
              </mc:Fallback>
            </mc:AlternateContent>
          </a:graphicData>
        </a:graphic>
      </p:graphicFrame>
    </p:spTree>
    <p:extLst>
      <p:ext uri="{BB962C8B-B14F-4D97-AF65-F5344CB8AC3E}">
        <p14:creationId xmlns:p14="http://schemas.microsoft.com/office/powerpoint/2010/main" val="28126349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Object 99" hidden="1"/>
          <p:cNvGraphicFramePr>
            <a:graphicFrameLocks/>
          </p:cNvGraphicFramePr>
          <p:nvPr>
            <p:custDataLst>
              <p:tags r:id="rId2"/>
            </p:custDataLst>
            <p:extLst>
              <p:ext uri="{D42A27DB-BD31-4B8C-83A1-F6EECF244321}">
                <p14:modId xmlns:p14="http://schemas.microsoft.com/office/powerpoint/2010/main" val="183330537"/>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67449" name="think-cell Slide" r:id="rId23" imgW="360" imgH="360" progId="TCLayout.ActiveDocument.1">
                  <p:embed/>
                </p:oleObj>
              </mc:Choice>
              <mc:Fallback>
                <p:oleObj name="think-cell Slide" r:id="rId23" imgW="360" imgH="360" progId="TCLayout.ActiveDocument.1">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 name="Rectangle 9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200" u="none" strike="noStrike" cap="none" normalizeH="0" smtClean="0">
              <a:ln>
                <a:noFill/>
              </a:ln>
              <a:solidFill>
                <a:schemeClr val="tx1"/>
              </a:solidFill>
              <a:effectLst/>
              <a:latin typeface="Arial"/>
              <a:sym typeface="Arial"/>
            </a:endParaRPr>
          </a:p>
        </p:txBody>
      </p:sp>
      <p:sp>
        <p:nvSpPr>
          <p:cNvPr id="122" name="McK Footnote"/>
          <p:cNvSpPr txBox="1">
            <a:spLocks noChangeArrowheads="1"/>
          </p:cNvSpPr>
          <p:nvPr/>
        </p:nvSpPr>
        <p:spPr bwMode="auto">
          <a:xfrm>
            <a:off x="638368" y="6256623"/>
            <a:ext cx="7525322" cy="332399"/>
          </a:xfrm>
          <a:prstGeom prst="rect">
            <a:avLst/>
          </a:prstGeom>
          <a:noFill/>
          <a:ln w="9525">
            <a:noFill/>
            <a:miter lim="800000"/>
            <a:headEnd/>
            <a:tailEnd/>
          </a:ln>
        </p:spPr>
        <p:txBody>
          <a:bodyPr wrap="square" lIns="0" tIns="0" rIns="0" bIns="0" anchor="b">
            <a:spAutoFit/>
          </a:bodyPr>
          <a:lstStyle/>
          <a:p>
            <a:pPr marL="563563" indent="-563563" defTabSz="895350">
              <a:lnSpc>
                <a:spcPct val="80000"/>
              </a:lnSpc>
              <a:tabLst>
                <a:tab pos="517525" algn="r"/>
              </a:tabLst>
            </a:pPr>
            <a:r>
              <a:rPr lang="en-US" sz="900" dirty="0" smtClean="0">
                <a:solidFill>
                  <a:schemeClr val="tx1">
                    <a:lumMod val="65000"/>
                    <a:lumOff val="35000"/>
                  </a:schemeClr>
                </a:solidFill>
              </a:rPr>
              <a:t>* Most recent year of available data</a:t>
            </a:r>
          </a:p>
          <a:p>
            <a:pPr defTabSz="895350">
              <a:lnSpc>
                <a:spcPct val="80000"/>
              </a:lnSpc>
              <a:tabLst>
                <a:tab pos="517525" algn="r"/>
              </a:tabLst>
            </a:pPr>
            <a:r>
              <a:rPr lang="en-US" sz="900" dirty="0" smtClean="0">
                <a:solidFill>
                  <a:schemeClr val="tx1">
                    <a:lumMod val="65000"/>
                    <a:lumOff val="35000"/>
                  </a:schemeClr>
                </a:solidFill>
              </a:rPr>
              <a:t>** Based on 2013 data; </a:t>
            </a:r>
            <a:r>
              <a:rPr lang="en-US" sz="900" dirty="0" err="1" smtClean="0">
                <a:solidFill>
                  <a:schemeClr val="tx1">
                    <a:lumMod val="65000"/>
                    <a:lumOff val="35000"/>
                  </a:schemeClr>
                </a:solidFill>
              </a:rPr>
              <a:t>Fairtrade</a:t>
            </a:r>
            <a:r>
              <a:rPr lang="en-US" sz="900" dirty="0" smtClean="0">
                <a:solidFill>
                  <a:schemeClr val="tx1">
                    <a:lumMod val="65000"/>
                    <a:lumOff val="35000"/>
                  </a:schemeClr>
                </a:solidFill>
              </a:rPr>
              <a:t> data not available at time of publication; excludes Nespresso AAA and Starbucks C.A.F.E. Practices</a:t>
            </a:r>
          </a:p>
          <a:p>
            <a:pPr marL="563563" indent="-563563" defTabSz="895350">
              <a:lnSpc>
                <a:spcPct val="80000"/>
              </a:lnSpc>
              <a:tabLst>
                <a:tab pos="517525" algn="r"/>
              </a:tabLst>
            </a:pPr>
            <a:r>
              <a:rPr lang="en-US" sz="900" dirty="0" smtClean="0">
                <a:solidFill>
                  <a:schemeClr val="tx1">
                    <a:lumMod val="65000"/>
                    <a:lumOff val="35000"/>
                  </a:schemeClr>
                </a:solidFill>
              </a:rPr>
              <a:t>Source: USDA; ICO; TCC Coffee Barometer 2012; stakeholder interviews</a:t>
            </a:r>
          </a:p>
        </p:txBody>
      </p:sp>
      <p:cxnSp>
        <p:nvCxnSpPr>
          <p:cNvPr id="129" name="AutoShape 70"/>
          <p:cNvCxnSpPr>
            <a:cxnSpLocks noChangeShapeType="1"/>
            <a:stCxn id="130" idx="4"/>
            <a:endCxn id="130" idx="6"/>
          </p:cNvCxnSpPr>
          <p:nvPr/>
        </p:nvCxnSpPr>
        <p:spPr bwMode="auto">
          <a:xfrm>
            <a:off x="373552" y="1828800"/>
            <a:ext cx="7051502"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AutoShape 71"/>
          <p:cNvSpPr>
            <a:spLocks noChangeArrowheads="1"/>
          </p:cNvSpPr>
          <p:nvPr/>
        </p:nvSpPr>
        <p:spPr bwMode="auto">
          <a:xfrm>
            <a:off x="373552" y="1441450"/>
            <a:ext cx="7051502" cy="38735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18288" anchor="b">
            <a:spAutoFit/>
          </a:bodyPr>
          <a:lstStyle/>
          <a:p>
            <a:r>
              <a:rPr lang="en-US" sz="1200" b="1" dirty="0" smtClean="0">
                <a:solidFill>
                  <a:schemeClr val="accent1"/>
                </a:solidFill>
              </a:rPr>
              <a:t>Exports as certified or verified coffee  as share of total exports*</a:t>
            </a:r>
          </a:p>
          <a:p>
            <a:r>
              <a:rPr lang="en-US" sz="1200" dirty="0" smtClean="0">
                <a:solidFill>
                  <a:schemeClr val="accent1"/>
                </a:solidFill>
              </a:rPr>
              <a:t>Percent</a:t>
            </a:r>
          </a:p>
        </p:txBody>
      </p:sp>
      <p:graphicFrame>
        <p:nvGraphicFramePr>
          <p:cNvPr id="62" name="Object 61"/>
          <p:cNvGraphicFramePr>
            <a:graphicFrameLocks/>
          </p:cNvGraphicFramePr>
          <p:nvPr>
            <p:custDataLst>
              <p:tags r:id="rId4"/>
            </p:custDataLst>
            <p:extLst>
              <p:ext uri="{D42A27DB-BD31-4B8C-83A1-F6EECF244321}">
                <p14:modId xmlns:p14="http://schemas.microsoft.com/office/powerpoint/2010/main" val="1516605473"/>
              </p:ext>
            </p:extLst>
          </p:nvPr>
        </p:nvGraphicFramePr>
        <p:xfrm>
          <a:off x="1181100" y="1866900"/>
          <a:ext cx="6458065" cy="3533700"/>
        </p:xfrm>
        <a:graphic>
          <a:graphicData uri="http://schemas.openxmlformats.org/presentationml/2006/ole">
            <mc:AlternateContent xmlns:mc="http://schemas.openxmlformats.org/markup-compatibility/2006">
              <mc:Choice xmlns:v="urn:schemas-microsoft-com:vml" Requires="v">
                <p:oleObj spid="_x0000_s167450" name="Chart" r:id="rId25" imgW="6458065" imgH="3533700" progId="MSGraph.Chart.8">
                  <p:embed followColorScheme="full"/>
                </p:oleObj>
              </mc:Choice>
              <mc:Fallback>
                <p:oleObj name="Chart" r:id="rId25" imgW="6458065" imgH="3533700" progId="MSGraph.Chart.8">
                  <p:embed followColorScheme="full"/>
                  <p:pic>
                    <p:nvPicPr>
                      <p:cNvPr id="0" name=""/>
                      <p:cNvPicPr/>
                      <p:nvPr/>
                    </p:nvPicPr>
                    <p:blipFill>
                      <a:blip r:embed="rId26"/>
                      <a:stretch>
                        <a:fillRect/>
                      </a:stretch>
                    </p:blipFill>
                    <p:spPr>
                      <a:xfrm>
                        <a:off x="1181100" y="1866900"/>
                        <a:ext cx="6458065" cy="3533700"/>
                      </a:xfrm>
                      <a:prstGeom prst="rect">
                        <a:avLst/>
                      </a:prstGeom>
                    </p:spPr>
                  </p:pic>
                </p:oleObj>
              </mc:Fallback>
            </mc:AlternateContent>
          </a:graphicData>
        </a:graphic>
      </p:graphicFrame>
      <p:sp>
        <p:nvSpPr>
          <p:cNvPr id="144" name="Right Arrow 143"/>
          <p:cNvSpPr/>
          <p:nvPr>
            <p:custDataLst>
              <p:tags r:id="rId5"/>
            </p:custDataLst>
          </p:nvPr>
        </p:nvSpPr>
        <p:spPr bwMode="auto">
          <a:xfrm rot="16200000">
            <a:off x="5527675" y="5324475"/>
            <a:ext cx="128588" cy="152400"/>
          </a:xfrm>
          <a:prstGeom prst="rightArrow">
            <a:avLst>
              <a:gd name="adj1" fmla="val 100000"/>
              <a:gd name="adj2" fmla="val 84545"/>
            </a:avLst>
          </a:prstGeom>
          <a:solidFill>
            <a:schemeClr val="tx1"/>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cxnSp>
        <p:nvCxnSpPr>
          <p:cNvPr id="11" name="Straight Connector 10"/>
          <p:cNvCxnSpPr/>
          <p:nvPr>
            <p:custDataLst>
              <p:tags r:id="rId6"/>
            </p:custDataLst>
          </p:nvPr>
        </p:nvCxnSpPr>
        <p:spPr bwMode="gray">
          <a:xfrm>
            <a:off x="5591175" y="1962150"/>
            <a:ext cx="0" cy="3324225"/>
          </a:xfrm>
          <a:prstGeom prst="line">
            <a:avLst/>
          </a:prstGeom>
          <a:solidFill>
            <a:schemeClr val="accent1"/>
          </a:solidFill>
          <a:ln w="9525" cap="flat" cmpd="sng" algn="ctr">
            <a:solidFill>
              <a:srgbClr val="D52B1E"/>
            </a:solidFill>
            <a:prstDash val="lgDash"/>
            <a:round/>
            <a:headEnd type="none" w="med" len="med"/>
            <a:tailEnd type="none" w="med" len="med"/>
          </a:ln>
          <a:effectLst/>
        </p:spPr>
      </p:cxnSp>
      <p:sp>
        <p:nvSpPr>
          <p:cNvPr id="87" name="Rectangle 86"/>
          <p:cNvSpPr/>
          <p:nvPr>
            <p:custDataLst>
              <p:tags r:id="rId7"/>
            </p:custDataLst>
          </p:nvPr>
        </p:nvSpPr>
        <p:spPr bwMode="auto">
          <a:xfrm>
            <a:off x="479424" y="4765675"/>
            <a:ext cx="649288" cy="3651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349AF2DC-1DDB-4D36-A4C2-4886E630DDBA}" type="datetime'U''''''''''''''''''''''''''g''''an''''da'''''''''''''''''''">
              <a:rPr lang="en-US" sz="1200" smtClean="0">
                <a:solidFill>
                  <a:schemeClr val="accent1"/>
                </a:solidFill>
                <a:sym typeface="+mn-lt"/>
              </a:rPr>
              <a:pPr/>
              <a:t>Uganda</a:t>
            </a:fld>
            <a:endParaRPr lang="en-US" sz="1200" dirty="0" smtClean="0">
              <a:solidFill>
                <a:schemeClr val="accent1"/>
              </a:solidFill>
              <a:sym typeface="+mn-lt"/>
            </a:endParaRPr>
          </a:p>
          <a:p>
            <a:pPr fontAlgn="base">
              <a:spcBef>
                <a:spcPct val="0"/>
              </a:spcBef>
              <a:spcAft>
                <a:spcPct val="0"/>
              </a:spcAft>
            </a:pPr>
            <a:r>
              <a:rPr kumimoji="0" lang="en-US" sz="1200" strike="noStrike" cap="none" normalizeH="0" dirty="0" smtClean="0">
                <a:ln>
                  <a:noFill/>
                </a:ln>
                <a:solidFill>
                  <a:schemeClr val="accent1"/>
                </a:solidFill>
                <a:effectLst/>
                <a:sym typeface="+mn-lt"/>
              </a:rPr>
              <a:t>(2012/13)</a:t>
            </a:r>
          </a:p>
        </p:txBody>
      </p:sp>
      <p:sp>
        <p:nvSpPr>
          <p:cNvPr id="35" name="Text Placeholder 4"/>
          <p:cNvSpPr>
            <a:spLocks noGrp="1"/>
          </p:cNvSpPr>
          <p:nvPr>
            <p:custDataLst>
              <p:tags r:id="rId8"/>
            </p:custDataLst>
          </p:nvPr>
        </p:nvSpPr>
        <p:spPr bwMode="auto">
          <a:xfrm>
            <a:off x="479426" y="2774950"/>
            <a:ext cx="638175" cy="3651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96912D1B-DD8D-4B6D-A087-66B1CC42B015}" type="datetime'''''''''''''''''Br''''''''''a''z''i''''''''''''''''''l'''''''">
              <a:rPr lang="en-US" sz="1200" smtClean="0">
                <a:solidFill>
                  <a:schemeClr val="accent1"/>
                </a:solidFill>
              </a:rPr>
              <a:pPr marL="0" indent="0">
                <a:spcBef>
                  <a:spcPct val="0"/>
                </a:spcBef>
                <a:spcAft>
                  <a:spcPct val="0"/>
                </a:spcAft>
                <a:buNone/>
              </a:pPr>
              <a:t>Brazil</a:t>
            </a:fld>
            <a:endParaRPr lang="en-US" sz="1200" dirty="0" smtClean="0">
              <a:solidFill>
                <a:schemeClr val="accent1"/>
              </a:solidFill>
            </a:endParaRPr>
          </a:p>
          <a:p>
            <a:pPr marL="0" indent="0">
              <a:spcBef>
                <a:spcPct val="0"/>
              </a:spcBef>
              <a:spcAft>
                <a:spcPct val="0"/>
              </a:spcAft>
              <a:buNone/>
            </a:pPr>
            <a:r>
              <a:rPr lang="en-US" sz="1200" dirty="0" smtClean="0">
                <a:solidFill>
                  <a:schemeClr val="accent1"/>
                </a:solidFill>
                <a:latin typeface="Arial"/>
                <a:sym typeface="Arial"/>
              </a:rPr>
              <a:t>(2011/12)</a:t>
            </a:r>
            <a:endParaRPr lang="en-US" sz="1200" dirty="0">
              <a:solidFill>
                <a:schemeClr val="accent1"/>
              </a:solidFill>
              <a:latin typeface="Arial"/>
              <a:sym typeface="Arial"/>
            </a:endParaRPr>
          </a:p>
        </p:txBody>
      </p:sp>
      <p:sp>
        <p:nvSpPr>
          <p:cNvPr id="44" name="Text Placeholder 9"/>
          <p:cNvSpPr>
            <a:spLocks noGrp="1"/>
          </p:cNvSpPr>
          <p:nvPr>
            <p:custDataLst>
              <p:tags r:id="rId9"/>
            </p:custDataLst>
          </p:nvPr>
        </p:nvSpPr>
        <p:spPr bwMode="gray">
          <a:xfrm>
            <a:off x="3294063" y="2867025"/>
            <a:ext cx="3476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88%</a:t>
            </a:r>
          </a:p>
        </p:txBody>
      </p:sp>
      <p:sp>
        <p:nvSpPr>
          <p:cNvPr id="64" name="Rectangle 63"/>
          <p:cNvSpPr/>
          <p:nvPr>
            <p:custDataLst>
              <p:tags r:id="rId10"/>
            </p:custDataLst>
          </p:nvPr>
        </p:nvSpPr>
        <p:spPr bwMode="auto">
          <a:xfrm>
            <a:off x="479425" y="3436938"/>
            <a:ext cx="638175" cy="3651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9D9F54B0-4113-4E7E-A041-01B841BE8D01}" type="datetime'''''V''''ie''''''t''''''''''''''''n''''''''''''''a''''m'''''''">
              <a:rPr lang="en-US" sz="1200" smtClean="0">
                <a:solidFill>
                  <a:schemeClr val="accent1"/>
                </a:solidFill>
                <a:sym typeface="+mn-lt"/>
              </a:rPr>
              <a:pPr fontAlgn="base">
                <a:spcBef>
                  <a:spcPct val="0"/>
                </a:spcBef>
                <a:spcAft>
                  <a:spcPct val="0"/>
                </a:spcAft>
              </a:pPr>
              <a:t>Vietnam</a:t>
            </a:fld>
            <a:endParaRPr lang="en-US" sz="1200" dirty="0" smtClean="0">
              <a:solidFill>
                <a:schemeClr val="accent1"/>
              </a:solidFill>
              <a:sym typeface="+mn-lt"/>
            </a:endParaRPr>
          </a:p>
          <a:p>
            <a:pPr fontAlgn="base">
              <a:spcBef>
                <a:spcPct val="0"/>
              </a:spcBef>
              <a:spcAft>
                <a:spcPct val="0"/>
              </a:spcAft>
            </a:pPr>
            <a:r>
              <a:rPr kumimoji="0" lang="en-US" sz="1200" strike="noStrike" cap="none" normalizeH="0" dirty="0" smtClean="0">
                <a:ln>
                  <a:noFill/>
                </a:ln>
                <a:solidFill>
                  <a:schemeClr val="accent1"/>
                </a:solidFill>
                <a:effectLst/>
                <a:sym typeface="+mn-lt"/>
              </a:rPr>
              <a:t>(2011/12)</a:t>
            </a:r>
          </a:p>
        </p:txBody>
      </p:sp>
      <p:sp>
        <p:nvSpPr>
          <p:cNvPr id="143" name="Rectangle 142"/>
          <p:cNvSpPr/>
          <p:nvPr>
            <p:custDataLst>
              <p:tags r:id="rId11"/>
            </p:custDataLst>
          </p:nvPr>
        </p:nvSpPr>
        <p:spPr bwMode="auto">
          <a:xfrm>
            <a:off x="4772025" y="5516563"/>
            <a:ext cx="1636713" cy="54768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t" anchorCtr="0" compatLnSpc="1">
            <a:prstTxWarp prst="textNoShape">
              <a:avLst/>
            </a:prstTxWarp>
          </a:bodyPr>
          <a:lstStyle/>
          <a:p>
            <a:pPr algn="ctr" fontAlgn="base">
              <a:spcBef>
                <a:spcPct val="0"/>
              </a:spcBef>
              <a:spcAft>
                <a:spcPct val="0"/>
              </a:spcAft>
            </a:pPr>
            <a:r>
              <a:rPr lang="en-US" sz="1200" dirty="0" smtClean="0">
                <a:solidFill>
                  <a:schemeClr val="accent1"/>
                </a:solidFill>
                <a:sym typeface="+mn-lt"/>
              </a:rPr>
              <a:t>12.5</a:t>
            </a:r>
            <a:r>
              <a:rPr kumimoji="0" lang="en-US" sz="1200" strike="noStrike" cap="none" normalizeH="0" dirty="0" smtClean="0">
                <a:ln>
                  <a:noFill/>
                </a:ln>
                <a:solidFill>
                  <a:schemeClr val="accent1"/>
                </a:solidFill>
                <a:effectLst/>
                <a:sym typeface="+mn-lt"/>
              </a:rPr>
              <a:t>%</a:t>
            </a:r>
          </a:p>
          <a:p>
            <a:pPr algn="ctr" fontAlgn="base">
              <a:spcBef>
                <a:spcPct val="0"/>
              </a:spcBef>
              <a:spcAft>
                <a:spcPct val="0"/>
              </a:spcAft>
            </a:pPr>
            <a:r>
              <a:rPr lang="en-US" sz="1200" dirty="0" smtClean="0">
                <a:solidFill>
                  <a:schemeClr val="accent1"/>
                </a:solidFill>
                <a:sym typeface="+mn-lt"/>
              </a:rPr>
              <a:t>Global Average</a:t>
            </a:r>
          </a:p>
          <a:p>
            <a:pPr algn="ctr" fontAlgn="base">
              <a:spcBef>
                <a:spcPct val="0"/>
              </a:spcBef>
              <a:spcAft>
                <a:spcPct val="0"/>
              </a:spcAft>
            </a:pPr>
            <a:r>
              <a:rPr lang="en-US" sz="1200" dirty="0" smtClean="0">
                <a:solidFill>
                  <a:schemeClr val="accent1"/>
                </a:solidFill>
                <a:sym typeface="+mn-lt"/>
              </a:rPr>
              <a:t>certified/verified sales***</a:t>
            </a:r>
            <a:endParaRPr kumimoji="0" lang="en-US" sz="1200" strike="noStrike" cap="none" normalizeH="0" dirty="0" smtClean="0">
              <a:ln>
                <a:noFill/>
              </a:ln>
              <a:solidFill>
                <a:schemeClr val="accent1"/>
              </a:solidFill>
              <a:effectLst/>
              <a:sym typeface="+mn-lt"/>
            </a:endParaRPr>
          </a:p>
        </p:txBody>
      </p:sp>
      <p:sp>
        <p:nvSpPr>
          <p:cNvPr id="104" name="Rectangle 103"/>
          <p:cNvSpPr/>
          <p:nvPr>
            <p:custDataLst>
              <p:tags r:id="rId12"/>
            </p:custDataLst>
          </p:nvPr>
        </p:nvSpPr>
        <p:spPr bwMode="auto">
          <a:xfrm>
            <a:off x="479425" y="4098925"/>
            <a:ext cx="649288" cy="3651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E74BEF94-478C-40F7-8FE4-2EF9AA02849F}" type="datetime'''''E''''''''''''t''''h''''io''''''''pi''''''''''a'''''''''">
              <a:rPr lang="en-US" sz="1200" smtClean="0">
                <a:solidFill>
                  <a:schemeClr val="accent1"/>
                </a:solidFill>
                <a:sym typeface="+mn-lt"/>
              </a:rPr>
              <a:pPr fontAlgn="base">
                <a:spcBef>
                  <a:spcPct val="0"/>
                </a:spcBef>
                <a:spcAft>
                  <a:spcPct val="0"/>
                </a:spcAft>
              </a:pPr>
              <a:t>Ethiopia</a:t>
            </a:fld>
            <a:endParaRPr lang="en-US" sz="1200" dirty="0" smtClean="0">
              <a:solidFill>
                <a:schemeClr val="accent1"/>
              </a:solidFill>
              <a:sym typeface="+mn-lt"/>
            </a:endParaRPr>
          </a:p>
          <a:p>
            <a:pPr fontAlgn="base">
              <a:spcBef>
                <a:spcPct val="0"/>
              </a:spcBef>
              <a:spcAft>
                <a:spcPct val="0"/>
              </a:spcAft>
            </a:pPr>
            <a:r>
              <a:rPr kumimoji="0" lang="en-US" sz="1200" strike="noStrike" cap="none" normalizeH="0" dirty="0" smtClean="0">
                <a:ln>
                  <a:noFill/>
                </a:ln>
                <a:solidFill>
                  <a:schemeClr val="accent1"/>
                </a:solidFill>
                <a:effectLst/>
                <a:sym typeface="+mn-lt"/>
              </a:rPr>
              <a:t>(2012/13)</a:t>
            </a:r>
          </a:p>
        </p:txBody>
      </p:sp>
      <p:sp>
        <p:nvSpPr>
          <p:cNvPr id="39" name="Text Placeholder 80"/>
          <p:cNvSpPr>
            <a:spLocks noGrp="1"/>
          </p:cNvSpPr>
          <p:nvPr>
            <p:custDataLst>
              <p:tags r:id="rId13"/>
            </p:custDataLst>
          </p:nvPr>
        </p:nvSpPr>
        <p:spPr bwMode="gray">
          <a:xfrm>
            <a:off x="3984625" y="4191000"/>
            <a:ext cx="3476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97%</a:t>
            </a:r>
            <a:endParaRPr lang="en-US" sz="1200" dirty="0">
              <a:solidFill>
                <a:schemeClr val="accent1"/>
              </a:solidFill>
              <a:latin typeface="Arial"/>
              <a:sym typeface="Arial"/>
            </a:endParaRPr>
          </a:p>
        </p:txBody>
      </p:sp>
      <p:sp>
        <p:nvSpPr>
          <p:cNvPr id="40" name="Text Placeholder 81"/>
          <p:cNvSpPr>
            <a:spLocks noGrp="1"/>
          </p:cNvSpPr>
          <p:nvPr>
            <p:custDataLst>
              <p:tags r:id="rId14"/>
            </p:custDataLst>
          </p:nvPr>
        </p:nvSpPr>
        <p:spPr bwMode="gray">
          <a:xfrm>
            <a:off x="4075113" y="4857750"/>
            <a:ext cx="3476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sym typeface="+mn-lt"/>
              </a:rPr>
              <a:t>98%</a:t>
            </a:r>
            <a:endParaRPr lang="en-US" sz="1200" dirty="0">
              <a:solidFill>
                <a:schemeClr val="accent1"/>
              </a:solidFill>
              <a:sym typeface="+mn-lt"/>
            </a:endParaRPr>
          </a:p>
        </p:txBody>
      </p:sp>
      <p:sp>
        <p:nvSpPr>
          <p:cNvPr id="38" name="Text Placeholder 79"/>
          <p:cNvSpPr>
            <a:spLocks noGrp="1"/>
          </p:cNvSpPr>
          <p:nvPr>
            <p:custDataLst>
              <p:tags r:id="rId15"/>
            </p:custDataLst>
          </p:nvPr>
        </p:nvSpPr>
        <p:spPr bwMode="gray">
          <a:xfrm>
            <a:off x="3508375" y="3529013"/>
            <a:ext cx="3476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91%</a:t>
            </a:r>
            <a:endParaRPr lang="en-US" sz="1200" dirty="0">
              <a:solidFill>
                <a:schemeClr val="accent1"/>
              </a:solidFill>
              <a:latin typeface="Arial"/>
              <a:sym typeface="Arial"/>
            </a:endParaRPr>
          </a:p>
        </p:txBody>
      </p:sp>
      <p:sp>
        <p:nvSpPr>
          <p:cNvPr id="29" name="Text Placeholder 7"/>
          <p:cNvSpPr>
            <a:spLocks noGrp="1"/>
          </p:cNvSpPr>
          <p:nvPr>
            <p:custDataLst>
              <p:tags r:id="rId16"/>
            </p:custDataLst>
          </p:nvPr>
        </p:nvSpPr>
        <p:spPr bwMode="auto">
          <a:xfrm>
            <a:off x="479425" y="2108200"/>
            <a:ext cx="695325" cy="3651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77A9B13C-E3C5-4A63-963A-131D56E0AA34}" type="datetime'''C''''''olom''''b''''''''''''''''''i''''''''''''''a'''''''">
              <a:rPr lang="en-US" sz="1200" b="1" smtClean="0">
                <a:solidFill>
                  <a:schemeClr val="accent1"/>
                </a:solidFill>
                <a:sym typeface="+mn-lt"/>
              </a:rPr>
              <a:pPr marL="0" indent="0">
                <a:buNone/>
              </a:pPr>
              <a:t>Colombia</a:t>
            </a:fld>
            <a:endParaRPr lang="en-US" sz="1200" b="1" dirty="0" smtClean="0">
              <a:solidFill>
                <a:schemeClr val="accent1"/>
              </a:solidFill>
              <a:sym typeface="+mn-lt"/>
            </a:endParaRPr>
          </a:p>
          <a:p>
            <a:pPr marL="0" indent="0">
              <a:buNone/>
            </a:pPr>
            <a:r>
              <a:rPr lang="en-US" sz="1200" dirty="0" smtClean="0">
                <a:solidFill>
                  <a:schemeClr val="accent1"/>
                </a:solidFill>
                <a:sym typeface="+mn-lt"/>
              </a:rPr>
              <a:t>(2012/13)</a:t>
            </a:r>
            <a:endParaRPr lang="en-US" sz="1200" dirty="0">
              <a:solidFill>
                <a:schemeClr val="accent1"/>
              </a:solidFill>
              <a:sym typeface="+mn-lt"/>
            </a:endParaRPr>
          </a:p>
        </p:txBody>
      </p:sp>
      <p:sp>
        <p:nvSpPr>
          <p:cNvPr id="53" name="Text Placeholder 28"/>
          <p:cNvSpPr>
            <a:spLocks noGrp="1"/>
          </p:cNvSpPr>
          <p:nvPr>
            <p:custDataLst>
              <p:tags r:id="rId17"/>
            </p:custDataLst>
          </p:nvPr>
        </p:nvSpPr>
        <p:spPr bwMode="gray">
          <a:xfrm>
            <a:off x="3141663" y="2200275"/>
            <a:ext cx="3476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86%</a:t>
            </a:r>
            <a:endParaRPr lang="en-US" sz="1200" dirty="0">
              <a:solidFill>
                <a:schemeClr val="accent1"/>
              </a:solidFill>
              <a:latin typeface="Arial"/>
              <a:sym typeface="Arial"/>
            </a:endParaRPr>
          </a:p>
        </p:txBody>
      </p:sp>
      <p:sp>
        <p:nvSpPr>
          <p:cNvPr id="124" name="Rectangle 123"/>
          <p:cNvSpPr/>
          <p:nvPr>
            <p:custDataLst>
              <p:tags r:id="rId18"/>
            </p:custDataLst>
          </p:nvPr>
        </p:nvSpPr>
        <p:spPr bwMode="auto">
          <a:xfrm>
            <a:off x="5353050" y="1628775"/>
            <a:ext cx="179388" cy="133350"/>
          </a:xfrm>
          <a:prstGeom prst="rect">
            <a:avLst/>
          </a:prstGeom>
          <a:solidFill>
            <a:srgbClr val="D52B1E"/>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123" name="Rectangle 122"/>
          <p:cNvSpPr/>
          <p:nvPr>
            <p:custDataLst>
              <p:tags r:id="rId19"/>
            </p:custDataLst>
          </p:nvPr>
        </p:nvSpPr>
        <p:spPr bwMode="auto">
          <a:xfrm>
            <a:off x="5353050" y="1425575"/>
            <a:ext cx="179388" cy="133350"/>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71" name="Rectangle 70"/>
          <p:cNvSpPr/>
          <p:nvPr>
            <p:custDataLst>
              <p:tags r:id="rId20"/>
            </p:custDataLst>
          </p:nvPr>
        </p:nvSpPr>
        <p:spPr bwMode="auto">
          <a:xfrm>
            <a:off x="5583238" y="1625600"/>
            <a:ext cx="1790700" cy="1524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r>
              <a:rPr lang="en-US" sz="1000" dirty="0" smtClean="0">
                <a:solidFill>
                  <a:schemeClr val="accent1"/>
                </a:solidFill>
                <a:sym typeface="+mn-lt"/>
              </a:rPr>
              <a:t>Exported as certified or verified*</a:t>
            </a:r>
            <a:endParaRPr kumimoji="0" lang="en-US" sz="1000" strike="noStrike" cap="none" normalizeH="0" dirty="0" smtClean="0">
              <a:ln>
                <a:noFill/>
              </a:ln>
              <a:solidFill>
                <a:schemeClr val="accent1"/>
              </a:solidFill>
              <a:effectLst/>
              <a:sym typeface="+mn-lt"/>
            </a:endParaRPr>
          </a:p>
        </p:txBody>
      </p:sp>
      <p:sp>
        <p:nvSpPr>
          <p:cNvPr id="73" name="Rectangle 72"/>
          <p:cNvSpPr/>
          <p:nvPr>
            <p:custDataLst>
              <p:tags r:id="rId21"/>
            </p:custDataLst>
          </p:nvPr>
        </p:nvSpPr>
        <p:spPr bwMode="auto">
          <a:xfrm>
            <a:off x="5583238" y="1422400"/>
            <a:ext cx="1185863" cy="1524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3A121E33-AEBE-4D65-9020-CF0B7D72BFC8}" type="datetime'''Co''nve''n''''t''''''''''i''''o''''na''l'' ''''e''xp''orts'">
              <a:rPr lang="en-US" sz="1000">
                <a:solidFill>
                  <a:schemeClr val="accent1"/>
                </a:solidFill>
                <a:sym typeface="+mn-lt"/>
              </a:rPr>
              <a:pPr/>
              <a:t>Conventional exports</a:t>
            </a:fld>
            <a:endParaRPr kumimoji="0" lang="en-US" sz="1000" strike="noStrike" cap="none" normalizeH="0" dirty="0" smtClean="0">
              <a:ln>
                <a:noFill/>
              </a:ln>
              <a:solidFill>
                <a:schemeClr val="accent1"/>
              </a:solidFill>
              <a:effectLst/>
              <a:sym typeface="+mn-lt"/>
            </a:endParaRPr>
          </a:p>
        </p:txBody>
      </p:sp>
      <p:grpSp>
        <p:nvGrpSpPr>
          <p:cNvPr id="156" name="ACET"/>
          <p:cNvGrpSpPr>
            <a:grpSpLocks/>
          </p:cNvGrpSpPr>
          <p:nvPr/>
        </p:nvGrpSpPr>
        <p:grpSpPr bwMode="auto">
          <a:xfrm>
            <a:off x="7541658" y="1441450"/>
            <a:ext cx="1245171" cy="387350"/>
            <a:chOff x="915" y="714"/>
            <a:chExt cx="2686" cy="244"/>
          </a:xfrm>
        </p:grpSpPr>
        <p:cxnSp>
          <p:nvCxnSpPr>
            <p:cNvPr id="157" name="AutoShape 70"/>
            <p:cNvCxnSpPr>
              <a:cxnSpLocks noChangeShapeType="1"/>
              <a:stCxn id="158" idx="4"/>
              <a:endCxn id="158" idx="6"/>
            </p:cNvCxnSpPr>
            <p:nvPr/>
          </p:nvCxnSpPr>
          <p:spPr bwMode="auto">
            <a:xfrm>
              <a:off x="915" y="958"/>
              <a:ext cx="2686"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AutoShape 71"/>
            <p:cNvSpPr>
              <a:spLocks noChangeArrowheads="1"/>
            </p:cNvSpPr>
            <p:nvPr/>
          </p:nvSpPr>
          <p:spPr bwMode="auto">
            <a:xfrm>
              <a:off x="915" y="714"/>
              <a:ext cx="2686" cy="244"/>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200" b="1" dirty="0" smtClean="0">
                  <a:solidFill>
                    <a:schemeClr val="accent1"/>
                  </a:solidFill>
                </a:rPr>
                <a:t>Total exports</a:t>
              </a:r>
            </a:p>
            <a:p>
              <a:r>
                <a:rPr lang="en-US" sz="1200" dirty="0" smtClean="0">
                  <a:solidFill>
                    <a:schemeClr val="accent1"/>
                  </a:solidFill>
                </a:rPr>
                <a:t>Bags, million</a:t>
              </a:r>
              <a:endParaRPr lang="en-US" sz="1200" dirty="0">
                <a:solidFill>
                  <a:schemeClr val="accent1"/>
                </a:solidFill>
              </a:endParaRPr>
            </a:p>
          </p:txBody>
        </p:sp>
      </p:grpSp>
      <p:sp>
        <p:nvSpPr>
          <p:cNvPr id="160" name="Oval 159"/>
          <p:cNvSpPr/>
          <p:nvPr/>
        </p:nvSpPr>
        <p:spPr bwMode="auto">
          <a:xfrm>
            <a:off x="7889923" y="2797175"/>
            <a:ext cx="548640" cy="360610"/>
          </a:xfrm>
          <a:prstGeom prst="ellipse">
            <a:avLst/>
          </a:prstGeom>
          <a:solidFill>
            <a:srgbClr val="212492"/>
          </a:solidFill>
          <a:ln w="9525" cap="flat" cmpd="sng" algn="ctr">
            <a:solidFill>
              <a:srgbClr val="21249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bg1"/>
                </a:solidFill>
                <a:effectLst/>
                <a:latin typeface="Arial" charset="0"/>
              </a:rPr>
              <a:t>31</a:t>
            </a:r>
          </a:p>
        </p:txBody>
      </p:sp>
      <p:sp>
        <p:nvSpPr>
          <p:cNvPr id="161" name="Oval 160"/>
          <p:cNvSpPr/>
          <p:nvPr/>
        </p:nvSpPr>
        <p:spPr bwMode="auto">
          <a:xfrm>
            <a:off x="7889923" y="3417888"/>
            <a:ext cx="548640" cy="360610"/>
          </a:xfrm>
          <a:prstGeom prst="ellipse">
            <a:avLst/>
          </a:prstGeom>
          <a:solidFill>
            <a:srgbClr val="212492"/>
          </a:solidFill>
          <a:ln w="9525" cap="flat" cmpd="sng" algn="ctr">
            <a:solidFill>
              <a:srgbClr val="21249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bg1"/>
                </a:solidFill>
                <a:effectLst/>
                <a:latin typeface="Arial" charset="0"/>
              </a:rPr>
              <a:t>24</a:t>
            </a:r>
          </a:p>
        </p:txBody>
      </p:sp>
      <p:sp>
        <p:nvSpPr>
          <p:cNvPr id="162" name="Oval 161"/>
          <p:cNvSpPr/>
          <p:nvPr/>
        </p:nvSpPr>
        <p:spPr bwMode="auto">
          <a:xfrm>
            <a:off x="7889923" y="4097338"/>
            <a:ext cx="548640" cy="360610"/>
          </a:xfrm>
          <a:prstGeom prst="ellipse">
            <a:avLst/>
          </a:prstGeom>
          <a:solidFill>
            <a:srgbClr val="212492"/>
          </a:solidFill>
          <a:ln w="9525" cap="flat" cmpd="sng" algn="ctr">
            <a:solidFill>
              <a:srgbClr val="21249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200" b="1" dirty="0">
                <a:solidFill>
                  <a:schemeClr val="bg1"/>
                </a:solidFill>
                <a:latin typeface="Arial" charset="0"/>
              </a:rPr>
              <a:t>3</a:t>
            </a:r>
            <a:endParaRPr kumimoji="0" lang="en-US" sz="1200" b="1" i="0" u="none" strike="noStrike" cap="none" normalizeH="0" baseline="0" dirty="0" smtClean="0">
              <a:ln>
                <a:noFill/>
              </a:ln>
              <a:solidFill>
                <a:schemeClr val="bg1"/>
              </a:solidFill>
              <a:effectLst/>
              <a:latin typeface="Arial" charset="0"/>
            </a:endParaRPr>
          </a:p>
        </p:txBody>
      </p:sp>
      <p:sp>
        <p:nvSpPr>
          <p:cNvPr id="163" name="Oval 162"/>
          <p:cNvSpPr/>
          <p:nvPr/>
        </p:nvSpPr>
        <p:spPr bwMode="auto">
          <a:xfrm>
            <a:off x="7889923" y="4778375"/>
            <a:ext cx="548640" cy="360610"/>
          </a:xfrm>
          <a:prstGeom prst="ellipse">
            <a:avLst/>
          </a:prstGeom>
          <a:solidFill>
            <a:srgbClr val="212492"/>
          </a:solidFill>
          <a:ln w="9525" cap="flat" cmpd="sng" algn="ctr">
            <a:solidFill>
              <a:srgbClr val="21249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200" b="1" dirty="0">
                <a:solidFill>
                  <a:schemeClr val="bg1"/>
                </a:solidFill>
                <a:latin typeface="Arial" charset="0"/>
              </a:rPr>
              <a:t>3</a:t>
            </a:r>
            <a:endParaRPr kumimoji="0" lang="en-US" sz="1200" b="1" i="0" u="none" strike="noStrike" cap="none" normalizeH="0" baseline="0" dirty="0" smtClean="0">
              <a:ln>
                <a:noFill/>
              </a:ln>
              <a:solidFill>
                <a:schemeClr val="bg1"/>
              </a:solidFill>
              <a:effectLst/>
              <a:latin typeface="Arial" charset="0"/>
            </a:endParaRPr>
          </a:p>
        </p:txBody>
      </p:sp>
      <p:sp>
        <p:nvSpPr>
          <p:cNvPr id="50" name="Oval 49"/>
          <p:cNvSpPr/>
          <p:nvPr/>
        </p:nvSpPr>
        <p:spPr bwMode="auto">
          <a:xfrm>
            <a:off x="7889923" y="2139950"/>
            <a:ext cx="548640" cy="360610"/>
          </a:xfrm>
          <a:prstGeom prst="ellipse">
            <a:avLst/>
          </a:prstGeom>
          <a:solidFill>
            <a:srgbClr val="212492"/>
          </a:solidFill>
          <a:ln w="9525" cap="flat" cmpd="sng" algn="ctr">
            <a:solidFill>
              <a:srgbClr val="21249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bg1"/>
                </a:solidFill>
                <a:effectLst/>
                <a:latin typeface="Arial" charset="0"/>
              </a:rPr>
              <a:t>10</a:t>
            </a:r>
          </a:p>
        </p:txBody>
      </p:sp>
      <p:sp>
        <p:nvSpPr>
          <p:cNvPr id="32" name="Rectangle 31"/>
          <p:cNvSpPr/>
          <p:nvPr/>
        </p:nvSpPr>
        <p:spPr bwMode="auto">
          <a:xfrm>
            <a:off x="373552" y="1941513"/>
            <a:ext cx="8378336" cy="689548"/>
          </a:xfrm>
          <a:prstGeom prst="rect">
            <a:avLst/>
          </a:prstGeom>
          <a:noFill/>
          <a:ln w="12700" cap="flat" cmpd="sng" algn="ctr">
            <a:solidFill>
              <a:srgbClr val="21249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3" name="Title 2"/>
          <p:cNvSpPr>
            <a:spLocks noGrp="1"/>
          </p:cNvSpPr>
          <p:nvPr>
            <p:ph type="title"/>
          </p:nvPr>
        </p:nvSpPr>
        <p:spPr/>
        <p:txBody>
          <a:bodyPr/>
          <a:lstStyle/>
          <a:p>
            <a:r>
              <a:rPr lang="en-US" b="0" dirty="0" smtClean="0"/>
              <a:t>About 14% of Colombia’s exports are either certified or  verified</a:t>
            </a:r>
            <a:endParaRPr lang="en-US" b="0" dirty="0"/>
          </a:p>
        </p:txBody>
      </p:sp>
    </p:spTree>
    <p:extLst>
      <p:ext uri="{BB962C8B-B14F-4D97-AF65-F5344CB8AC3E}">
        <p14:creationId xmlns:p14="http://schemas.microsoft.com/office/powerpoint/2010/main" val="5065885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Object 99" hidden="1"/>
          <p:cNvGraphicFramePr>
            <a:graphicFrameLocks/>
          </p:cNvGraphicFramePr>
          <p:nvPr>
            <p:custDataLst>
              <p:tags r:id="rId2"/>
            </p:custDataLst>
            <p:extLst>
              <p:ext uri="{D42A27DB-BD31-4B8C-83A1-F6EECF244321}">
                <p14:modId xmlns:p14="http://schemas.microsoft.com/office/powerpoint/2010/main" val="1213634500"/>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10253" name="think-cell Slide" r:id="rId33" imgW="360" imgH="360" progId="TCLayout.ActiveDocument.1">
                  <p:embed/>
                </p:oleObj>
              </mc:Choice>
              <mc:Fallback>
                <p:oleObj name="think-cell Slide" r:id="rId33" imgW="360" imgH="360" progId="TCLayout.ActiveDocument.1">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 name="Rectangle 9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b="1" u="none" strike="noStrike" cap="none" normalizeH="0" smtClean="0">
              <a:ln>
                <a:noFill/>
              </a:ln>
              <a:solidFill>
                <a:schemeClr val="tx1"/>
              </a:solidFill>
              <a:effectLst/>
              <a:latin typeface="Arial"/>
              <a:sym typeface="Arial"/>
            </a:endParaRPr>
          </a:p>
        </p:txBody>
      </p:sp>
      <p:sp>
        <p:nvSpPr>
          <p:cNvPr id="122" name="McK Footnote"/>
          <p:cNvSpPr txBox="1">
            <a:spLocks noChangeArrowheads="1"/>
          </p:cNvSpPr>
          <p:nvPr/>
        </p:nvSpPr>
        <p:spPr bwMode="auto">
          <a:xfrm>
            <a:off x="635343" y="6249157"/>
            <a:ext cx="7383033" cy="138499"/>
          </a:xfrm>
          <a:prstGeom prst="rect">
            <a:avLst/>
          </a:prstGeom>
          <a:noFill/>
          <a:ln w="9525">
            <a:noFill/>
            <a:miter lim="800000"/>
            <a:headEnd/>
            <a:tailEnd/>
          </a:ln>
        </p:spPr>
        <p:txBody>
          <a:bodyPr wrap="square"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Stakeholder interviews; FNC; TechnoServe analysis</a:t>
            </a:r>
          </a:p>
        </p:txBody>
      </p:sp>
      <p:grpSp>
        <p:nvGrpSpPr>
          <p:cNvPr id="10" name="Group 9"/>
          <p:cNvGrpSpPr/>
          <p:nvPr/>
        </p:nvGrpSpPr>
        <p:grpSpPr>
          <a:xfrm>
            <a:off x="317275" y="1372455"/>
            <a:ext cx="6010275" cy="543168"/>
            <a:chOff x="433387" y="1488567"/>
            <a:chExt cx="6010275" cy="543168"/>
          </a:xfrm>
        </p:grpSpPr>
        <p:sp>
          <p:nvSpPr>
            <p:cNvPr id="33" name="TextBox 32"/>
            <p:cNvSpPr txBox="1"/>
            <p:nvPr/>
          </p:nvSpPr>
          <p:spPr>
            <a:xfrm>
              <a:off x="433387" y="1488567"/>
              <a:ext cx="6010275" cy="307777"/>
            </a:xfrm>
            <a:prstGeom prst="rect">
              <a:avLst/>
            </a:prstGeom>
            <a:noFill/>
          </p:spPr>
          <p:txBody>
            <a:bodyPr wrap="square" rtlCol="0">
              <a:spAutoFit/>
            </a:bodyPr>
            <a:lstStyle/>
            <a:p>
              <a:r>
                <a:rPr lang="en-US" sz="1400" b="1" dirty="0">
                  <a:solidFill>
                    <a:schemeClr val="accent1"/>
                  </a:solidFill>
                </a:rPr>
                <a:t>Coffee production by </a:t>
              </a:r>
              <a:r>
                <a:rPr lang="en-US" sz="1400" b="1" dirty="0" smtClean="0">
                  <a:solidFill>
                    <a:schemeClr val="accent1"/>
                  </a:solidFill>
                </a:rPr>
                <a:t>certification/verification, 2013</a:t>
              </a:r>
              <a:endParaRPr lang="en-US" sz="1400" b="1" dirty="0">
                <a:solidFill>
                  <a:schemeClr val="accent1"/>
                </a:solidFill>
              </a:endParaRPr>
            </a:p>
          </p:txBody>
        </p:sp>
        <p:sp>
          <p:nvSpPr>
            <p:cNvPr id="55" name="TextBox 54"/>
            <p:cNvSpPr txBox="1"/>
            <p:nvPr/>
          </p:nvSpPr>
          <p:spPr>
            <a:xfrm>
              <a:off x="433388" y="1723958"/>
              <a:ext cx="3569252" cy="307777"/>
            </a:xfrm>
            <a:prstGeom prst="rect">
              <a:avLst/>
            </a:prstGeom>
            <a:noFill/>
          </p:spPr>
          <p:txBody>
            <a:bodyPr wrap="square" rtlCol="0">
              <a:spAutoFit/>
            </a:bodyPr>
            <a:lstStyle/>
            <a:p>
              <a:r>
                <a:rPr lang="en-US" sz="1400" dirty="0">
                  <a:solidFill>
                    <a:schemeClr val="accent1"/>
                  </a:solidFill>
                </a:rPr>
                <a:t>Bags (60-kg), </a:t>
              </a:r>
              <a:r>
                <a:rPr lang="en-US" sz="1400" dirty="0" smtClean="0">
                  <a:solidFill>
                    <a:schemeClr val="accent1"/>
                  </a:solidFill>
                </a:rPr>
                <a:t>millions </a:t>
              </a:r>
              <a:endParaRPr lang="en-US" sz="1400" dirty="0">
                <a:solidFill>
                  <a:schemeClr val="accent1"/>
                </a:solidFill>
              </a:endParaRPr>
            </a:p>
          </p:txBody>
        </p:sp>
      </p:grpSp>
      <p:sp>
        <p:nvSpPr>
          <p:cNvPr id="4" name="Title 3"/>
          <p:cNvSpPr>
            <a:spLocks noGrp="1"/>
          </p:cNvSpPr>
          <p:nvPr>
            <p:ph type="title"/>
          </p:nvPr>
        </p:nvSpPr>
        <p:spPr/>
        <p:txBody>
          <a:bodyPr/>
          <a:lstStyle/>
          <a:p>
            <a:r>
              <a:rPr lang="en-US" b="0" dirty="0" smtClean="0"/>
              <a:t>Roughly 45% of production is under one or more certification or verification </a:t>
            </a:r>
            <a:endParaRPr lang="en-US" b="0" dirty="0"/>
          </a:p>
        </p:txBody>
      </p:sp>
      <p:cxnSp>
        <p:nvCxnSpPr>
          <p:cNvPr id="9" name="Straight Connector 8"/>
          <p:cNvCxnSpPr/>
          <p:nvPr>
            <p:custDataLst>
              <p:tags r:id="rId4"/>
            </p:custDataLst>
          </p:nvPr>
        </p:nvCxnSpPr>
        <p:spPr bwMode="gray">
          <a:xfrm>
            <a:off x="6619875" y="3848100"/>
            <a:ext cx="409575"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custDataLst>
              <p:tags r:id="rId5"/>
            </p:custDataLst>
          </p:nvPr>
        </p:nvCxnSpPr>
        <p:spPr bwMode="gray">
          <a:xfrm>
            <a:off x="5695950" y="2733675"/>
            <a:ext cx="409575"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custDataLst>
              <p:tags r:id="rId6"/>
            </p:custDataLst>
          </p:nvPr>
        </p:nvCxnSpPr>
        <p:spPr bwMode="gray">
          <a:xfrm>
            <a:off x="4772025" y="2733675"/>
            <a:ext cx="409575" cy="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35" name="Straight Connector 34"/>
          <p:cNvCxnSpPr/>
          <p:nvPr>
            <p:custDataLst>
              <p:tags r:id="rId7"/>
            </p:custDataLst>
          </p:nvPr>
        </p:nvCxnSpPr>
        <p:spPr bwMode="gray">
          <a:xfrm>
            <a:off x="3848100" y="2752725"/>
            <a:ext cx="409575" cy="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39" name="Straight Connector 38"/>
          <p:cNvCxnSpPr/>
          <p:nvPr>
            <p:custDataLst>
              <p:tags r:id="rId8"/>
            </p:custDataLst>
          </p:nvPr>
        </p:nvCxnSpPr>
        <p:spPr bwMode="gray">
          <a:xfrm>
            <a:off x="2924175" y="2933700"/>
            <a:ext cx="409575" cy="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40" name="Straight Connector 39"/>
          <p:cNvCxnSpPr/>
          <p:nvPr>
            <p:custDataLst>
              <p:tags r:id="rId9"/>
            </p:custDataLst>
          </p:nvPr>
        </p:nvCxnSpPr>
        <p:spPr bwMode="gray">
          <a:xfrm>
            <a:off x="2000250" y="3219450"/>
            <a:ext cx="409575" cy="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41" name="Straight Connector 40"/>
          <p:cNvCxnSpPr/>
          <p:nvPr>
            <p:custDataLst>
              <p:tags r:id="rId10"/>
            </p:custDataLst>
          </p:nvPr>
        </p:nvCxnSpPr>
        <p:spPr bwMode="gray">
          <a:xfrm>
            <a:off x="1076325" y="3590925"/>
            <a:ext cx="409575" cy="0"/>
          </a:xfrm>
          <a:prstGeom prst="line">
            <a:avLst/>
          </a:prstGeom>
          <a:solidFill>
            <a:schemeClr val="accent1"/>
          </a:solidFill>
          <a:ln w="3175" cap="flat" cmpd="sng" algn="ctr">
            <a:solidFill>
              <a:srgbClr val="D52B1E"/>
            </a:solidFill>
            <a:prstDash val="lgDash"/>
            <a:round/>
            <a:headEnd type="none" w="med" len="med"/>
            <a:tailEnd type="none" w="med" len="med"/>
          </a:ln>
          <a:effectLst/>
        </p:spPr>
      </p:cxnSp>
      <p:graphicFrame>
        <p:nvGraphicFramePr>
          <p:cNvPr id="42" name="Object 41"/>
          <p:cNvGraphicFramePr>
            <a:graphicFrameLocks/>
          </p:cNvGraphicFramePr>
          <p:nvPr>
            <p:custDataLst>
              <p:tags r:id="rId11"/>
            </p:custDataLst>
            <p:extLst>
              <p:ext uri="{D42A27DB-BD31-4B8C-83A1-F6EECF244321}">
                <p14:modId xmlns:p14="http://schemas.microsoft.com/office/powerpoint/2010/main" val="1113642325"/>
              </p:ext>
            </p:extLst>
          </p:nvPr>
        </p:nvGraphicFramePr>
        <p:xfrm>
          <a:off x="266700" y="2362200"/>
          <a:ext cx="7601085" cy="2705190"/>
        </p:xfrm>
        <a:graphic>
          <a:graphicData uri="http://schemas.openxmlformats.org/presentationml/2006/ole">
            <mc:AlternateContent xmlns:mc="http://schemas.openxmlformats.org/markup-compatibility/2006">
              <mc:Choice xmlns:v="urn:schemas-microsoft-com:vml" Requires="v">
                <p:oleObj spid="_x0000_s210254" name="Chart" r:id="rId35" imgW="7601085" imgH="2705190" progId="MSGraph.Chart.8">
                  <p:embed followColorScheme="full"/>
                </p:oleObj>
              </mc:Choice>
              <mc:Fallback>
                <p:oleObj name="Chart" r:id="rId35" imgW="7601085" imgH="2705190" progId="MSGraph.Chart.8">
                  <p:embed followColorScheme="full"/>
                  <p:pic>
                    <p:nvPicPr>
                      <p:cNvPr id="0" name=""/>
                      <p:cNvPicPr/>
                      <p:nvPr/>
                    </p:nvPicPr>
                    <p:blipFill>
                      <a:blip r:embed="rId36"/>
                      <a:stretch>
                        <a:fillRect/>
                      </a:stretch>
                    </p:blipFill>
                    <p:spPr>
                      <a:xfrm>
                        <a:off x="266700" y="2362200"/>
                        <a:ext cx="7601085" cy="2705190"/>
                      </a:xfrm>
                      <a:prstGeom prst="rect">
                        <a:avLst/>
                      </a:prstGeom>
                    </p:spPr>
                  </p:pic>
                </p:oleObj>
              </mc:Fallback>
            </mc:AlternateContent>
          </a:graphicData>
        </a:graphic>
      </p:graphicFrame>
      <p:cxnSp>
        <p:nvCxnSpPr>
          <p:cNvPr id="2" name="Straight Connector 1"/>
          <p:cNvCxnSpPr/>
          <p:nvPr>
            <p:custDataLst>
              <p:tags r:id="rId12"/>
            </p:custDataLst>
          </p:nvPr>
        </p:nvCxnSpPr>
        <p:spPr bwMode="gray">
          <a:xfrm>
            <a:off x="5588000" y="2495550"/>
            <a:ext cx="2165350" cy="0"/>
          </a:xfrm>
          <a:prstGeom prst="line">
            <a:avLst/>
          </a:prstGeom>
          <a:ln w="952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custDataLst>
              <p:tags r:id="rId13"/>
            </p:custDataLst>
          </p:nvPr>
        </p:nvCxnSpPr>
        <p:spPr bwMode="gray">
          <a:xfrm>
            <a:off x="361950" y="2495550"/>
            <a:ext cx="4929188" cy="0"/>
          </a:xfrm>
          <a:prstGeom prst="line">
            <a:avLst/>
          </a:prstGeom>
          <a:ln w="952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Right Arrow 11"/>
          <p:cNvSpPr/>
          <p:nvPr>
            <p:custDataLst>
              <p:tags r:id="rId14"/>
            </p:custDataLst>
          </p:nvPr>
        </p:nvSpPr>
        <p:spPr bwMode="auto">
          <a:xfrm rot="10800000">
            <a:off x="7804150" y="2419350"/>
            <a:ext cx="128588" cy="152400"/>
          </a:xfrm>
          <a:prstGeom prst="rightArrow">
            <a:avLst>
              <a:gd name="adj1" fmla="val 100000"/>
              <a:gd name="adj2" fmla="val 100000"/>
            </a:avLst>
          </a:prstGeom>
          <a:solidFill>
            <a:schemeClr val="tx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 Placeholder 4"/>
          <p:cNvSpPr>
            <a:spLocks noGrp="1"/>
          </p:cNvSpPr>
          <p:nvPr>
            <p:custDataLst>
              <p:tags r:id="rId15"/>
            </p:custDataLst>
          </p:nvPr>
        </p:nvSpPr>
        <p:spPr bwMode="auto">
          <a:xfrm>
            <a:off x="5978525" y="5124449"/>
            <a:ext cx="768350" cy="85090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924C98D-83E3-432E-A069-EA7860BAFA61}" type="datetime'''Less'''' c''offees'' i''n mu''lt''''iple'' ''''sc''heme''s'">
              <a:rPr lang="en-US" sz="1400">
                <a:solidFill>
                  <a:schemeClr val="accent1"/>
                </a:solidFill>
                <a:latin typeface="Arial"/>
                <a:sym typeface="Arial"/>
              </a:rPr>
              <a:pPr marL="0" indent="0" algn="ctr">
                <a:spcBef>
                  <a:spcPct val="0"/>
                </a:spcBef>
                <a:spcAft>
                  <a:spcPct val="0"/>
                </a:spcAft>
                <a:buNone/>
              </a:pPr>
              <a:t>Less coffees in multiple schemes</a:t>
            </a:fld>
            <a:endParaRPr lang="en-US" sz="1400" dirty="0">
              <a:solidFill>
                <a:schemeClr val="accent1"/>
              </a:solidFill>
              <a:latin typeface="Arial"/>
              <a:sym typeface="Arial"/>
            </a:endParaRPr>
          </a:p>
        </p:txBody>
      </p:sp>
      <p:sp useBgFill="1">
        <p:nvSpPr>
          <p:cNvPr id="61" name="Text Placeholder 5"/>
          <p:cNvSpPr>
            <a:spLocks noGrp="1"/>
          </p:cNvSpPr>
          <p:nvPr>
            <p:custDataLst>
              <p:tags r:id="rId16"/>
            </p:custDataLst>
          </p:nvPr>
        </p:nvSpPr>
        <p:spPr bwMode="gray">
          <a:xfrm>
            <a:off x="6215063" y="3184525"/>
            <a:ext cx="296863" cy="212725"/>
          </a:xfrm>
          <a:prstGeom prst="rect">
            <a:avLst/>
          </a:prstGeom>
          <a:noFill/>
          <a:extLst>
            <a:ext uri="{909E8E84-426E-40DD-AFC4-6F175D3DCCD1}">
              <a14:hiddenFill xmlns:a14="http://schemas.microsoft.com/office/drawing/2010/main">
                <a:solidFill>
                  <a:schemeClr val="bg1"/>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CFA4CFD-10FC-460C-9E6F-3FF56FCDCB00}" type="datetime'''''''''''''''''''5''''''''''''''.0'''''''''">
              <a:rPr lang="en-US" sz="1400">
                <a:solidFill>
                  <a:schemeClr val="accent1"/>
                </a:solidFill>
              </a:rPr>
              <a:pPr/>
              <a:t>5.0</a:t>
            </a:fld>
            <a:endParaRPr lang="en-US" sz="1400" dirty="0">
              <a:solidFill>
                <a:schemeClr val="accent1"/>
              </a:solidFill>
              <a:latin typeface="Arial"/>
              <a:sym typeface="Arial"/>
            </a:endParaRPr>
          </a:p>
        </p:txBody>
      </p:sp>
      <p:sp>
        <p:nvSpPr>
          <p:cNvPr id="50" name="Text Placeholder 36"/>
          <p:cNvSpPr>
            <a:spLocks noGrp="1"/>
          </p:cNvSpPr>
          <p:nvPr>
            <p:custDataLst>
              <p:tags r:id="rId17"/>
            </p:custDataLst>
          </p:nvPr>
        </p:nvSpPr>
        <p:spPr bwMode="auto">
          <a:xfrm>
            <a:off x="5049838" y="5124450"/>
            <a:ext cx="779463"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DAD96124-2C14-49B2-89CA-6DC32C8E857A}" type="datetime'''S''u''''b''''-t''''''''''''o''''''''t''''al'">
              <a:rPr lang="en-US" sz="1400" b="1">
                <a:solidFill>
                  <a:schemeClr val="accent1"/>
                </a:solidFill>
              </a:rPr>
              <a:pPr/>
              <a:t>Sub-total</a:t>
            </a:fld>
            <a:endParaRPr lang="en-US" sz="1400" b="1" dirty="0">
              <a:solidFill>
                <a:schemeClr val="accent1"/>
              </a:solidFill>
              <a:latin typeface="Arial"/>
              <a:sym typeface="Arial"/>
            </a:endParaRPr>
          </a:p>
        </p:txBody>
      </p:sp>
      <p:sp>
        <p:nvSpPr>
          <p:cNvPr id="48" name="Text Placeholder 40"/>
          <p:cNvSpPr>
            <a:spLocks noGrp="1"/>
          </p:cNvSpPr>
          <p:nvPr>
            <p:custDataLst>
              <p:tags r:id="rId18"/>
            </p:custDataLst>
          </p:nvPr>
        </p:nvSpPr>
        <p:spPr bwMode="gray">
          <a:xfrm>
            <a:off x="5291138" y="2495550"/>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EA34189F-64A6-413C-BF2C-D868DA910141}" type="datetime'''''''''''''''9''''''''''''''.''''9'''''''">
              <a:rPr lang="en-US" sz="1400" b="1">
                <a:solidFill>
                  <a:schemeClr val="accent1"/>
                </a:solidFill>
              </a:rPr>
              <a:pPr/>
              <a:t>9.9</a:t>
            </a:fld>
            <a:endParaRPr lang="en-US" sz="1400" b="1" dirty="0">
              <a:solidFill>
                <a:schemeClr val="accent1"/>
              </a:solidFill>
              <a:latin typeface="Arial"/>
              <a:sym typeface="Arial"/>
            </a:endParaRPr>
          </a:p>
        </p:txBody>
      </p:sp>
      <p:sp useBgFill="1">
        <p:nvSpPr>
          <p:cNvPr id="54" name="Text Placeholder 39"/>
          <p:cNvSpPr>
            <a:spLocks noGrp="1"/>
          </p:cNvSpPr>
          <p:nvPr>
            <p:custDataLst>
              <p:tags r:id="rId19"/>
            </p:custDataLst>
          </p:nvPr>
        </p:nvSpPr>
        <p:spPr bwMode="gray">
          <a:xfrm>
            <a:off x="4367213" y="2636838"/>
            <a:ext cx="296863" cy="212725"/>
          </a:xfrm>
          <a:prstGeom prst="rect">
            <a:avLst/>
          </a:prstGeom>
        </p:spPr>
        <p:txBody>
          <a:bodyPr wrap="none" lIns="25400" tIns="0" rIns="2540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2995F610-A693-4011-B97F-797D9892AAA7}" type="datetime'''''''''0''''''''''''''''''''''''''''.''''''''1'">
              <a:rPr lang="en-US" sz="1400">
                <a:solidFill>
                  <a:schemeClr val="accent1"/>
                </a:solidFill>
              </a:rPr>
              <a:pPr/>
              <a:t>0.1</a:t>
            </a:fld>
            <a:endParaRPr lang="en-US" sz="1400" dirty="0">
              <a:solidFill>
                <a:schemeClr val="accent1"/>
              </a:solidFill>
              <a:latin typeface="Arial"/>
              <a:sym typeface="Arial"/>
            </a:endParaRPr>
          </a:p>
        </p:txBody>
      </p:sp>
      <p:sp>
        <p:nvSpPr>
          <p:cNvPr id="52" name="Text Placeholder 11"/>
          <p:cNvSpPr>
            <a:spLocks noGrp="1"/>
          </p:cNvSpPr>
          <p:nvPr>
            <p:custDataLst>
              <p:tags r:id="rId20"/>
            </p:custDataLst>
          </p:nvPr>
        </p:nvSpPr>
        <p:spPr bwMode="auto">
          <a:xfrm>
            <a:off x="2489200" y="5124450"/>
            <a:ext cx="357188"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CAB17CD1-E419-4E32-AC52-AF5E2EE5CAED}" type="datetime'''''''''''''''''''''''''''''U''T''''''''''Z'''''''''''''''">
              <a:rPr lang="en-US" sz="1400">
                <a:solidFill>
                  <a:schemeClr val="accent1"/>
                </a:solidFill>
              </a:rPr>
              <a:pPr/>
              <a:t>UTZ</a:t>
            </a:fld>
            <a:endParaRPr lang="en-US" sz="1400" dirty="0">
              <a:solidFill>
                <a:schemeClr val="accent1"/>
              </a:solidFill>
              <a:sym typeface="+mn-lt"/>
            </a:endParaRPr>
          </a:p>
        </p:txBody>
      </p:sp>
      <p:sp>
        <p:nvSpPr>
          <p:cNvPr id="57" name="Text Placeholder 30"/>
          <p:cNvSpPr>
            <a:spLocks noGrp="1"/>
          </p:cNvSpPr>
          <p:nvPr>
            <p:custDataLst>
              <p:tags r:id="rId21"/>
            </p:custDataLst>
          </p:nvPr>
        </p:nvSpPr>
        <p:spPr bwMode="auto">
          <a:xfrm>
            <a:off x="4198938" y="5124450"/>
            <a:ext cx="633413"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763A8DA1-DEF2-4696-AA43-1BDB2E71722E}" type="datetime'O''''''''''''''''''''rg''''''''''a''''''''n''''ic'''''">
              <a:rPr lang="en-US" sz="1400">
                <a:solidFill>
                  <a:schemeClr val="accent1"/>
                </a:solidFill>
              </a:rPr>
              <a:pPr/>
              <a:t>Organic</a:t>
            </a:fld>
            <a:endParaRPr lang="en-US" sz="1400" dirty="0">
              <a:solidFill>
                <a:schemeClr val="accent1"/>
              </a:solidFill>
              <a:latin typeface="Arial"/>
              <a:sym typeface="Arial"/>
            </a:endParaRPr>
          </a:p>
        </p:txBody>
      </p:sp>
      <p:sp>
        <p:nvSpPr>
          <p:cNvPr id="58" name="Text Placeholder 29"/>
          <p:cNvSpPr>
            <a:spLocks noGrp="1"/>
          </p:cNvSpPr>
          <p:nvPr>
            <p:custDataLst>
              <p:tags r:id="rId22"/>
            </p:custDataLst>
          </p:nvPr>
        </p:nvSpPr>
        <p:spPr bwMode="auto">
          <a:xfrm>
            <a:off x="3181350" y="5124449"/>
            <a:ext cx="820738"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accent1"/>
                </a:solidFill>
              </a:rPr>
              <a:t>Rainforest</a:t>
            </a:r>
          </a:p>
          <a:p>
            <a:pPr marL="0" indent="0" algn="ctr">
              <a:buNone/>
            </a:pPr>
            <a:r>
              <a:rPr lang="en-US" sz="1400" dirty="0" smtClean="0">
                <a:solidFill>
                  <a:schemeClr val="accent1"/>
                </a:solidFill>
              </a:rPr>
              <a:t>Alliance</a:t>
            </a:r>
            <a:endParaRPr lang="en-US" sz="1400" dirty="0">
              <a:solidFill>
                <a:schemeClr val="accent1"/>
              </a:solidFill>
              <a:latin typeface="Arial"/>
              <a:sym typeface="Arial"/>
            </a:endParaRPr>
          </a:p>
        </p:txBody>
      </p:sp>
      <p:sp>
        <p:nvSpPr>
          <p:cNvPr id="56" name="Text Placeholder 37"/>
          <p:cNvSpPr>
            <a:spLocks noGrp="1"/>
          </p:cNvSpPr>
          <p:nvPr>
            <p:custDataLst>
              <p:tags r:id="rId23"/>
            </p:custDataLst>
          </p:nvPr>
        </p:nvSpPr>
        <p:spPr bwMode="gray">
          <a:xfrm>
            <a:off x="3443288" y="2736850"/>
            <a:ext cx="296863" cy="212725"/>
          </a:xfrm>
          <a:prstGeom prst="rect">
            <a:avLst/>
          </a:prstGeom>
          <a:noFill/>
          <a:extLst>
            <a:ext uri="{909E8E84-426E-40DD-AFC4-6F175D3DCCD1}">
              <a14:hiddenFill xmlns:a14="http://schemas.microsoft.com/office/drawing/2010/main">
                <a:solidFill>
                  <a:srgbClr val="FFFFFF"/>
                </a:solidFill>
              </a14:hiddenFill>
            </a:ext>
          </a:extLst>
        </p:spPr>
        <p:txBody>
          <a:bodyPr wrap="none" lIns="25400" tIns="0" rIns="2540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B4906572-07F6-4F28-9B82-82C2E63DF402}" type="datetime'''''''''''0.''''''''''''''''8'''''''''''''''''''">
              <a:rPr lang="en-US" sz="1400">
                <a:solidFill>
                  <a:schemeClr val="accent1"/>
                </a:solidFill>
              </a:rPr>
              <a:pPr/>
              <a:t>0.8</a:t>
            </a:fld>
            <a:endParaRPr lang="en-US" sz="1400" dirty="0">
              <a:solidFill>
                <a:schemeClr val="accent1"/>
              </a:solidFill>
              <a:latin typeface="Arial"/>
              <a:sym typeface="Arial"/>
            </a:endParaRPr>
          </a:p>
        </p:txBody>
      </p:sp>
      <p:sp>
        <p:nvSpPr>
          <p:cNvPr id="90" name="Text Placeholder 34"/>
          <p:cNvSpPr>
            <a:spLocks noGrp="1"/>
          </p:cNvSpPr>
          <p:nvPr>
            <p:custDataLst>
              <p:tags r:id="rId24"/>
            </p:custDataLst>
          </p:nvPr>
        </p:nvSpPr>
        <p:spPr bwMode="auto">
          <a:xfrm>
            <a:off x="7983538" y="2282825"/>
            <a:ext cx="827088" cy="42545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b="1" dirty="0" smtClean="0">
                <a:solidFill>
                  <a:schemeClr val="accent1"/>
                </a:solidFill>
              </a:rPr>
              <a:t>10.9 </a:t>
            </a:r>
            <a:r>
              <a:rPr lang="en-US" sz="1400" dirty="0" smtClean="0">
                <a:solidFill>
                  <a:schemeClr val="accent1"/>
                </a:solidFill>
              </a:rPr>
              <a:t>t</a:t>
            </a:r>
            <a:r>
              <a:rPr lang="en-US" sz="1400" dirty="0" smtClean="0">
                <a:solidFill>
                  <a:schemeClr val="accent1"/>
                </a:solidFill>
                <a:sym typeface="+mn-lt"/>
              </a:rPr>
              <a:t>otal</a:t>
            </a:r>
          </a:p>
          <a:p>
            <a:pPr marL="0" indent="0">
              <a:spcBef>
                <a:spcPct val="0"/>
              </a:spcBef>
              <a:spcAft>
                <a:spcPct val="0"/>
              </a:spcAft>
              <a:buNone/>
            </a:pPr>
            <a:r>
              <a:rPr lang="en-US" sz="1400" dirty="0" smtClean="0">
                <a:solidFill>
                  <a:schemeClr val="accent1"/>
                </a:solidFill>
                <a:sym typeface="+mn-lt"/>
              </a:rPr>
              <a:t>production</a:t>
            </a:r>
            <a:endParaRPr lang="en-US" sz="1400" dirty="0">
              <a:solidFill>
                <a:schemeClr val="accent1"/>
              </a:solidFill>
              <a:sym typeface="+mn-lt"/>
            </a:endParaRPr>
          </a:p>
        </p:txBody>
      </p:sp>
      <p:sp>
        <p:nvSpPr>
          <p:cNvPr id="74" name="Text Placeholder 7"/>
          <p:cNvSpPr>
            <a:spLocks noGrp="1"/>
          </p:cNvSpPr>
          <p:nvPr>
            <p:custDataLst>
              <p:tags r:id="rId25"/>
            </p:custDataLst>
          </p:nvPr>
        </p:nvSpPr>
        <p:spPr bwMode="gray">
          <a:xfrm>
            <a:off x="7138988" y="3609975"/>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6651B53-2D66-4BC7-8C9B-0C1E678D93CC}" type="datetime'''''''''''''''''5''''''''''''''''''''.0'''''''''">
              <a:rPr lang="en-US" sz="1400" b="1">
                <a:solidFill>
                  <a:schemeClr val="accent1"/>
                </a:solidFill>
              </a:rPr>
              <a:pPr/>
              <a:t>5.0</a:t>
            </a:fld>
            <a:endParaRPr lang="en-US" sz="1400" b="1" dirty="0">
              <a:solidFill>
                <a:schemeClr val="accent1"/>
              </a:solidFill>
              <a:latin typeface="Arial"/>
              <a:sym typeface="Arial"/>
            </a:endParaRPr>
          </a:p>
        </p:txBody>
      </p:sp>
      <p:sp>
        <p:nvSpPr>
          <p:cNvPr id="73" name="Text Placeholder 6"/>
          <p:cNvSpPr>
            <a:spLocks noGrp="1"/>
          </p:cNvSpPr>
          <p:nvPr>
            <p:custDataLst>
              <p:tags r:id="rId26"/>
            </p:custDataLst>
          </p:nvPr>
        </p:nvSpPr>
        <p:spPr bwMode="auto">
          <a:xfrm>
            <a:off x="6818313" y="5124450"/>
            <a:ext cx="936625" cy="85090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A8BF188-34A9-43E9-B9AA-9D38ABC08E8F}" type="datetime'To''t''al certifi''e''d/''&#10;veri''f''i''ed&#10;pro''''du''''ction'">
              <a:rPr lang="en-US" sz="1400" b="1">
                <a:solidFill>
                  <a:schemeClr val="accent1"/>
                </a:solidFill>
              </a:rPr>
              <a:pPr/>
              <a:t>Total certified/
verified
production</a:t>
            </a:fld>
            <a:endParaRPr lang="en-US" sz="1400" b="1" dirty="0">
              <a:solidFill>
                <a:schemeClr val="accent1"/>
              </a:solidFill>
              <a:latin typeface="Arial"/>
              <a:sym typeface="Arial"/>
            </a:endParaRPr>
          </a:p>
        </p:txBody>
      </p:sp>
      <p:sp>
        <p:nvSpPr>
          <p:cNvPr id="44" name="Text Placeholder 10"/>
          <p:cNvSpPr>
            <a:spLocks noGrp="1"/>
          </p:cNvSpPr>
          <p:nvPr>
            <p:custDataLst>
              <p:tags r:id="rId27"/>
            </p:custDataLst>
          </p:nvPr>
        </p:nvSpPr>
        <p:spPr bwMode="auto">
          <a:xfrm>
            <a:off x="1382713" y="5124450"/>
            <a:ext cx="7207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142BA3D0-33E7-4750-8ABB-7B567E57CA55}" type="datetime'''F''''a''''''''''''''''i''''r''t''''''''''''''''''ra''de'''">
              <a:rPr lang="en-US" sz="1400">
                <a:solidFill>
                  <a:schemeClr val="accent1"/>
                </a:solidFill>
              </a:rPr>
              <a:pPr/>
              <a:t>Fairtrade</a:t>
            </a:fld>
            <a:endParaRPr lang="en-US" sz="1400" dirty="0">
              <a:solidFill>
                <a:schemeClr val="accent1"/>
              </a:solidFill>
              <a:sym typeface="+mn-lt"/>
            </a:endParaRPr>
          </a:p>
        </p:txBody>
      </p:sp>
      <p:sp>
        <p:nvSpPr>
          <p:cNvPr id="53" name="Text Placeholder 38"/>
          <p:cNvSpPr>
            <a:spLocks noGrp="1"/>
          </p:cNvSpPr>
          <p:nvPr>
            <p:custDataLst>
              <p:tags r:id="rId28"/>
            </p:custDataLst>
          </p:nvPr>
        </p:nvSpPr>
        <p:spPr bwMode="gray">
          <a:xfrm>
            <a:off x="2519363" y="2970213"/>
            <a:ext cx="296863" cy="212725"/>
          </a:xfrm>
          <a:prstGeom prst="rect">
            <a:avLst/>
          </a:prstGeom>
          <a:noFill/>
          <a:extLst>
            <a:ext uri="{909E8E84-426E-40DD-AFC4-6F175D3DCCD1}">
              <a14:hiddenFill xmlns:a14="http://schemas.microsoft.com/office/drawing/2010/main">
                <a:solidFill>
                  <a:srgbClr val="FFFFFF"/>
                </a:solidFill>
              </a14:hiddenFill>
            </a:ext>
          </a:extLst>
        </p:spPr>
        <p:txBody>
          <a:bodyPr wrap="none" lIns="25400" tIns="0" rIns="2540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5A8A74CA-1637-4166-AA5D-AB92513C42E9}" type="datetime'''''1''''''''''''''''''''''''''''''.''''''''''''''''''''3'''''">
              <a:rPr lang="en-US" sz="1400">
                <a:solidFill>
                  <a:schemeClr val="accent1"/>
                </a:solidFill>
              </a:rPr>
              <a:pPr/>
              <a:t>1.3</a:t>
            </a:fld>
            <a:endParaRPr lang="en-US" sz="1400" dirty="0">
              <a:solidFill>
                <a:schemeClr val="accent1"/>
              </a:solidFill>
              <a:latin typeface="Arial"/>
              <a:sym typeface="Arial"/>
            </a:endParaRPr>
          </a:p>
        </p:txBody>
      </p:sp>
      <p:sp>
        <p:nvSpPr>
          <p:cNvPr id="51" name="Text Placeholder 31"/>
          <p:cNvSpPr>
            <a:spLocks noGrp="1"/>
          </p:cNvSpPr>
          <p:nvPr>
            <p:custDataLst>
              <p:tags r:id="rId29"/>
            </p:custDataLst>
          </p:nvPr>
        </p:nvSpPr>
        <p:spPr bwMode="gray">
          <a:xfrm>
            <a:off x="1595438" y="3298825"/>
            <a:ext cx="296863" cy="212725"/>
          </a:xfrm>
          <a:prstGeom prst="rect">
            <a:avLst/>
          </a:prstGeom>
          <a:noFill/>
          <a:extLst>
            <a:ext uri="{909E8E84-426E-40DD-AFC4-6F175D3DCCD1}">
              <a14:hiddenFill xmlns:a14="http://schemas.microsoft.com/office/drawing/2010/main">
                <a:solidFill>
                  <a:srgbClr val="FFFFFF"/>
                </a:solidFill>
              </a14:hiddenFill>
            </a:ext>
          </a:extLst>
        </p:spPr>
        <p:txBody>
          <a:bodyPr wrap="none" lIns="25400" tIns="0" rIns="2540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EEC2AB65-ED57-42BC-9E4E-E36678A5A0F5}" type="datetime'''''''''''''''1''.''''''''7'''''">
              <a:rPr lang="en-US" sz="1400">
                <a:solidFill>
                  <a:schemeClr val="accent1"/>
                </a:solidFill>
              </a:rPr>
              <a:pPr/>
              <a:t>1.7</a:t>
            </a:fld>
            <a:endParaRPr lang="en-US" sz="1400" dirty="0">
              <a:solidFill>
                <a:schemeClr val="accent1"/>
              </a:solidFill>
              <a:sym typeface="+mn-lt"/>
            </a:endParaRPr>
          </a:p>
        </p:txBody>
      </p:sp>
      <p:sp>
        <p:nvSpPr>
          <p:cNvPr id="49" name="Text Placeholder 9"/>
          <p:cNvSpPr>
            <a:spLocks noGrp="1"/>
          </p:cNvSpPr>
          <p:nvPr>
            <p:custDataLst>
              <p:tags r:id="rId30"/>
            </p:custDataLst>
          </p:nvPr>
        </p:nvSpPr>
        <p:spPr bwMode="auto">
          <a:xfrm>
            <a:off x="700088" y="5124450"/>
            <a:ext cx="239713"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B77747EE-9E6E-4479-8696-E2449927B13F}" type="datetime'''''''''''''4''''''''''''''C'''''''''''''''''''''''''''''''">
              <a:rPr lang="en-US" sz="1400">
                <a:solidFill>
                  <a:schemeClr val="accent1"/>
                </a:solidFill>
              </a:rPr>
              <a:pPr/>
              <a:t>4C</a:t>
            </a:fld>
            <a:endParaRPr lang="en-US" sz="1400" dirty="0">
              <a:solidFill>
                <a:schemeClr val="accent1"/>
              </a:solidFill>
              <a:sym typeface="+mn-lt"/>
            </a:endParaRPr>
          </a:p>
        </p:txBody>
      </p:sp>
      <p:sp>
        <p:nvSpPr>
          <p:cNvPr id="75" name="Text Placeholder 8"/>
          <p:cNvSpPr>
            <a:spLocks noGrp="1"/>
          </p:cNvSpPr>
          <p:nvPr>
            <p:custDataLst>
              <p:tags r:id="rId31"/>
            </p:custDataLst>
          </p:nvPr>
        </p:nvSpPr>
        <p:spPr bwMode="gray">
          <a:xfrm>
            <a:off x="671513" y="4170363"/>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634EDB4-37AC-4515-A6C3-837A0D0D9F86}" type="datetime'''''''6''''.''''''''''''''''1'''''''''''''''''''''''''''">
              <a:rPr lang="en-US" sz="1400">
                <a:solidFill>
                  <a:schemeClr val="accent1"/>
                </a:solidFill>
              </a:rPr>
              <a:pPr/>
              <a:t>6.1</a:t>
            </a:fld>
            <a:endParaRPr lang="en-US" sz="1400" dirty="0">
              <a:solidFill>
                <a:schemeClr val="accent1"/>
              </a:solidFill>
              <a:latin typeface="Arial"/>
              <a:sym typeface="Arial"/>
            </a:endParaRPr>
          </a:p>
        </p:txBody>
      </p:sp>
      <p:cxnSp>
        <p:nvCxnSpPr>
          <p:cNvPr id="76" name="AutoShape 70"/>
          <p:cNvCxnSpPr>
            <a:cxnSpLocks noChangeShapeType="1"/>
          </p:cNvCxnSpPr>
          <p:nvPr/>
        </p:nvCxnSpPr>
        <p:spPr bwMode="auto">
          <a:xfrm>
            <a:off x="373552" y="1900238"/>
            <a:ext cx="8412480"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589509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ext uri="{D42A27DB-BD31-4B8C-83A1-F6EECF244321}">
                <p14:modId xmlns:p14="http://schemas.microsoft.com/office/powerpoint/2010/main" val="202801393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8303" name="think-cell Slide" r:id="rId6" imgW="270" imgH="270" progId="TCLayout.ActiveDocument.1">
                  <p:embed/>
                </p:oleObj>
              </mc:Choice>
              <mc:Fallback>
                <p:oleObj name="think-cell Slide" r:id="rId6" imgW="270" imgH="270"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sp>
        <p:nvSpPr>
          <p:cNvPr id="16" name="Rectangle 1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noAutofit/>
          </a:bodyPr>
          <a:lstStyle/>
          <a:p>
            <a:pPr fontAlgn="base">
              <a:spcBef>
                <a:spcPct val="0"/>
              </a:spcBef>
              <a:spcAft>
                <a:spcPct val="0"/>
              </a:spcAft>
            </a:pPr>
            <a:endParaRPr kumimoji="0" lang="en-US" sz="1000" u="none" strike="noStrike" cap="none" normalizeH="0" smtClean="0">
              <a:ln>
                <a:noFill/>
              </a:ln>
              <a:solidFill>
                <a:schemeClr val="tx1"/>
              </a:solidFill>
              <a:effectLst/>
              <a:latin typeface="Arial"/>
              <a:cs typeface="Arial"/>
              <a:sym typeface="Arial"/>
            </a:endParaRPr>
          </a:p>
        </p:txBody>
      </p:sp>
      <p:pic>
        <p:nvPicPr>
          <p:cNvPr id="168206" name="Picture 27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19642" y="1199234"/>
            <a:ext cx="5168916" cy="4941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McK Footnote"/>
          <p:cNvSpPr txBox="1">
            <a:spLocks noChangeArrowheads="1"/>
          </p:cNvSpPr>
          <p:nvPr/>
        </p:nvSpPr>
        <p:spPr bwMode="auto">
          <a:xfrm>
            <a:off x="661507" y="6224786"/>
            <a:ext cx="8485187" cy="138499"/>
          </a:xfrm>
          <a:prstGeom prst="rect">
            <a:avLst/>
          </a:prstGeom>
          <a:noFill/>
          <a:ln w="9525">
            <a:noFill/>
            <a:miter lim="800000"/>
            <a:headEnd/>
            <a:tailEnd/>
          </a:ln>
        </p:spPr>
        <p:txBody>
          <a:bodyPr lIns="0" tIns="0" rIns="0" bIns="0" anchor="b">
            <a:spAutoFit/>
          </a:bodyPr>
          <a:lstStyle/>
          <a:p>
            <a:pPr marL="563563" indent="-563563" defTabSz="895350">
              <a:spcBef>
                <a:spcPct val="20000"/>
              </a:spcBef>
              <a:tabLst>
                <a:tab pos="517525" algn="r"/>
              </a:tabLst>
            </a:pPr>
            <a:r>
              <a:rPr lang="en-US" sz="900" b="0" dirty="0" smtClean="0">
                <a:solidFill>
                  <a:schemeClr val="tx1">
                    <a:lumMod val="65000"/>
                    <a:lumOff val="35000"/>
                  </a:schemeClr>
                </a:solidFill>
              </a:rPr>
              <a:t>Source</a:t>
            </a:r>
            <a:r>
              <a:rPr lang="en-US" sz="900" b="0" dirty="0">
                <a:solidFill>
                  <a:schemeClr val="tx1">
                    <a:lumMod val="65000"/>
                    <a:lumOff val="35000"/>
                  </a:schemeClr>
                </a:solidFill>
              </a:rPr>
              <a:t>: </a:t>
            </a:r>
            <a:r>
              <a:rPr lang="en-US" sz="900" b="0" dirty="0" err="1" smtClean="0">
                <a:solidFill>
                  <a:schemeClr val="tx1">
                    <a:lumMod val="65000"/>
                    <a:lumOff val="35000"/>
                  </a:schemeClr>
                </a:solidFill>
              </a:rPr>
              <a:t>Agronet</a:t>
            </a:r>
            <a:r>
              <a:rPr lang="en-US" sz="900" b="0" dirty="0" smtClean="0">
                <a:solidFill>
                  <a:schemeClr val="tx1">
                    <a:lumMod val="65000"/>
                    <a:lumOff val="35000"/>
                  </a:schemeClr>
                </a:solidFill>
              </a:rPr>
              <a:t>, FNC</a:t>
            </a:r>
            <a:endParaRPr lang="en-US" sz="900" dirty="0">
              <a:solidFill>
                <a:schemeClr val="tx1">
                  <a:lumMod val="65000"/>
                  <a:lumOff val="35000"/>
                </a:schemeClr>
              </a:solidFill>
            </a:endParaRPr>
          </a:p>
        </p:txBody>
      </p:sp>
      <p:sp>
        <p:nvSpPr>
          <p:cNvPr id="29" name="TextBox 28"/>
          <p:cNvSpPr txBox="1"/>
          <p:nvPr/>
        </p:nvSpPr>
        <p:spPr>
          <a:xfrm>
            <a:off x="385570" y="1372855"/>
            <a:ext cx="3714798" cy="461665"/>
          </a:xfrm>
          <a:prstGeom prst="rect">
            <a:avLst/>
          </a:prstGeom>
          <a:noFill/>
        </p:spPr>
        <p:txBody>
          <a:bodyPr wrap="square" rtlCol="0">
            <a:spAutoFit/>
          </a:bodyPr>
          <a:lstStyle/>
          <a:p>
            <a:r>
              <a:rPr lang="en-US" sz="1200" b="1" dirty="0" smtClean="0">
                <a:solidFill>
                  <a:schemeClr val="accent1"/>
                </a:solidFill>
              </a:rPr>
              <a:t>Production per coffee growing region</a:t>
            </a:r>
          </a:p>
          <a:p>
            <a:r>
              <a:rPr lang="en-US" sz="1200" dirty="0" smtClean="0">
                <a:solidFill>
                  <a:schemeClr val="accent1"/>
                </a:solidFill>
              </a:rPr>
              <a:t>2012/13, million bags green coffee</a:t>
            </a:r>
            <a:endParaRPr lang="en-US" sz="1200" dirty="0">
              <a:solidFill>
                <a:schemeClr val="accent1"/>
              </a:solidFill>
            </a:endParaRPr>
          </a:p>
        </p:txBody>
      </p:sp>
      <p:sp>
        <p:nvSpPr>
          <p:cNvPr id="5" name="Rectangle 4"/>
          <p:cNvSpPr/>
          <p:nvPr/>
        </p:nvSpPr>
        <p:spPr bwMode="auto">
          <a:xfrm>
            <a:off x="7169897" y="1912689"/>
            <a:ext cx="259541" cy="149830"/>
          </a:xfrm>
          <a:prstGeom prst="rect">
            <a:avLst/>
          </a:prstGeom>
          <a:solidFill>
            <a:srgbClr val="21249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8" name="TextBox 7"/>
          <p:cNvSpPr txBox="1"/>
          <p:nvPr/>
        </p:nvSpPr>
        <p:spPr>
          <a:xfrm>
            <a:off x="7432374" y="1835365"/>
            <a:ext cx="2270328" cy="246221"/>
          </a:xfrm>
          <a:prstGeom prst="rect">
            <a:avLst/>
          </a:prstGeom>
          <a:noFill/>
        </p:spPr>
        <p:txBody>
          <a:bodyPr wrap="square" rtlCol="0">
            <a:spAutoFit/>
          </a:bodyPr>
          <a:lstStyle/>
          <a:p>
            <a:r>
              <a:rPr lang="en-US" sz="1000" dirty="0" smtClean="0">
                <a:solidFill>
                  <a:schemeClr val="accent1"/>
                </a:solidFill>
              </a:rPr>
              <a:t>&gt; 1 million bags</a:t>
            </a:r>
            <a:endParaRPr lang="en-US" sz="1000" dirty="0">
              <a:solidFill>
                <a:schemeClr val="accent1"/>
              </a:solidFill>
            </a:endParaRPr>
          </a:p>
        </p:txBody>
      </p:sp>
      <p:sp>
        <p:nvSpPr>
          <p:cNvPr id="9" name="TextBox 8"/>
          <p:cNvSpPr txBox="1"/>
          <p:nvPr/>
        </p:nvSpPr>
        <p:spPr>
          <a:xfrm>
            <a:off x="7022053" y="1411984"/>
            <a:ext cx="1981269" cy="415498"/>
          </a:xfrm>
          <a:prstGeom prst="rect">
            <a:avLst/>
          </a:prstGeom>
          <a:noFill/>
        </p:spPr>
        <p:txBody>
          <a:bodyPr wrap="square" rtlCol="0">
            <a:spAutoFit/>
          </a:bodyPr>
          <a:lstStyle/>
          <a:p>
            <a:r>
              <a:rPr lang="en-US" sz="1050" b="1" dirty="0" smtClean="0">
                <a:solidFill>
                  <a:schemeClr val="accent1"/>
                </a:solidFill>
              </a:rPr>
              <a:t>2012/13 production of bags green coffee</a:t>
            </a:r>
            <a:endParaRPr lang="en-US" sz="1050" b="1" dirty="0">
              <a:solidFill>
                <a:schemeClr val="accent1"/>
              </a:solidFill>
            </a:endParaRPr>
          </a:p>
        </p:txBody>
      </p:sp>
      <p:sp>
        <p:nvSpPr>
          <p:cNvPr id="94" name="TextBox 93"/>
          <p:cNvSpPr txBox="1"/>
          <p:nvPr/>
        </p:nvSpPr>
        <p:spPr>
          <a:xfrm>
            <a:off x="7432374" y="2074124"/>
            <a:ext cx="2270328" cy="246221"/>
          </a:xfrm>
          <a:prstGeom prst="rect">
            <a:avLst/>
          </a:prstGeom>
          <a:noFill/>
        </p:spPr>
        <p:txBody>
          <a:bodyPr wrap="square" rtlCol="0">
            <a:spAutoFit/>
          </a:bodyPr>
          <a:lstStyle/>
          <a:p>
            <a:r>
              <a:rPr lang="en-US" sz="1000" dirty="0" smtClean="0">
                <a:solidFill>
                  <a:schemeClr val="accent1"/>
                </a:solidFill>
              </a:rPr>
              <a:t>0.5 – 1 million bags</a:t>
            </a:r>
            <a:endParaRPr lang="en-US" sz="1000" dirty="0">
              <a:solidFill>
                <a:schemeClr val="accent1"/>
              </a:solidFill>
            </a:endParaRPr>
          </a:p>
        </p:txBody>
      </p:sp>
      <p:sp>
        <p:nvSpPr>
          <p:cNvPr id="95" name="TextBox 94"/>
          <p:cNvSpPr txBox="1"/>
          <p:nvPr/>
        </p:nvSpPr>
        <p:spPr>
          <a:xfrm>
            <a:off x="7432374" y="2312883"/>
            <a:ext cx="2270328" cy="246221"/>
          </a:xfrm>
          <a:prstGeom prst="rect">
            <a:avLst/>
          </a:prstGeom>
          <a:noFill/>
        </p:spPr>
        <p:txBody>
          <a:bodyPr wrap="square" rtlCol="0">
            <a:spAutoFit/>
          </a:bodyPr>
          <a:lstStyle/>
          <a:p>
            <a:r>
              <a:rPr lang="en-US" sz="1000" dirty="0" smtClean="0">
                <a:solidFill>
                  <a:schemeClr val="accent1"/>
                </a:solidFill>
              </a:rPr>
              <a:t>0.1 – 0.5 million bags</a:t>
            </a:r>
            <a:endParaRPr lang="en-US" sz="1000" dirty="0">
              <a:solidFill>
                <a:schemeClr val="accent1"/>
              </a:solidFill>
            </a:endParaRPr>
          </a:p>
        </p:txBody>
      </p:sp>
      <p:sp>
        <p:nvSpPr>
          <p:cNvPr id="96" name="TextBox 95"/>
          <p:cNvSpPr txBox="1"/>
          <p:nvPr/>
        </p:nvSpPr>
        <p:spPr>
          <a:xfrm>
            <a:off x="7432374" y="2551641"/>
            <a:ext cx="2270328" cy="246221"/>
          </a:xfrm>
          <a:prstGeom prst="rect">
            <a:avLst/>
          </a:prstGeom>
          <a:noFill/>
        </p:spPr>
        <p:txBody>
          <a:bodyPr wrap="square" rtlCol="0">
            <a:spAutoFit/>
          </a:bodyPr>
          <a:lstStyle/>
          <a:p>
            <a:r>
              <a:rPr lang="en-US" sz="1000" dirty="0" smtClean="0">
                <a:solidFill>
                  <a:schemeClr val="accent1"/>
                </a:solidFill>
              </a:rPr>
              <a:t>&lt; 0.1 million bags</a:t>
            </a:r>
            <a:endParaRPr lang="en-US" sz="1000" dirty="0">
              <a:solidFill>
                <a:schemeClr val="accent1"/>
              </a:solidFill>
            </a:endParaRPr>
          </a:p>
        </p:txBody>
      </p:sp>
      <p:sp>
        <p:nvSpPr>
          <p:cNvPr id="97" name="Rectangle 96"/>
          <p:cNvSpPr/>
          <p:nvPr/>
        </p:nvSpPr>
        <p:spPr bwMode="auto">
          <a:xfrm>
            <a:off x="7169897" y="2580901"/>
            <a:ext cx="259541" cy="149830"/>
          </a:xfrm>
          <a:prstGeom prst="rect">
            <a:avLst/>
          </a:prstGeom>
          <a:pattFill prst="ltDnDiag">
            <a:fgClr>
              <a:srgbClr val="212492"/>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98" name="Rectangle 97"/>
          <p:cNvSpPr/>
          <p:nvPr/>
        </p:nvSpPr>
        <p:spPr bwMode="auto">
          <a:xfrm>
            <a:off x="7169897" y="2358165"/>
            <a:ext cx="259541" cy="149830"/>
          </a:xfrm>
          <a:prstGeom prst="rect">
            <a:avLst/>
          </a:prstGeom>
          <a:solidFill>
            <a:srgbClr val="BEBFF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99" name="Rectangle 98"/>
          <p:cNvSpPr/>
          <p:nvPr/>
        </p:nvSpPr>
        <p:spPr bwMode="auto">
          <a:xfrm>
            <a:off x="7169897" y="2135428"/>
            <a:ext cx="259541" cy="149830"/>
          </a:xfrm>
          <a:prstGeom prst="rect">
            <a:avLst/>
          </a:prstGeom>
          <a:solidFill>
            <a:srgbClr val="7679E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14" name="Title 13"/>
          <p:cNvSpPr>
            <a:spLocks noGrp="1"/>
          </p:cNvSpPr>
          <p:nvPr>
            <p:ph type="title"/>
          </p:nvPr>
        </p:nvSpPr>
        <p:spPr/>
        <p:txBody>
          <a:bodyPr/>
          <a:lstStyle/>
          <a:p>
            <a:r>
              <a:rPr lang="en-US" b="0" dirty="0" smtClean="0"/>
              <a:t>Colombia has a range of Arabica growing regions and more than half a million farms</a:t>
            </a:r>
            <a:endParaRPr lang="en-US" b="0" dirty="0"/>
          </a:p>
        </p:txBody>
      </p:sp>
    </p:spTree>
    <p:extLst>
      <p:ext uri="{BB962C8B-B14F-4D97-AF65-F5344CB8AC3E}">
        <p14:creationId xmlns:p14="http://schemas.microsoft.com/office/powerpoint/2010/main" val="7921269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p:cNvGraphicFramePr>
            <a:graphicFrameLocks/>
          </p:cNvGraphicFramePr>
          <p:nvPr>
            <p:extLst>
              <p:ext uri="{D42A27DB-BD31-4B8C-83A1-F6EECF244321}">
                <p14:modId xmlns:p14="http://schemas.microsoft.com/office/powerpoint/2010/main" val="2576036285"/>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69230" name="think-cell Slide" r:id="rId27" imgW="360" imgH="360" progId="TCLayout.ActiveDocument.1">
                  <p:embed/>
                </p:oleObj>
              </mc:Choice>
              <mc:Fallback>
                <p:oleObj name="think-cell Slide" r:id="rId27" imgW="360" imgH="360" progId="TCLayout.ActiveDocument.1">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3" hidden="1"/>
          <p:cNvSpPr/>
          <p:nvPr>
            <p:custDataLst>
              <p:tags r:id="rId2"/>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sym typeface="+mn-lt"/>
            </a:endParaRPr>
          </a:p>
        </p:txBody>
      </p:sp>
      <p:sp>
        <p:nvSpPr>
          <p:cNvPr id="29" name="McK Footnote"/>
          <p:cNvSpPr txBox="1">
            <a:spLocks noChangeArrowheads="1"/>
          </p:cNvSpPr>
          <p:nvPr/>
        </p:nvSpPr>
        <p:spPr bwMode="auto">
          <a:xfrm>
            <a:off x="649798" y="6230741"/>
            <a:ext cx="8485187" cy="415498"/>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 Based on planted coffee area</a:t>
            </a:r>
          </a:p>
          <a:p>
            <a:pPr marL="563563" indent="-563563" defTabSz="895350">
              <a:tabLst>
                <a:tab pos="517525" algn="r"/>
              </a:tabLst>
            </a:pPr>
            <a:r>
              <a:rPr lang="en-US" sz="900" dirty="0" smtClean="0">
                <a:solidFill>
                  <a:schemeClr val="tx1">
                    <a:lumMod val="65000"/>
                    <a:lumOff val="35000"/>
                  </a:schemeClr>
                </a:solidFill>
              </a:rPr>
              <a:t>** &gt; 100,000 farmers did not take advantage of the direct income subsidy paid by the government (PIC scheme) </a:t>
            </a:r>
          </a:p>
          <a:p>
            <a:pPr marL="563563" indent="-563563" defTabSz="895350">
              <a:tabLst>
                <a:tab pos="517525" algn="r"/>
              </a:tabLst>
            </a:pPr>
            <a:r>
              <a:rPr lang="en-US" sz="900" dirty="0" smtClean="0">
                <a:solidFill>
                  <a:schemeClr val="tx1">
                    <a:lumMod val="65000"/>
                    <a:lumOff val="35000"/>
                  </a:schemeClr>
                </a:solidFill>
              </a:rPr>
              <a:t>Source: FNC; interviews</a:t>
            </a:r>
            <a:endParaRPr lang="en-US" sz="900" dirty="0">
              <a:solidFill>
                <a:schemeClr val="tx1">
                  <a:lumMod val="65000"/>
                  <a:lumOff val="35000"/>
                </a:schemeClr>
              </a:solidFill>
            </a:endParaRPr>
          </a:p>
        </p:txBody>
      </p:sp>
      <p:cxnSp>
        <p:nvCxnSpPr>
          <p:cNvPr id="33" name="Straight Connector 32"/>
          <p:cNvCxnSpPr/>
          <p:nvPr>
            <p:custDataLst>
              <p:tags r:id="rId3"/>
            </p:custDataLst>
          </p:nvPr>
        </p:nvCxnSpPr>
        <p:spPr bwMode="gray">
          <a:xfrm>
            <a:off x="827088" y="5334000"/>
            <a:ext cx="7739063" cy="0"/>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custDataLst>
              <p:tags r:id="rId4"/>
            </p:custDataLst>
          </p:nvPr>
        </p:nvCxnSpPr>
        <p:spPr bwMode="gray">
          <a:xfrm flipV="1">
            <a:off x="8561388" y="5334000"/>
            <a:ext cx="0" cy="58738"/>
          </a:xfrm>
          <a:prstGeom prst="line">
            <a:avLst/>
          </a:prstGeom>
          <a:solidFill>
            <a:schemeClr val="accent1"/>
          </a:solidFill>
          <a:ln w="9525" cap="flat" cmpd="sng" algn="ctr">
            <a:solidFill>
              <a:srgbClr val="D52B1E"/>
            </a:solidFill>
            <a:prstDash val="solid"/>
            <a:round/>
            <a:headEnd type="none" w="med" len="med"/>
            <a:tailEnd type="none" w="med" len="med"/>
          </a:ln>
          <a:effectLst/>
        </p:spPr>
      </p:cxnSp>
      <p:cxnSp>
        <p:nvCxnSpPr>
          <p:cNvPr id="11" name="Straight Connector 10"/>
          <p:cNvCxnSpPr/>
          <p:nvPr>
            <p:custDataLst>
              <p:tags r:id="rId5"/>
            </p:custDataLst>
          </p:nvPr>
        </p:nvCxnSpPr>
        <p:spPr bwMode="gray">
          <a:xfrm flipV="1">
            <a:off x="7272338" y="5334000"/>
            <a:ext cx="0" cy="58738"/>
          </a:xfrm>
          <a:prstGeom prst="line">
            <a:avLst/>
          </a:prstGeom>
          <a:solidFill>
            <a:schemeClr val="accent1"/>
          </a:solidFill>
          <a:ln w="9525" cap="flat" cmpd="sng" algn="ctr">
            <a:solidFill>
              <a:srgbClr val="D52B1E"/>
            </a:solidFill>
            <a:prstDash val="solid"/>
            <a:round/>
            <a:headEnd type="none" w="med" len="med"/>
            <a:tailEnd type="none" w="med" len="med"/>
          </a:ln>
          <a:effectLst/>
        </p:spPr>
      </p:cxnSp>
      <p:cxnSp>
        <p:nvCxnSpPr>
          <p:cNvPr id="10" name="Straight Connector 9"/>
          <p:cNvCxnSpPr/>
          <p:nvPr>
            <p:custDataLst>
              <p:tags r:id="rId6"/>
            </p:custDataLst>
          </p:nvPr>
        </p:nvCxnSpPr>
        <p:spPr bwMode="gray">
          <a:xfrm flipV="1">
            <a:off x="5984875" y="5334000"/>
            <a:ext cx="0" cy="58738"/>
          </a:xfrm>
          <a:prstGeom prst="line">
            <a:avLst/>
          </a:prstGeom>
          <a:solidFill>
            <a:schemeClr val="accent1"/>
          </a:solidFill>
          <a:ln w="9525" cap="flat" cmpd="sng" algn="ctr">
            <a:solidFill>
              <a:srgbClr val="D52B1E"/>
            </a:solidFill>
            <a:prstDash val="solid"/>
            <a:round/>
            <a:headEnd type="none" w="med" len="med"/>
            <a:tailEnd type="none" w="med" len="med"/>
          </a:ln>
          <a:effectLst/>
        </p:spPr>
      </p:cxnSp>
      <p:cxnSp>
        <p:nvCxnSpPr>
          <p:cNvPr id="9" name="Straight Connector 8"/>
          <p:cNvCxnSpPr/>
          <p:nvPr>
            <p:custDataLst>
              <p:tags r:id="rId7"/>
            </p:custDataLst>
          </p:nvPr>
        </p:nvCxnSpPr>
        <p:spPr bwMode="gray">
          <a:xfrm flipV="1">
            <a:off x="4695825" y="5334000"/>
            <a:ext cx="0" cy="58738"/>
          </a:xfrm>
          <a:prstGeom prst="line">
            <a:avLst/>
          </a:prstGeom>
          <a:solidFill>
            <a:schemeClr val="accent1"/>
          </a:solidFill>
          <a:ln w="9525" cap="flat" cmpd="sng" algn="ctr">
            <a:solidFill>
              <a:srgbClr val="D52B1E"/>
            </a:solidFill>
            <a:prstDash val="solid"/>
            <a:round/>
            <a:headEnd type="none" w="med" len="med"/>
            <a:tailEnd type="none" w="med" len="med"/>
          </a:ln>
          <a:effectLst/>
        </p:spPr>
      </p:cxnSp>
      <p:cxnSp>
        <p:nvCxnSpPr>
          <p:cNvPr id="8" name="Straight Connector 7"/>
          <p:cNvCxnSpPr/>
          <p:nvPr>
            <p:custDataLst>
              <p:tags r:id="rId8"/>
            </p:custDataLst>
          </p:nvPr>
        </p:nvCxnSpPr>
        <p:spPr bwMode="gray">
          <a:xfrm flipV="1">
            <a:off x="3408363" y="5334000"/>
            <a:ext cx="0" cy="58738"/>
          </a:xfrm>
          <a:prstGeom prst="line">
            <a:avLst/>
          </a:prstGeom>
          <a:solidFill>
            <a:schemeClr val="accent1"/>
          </a:solidFill>
          <a:ln w="9525" cap="flat" cmpd="sng" algn="ctr">
            <a:solidFill>
              <a:srgbClr val="D52B1E"/>
            </a:solidFill>
            <a:prstDash val="solid"/>
            <a:round/>
            <a:headEnd type="none" w="med" len="med"/>
            <a:tailEnd type="none" w="med" len="med"/>
          </a:ln>
          <a:effectLst/>
        </p:spPr>
      </p:cxnSp>
      <p:cxnSp>
        <p:nvCxnSpPr>
          <p:cNvPr id="7" name="Straight Connector 6"/>
          <p:cNvCxnSpPr/>
          <p:nvPr>
            <p:custDataLst>
              <p:tags r:id="rId9"/>
            </p:custDataLst>
          </p:nvPr>
        </p:nvCxnSpPr>
        <p:spPr bwMode="gray">
          <a:xfrm flipV="1">
            <a:off x="2119313" y="5334000"/>
            <a:ext cx="0" cy="58738"/>
          </a:xfrm>
          <a:prstGeom prst="line">
            <a:avLst/>
          </a:prstGeom>
          <a:solidFill>
            <a:schemeClr val="accent1"/>
          </a:solidFill>
          <a:ln w="9525" cap="flat" cmpd="sng" algn="ctr">
            <a:solidFill>
              <a:srgbClr val="D52B1E"/>
            </a:solidFill>
            <a:prstDash val="solid"/>
            <a:round/>
            <a:headEnd type="none" w="med" len="med"/>
            <a:tailEnd type="none" w="med" len="med"/>
          </a:ln>
          <a:effectLst/>
        </p:spPr>
      </p:cxnSp>
      <p:cxnSp>
        <p:nvCxnSpPr>
          <p:cNvPr id="6" name="Straight Connector 5"/>
          <p:cNvCxnSpPr/>
          <p:nvPr>
            <p:custDataLst>
              <p:tags r:id="rId10"/>
            </p:custDataLst>
          </p:nvPr>
        </p:nvCxnSpPr>
        <p:spPr bwMode="gray">
          <a:xfrm flipV="1">
            <a:off x="831850" y="5334000"/>
            <a:ext cx="0" cy="58738"/>
          </a:xfrm>
          <a:prstGeom prst="line">
            <a:avLst/>
          </a:prstGeom>
          <a:solidFill>
            <a:schemeClr val="accent1"/>
          </a:solidFill>
          <a:ln w="9525" cap="flat" cmpd="sng" algn="ctr">
            <a:solidFill>
              <a:srgbClr val="D52B1E"/>
            </a:solidFill>
            <a:prstDash val="solid"/>
            <a:round/>
            <a:headEnd type="none" w="med" len="med"/>
            <a:tailEnd type="none" w="med" len="med"/>
          </a:ln>
          <a:effectLst/>
        </p:spPr>
      </p:cxnSp>
      <p:sp>
        <p:nvSpPr>
          <p:cNvPr id="21" name="Text Placeholder 65"/>
          <p:cNvSpPr>
            <a:spLocks noGrp="1"/>
          </p:cNvSpPr>
          <p:nvPr>
            <p:custDataLst>
              <p:tags r:id="rId11"/>
            </p:custDataLst>
          </p:nvPr>
        </p:nvSpPr>
        <p:spPr bwMode="gray">
          <a:xfrm>
            <a:off x="8242300" y="5495925"/>
            <a:ext cx="6397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233363" indent="-233363" algn="l" defTabSz="914400" rtl="0" eaLnBrk="1" latinLnBrk="0" hangingPunct="1">
              <a:lnSpc>
                <a:spcPct val="105000"/>
              </a:lnSpc>
              <a:spcBef>
                <a:spcPts val="0"/>
              </a:spcBef>
              <a:spcAft>
                <a:spcPts val="600"/>
              </a:spcAft>
              <a:buClr>
                <a:schemeClr val="accent1"/>
              </a:buClr>
              <a:buSzPct val="100000"/>
              <a:buFont typeface="Arial" pitchFamily="34" charset="0"/>
              <a:buChar char="•"/>
              <a:defRPr sz="2000" kern="1200">
                <a:solidFill>
                  <a:schemeClr val="accent2"/>
                </a:solidFill>
                <a:latin typeface="+mn-lt"/>
                <a:ea typeface="+mn-ea"/>
                <a:cs typeface="+mn-cs"/>
              </a:defRPr>
            </a:lvl1pPr>
            <a:lvl2pPr marL="517525" indent="-171450" algn="l" defTabSz="914400" rtl="0" eaLnBrk="1" latinLnBrk="0" hangingPunct="1">
              <a:lnSpc>
                <a:spcPct val="105000"/>
              </a:lnSpc>
              <a:spcBef>
                <a:spcPts val="0"/>
              </a:spcBef>
              <a:spcAft>
                <a:spcPts val="600"/>
              </a:spcAft>
              <a:buClr>
                <a:schemeClr val="accent2"/>
              </a:buClr>
              <a:buSzPct val="100000"/>
              <a:buFont typeface="Arial" pitchFamily="34" charset="0"/>
              <a:buChar char="̶"/>
              <a:defRPr sz="1600" kern="1200">
                <a:solidFill>
                  <a:schemeClr val="accent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0000"/>
              </a:lnSpc>
              <a:spcBef>
                <a:spcPct val="0"/>
              </a:spcBef>
              <a:spcAft>
                <a:spcPct val="0"/>
              </a:spcAft>
              <a:buNone/>
            </a:pPr>
            <a:fld id="{F2BF1AAE-EA34-4107-A998-C48D24617A52}" type="datetime'''''6''''''''''''''''''''''''0''0'''',0''''0''''''0'">
              <a:rPr lang="en-US" sz="1400">
                <a:solidFill>
                  <a:schemeClr val="accent1"/>
                </a:solidFill>
              </a:rPr>
              <a:pPr/>
              <a:t>600,000</a:t>
            </a:fld>
            <a:endParaRPr lang="en-US" sz="1400" dirty="0">
              <a:solidFill>
                <a:schemeClr val="accent1"/>
              </a:solidFill>
              <a:sym typeface="+mn-lt"/>
            </a:endParaRPr>
          </a:p>
        </p:txBody>
      </p:sp>
      <p:sp>
        <p:nvSpPr>
          <p:cNvPr id="22" name="Text Placeholder 64"/>
          <p:cNvSpPr>
            <a:spLocks noGrp="1"/>
          </p:cNvSpPr>
          <p:nvPr>
            <p:custDataLst>
              <p:tags r:id="rId12"/>
            </p:custDataLst>
          </p:nvPr>
        </p:nvSpPr>
        <p:spPr bwMode="gray">
          <a:xfrm>
            <a:off x="6953250" y="5495925"/>
            <a:ext cx="6397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233363" indent="-233363" algn="l" defTabSz="914400" rtl="0" eaLnBrk="1" latinLnBrk="0" hangingPunct="1">
              <a:lnSpc>
                <a:spcPct val="105000"/>
              </a:lnSpc>
              <a:spcBef>
                <a:spcPts val="0"/>
              </a:spcBef>
              <a:spcAft>
                <a:spcPts val="600"/>
              </a:spcAft>
              <a:buClr>
                <a:schemeClr val="accent1"/>
              </a:buClr>
              <a:buSzPct val="100000"/>
              <a:buFont typeface="Arial" pitchFamily="34" charset="0"/>
              <a:buChar char="•"/>
              <a:defRPr sz="2000" kern="1200">
                <a:solidFill>
                  <a:schemeClr val="accent2"/>
                </a:solidFill>
                <a:latin typeface="+mn-lt"/>
                <a:ea typeface="+mn-ea"/>
                <a:cs typeface="+mn-cs"/>
              </a:defRPr>
            </a:lvl1pPr>
            <a:lvl2pPr marL="517525" indent="-171450" algn="l" defTabSz="914400" rtl="0" eaLnBrk="1" latinLnBrk="0" hangingPunct="1">
              <a:lnSpc>
                <a:spcPct val="105000"/>
              </a:lnSpc>
              <a:spcBef>
                <a:spcPts val="0"/>
              </a:spcBef>
              <a:spcAft>
                <a:spcPts val="600"/>
              </a:spcAft>
              <a:buClr>
                <a:schemeClr val="accent2"/>
              </a:buClr>
              <a:buSzPct val="100000"/>
              <a:buFont typeface="Arial" pitchFamily="34" charset="0"/>
              <a:buChar char="̶"/>
              <a:defRPr sz="1600" kern="1200">
                <a:solidFill>
                  <a:schemeClr val="accent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0000"/>
              </a:lnSpc>
              <a:spcBef>
                <a:spcPct val="0"/>
              </a:spcBef>
              <a:spcAft>
                <a:spcPct val="0"/>
              </a:spcAft>
              <a:buNone/>
            </a:pPr>
            <a:fld id="{BFD984BD-FC4C-4A97-A476-C02CDD82700C}" type="datetime'''''''''''''''''5''0''''''''0,''''''''0''''''''''00'">
              <a:rPr lang="en-US" sz="1400">
                <a:solidFill>
                  <a:schemeClr val="accent1"/>
                </a:solidFill>
              </a:rPr>
              <a:pPr/>
              <a:t>500,000</a:t>
            </a:fld>
            <a:endParaRPr lang="en-US" sz="1400" dirty="0">
              <a:solidFill>
                <a:schemeClr val="accent1"/>
              </a:solidFill>
              <a:sym typeface="+mn-lt"/>
            </a:endParaRPr>
          </a:p>
        </p:txBody>
      </p:sp>
      <p:sp>
        <p:nvSpPr>
          <p:cNvPr id="23" name="Text Placeholder 63"/>
          <p:cNvSpPr>
            <a:spLocks noGrp="1"/>
          </p:cNvSpPr>
          <p:nvPr>
            <p:custDataLst>
              <p:tags r:id="rId13"/>
            </p:custDataLst>
          </p:nvPr>
        </p:nvSpPr>
        <p:spPr bwMode="gray">
          <a:xfrm>
            <a:off x="5665788" y="5495925"/>
            <a:ext cx="6397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233363" indent="-233363" algn="l" defTabSz="914400" rtl="0" eaLnBrk="1" latinLnBrk="0" hangingPunct="1">
              <a:lnSpc>
                <a:spcPct val="105000"/>
              </a:lnSpc>
              <a:spcBef>
                <a:spcPts val="0"/>
              </a:spcBef>
              <a:spcAft>
                <a:spcPts val="600"/>
              </a:spcAft>
              <a:buClr>
                <a:schemeClr val="accent1"/>
              </a:buClr>
              <a:buSzPct val="100000"/>
              <a:buFont typeface="Arial" pitchFamily="34" charset="0"/>
              <a:buChar char="•"/>
              <a:defRPr sz="2000" kern="1200">
                <a:solidFill>
                  <a:schemeClr val="accent2"/>
                </a:solidFill>
                <a:latin typeface="+mn-lt"/>
                <a:ea typeface="+mn-ea"/>
                <a:cs typeface="+mn-cs"/>
              </a:defRPr>
            </a:lvl1pPr>
            <a:lvl2pPr marL="517525" indent="-171450" algn="l" defTabSz="914400" rtl="0" eaLnBrk="1" latinLnBrk="0" hangingPunct="1">
              <a:lnSpc>
                <a:spcPct val="105000"/>
              </a:lnSpc>
              <a:spcBef>
                <a:spcPts val="0"/>
              </a:spcBef>
              <a:spcAft>
                <a:spcPts val="600"/>
              </a:spcAft>
              <a:buClr>
                <a:schemeClr val="accent2"/>
              </a:buClr>
              <a:buSzPct val="100000"/>
              <a:buFont typeface="Arial" pitchFamily="34" charset="0"/>
              <a:buChar char="̶"/>
              <a:defRPr sz="1600" kern="1200">
                <a:solidFill>
                  <a:schemeClr val="accent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0000"/>
              </a:lnSpc>
              <a:spcBef>
                <a:spcPct val="0"/>
              </a:spcBef>
              <a:spcAft>
                <a:spcPct val="0"/>
              </a:spcAft>
              <a:buNone/>
            </a:pPr>
            <a:fld id="{EC926906-E0C8-4CF9-8AF2-C1E938AE3E54}" type="datetime'''''''''4''''''''''''''''''''00'',''0''''0''''''0'''">
              <a:rPr lang="en-US" sz="1400">
                <a:solidFill>
                  <a:schemeClr val="accent1"/>
                </a:solidFill>
              </a:rPr>
              <a:pPr/>
              <a:t>400,000</a:t>
            </a:fld>
            <a:endParaRPr lang="en-US" sz="1400" dirty="0">
              <a:solidFill>
                <a:schemeClr val="accent1"/>
              </a:solidFill>
              <a:sym typeface="+mn-lt"/>
            </a:endParaRPr>
          </a:p>
        </p:txBody>
      </p:sp>
      <p:sp>
        <p:nvSpPr>
          <p:cNvPr id="25" name="Text Placeholder 61"/>
          <p:cNvSpPr>
            <a:spLocks noGrp="1"/>
          </p:cNvSpPr>
          <p:nvPr>
            <p:custDataLst>
              <p:tags r:id="rId14"/>
            </p:custDataLst>
          </p:nvPr>
        </p:nvSpPr>
        <p:spPr bwMode="gray">
          <a:xfrm>
            <a:off x="4376738" y="5495925"/>
            <a:ext cx="6397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233363" indent="-233363" algn="l" defTabSz="914400" rtl="0" eaLnBrk="1" latinLnBrk="0" hangingPunct="1">
              <a:lnSpc>
                <a:spcPct val="105000"/>
              </a:lnSpc>
              <a:spcBef>
                <a:spcPts val="0"/>
              </a:spcBef>
              <a:spcAft>
                <a:spcPts val="600"/>
              </a:spcAft>
              <a:buClr>
                <a:schemeClr val="accent1"/>
              </a:buClr>
              <a:buSzPct val="100000"/>
              <a:buFont typeface="Arial" pitchFamily="34" charset="0"/>
              <a:buChar char="•"/>
              <a:defRPr sz="2000" kern="1200">
                <a:solidFill>
                  <a:schemeClr val="accent2"/>
                </a:solidFill>
                <a:latin typeface="+mn-lt"/>
                <a:ea typeface="+mn-ea"/>
                <a:cs typeface="+mn-cs"/>
              </a:defRPr>
            </a:lvl1pPr>
            <a:lvl2pPr marL="517525" indent="-171450" algn="l" defTabSz="914400" rtl="0" eaLnBrk="1" latinLnBrk="0" hangingPunct="1">
              <a:lnSpc>
                <a:spcPct val="105000"/>
              </a:lnSpc>
              <a:spcBef>
                <a:spcPts val="0"/>
              </a:spcBef>
              <a:spcAft>
                <a:spcPts val="600"/>
              </a:spcAft>
              <a:buClr>
                <a:schemeClr val="accent2"/>
              </a:buClr>
              <a:buSzPct val="100000"/>
              <a:buFont typeface="Arial" pitchFamily="34" charset="0"/>
              <a:buChar char="̶"/>
              <a:defRPr sz="1600" kern="1200">
                <a:solidFill>
                  <a:schemeClr val="accent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0000"/>
              </a:lnSpc>
              <a:spcBef>
                <a:spcPct val="0"/>
              </a:spcBef>
              <a:spcAft>
                <a:spcPct val="0"/>
              </a:spcAft>
              <a:buNone/>
            </a:pPr>
            <a:fld id="{89924B6B-DEEF-4CD5-9848-A475E2A5EF1D}" type="datetime'''3''''''0''''0'''''',''''''0''0''''''''''''''''''''''''''0'">
              <a:rPr lang="en-US" sz="1400">
                <a:solidFill>
                  <a:schemeClr val="accent1"/>
                </a:solidFill>
              </a:rPr>
              <a:pPr/>
              <a:t>300,000</a:t>
            </a:fld>
            <a:endParaRPr lang="en-US" sz="1400" dirty="0">
              <a:solidFill>
                <a:schemeClr val="accent1"/>
              </a:solidFill>
              <a:sym typeface="+mn-lt"/>
            </a:endParaRPr>
          </a:p>
        </p:txBody>
      </p:sp>
      <p:sp>
        <p:nvSpPr>
          <p:cNvPr id="27" name="Text Placeholder 59"/>
          <p:cNvSpPr>
            <a:spLocks noGrp="1"/>
          </p:cNvSpPr>
          <p:nvPr>
            <p:custDataLst>
              <p:tags r:id="rId15"/>
            </p:custDataLst>
          </p:nvPr>
        </p:nvSpPr>
        <p:spPr bwMode="gray">
          <a:xfrm>
            <a:off x="3089275" y="5495925"/>
            <a:ext cx="6397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233363" indent="-233363" algn="l" defTabSz="914400" rtl="0" eaLnBrk="1" latinLnBrk="0" hangingPunct="1">
              <a:lnSpc>
                <a:spcPct val="105000"/>
              </a:lnSpc>
              <a:spcBef>
                <a:spcPts val="0"/>
              </a:spcBef>
              <a:spcAft>
                <a:spcPts val="600"/>
              </a:spcAft>
              <a:buClr>
                <a:schemeClr val="accent1"/>
              </a:buClr>
              <a:buSzPct val="100000"/>
              <a:buFont typeface="Arial" pitchFamily="34" charset="0"/>
              <a:buChar char="•"/>
              <a:defRPr sz="2000" kern="1200">
                <a:solidFill>
                  <a:schemeClr val="accent2"/>
                </a:solidFill>
                <a:latin typeface="+mn-lt"/>
                <a:ea typeface="+mn-ea"/>
                <a:cs typeface="+mn-cs"/>
              </a:defRPr>
            </a:lvl1pPr>
            <a:lvl2pPr marL="517525" indent="-171450" algn="l" defTabSz="914400" rtl="0" eaLnBrk="1" latinLnBrk="0" hangingPunct="1">
              <a:lnSpc>
                <a:spcPct val="105000"/>
              </a:lnSpc>
              <a:spcBef>
                <a:spcPts val="0"/>
              </a:spcBef>
              <a:spcAft>
                <a:spcPts val="600"/>
              </a:spcAft>
              <a:buClr>
                <a:schemeClr val="accent2"/>
              </a:buClr>
              <a:buSzPct val="100000"/>
              <a:buFont typeface="Arial" pitchFamily="34" charset="0"/>
              <a:buChar char="̶"/>
              <a:defRPr sz="1600" kern="1200">
                <a:solidFill>
                  <a:schemeClr val="accent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0000"/>
              </a:lnSpc>
              <a:spcBef>
                <a:spcPct val="0"/>
              </a:spcBef>
              <a:spcAft>
                <a:spcPct val="0"/>
              </a:spcAft>
              <a:buNone/>
            </a:pPr>
            <a:fld id="{6B5C235D-BD6C-408E-AA8D-A9AD9FA7B04D}" type="datetime'2''0''0,''''''''''''''''0''0''''''''''''''''0'''''''''''''''''">
              <a:rPr lang="en-US" sz="1400">
                <a:solidFill>
                  <a:schemeClr val="accent1"/>
                </a:solidFill>
              </a:rPr>
              <a:pPr/>
              <a:t>200,000</a:t>
            </a:fld>
            <a:endParaRPr lang="en-US" sz="1400" dirty="0">
              <a:solidFill>
                <a:schemeClr val="accent1"/>
              </a:solidFill>
              <a:sym typeface="+mn-lt"/>
            </a:endParaRPr>
          </a:p>
        </p:txBody>
      </p:sp>
      <p:sp>
        <p:nvSpPr>
          <p:cNvPr id="20" name="Text Placeholder 57"/>
          <p:cNvSpPr>
            <a:spLocks noGrp="1"/>
          </p:cNvSpPr>
          <p:nvPr>
            <p:custDataLst>
              <p:tags r:id="rId16"/>
            </p:custDataLst>
          </p:nvPr>
        </p:nvSpPr>
        <p:spPr bwMode="gray">
          <a:xfrm>
            <a:off x="1800225" y="5495925"/>
            <a:ext cx="6397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233363" indent="-233363" algn="l" defTabSz="914400" rtl="0" eaLnBrk="1" latinLnBrk="0" hangingPunct="1">
              <a:lnSpc>
                <a:spcPct val="105000"/>
              </a:lnSpc>
              <a:spcBef>
                <a:spcPts val="0"/>
              </a:spcBef>
              <a:spcAft>
                <a:spcPts val="600"/>
              </a:spcAft>
              <a:buClr>
                <a:schemeClr val="accent1"/>
              </a:buClr>
              <a:buSzPct val="100000"/>
              <a:buFont typeface="Arial" pitchFamily="34" charset="0"/>
              <a:buChar char="•"/>
              <a:defRPr sz="2000" kern="1200">
                <a:solidFill>
                  <a:schemeClr val="accent2"/>
                </a:solidFill>
                <a:latin typeface="+mn-lt"/>
                <a:ea typeface="+mn-ea"/>
                <a:cs typeface="+mn-cs"/>
              </a:defRPr>
            </a:lvl1pPr>
            <a:lvl2pPr marL="517525" indent="-171450" algn="l" defTabSz="914400" rtl="0" eaLnBrk="1" latinLnBrk="0" hangingPunct="1">
              <a:lnSpc>
                <a:spcPct val="105000"/>
              </a:lnSpc>
              <a:spcBef>
                <a:spcPts val="0"/>
              </a:spcBef>
              <a:spcAft>
                <a:spcPts val="600"/>
              </a:spcAft>
              <a:buClr>
                <a:schemeClr val="accent2"/>
              </a:buClr>
              <a:buSzPct val="100000"/>
              <a:buFont typeface="Arial" pitchFamily="34" charset="0"/>
              <a:buChar char="̶"/>
              <a:defRPr sz="1600" kern="1200">
                <a:solidFill>
                  <a:schemeClr val="accent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0000"/>
              </a:lnSpc>
              <a:spcBef>
                <a:spcPct val="0"/>
              </a:spcBef>
              <a:spcAft>
                <a:spcPct val="0"/>
              </a:spcAft>
              <a:buNone/>
            </a:pPr>
            <a:fld id="{D879340D-A1A5-4D74-AD03-619A614EC1CD}" type="datetime'''''1''0''''''''''0'''''''''''''',0''''''''''''0''''''0'''''">
              <a:rPr lang="en-US" sz="1400">
                <a:solidFill>
                  <a:schemeClr val="accent1"/>
                </a:solidFill>
              </a:rPr>
              <a:pPr/>
              <a:t>100,000</a:t>
            </a:fld>
            <a:endParaRPr lang="en-US" sz="1400" dirty="0">
              <a:solidFill>
                <a:schemeClr val="accent1"/>
              </a:solidFill>
              <a:sym typeface="+mn-lt"/>
            </a:endParaRPr>
          </a:p>
        </p:txBody>
      </p:sp>
      <p:sp>
        <p:nvSpPr>
          <p:cNvPr id="26" name="Text Placeholder 35"/>
          <p:cNvSpPr>
            <a:spLocks noGrp="1"/>
          </p:cNvSpPr>
          <p:nvPr>
            <p:custDataLst>
              <p:tags r:id="rId17"/>
            </p:custDataLst>
          </p:nvPr>
        </p:nvSpPr>
        <p:spPr bwMode="gray">
          <a:xfrm>
            <a:off x="782638" y="5495925"/>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233363" indent="-233363" algn="l" defTabSz="914400" rtl="0" eaLnBrk="1" latinLnBrk="0" hangingPunct="1">
              <a:lnSpc>
                <a:spcPct val="105000"/>
              </a:lnSpc>
              <a:spcBef>
                <a:spcPts val="0"/>
              </a:spcBef>
              <a:spcAft>
                <a:spcPts val="600"/>
              </a:spcAft>
              <a:buClr>
                <a:schemeClr val="accent1"/>
              </a:buClr>
              <a:buSzPct val="100000"/>
              <a:buFont typeface="Arial" pitchFamily="34" charset="0"/>
              <a:buChar char="•"/>
              <a:defRPr sz="2000" kern="1200">
                <a:solidFill>
                  <a:schemeClr val="accent2"/>
                </a:solidFill>
                <a:latin typeface="+mn-lt"/>
                <a:ea typeface="+mn-ea"/>
                <a:cs typeface="+mn-cs"/>
              </a:defRPr>
            </a:lvl1pPr>
            <a:lvl2pPr marL="517525" indent="-171450" algn="l" defTabSz="914400" rtl="0" eaLnBrk="1" latinLnBrk="0" hangingPunct="1">
              <a:lnSpc>
                <a:spcPct val="105000"/>
              </a:lnSpc>
              <a:spcBef>
                <a:spcPts val="0"/>
              </a:spcBef>
              <a:spcAft>
                <a:spcPts val="600"/>
              </a:spcAft>
              <a:buClr>
                <a:schemeClr val="accent2"/>
              </a:buClr>
              <a:buSzPct val="100000"/>
              <a:buFont typeface="Arial" pitchFamily="34" charset="0"/>
              <a:buChar char="̶"/>
              <a:defRPr sz="1600" kern="1200">
                <a:solidFill>
                  <a:schemeClr val="accent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0000"/>
              </a:lnSpc>
              <a:spcBef>
                <a:spcPct val="0"/>
              </a:spcBef>
              <a:spcAft>
                <a:spcPct val="0"/>
              </a:spcAft>
              <a:buNone/>
            </a:pPr>
            <a:fld id="{C7144434-2CA3-413C-A4F7-5610293F0229}" type="datetime'''''''''''''''0'''''''''''''''''''''">
              <a:rPr lang="en-US" sz="1400">
                <a:solidFill>
                  <a:schemeClr val="accent1"/>
                </a:solidFill>
              </a:rPr>
              <a:pPr/>
              <a:t>0</a:t>
            </a:fld>
            <a:endParaRPr lang="en-US" sz="1400" dirty="0">
              <a:solidFill>
                <a:schemeClr val="accent1"/>
              </a:solidFill>
              <a:sym typeface="+mn-lt"/>
            </a:endParaRPr>
          </a:p>
        </p:txBody>
      </p:sp>
      <p:sp>
        <p:nvSpPr>
          <p:cNvPr id="32" name="Rectangle 31"/>
          <p:cNvSpPr/>
          <p:nvPr>
            <p:custDataLst>
              <p:tags r:id="rId18"/>
            </p:custDataLst>
          </p:nvPr>
        </p:nvSpPr>
        <p:spPr bwMode="auto">
          <a:xfrm>
            <a:off x="4113213" y="5202238"/>
            <a:ext cx="3932238" cy="131763"/>
          </a:xfrm>
          <a:prstGeom prst="rect">
            <a:avLst/>
          </a:prstGeom>
          <a:solidFill>
            <a:srgbClr val="D52B1E"/>
          </a:solidFill>
          <a:ln w="95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custDataLst>
              <p:tags r:id="rId19"/>
            </p:custDataLst>
          </p:nvPr>
        </p:nvSpPr>
        <p:spPr bwMode="auto">
          <a:xfrm>
            <a:off x="1227138" y="4681538"/>
            <a:ext cx="2886075" cy="652463"/>
          </a:xfrm>
          <a:prstGeom prst="rect">
            <a:avLst/>
          </a:prstGeom>
          <a:solidFill>
            <a:srgbClr val="D52B1E"/>
          </a:solidFill>
          <a:ln w="95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custDataLst>
              <p:tags r:id="rId20"/>
            </p:custDataLst>
          </p:nvPr>
        </p:nvSpPr>
        <p:spPr bwMode="auto">
          <a:xfrm>
            <a:off x="908050" y="4030663"/>
            <a:ext cx="319088" cy="1303338"/>
          </a:xfrm>
          <a:prstGeom prst="rect">
            <a:avLst/>
          </a:prstGeom>
          <a:solidFill>
            <a:srgbClr val="FFFFFF"/>
          </a:solidFill>
          <a:ln w="9525">
            <a:solidFill>
              <a:srgbClr val="D52B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custDataLst>
              <p:tags r:id="rId21"/>
            </p:custDataLst>
          </p:nvPr>
        </p:nvSpPr>
        <p:spPr bwMode="auto">
          <a:xfrm>
            <a:off x="831850" y="2728913"/>
            <a:ext cx="76200" cy="2605088"/>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38" name="Text Placeholder 23"/>
          <p:cNvSpPr>
            <a:spLocks noGrp="1"/>
          </p:cNvSpPr>
          <p:nvPr>
            <p:custDataLst>
              <p:tags r:id="rId22"/>
            </p:custDataLst>
          </p:nvPr>
        </p:nvSpPr>
        <p:spPr bwMode="gray">
          <a:xfrm>
            <a:off x="5805488" y="4964113"/>
            <a:ext cx="5476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233363" indent="-233363" algn="l" defTabSz="914400" rtl="0" eaLnBrk="1" latinLnBrk="0" hangingPunct="1">
              <a:lnSpc>
                <a:spcPct val="105000"/>
              </a:lnSpc>
              <a:spcBef>
                <a:spcPts val="0"/>
              </a:spcBef>
              <a:spcAft>
                <a:spcPts val="600"/>
              </a:spcAft>
              <a:buClr>
                <a:schemeClr val="accent1"/>
              </a:buClr>
              <a:buSzPct val="100000"/>
              <a:buFont typeface="Arial" pitchFamily="34" charset="0"/>
              <a:buChar char="•"/>
              <a:defRPr sz="2000" kern="1200">
                <a:solidFill>
                  <a:schemeClr val="accent2"/>
                </a:solidFill>
                <a:latin typeface="+mn-lt"/>
                <a:ea typeface="+mn-ea"/>
                <a:cs typeface="+mn-cs"/>
              </a:defRPr>
            </a:lvl1pPr>
            <a:lvl2pPr marL="517525" indent="-171450" algn="l" defTabSz="914400" rtl="0" eaLnBrk="1" latinLnBrk="0" hangingPunct="1">
              <a:lnSpc>
                <a:spcPct val="105000"/>
              </a:lnSpc>
              <a:spcBef>
                <a:spcPts val="0"/>
              </a:spcBef>
              <a:spcAft>
                <a:spcPts val="600"/>
              </a:spcAft>
              <a:buClr>
                <a:schemeClr val="accent2"/>
              </a:buClr>
              <a:buSzPct val="100000"/>
              <a:buFont typeface="Arial" pitchFamily="34" charset="0"/>
              <a:buChar char="̶"/>
              <a:defRPr sz="1600" kern="1200">
                <a:solidFill>
                  <a:schemeClr val="accent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0000"/>
              </a:lnSpc>
              <a:spcBef>
                <a:spcPct val="0"/>
              </a:spcBef>
              <a:spcAft>
                <a:spcPct val="0"/>
              </a:spcAft>
              <a:buNone/>
            </a:pPr>
            <a:r>
              <a:rPr lang="en-US" sz="1400" dirty="0">
                <a:solidFill>
                  <a:schemeClr val="accent1"/>
                </a:solidFill>
              </a:rPr>
              <a:t>&lt;</a:t>
            </a:r>
            <a:r>
              <a:rPr lang="en-US" sz="1400" dirty="0" smtClean="0">
                <a:solidFill>
                  <a:schemeClr val="accent1"/>
                </a:solidFill>
              </a:rPr>
              <a:t> 1 ha</a:t>
            </a:r>
            <a:endParaRPr lang="en-US" sz="1400" dirty="0">
              <a:solidFill>
                <a:schemeClr val="accent1"/>
              </a:solidFill>
              <a:sym typeface="+mn-lt"/>
            </a:endParaRPr>
          </a:p>
        </p:txBody>
      </p:sp>
      <p:sp>
        <p:nvSpPr>
          <p:cNvPr id="37" name="Text Placeholder 22"/>
          <p:cNvSpPr>
            <a:spLocks noGrp="1"/>
          </p:cNvSpPr>
          <p:nvPr>
            <p:custDataLst>
              <p:tags r:id="rId23"/>
            </p:custDataLst>
          </p:nvPr>
        </p:nvSpPr>
        <p:spPr bwMode="gray">
          <a:xfrm>
            <a:off x="2393950" y="4443413"/>
            <a:ext cx="552450" cy="212725"/>
          </a:xfrm>
          <a:prstGeom prst="rect">
            <a:avLst/>
          </a:prstGeom>
          <a:noFill/>
          <a:extLst>
            <a:ext uri="{909E8E84-426E-40DD-AFC4-6F175D3DCCD1}">
              <a14:hiddenFill xmlns:a14="http://schemas.microsoft.com/office/drawing/2010/main">
                <a:solidFill>
                  <a:schemeClr val="accent1"/>
                </a:solidFill>
              </a14:hiddenFill>
            </a:ext>
          </a:extLst>
        </p:spPr>
        <p:txBody>
          <a:bodyPr wrap="none" lIns="25400" tIns="0" rIns="25400" bIns="0" anchor="b" anchorCtr="0">
            <a:noAutofit/>
          </a:bodyPr>
          <a:lstStyle>
            <a:lvl1pPr marL="233363" indent="-233363" algn="l" defTabSz="914400" rtl="0" eaLnBrk="1" latinLnBrk="0" hangingPunct="1">
              <a:lnSpc>
                <a:spcPct val="105000"/>
              </a:lnSpc>
              <a:spcBef>
                <a:spcPts val="0"/>
              </a:spcBef>
              <a:spcAft>
                <a:spcPts val="600"/>
              </a:spcAft>
              <a:buClr>
                <a:schemeClr val="accent1"/>
              </a:buClr>
              <a:buSzPct val="100000"/>
              <a:buFont typeface="Arial" pitchFamily="34" charset="0"/>
              <a:buChar char="•"/>
              <a:defRPr sz="2000" kern="1200">
                <a:solidFill>
                  <a:schemeClr val="accent2"/>
                </a:solidFill>
                <a:latin typeface="+mn-lt"/>
                <a:ea typeface="+mn-ea"/>
                <a:cs typeface="+mn-cs"/>
              </a:defRPr>
            </a:lvl1pPr>
            <a:lvl2pPr marL="517525" indent="-171450" algn="l" defTabSz="914400" rtl="0" eaLnBrk="1" latinLnBrk="0" hangingPunct="1">
              <a:lnSpc>
                <a:spcPct val="105000"/>
              </a:lnSpc>
              <a:spcBef>
                <a:spcPts val="0"/>
              </a:spcBef>
              <a:spcAft>
                <a:spcPts val="600"/>
              </a:spcAft>
              <a:buClr>
                <a:schemeClr val="accent2"/>
              </a:buClr>
              <a:buSzPct val="100000"/>
              <a:buFont typeface="Arial" pitchFamily="34" charset="0"/>
              <a:buChar char="̶"/>
              <a:defRPr sz="1600" kern="1200">
                <a:solidFill>
                  <a:schemeClr val="accent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0000"/>
              </a:lnSpc>
              <a:spcBef>
                <a:spcPct val="0"/>
              </a:spcBef>
              <a:spcAft>
                <a:spcPct val="0"/>
              </a:spcAft>
              <a:buNone/>
            </a:pPr>
            <a:r>
              <a:rPr lang="en-US" sz="1400" dirty="0" smtClean="0">
                <a:solidFill>
                  <a:schemeClr val="accent1"/>
                </a:solidFill>
              </a:rPr>
              <a:t>1-5 ha</a:t>
            </a:r>
            <a:endParaRPr lang="en-US" sz="1400" dirty="0">
              <a:solidFill>
                <a:schemeClr val="accent1"/>
              </a:solidFill>
              <a:sym typeface="+mn-lt"/>
            </a:endParaRPr>
          </a:p>
        </p:txBody>
      </p:sp>
      <p:sp>
        <p:nvSpPr>
          <p:cNvPr id="36" name="Text Placeholder 21"/>
          <p:cNvSpPr>
            <a:spLocks noGrp="1"/>
          </p:cNvSpPr>
          <p:nvPr>
            <p:custDataLst>
              <p:tags r:id="rId24"/>
            </p:custDataLst>
          </p:nvPr>
        </p:nvSpPr>
        <p:spPr bwMode="gray">
          <a:xfrm>
            <a:off x="908050" y="3792538"/>
            <a:ext cx="650875" cy="212725"/>
          </a:xfrm>
          <a:prstGeom prst="rect">
            <a:avLst/>
          </a:prstGeom>
          <a:noFill/>
          <a:extLst>
            <a:ext uri="{909E8E84-426E-40DD-AFC4-6F175D3DCCD1}">
              <a14:hiddenFill xmlns:a14="http://schemas.microsoft.com/office/drawing/2010/main">
                <a:solidFill>
                  <a:schemeClr val="accent1"/>
                </a:solidFill>
              </a14:hiddenFill>
            </a:ext>
          </a:extLst>
        </p:spPr>
        <p:txBody>
          <a:bodyPr wrap="none" lIns="25400" tIns="0" rIns="25400" bIns="0" anchor="b" anchorCtr="0">
            <a:noAutofit/>
          </a:bodyPr>
          <a:lstStyle>
            <a:lvl1pPr marL="233363" indent="-233363" algn="l" defTabSz="914400" rtl="0" eaLnBrk="1" latinLnBrk="0" hangingPunct="1">
              <a:lnSpc>
                <a:spcPct val="105000"/>
              </a:lnSpc>
              <a:spcBef>
                <a:spcPts val="0"/>
              </a:spcBef>
              <a:spcAft>
                <a:spcPts val="600"/>
              </a:spcAft>
              <a:buClr>
                <a:schemeClr val="accent1"/>
              </a:buClr>
              <a:buSzPct val="100000"/>
              <a:buFont typeface="Arial" pitchFamily="34" charset="0"/>
              <a:buChar char="•"/>
              <a:defRPr sz="2000" kern="1200">
                <a:solidFill>
                  <a:schemeClr val="accent2"/>
                </a:solidFill>
                <a:latin typeface="+mn-lt"/>
                <a:ea typeface="+mn-ea"/>
                <a:cs typeface="+mn-cs"/>
              </a:defRPr>
            </a:lvl1pPr>
            <a:lvl2pPr marL="517525" indent="-171450" algn="l" defTabSz="914400" rtl="0" eaLnBrk="1" latinLnBrk="0" hangingPunct="1">
              <a:lnSpc>
                <a:spcPct val="105000"/>
              </a:lnSpc>
              <a:spcBef>
                <a:spcPts val="0"/>
              </a:spcBef>
              <a:spcAft>
                <a:spcPts val="600"/>
              </a:spcAft>
              <a:buClr>
                <a:schemeClr val="accent2"/>
              </a:buClr>
              <a:buSzPct val="100000"/>
              <a:buFont typeface="Arial" pitchFamily="34" charset="0"/>
              <a:buChar char="̶"/>
              <a:defRPr sz="1600" kern="1200">
                <a:solidFill>
                  <a:schemeClr val="accent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0000"/>
              </a:lnSpc>
              <a:spcBef>
                <a:spcPct val="0"/>
              </a:spcBef>
              <a:spcAft>
                <a:spcPct val="0"/>
              </a:spcAft>
              <a:buNone/>
            </a:pPr>
            <a:r>
              <a:rPr lang="en-US" sz="1400" dirty="0" smtClean="0">
                <a:solidFill>
                  <a:schemeClr val="accent1"/>
                </a:solidFill>
                <a:sym typeface="+mn-lt"/>
              </a:rPr>
              <a:t>5-10 ha</a:t>
            </a:r>
            <a:endParaRPr lang="en-US" sz="1400" dirty="0">
              <a:solidFill>
                <a:schemeClr val="accent1"/>
              </a:solidFill>
              <a:sym typeface="+mn-lt"/>
            </a:endParaRPr>
          </a:p>
        </p:txBody>
      </p:sp>
      <p:sp>
        <p:nvSpPr>
          <p:cNvPr id="31" name="Text Placeholder 34"/>
          <p:cNvSpPr>
            <a:spLocks noGrp="1"/>
          </p:cNvSpPr>
          <p:nvPr>
            <p:custDataLst>
              <p:tags r:id="rId25"/>
            </p:custDataLst>
          </p:nvPr>
        </p:nvSpPr>
        <p:spPr bwMode="gray">
          <a:xfrm>
            <a:off x="547688" y="2490788"/>
            <a:ext cx="6461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accent1"/>
                </a:solidFill>
              </a:rPr>
              <a:t>&gt; 10 ha</a:t>
            </a:r>
            <a:endParaRPr lang="en-US" sz="1400" dirty="0">
              <a:solidFill>
                <a:schemeClr val="accent1"/>
              </a:solidFill>
              <a:latin typeface="Arial"/>
              <a:sym typeface="Arial"/>
            </a:endParaRPr>
          </a:p>
        </p:txBody>
      </p:sp>
      <p:sp>
        <p:nvSpPr>
          <p:cNvPr id="40" name="TextBox 39"/>
          <p:cNvSpPr txBox="1"/>
          <p:nvPr/>
        </p:nvSpPr>
        <p:spPr>
          <a:xfrm rot="16200000">
            <a:off x="-740307" y="3901380"/>
            <a:ext cx="2616200" cy="307777"/>
          </a:xfrm>
          <a:prstGeom prst="rect">
            <a:avLst/>
          </a:prstGeom>
          <a:noFill/>
        </p:spPr>
        <p:txBody>
          <a:bodyPr wrap="square" rtlCol="0">
            <a:spAutoFit/>
          </a:bodyPr>
          <a:lstStyle/>
          <a:p>
            <a:pPr algn="ctr"/>
            <a:r>
              <a:rPr lang="en-US" sz="1400" b="1" dirty="0" smtClean="0">
                <a:solidFill>
                  <a:schemeClr val="accent1"/>
                </a:solidFill>
              </a:rPr>
              <a:t>Farm size </a:t>
            </a:r>
            <a:r>
              <a:rPr lang="en-US" sz="1400" b="1" dirty="0">
                <a:solidFill>
                  <a:schemeClr val="accent1"/>
                </a:solidFill>
              </a:rPr>
              <a:t>(</a:t>
            </a:r>
            <a:r>
              <a:rPr lang="en-US" sz="1400" b="1" dirty="0" smtClean="0">
                <a:solidFill>
                  <a:schemeClr val="accent1"/>
                </a:solidFill>
              </a:rPr>
              <a:t>hectares)</a:t>
            </a:r>
            <a:endParaRPr lang="en-US" sz="1400" b="1" dirty="0">
              <a:solidFill>
                <a:schemeClr val="accent1"/>
              </a:solidFill>
            </a:endParaRPr>
          </a:p>
        </p:txBody>
      </p:sp>
      <p:sp>
        <p:nvSpPr>
          <p:cNvPr id="42" name="TextBox 41"/>
          <p:cNvSpPr txBox="1"/>
          <p:nvPr/>
        </p:nvSpPr>
        <p:spPr>
          <a:xfrm>
            <a:off x="3521366" y="5792609"/>
            <a:ext cx="2616200" cy="307777"/>
          </a:xfrm>
          <a:prstGeom prst="rect">
            <a:avLst/>
          </a:prstGeom>
          <a:noFill/>
        </p:spPr>
        <p:txBody>
          <a:bodyPr wrap="square" rtlCol="0">
            <a:spAutoFit/>
          </a:bodyPr>
          <a:lstStyle/>
          <a:p>
            <a:pPr algn="r"/>
            <a:r>
              <a:rPr lang="en-US" sz="1400" b="1" dirty="0" smtClean="0">
                <a:solidFill>
                  <a:schemeClr val="accent1"/>
                </a:solidFill>
              </a:rPr>
              <a:t>Coffee farms (households)</a:t>
            </a:r>
          </a:p>
        </p:txBody>
      </p:sp>
      <p:sp>
        <p:nvSpPr>
          <p:cNvPr id="16" name="Title 15"/>
          <p:cNvSpPr>
            <a:spLocks noGrp="1"/>
          </p:cNvSpPr>
          <p:nvPr>
            <p:ph type="title"/>
          </p:nvPr>
        </p:nvSpPr>
        <p:spPr>
          <a:xfrm>
            <a:off x="400869" y="312738"/>
            <a:ext cx="8229600" cy="1548000"/>
          </a:xfrm>
        </p:spPr>
        <p:txBody>
          <a:bodyPr/>
          <a:lstStyle/>
          <a:p>
            <a:r>
              <a:rPr lang="en-US" b="0" dirty="0" smtClean="0"/>
              <a:t>95</a:t>
            </a:r>
            <a:r>
              <a:rPr lang="en-US" b="0" dirty="0"/>
              <a:t>% of Colombian </a:t>
            </a:r>
            <a:r>
              <a:rPr lang="en-US" b="0" dirty="0" smtClean="0"/>
              <a:t>coffee farms </a:t>
            </a:r>
            <a:r>
              <a:rPr lang="en-US" b="0" dirty="0"/>
              <a:t>have </a:t>
            </a:r>
            <a:r>
              <a:rPr lang="en-US" b="0" dirty="0" smtClean="0"/>
              <a:t>less than 5 </a:t>
            </a:r>
            <a:r>
              <a:rPr lang="en-US" b="0" dirty="0"/>
              <a:t>ha </a:t>
            </a:r>
            <a:r>
              <a:rPr lang="en-US" b="0" dirty="0" smtClean="0"/>
              <a:t>of coffee</a:t>
            </a:r>
            <a:endParaRPr lang="en-US" b="0" dirty="0"/>
          </a:p>
        </p:txBody>
      </p:sp>
      <p:sp>
        <p:nvSpPr>
          <p:cNvPr id="50" name="TextBox 49"/>
          <p:cNvSpPr txBox="1"/>
          <p:nvPr/>
        </p:nvSpPr>
        <p:spPr>
          <a:xfrm>
            <a:off x="400869" y="1292769"/>
            <a:ext cx="5310956" cy="307777"/>
          </a:xfrm>
          <a:prstGeom prst="rect">
            <a:avLst/>
          </a:prstGeom>
          <a:noFill/>
        </p:spPr>
        <p:txBody>
          <a:bodyPr wrap="square" rtlCol="0">
            <a:spAutoFit/>
          </a:bodyPr>
          <a:lstStyle/>
          <a:p>
            <a:r>
              <a:rPr lang="en-US" sz="1400" b="1" dirty="0" smtClean="0">
                <a:solidFill>
                  <a:schemeClr val="accent1"/>
                </a:solidFill>
              </a:rPr>
              <a:t>Distribution of Colombian coffee farms by coffee farm size</a:t>
            </a:r>
          </a:p>
        </p:txBody>
      </p:sp>
      <p:graphicFrame>
        <p:nvGraphicFramePr>
          <p:cNvPr id="43" name="Table 42"/>
          <p:cNvGraphicFramePr>
            <a:graphicFrameLocks noGrp="1"/>
          </p:cNvGraphicFramePr>
          <p:nvPr>
            <p:extLst>
              <p:ext uri="{D42A27DB-BD31-4B8C-83A1-F6EECF244321}">
                <p14:modId xmlns:p14="http://schemas.microsoft.com/office/powerpoint/2010/main" val="207639013"/>
              </p:ext>
            </p:extLst>
          </p:nvPr>
        </p:nvGraphicFramePr>
        <p:xfrm>
          <a:off x="3840025" y="1846574"/>
          <a:ext cx="4796615" cy="2407138"/>
        </p:xfrm>
        <a:graphic>
          <a:graphicData uri="http://schemas.openxmlformats.org/drawingml/2006/table">
            <a:tbl>
              <a:tblPr/>
              <a:tblGrid>
                <a:gridCol w="1188197"/>
                <a:gridCol w="1309710"/>
                <a:gridCol w="1149354"/>
                <a:gridCol w="1149354"/>
              </a:tblGrid>
              <a:tr h="732482">
                <a:tc>
                  <a:txBody>
                    <a:bodyPr/>
                    <a:lstStyle/>
                    <a:p>
                      <a:pPr algn="ctr" fontAlgn="ctr"/>
                      <a:r>
                        <a:rPr lang="en-US" sz="1200" b="1" i="0" u="none" strike="noStrike" dirty="0" smtClean="0">
                          <a:solidFill>
                            <a:schemeClr val="tx2">
                              <a:lumMod val="50000"/>
                              <a:lumOff val="50000"/>
                            </a:schemeClr>
                          </a:solidFill>
                          <a:latin typeface="Arial"/>
                        </a:rPr>
                        <a:t>Area</a:t>
                      </a:r>
                      <a:r>
                        <a:rPr lang="en-US" sz="1200" b="1" i="0" u="none" strike="noStrike" baseline="0" dirty="0" smtClean="0">
                          <a:solidFill>
                            <a:schemeClr val="tx2">
                              <a:lumMod val="50000"/>
                              <a:lumOff val="50000"/>
                            </a:schemeClr>
                          </a:solidFill>
                          <a:latin typeface="Arial"/>
                        </a:rPr>
                        <a:t> under coffee </a:t>
                      </a:r>
                      <a:r>
                        <a:rPr lang="en-US" sz="1200" b="1" i="0" u="none" strike="noStrike" dirty="0" smtClean="0">
                          <a:solidFill>
                            <a:schemeClr val="tx2">
                              <a:lumMod val="50000"/>
                              <a:lumOff val="50000"/>
                            </a:schemeClr>
                          </a:solidFill>
                          <a:latin typeface="Arial"/>
                        </a:rPr>
                        <a:t>(ha</a:t>
                      </a:r>
                      <a:r>
                        <a:rPr lang="en-US" sz="1200" b="1" i="0" u="none" strike="noStrike" dirty="0">
                          <a:solidFill>
                            <a:schemeClr val="tx2">
                              <a:lumMod val="50000"/>
                              <a:lumOff val="50000"/>
                            </a:schemeClr>
                          </a:solidFill>
                          <a:latin typeface="Arial"/>
                        </a:rPr>
                        <a:t>)</a:t>
                      </a:r>
                    </a:p>
                  </a:txBody>
                  <a:tcPr marL="45720" marR="45720" anchor="ctr">
                    <a:lnL w="12700" cap="flat" cmpd="sng" algn="ctr">
                      <a:solidFill>
                        <a:schemeClr val="tx2">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0" u="none" strike="noStrike" dirty="0" smtClean="0">
                          <a:solidFill>
                            <a:schemeClr val="tx2">
                              <a:lumMod val="50000"/>
                              <a:lumOff val="50000"/>
                            </a:schemeClr>
                          </a:solidFill>
                          <a:latin typeface="Arial"/>
                        </a:rPr>
                        <a:t>Number</a:t>
                      </a:r>
                      <a:r>
                        <a:rPr lang="en-US" sz="1200" b="1" i="0" u="none" strike="noStrike" baseline="0" dirty="0" smtClean="0">
                          <a:solidFill>
                            <a:schemeClr val="tx2">
                              <a:lumMod val="50000"/>
                              <a:lumOff val="50000"/>
                            </a:schemeClr>
                          </a:solidFill>
                          <a:latin typeface="Arial"/>
                        </a:rPr>
                        <a:t> of coffee farms</a:t>
                      </a:r>
                      <a:endParaRPr lang="en-US" sz="1200" b="1"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0" u="none" strike="noStrike" dirty="0" smtClean="0">
                          <a:solidFill>
                            <a:schemeClr val="tx2">
                              <a:lumMod val="50000"/>
                              <a:lumOff val="50000"/>
                            </a:schemeClr>
                          </a:solidFill>
                          <a:latin typeface="Arial"/>
                        </a:rPr>
                        <a:t>Share of coffee</a:t>
                      </a:r>
                      <a:r>
                        <a:rPr lang="en-US" sz="1200" b="1" i="0" u="none" strike="noStrike" baseline="0" dirty="0" smtClean="0">
                          <a:solidFill>
                            <a:schemeClr val="tx2">
                              <a:lumMod val="50000"/>
                              <a:lumOff val="50000"/>
                            </a:schemeClr>
                          </a:solidFill>
                          <a:latin typeface="Arial"/>
                        </a:rPr>
                        <a:t> area</a:t>
                      </a:r>
                      <a:endParaRPr lang="en-US" sz="1200" b="1"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200" b="1" i="0" u="none" strike="noStrike" dirty="0" smtClean="0">
                          <a:solidFill>
                            <a:schemeClr val="tx2">
                              <a:lumMod val="50000"/>
                              <a:lumOff val="50000"/>
                            </a:schemeClr>
                          </a:solidFill>
                          <a:latin typeface="Arial"/>
                        </a:rPr>
                        <a:t>Share</a:t>
                      </a:r>
                      <a:r>
                        <a:rPr lang="en-US" sz="1200" b="1" i="0" u="none" strike="noStrike" baseline="0" dirty="0" smtClean="0">
                          <a:solidFill>
                            <a:schemeClr val="tx2">
                              <a:lumMod val="50000"/>
                              <a:lumOff val="50000"/>
                            </a:schemeClr>
                          </a:solidFill>
                          <a:latin typeface="Arial"/>
                        </a:rPr>
                        <a:t> of production</a:t>
                      </a:r>
                      <a:endParaRPr lang="en-US" sz="1200" b="1"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r>
              <a:tr h="216293">
                <a:tc>
                  <a:txBody>
                    <a:bodyPr/>
                    <a:lstStyle/>
                    <a:p>
                      <a:pPr algn="ctr" fontAlgn="ctr"/>
                      <a:r>
                        <a:rPr lang="en-US" sz="1200" b="0" i="0" u="none" strike="noStrike" dirty="0">
                          <a:solidFill>
                            <a:schemeClr val="tx2">
                              <a:lumMod val="50000"/>
                              <a:lumOff val="50000"/>
                            </a:schemeClr>
                          </a:solidFill>
                          <a:latin typeface="Arial"/>
                        </a:rPr>
                        <a:t>&lt; </a:t>
                      </a:r>
                      <a:r>
                        <a:rPr lang="en-US" sz="1200" b="0" i="0" u="none" strike="noStrike" dirty="0" smtClean="0">
                          <a:solidFill>
                            <a:schemeClr val="tx2">
                              <a:lumMod val="50000"/>
                              <a:lumOff val="50000"/>
                            </a:schemeClr>
                          </a:solidFill>
                          <a:latin typeface="Arial"/>
                        </a:rPr>
                        <a:t>1</a:t>
                      </a:r>
                      <a:endParaRPr lang="en-US" sz="1200" b="0" i="0" u="none" strike="noStrike" dirty="0">
                        <a:solidFill>
                          <a:schemeClr val="tx2">
                            <a:lumMod val="50000"/>
                            <a:lumOff val="50000"/>
                          </a:schemeClr>
                        </a:solidFill>
                        <a:latin typeface="Arial"/>
                      </a:endParaRPr>
                    </a:p>
                  </a:txBody>
                  <a:tcPr marL="45720" marR="45720" anchor="ctr">
                    <a:lnL w="12700" cap="flat" cmpd="sng" algn="ctr">
                      <a:solidFill>
                        <a:schemeClr val="tx2">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dirty="0" smtClean="0">
                          <a:solidFill>
                            <a:schemeClr val="tx2">
                              <a:lumMod val="50000"/>
                              <a:lumOff val="50000"/>
                            </a:schemeClr>
                          </a:solidFill>
                          <a:latin typeface="Arial"/>
                        </a:rPr>
                        <a:t>305,200 (54.5%)</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dirty="0" smtClean="0">
                          <a:solidFill>
                            <a:schemeClr val="tx2">
                              <a:lumMod val="50000"/>
                              <a:lumOff val="50000"/>
                            </a:schemeClr>
                          </a:solidFill>
                          <a:latin typeface="Arial"/>
                        </a:rPr>
                        <a:t>21%</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200" b="0" i="0" u="none" strike="noStrike" dirty="0" smtClean="0">
                          <a:solidFill>
                            <a:schemeClr val="tx2">
                              <a:lumMod val="50000"/>
                              <a:lumOff val="50000"/>
                            </a:schemeClr>
                          </a:solidFill>
                          <a:latin typeface="Arial"/>
                        </a:rPr>
                        <a:t>20%</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216293">
                <a:tc>
                  <a:txBody>
                    <a:bodyPr/>
                    <a:lstStyle/>
                    <a:p>
                      <a:pPr algn="ctr" fontAlgn="ctr"/>
                      <a:r>
                        <a:rPr lang="en-US" sz="1200" b="0" i="0" u="none" strike="noStrike" dirty="0" smtClean="0">
                          <a:solidFill>
                            <a:schemeClr val="tx2">
                              <a:lumMod val="50000"/>
                              <a:lumOff val="50000"/>
                            </a:schemeClr>
                          </a:solidFill>
                          <a:latin typeface="Arial"/>
                        </a:rPr>
                        <a:t>1.1</a:t>
                      </a:r>
                      <a:r>
                        <a:rPr lang="en-US" sz="1200" b="0" i="0" u="none" strike="noStrike" baseline="0" dirty="0" smtClean="0">
                          <a:solidFill>
                            <a:schemeClr val="tx2">
                              <a:lumMod val="50000"/>
                              <a:lumOff val="50000"/>
                            </a:schemeClr>
                          </a:solidFill>
                          <a:latin typeface="Arial"/>
                        </a:rPr>
                        <a:t> – 5</a:t>
                      </a:r>
                      <a:endParaRPr lang="en-US" sz="1200" b="0" i="0" u="none" strike="noStrike" dirty="0">
                        <a:solidFill>
                          <a:schemeClr val="tx2">
                            <a:lumMod val="50000"/>
                            <a:lumOff val="50000"/>
                          </a:schemeClr>
                        </a:solidFill>
                        <a:latin typeface="Arial"/>
                      </a:endParaRPr>
                    </a:p>
                  </a:txBody>
                  <a:tcPr marL="45720" marR="45720" anchor="ctr">
                    <a:lnL w="12700" cap="flat" cmpd="sng" algn="ctr">
                      <a:solidFill>
                        <a:schemeClr val="tx2">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dirty="0" smtClean="0">
                          <a:solidFill>
                            <a:schemeClr val="tx2">
                              <a:lumMod val="50000"/>
                              <a:lumOff val="50000"/>
                            </a:schemeClr>
                          </a:solidFill>
                          <a:latin typeface="Arial"/>
                        </a:rPr>
                        <a:t>224,000 (40%)</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dirty="0" smtClean="0">
                          <a:solidFill>
                            <a:schemeClr val="tx2">
                              <a:lumMod val="50000"/>
                              <a:lumOff val="50000"/>
                            </a:schemeClr>
                          </a:solidFill>
                          <a:latin typeface="Arial"/>
                        </a:rPr>
                        <a:t>48%</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200" b="0" i="0" u="none" strike="noStrike" dirty="0" smtClean="0">
                          <a:solidFill>
                            <a:schemeClr val="tx2">
                              <a:lumMod val="50000"/>
                              <a:lumOff val="50000"/>
                            </a:schemeClr>
                          </a:solidFill>
                          <a:latin typeface="Arial"/>
                        </a:rPr>
                        <a:t>50%</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216293">
                <a:tc>
                  <a:txBody>
                    <a:bodyPr/>
                    <a:lstStyle/>
                    <a:p>
                      <a:pPr marL="0" indent="0" algn="ctr" fontAlgn="ctr">
                        <a:buFont typeface="Wingdings" pitchFamily="2" charset="2"/>
                        <a:buNone/>
                      </a:pPr>
                      <a:r>
                        <a:rPr lang="en-US" sz="1200" b="0" i="0" u="none" strike="noStrike" dirty="0" smtClean="0">
                          <a:solidFill>
                            <a:schemeClr val="tx2">
                              <a:lumMod val="50000"/>
                              <a:lumOff val="50000"/>
                            </a:schemeClr>
                          </a:solidFill>
                          <a:latin typeface="Arial"/>
                        </a:rPr>
                        <a:t>5.1</a:t>
                      </a:r>
                      <a:r>
                        <a:rPr lang="en-US" sz="1200" b="0" i="0" u="none" strike="noStrike" baseline="0" dirty="0" smtClean="0">
                          <a:solidFill>
                            <a:schemeClr val="tx2">
                              <a:lumMod val="50000"/>
                              <a:lumOff val="50000"/>
                            </a:schemeClr>
                          </a:solidFill>
                          <a:latin typeface="Arial"/>
                        </a:rPr>
                        <a:t> – 10</a:t>
                      </a:r>
                      <a:endParaRPr lang="en-US" sz="1200" b="0" i="0" u="none" strike="noStrike" dirty="0">
                        <a:solidFill>
                          <a:schemeClr val="tx2">
                            <a:lumMod val="50000"/>
                            <a:lumOff val="50000"/>
                          </a:schemeClr>
                        </a:solidFill>
                        <a:latin typeface="Arial"/>
                      </a:endParaRPr>
                    </a:p>
                  </a:txBody>
                  <a:tcPr marL="45720" marR="45720" anchor="ctr">
                    <a:lnL w="12700" cap="flat" cmpd="sng" algn="ctr">
                      <a:solidFill>
                        <a:schemeClr val="tx2">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dirty="0" smtClean="0">
                          <a:solidFill>
                            <a:schemeClr val="tx2">
                              <a:lumMod val="50000"/>
                              <a:lumOff val="50000"/>
                            </a:schemeClr>
                          </a:solidFill>
                          <a:latin typeface="Arial"/>
                        </a:rPr>
                        <a:t>24,800 (4.4%)</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dirty="0" smtClean="0">
                          <a:solidFill>
                            <a:schemeClr val="tx2">
                              <a:lumMod val="50000"/>
                              <a:lumOff val="50000"/>
                            </a:schemeClr>
                          </a:solidFill>
                          <a:latin typeface="Arial"/>
                        </a:rPr>
                        <a:t>14%</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200" b="0" i="0" u="none" strike="noStrike" dirty="0" smtClean="0">
                          <a:solidFill>
                            <a:schemeClr val="tx2">
                              <a:lumMod val="50000"/>
                              <a:lumOff val="50000"/>
                            </a:schemeClr>
                          </a:solidFill>
                          <a:latin typeface="Arial"/>
                        </a:rPr>
                        <a:t>12%</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216293">
                <a:tc>
                  <a:txBody>
                    <a:bodyPr/>
                    <a:lstStyle/>
                    <a:p>
                      <a:pPr marL="0" indent="0" algn="ctr" fontAlgn="ctr">
                        <a:buFont typeface="Wingdings" pitchFamily="1" charset="2"/>
                        <a:buNone/>
                      </a:pPr>
                      <a:r>
                        <a:rPr lang="en-US" sz="1200" b="0" i="0" u="none" strike="noStrike" dirty="0" smtClean="0">
                          <a:solidFill>
                            <a:schemeClr val="tx2">
                              <a:lumMod val="50000"/>
                              <a:lumOff val="50000"/>
                            </a:schemeClr>
                          </a:solidFill>
                          <a:latin typeface="Arial"/>
                        </a:rPr>
                        <a:t>&gt; 10</a:t>
                      </a:r>
                      <a:endParaRPr lang="en-US" sz="1200" b="0" i="0" u="none" strike="noStrike" dirty="0">
                        <a:solidFill>
                          <a:schemeClr val="tx2">
                            <a:lumMod val="50000"/>
                            <a:lumOff val="50000"/>
                          </a:schemeClr>
                        </a:solidFill>
                        <a:latin typeface="Arial"/>
                      </a:endParaRPr>
                    </a:p>
                  </a:txBody>
                  <a:tcPr marL="45720" marR="45720" anchor="ctr">
                    <a:lnL w="12700" cap="flat" cmpd="sng" algn="ctr">
                      <a:solidFill>
                        <a:schemeClr val="tx2">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dirty="0" smtClean="0">
                          <a:solidFill>
                            <a:schemeClr val="tx2">
                              <a:lumMod val="50000"/>
                              <a:lumOff val="50000"/>
                            </a:schemeClr>
                          </a:solidFill>
                          <a:latin typeface="Arial"/>
                        </a:rPr>
                        <a:t>6,000 (1.1%)</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dirty="0" smtClean="0">
                          <a:solidFill>
                            <a:schemeClr val="tx2">
                              <a:lumMod val="50000"/>
                              <a:lumOff val="50000"/>
                            </a:schemeClr>
                          </a:solidFill>
                          <a:latin typeface="Arial"/>
                        </a:rPr>
                        <a:t>17%</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200" b="0" i="0" u="none" strike="noStrike" dirty="0" smtClean="0">
                          <a:solidFill>
                            <a:schemeClr val="tx2">
                              <a:lumMod val="50000"/>
                              <a:lumOff val="50000"/>
                            </a:schemeClr>
                          </a:solidFill>
                          <a:latin typeface="Arial"/>
                        </a:rPr>
                        <a:t>18%</a:t>
                      </a:r>
                      <a:endParaRPr lang="en-US" sz="1200" b="0"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r>
              <a:tr h="288688">
                <a:tc>
                  <a:txBody>
                    <a:bodyPr/>
                    <a:lstStyle/>
                    <a:p>
                      <a:pPr algn="ctr" fontAlgn="ctr"/>
                      <a:r>
                        <a:rPr lang="en-US" sz="1200" b="1" i="0" u="none" strike="noStrike" dirty="0" smtClean="0">
                          <a:solidFill>
                            <a:schemeClr val="tx2">
                              <a:lumMod val="50000"/>
                              <a:lumOff val="50000"/>
                            </a:schemeClr>
                          </a:solidFill>
                          <a:latin typeface="Arial"/>
                        </a:rPr>
                        <a:t> Total farms</a:t>
                      </a:r>
                      <a:endParaRPr lang="en-US" sz="1200" b="1" i="0" u="none" strike="noStrike" dirty="0">
                        <a:solidFill>
                          <a:schemeClr val="tx2">
                            <a:lumMod val="50000"/>
                            <a:lumOff val="50000"/>
                          </a:schemeClr>
                        </a:solidFill>
                        <a:latin typeface="Arial"/>
                      </a:endParaRPr>
                    </a:p>
                  </a:txBody>
                  <a:tcPr marL="45720" marR="45720" anchor="ctr">
                    <a:lnL w="12700" cap="flat" cmpd="sng" algn="ctr">
                      <a:solidFill>
                        <a:schemeClr val="tx2">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0" u="none" strike="noStrike" dirty="0" smtClean="0">
                          <a:solidFill>
                            <a:schemeClr val="tx2">
                              <a:lumMod val="50000"/>
                              <a:lumOff val="50000"/>
                            </a:schemeClr>
                          </a:solidFill>
                          <a:latin typeface="Arial"/>
                        </a:rPr>
                        <a:t>560,000</a:t>
                      </a:r>
                      <a:endParaRPr lang="en-US" sz="1200" b="1"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0" u="none" strike="noStrike" dirty="0" smtClean="0">
                          <a:solidFill>
                            <a:schemeClr val="tx2">
                              <a:lumMod val="50000"/>
                              <a:lumOff val="50000"/>
                            </a:schemeClr>
                          </a:solidFill>
                          <a:latin typeface="Arial"/>
                        </a:rPr>
                        <a:t>974,000 ha*</a:t>
                      </a:r>
                      <a:endParaRPr lang="en-US" sz="1200" b="1" i="0"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200" b="1" i="0" u="none" strike="noStrike" dirty="0" smtClean="0">
                          <a:solidFill>
                            <a:schemeClr val="tx2">
                              <a:lumMod val="50000"/>
                              <a:lumOff val="50000"/>
                            </a:schemeClr>
                          </a:solidFill>
                          <a:latin typeface="Arial"/>
                        </a:rPr>
                        <a:t>10.9 m bags</a:t>
                      </a:r>
                    </a:p>
                  </a:txBody>
                  <a:tcPr marL="45720" marR="45720" anchor="ctr">
                    <a:lnL w="6350" cap="flat" cmpd="sng" algn="ctr">
                      <a:no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r>
              <a:tr h="288688">
                <a:tc>
                  <a:txBody>
                    <a:bodyPr/>
                    <a:lstStyle/>
                    <a:p>
                      <a:pPr algn="ctr" fontAlgn="ctr"/>
                      <a:r>
                        <a:rPr lang="en-US" sz="1200" b="1" i="1" u="none" strike="noStrike" dirty="0" smtClean="0">
                          <a:solidFill>
                            <a:schemeClr val="tx2">
                              <a:lumMod val="50000"/>
                              <a:lumOff val="50000"/>
                            </a:schemeClr>
                          </a:solidFill>
                          <a:latin typeface="Arial"/>
                        </a:rPr>
                        <a:t>Active farms</a:t>
                      </a:r>
                      <a:endParaRPr lang="en-US" sz="1200" b="1" i="1" u="none" strike="noStrike" dirty="0">
                        <a:solidFill>
                          <a:schemeClr val="tx2">
                            <a:lumMod val="50000"/>
                            <a:lumOff val="50000"/>
                          </a:schemeClr>
                        </a:solidFill>
                        <a:latin typeface="Arial"/>
                      </a:endParaRPr>
                    </a:p>
                  </a:txBody>
                  <a:tcPr marL="45720" marR="45720" anchor="ctr">
                    <a:lnL w="12700" cap="flat" cmpd="sng" algn="ctr">
                      <a:solidFill>
                        <a:schemeClr val="tx2">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1" u="none" strike="noStrike" dirty="0" smtClean="0">
                          <a:solidFill>
                            <a:schemeClr val="tx2">
                              <a:lumMod val="50000"/>
                              <a:lumOff val="50000"/>
                            </a:schemeClr>
                          </a:solidFill>
                          <a:latin typeface="Arial"/>
                        </a:rPr>
                        <a:t>460,000</a:t>
                      </a:r>
                      <a:endParaRPr lang="en-US" sz="1200" b="1" i="1"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l" fontAlgn="ctr"/>
                      <a:r>
                        <a:rPr lang="en-US" sz="1200" b="1" i="1" u="none" strike="noStrike" dirty="0" smtClean="0">
                          <a:solidFill>
                            <a:schemeClr val="tx2">
                              <a:lumMod val="50000"/>
                              <a:lumOff val="50000"/>
                            </a:schemeClr>
                          </a:solidFill>
                          <a:latin typeface="Arial"/>
                        </a:rPr>
                        <a:t>Est. 100,000 inactive farmers**</a:t>
                      </a:r>
                      <a:endParaRPr lang="en-US" sz="1200" b="1" i="1" u="none" strike="noStrike" dirty="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200" b="1" i="0" u="none" strike="noStrike" dirty="0" smtClean="0">
                        <a:solidFill>
                          <a:schemeClr val="tx2">
                            <a:lumMod val="50000"/>
                            <a:lumOff val="50000"/>
                          </a:schemeClr>
                        </a:solidFill>
                        <a:latin typeface="Arial"/>
                      </a:endParaRPr>
                    </a:p>
                  </a:txBody>
                  <a:tcPr marL="45720" marR="45720" anchor="ctr">
                    <a:lnL w="6350" cap="flat" cmpd="sng" algn="ctr">
                      <a:no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12788272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p:custDataLst>
              <p:tags r:id="rId2"/>
            </p:custDataLst>
            <p:extLst>
              <p:ext uri="{D42A27DB-BD31-4B8C-83A1-F6EECF244321}">
                <p14:modId xmlns:p14="http://schemas.microsoft.com/office/powerpoint/2010/main" val="419477583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0515" name="think-cell Slide" r:id="rId22" imgW="270" imgH="270" progId="TCLayout.ActiveDocument.1">
                  <p:embed/>
                </p:oleObj>
              </mc:Choice>
              <mc:Fallback>
                <p:oleObj name="think-cell Slide" r:id="rId22" imgW="270" imgH="270" progId="TCLayout.ActiveDocument.1">
                  <p:embed/>
                  <p:pic>
                    <p:nvPicPr>
                      <p:cNvPr id="0" name=""/>
                      <p:cNvPicPr/>
                      <p:nvPr/>
                    </p:nvPicPr>
                    <p:blipFill>
                      <a:blip r:embed="rId23"/>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b="1" u="none" strike="noStrike" cap="none" normalizeH="0" smtClean="0">
              <a:ln>
                <a:noFill/>
              </a:ln>
              <a:solidFill>
                <a:schemeClr val="tx1"/>
              </a:solidFill>
              <a:effectLst/>
              <a:latin typeface="Arial"/>
              <a:sym typeface="Arial"/>
            </a:endParaRPr>
          </a:p>
        </p:txBody>
      </p:sp>
      <p:cxnSp>
        <p:nvCxnSpPr>
          <p:cNvPr id="108" name="Straight Connector 107"/>
          <p:cNvCxnSpPr/>
          <p:nvPr>
            <p:custDataLst>
              <p:tags r:id="rId4"/>
            </p:custDataLst>
          </p:nvPr>
        </p:nvCxnSpPr>
        <p:spPr bwMode="gray">
          <a:xfrm flipV="1">
            <a:off x="4114800" y="3648075"/>
            <a:ext cx="1447800" cy="110490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109" name="Straight Connector 108"/>
          <p:cNvCxnSpPr/>
          <p:nvPr>
            <p:custDataLst>
              <p:tags r:id="rId5"/>
            </p:custDataLst>
          </p:nvPr>
        </p:nvCxnSpPr>
        <p:spPr bwMode="gray">
          <a:xfrm flipV="1">
            <a:off x="4114800" y="2581275"/>
            <a:ext cx="1447800" cy="110490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161" name="Straight Connector 160"/>
          <p:cNvCxnSpPr/>
          <p:nvPr>
            <p:custDataLst>
              <p:tags r:id="rId6"/>
            </p:custDataLst>
          </p:nvPr>
        </p:nvCxnSpPr>
        <p:spPr bwMode="gray">
          <a:xfrm flipV="1">
            <a:off x="4114800" y="2466975"/>
            <a:ext cx="1447800" cy="790575"/>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2" name="Straight Connector 1"/>
          <p:cNvCxnSpPr/>
          <p:nvPr>
            <p:custDataLst>
              <p:tags r:id="rId7"/>
            </p:custDataLst>
          </p:nvPr>
        </p:nvCxnSpPr>
        <p:spPr bwMode="gray">
          <a:xfrm>
            <a:off x="4114800" y="2438400"/>
            <a:ext cx="14478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7" name="Object 6"/>
          <p:cNvGraphicFramePr>
            <a:graphicFrameLocks/>
          </p:cNvGraphicFramePr>
          <p:nvPr>
            <p:custDataLst>
              <p:tags r:id="rId8"/>
            </p:custDataLst>
            <p:extLst>
              <p:ext uri="{D42A27DB-BD31-4B8C-83A1-F6EECF244321}">
                <p14:modId xmlns:p14="http://schemas.microsoft.com/office/powerpoint/2010/main" val="2103218210"/>
              </p:ext>
            </p:extLst>
          </p:nvPr>
        </p:nvGraphicFramePr>
        <p:xfrm>
          <a:off x="1447801" y="2324100"/>
          <a:ext cx="6743663" cy="2866965"/>
        </p:xfrm>
        <a:graphic>
          <a:graphicData uri="http://schemas.openxmlformats.org/presentationml/2006/ole">
            <mc:AlternateContent xmlns:mc="http://schemas.openxmlformats.org/markup-compatibility/2006">
              <mc:Choice xmlns:v="urn:schemas-microsoft-com:vml" Requires="v">
                <p:oleObj spid="_x0000_s170516" name="Chart" r:id="rId24" imgW="6743663" imgH="2866965" progId="MSGraph.Chart.8">
                  <p:embed followColorScheme="full"/>
                </p:oleObj>
              </mc:Choice>
              <mc:Fallback>
                <p:oleObj name="Chart" r:id="rId24" imgW="6743663" imgH="2866965" progId="MSGraph.Chart.8">
                  <p:embed followColorScheme="full"/>
                  <p:pic>
                    <p:nvPicPr>
                      <p:cNvPr id="0" name=""/>
                      <p:cNvPicPr/>
                      <p:nvPr/>
                    </p:nvPicPr>
                    <p:blipFill>
                      <a:blip r:embed="rId25"/>
                      <a:stretch>
                        <a:fillRect/>
                      </a:stretch>
                    </p:blipFill>
                    <p:spPr>
                      <a:xfrm>
                        <a:off x="1447801" y="2324100"/>
                        <a:ext cx="6743663" cy="2866965"/>
                      </a:xfrm>
                      <a:prstGeom prst="rect">
                        <a:avLst/>
                      </a:prstGeom>
                    </p:spPr>
                  </p:pic>
                </p:oleObj>
              </mc:Fallback>
            </mc:AlternateContent>
          </a:graphicData>
        </a:graphic>
      </p:graphicFrame>
      <p:sp>
        <p:nvSpPr>
          <p:cNvPr id="30" name="Text Placeholder 21"/>
          <p:cNvSpPr>
            <a:spLocks noGrp="1"/>
          </p:cNvSpPr>
          <p:nvPr>
            <p:custDataLst>
              <p:tags r:id="rId9"/>
            </p:custDataLst>
          </p:nvPr>
        </p:nvSpPr>
        <p:spPr bwMode="gray">
          <a:xfrm>
            <a:off x="2865438" y="2133600"/>
            <a:ext cx="6905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25226EA-03BD-45BA-8EEA-08CB725F5644}" type="datetime'''''''30''''''''''0,''''''''''''''0''''''''''''0''''''''''0'">
              <a:rPr lang="en-US" sz="1400" b="1">
                <a:solidFill>
                  <a:schemeClr val="accent1"/>
                </a:solidFill>
              </a:rPr>
              <a:pPr/>
              <a:t>300,000</a:t>
            </a:fld>
            <a:endParaRPr lang="en-US" sz="1400" b="1" dirty="0">
              <a:solidFill>
                <a:schemeClr val="accent1"/>
              </a:solidFill>
              <a:sym typeface="+mn-lt"/>
            </a:endParaRPr>
          </a:p>
        </p:txBody>
      </p:sp>
      <p:sp>
        <p:nvSpPr>
          <p:cNvPr id="29" name="Text Placeholder 74"/>
          <p:cNvSpPr>
            <a:spLocks noGrp="1"/>
          </p:cNvSpPr>
          <p:nvPr>
            <p:custDataLst>
              <p:tags r:id="rId10"/>
            </p:custDataLst>
          </p:nvPr>
        </p:nvSpPr>
        <p:spPr bwMode="gray">
          <a:xfrm>
            <a:off x="3006725" y="3365500"/>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16%</a:t>
            </a:r>
            <a:endParaRPr lang="en-US" sz="1400" dirty="0">
              <a:solidFill>
                <a:schemeClr val="accent1"/>
              </a:solidFill>
              <a:latin typeface="Arial"/>
              <a:sym typeface="Arial"/>
            </a:endParaRPr>
          </a:p>
        </p:txBody>
      </p:sp>
      <p:sp>
        <p:nvSpPr>
          <p:cNvPr id="33" name="Text Placeholder 76"/>
          <p:cNvSpPr>
            <a:spLocks noGrp="1"/>
          </p:cNvSpPr>
          <p:nvPr>
            <p:custDataLst>
              <p:tags r:id="rId11"/>
            </p:custDataLst>
          </p:nvPr>
        </p:nvSpPr>
        <p:spPr bwMode="gray">
          <a:xfrm>
            <a:off x="3006725" y="2741613"/>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31%</a:t>
            </a:r>
            <a:endParaRPr lang="en-US" sz="1400" dirty="0">
              <a:solidFill>
                <a:schemeClr val="accent1"/>
              </a:solidFill>
              <a:latin typeface="Arial"/>
              <a:sym typeface="Arial"/>
            </a:endParaRPr>
          </a:p>
        </p:txBody>
      </p:sp>
      <p:sp>
        <p:nvSpPr>
          <p:cNvPr id="23" name="Text Placeholder 28"/>
          <p:cNvSpPr>
            <a:spLocks noGrp="1"/>
          </p:cNvSpPr>
          <p:nvPr>
            <p:custDataLst>
              <p:tags r:id="rId12"/>
            </p:custDataLst>
          </p:nvPr>
        </p:nvSpPr>
        <p:spPr bwMode="auto">
          <a:xfrm>
            <a:off x="1666875" y="4806950"/>
            <a:ext cx="4968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CD0CB8D0-B0E4-4509-9013-5FA7231AF66C}" type="datetime'''''''''''''''''''''''''&lt;'''''' 1'''''''''''''' ''''ha'''''''">
              <a:rPr lang="en-US" sz="1400">
                <a:solidFill>
                  <a:schemeClr val="accent1"/>
                </a:solidFill>
                <a:latin typeface="Arial"/>
                <a:sym typeface="Arial"/>
              </a:rPr>
              <a:pPr marL="0" indent="0" algn="r">
                <a:buNone/>
              </a:pPr>
              <a:t>&lt; 1 ha</a:t>
            </a:fld>
            <a:endParaRPr lang="en-US" sz="1400" dirty="0">
              <a:solidFill>
                <a:schemeClr val="accent1"/>
              </a:solidFill>
              <a:latin typeface="Arial"/>
              <a:sym typeface="Arial"/>
            </a:endParaRPr>
          </a:p>
        </p:txBody>
      </p:sp>
      <p:sp>
        <p:nvSpPr>
          <p:cNvPr id="13" name="Text Placeholder 23"/>
          <p:cNvSpPr>
            <a:spLocks noGrp="1"/>
          </p:cNvSpPr>
          <p:nvPr>
            <p:custDataLst>
              <p:tags r:id="rId13"/>
            </p:custDataLst>
          </p:nvPr>
        </p:nvSpPr>
        <p:spPr bwMode="auto">
          <a:xfrm>
            <a:off x="1662113" y="4113213"/>
            <a:ext cx="501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DCAAE1E4-745B-4B15-BE73-B6D936431103}" type="datetime'''1''''''-''''5'''''''''''' ''''''''''''''h''a'''''''''''">
              <a:rPr lang="en-US" sz="1400">
                <a:solidFill>
                  <a:schemeClr val="accent1"/>
                </a:solidFill>
              </a:rPr>
              <a:pPr/>
              <a:t>1-5 ha</a:t>
            </a:fld>
            <a:endParaRPr lang="en-US" sz="1400" dirty="0">
              <a:solidFill>
                <a:schemeClr val="accent1"/>
              </a:solidFill>
              <a:sym typeface="+mn-lt"/>
            </a:endParaRPr>
          </a:p>
        </p:txBody>
      </p:sp>
      <p:sp>
        <p:nvSpPr>
          <p:cNvPr id="10" name="Text Placeholder 20"/>
          <p:cNvSpPr>
            <a:spLocks noGrp="1"/>
          </p:cNvSpPr>
          <p:nvPr>
            <p:custDataLst>
              <p:tags r:id="rId14"/>
            </p:custDataLst>
          </p:nvPr>
        </p:nvSpPr>
        <p:spPr bwMode="auto">
          <a:xfrm>
            <a:off x="6215063" y="5257800"/>
            <a:ext cx="4953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accent1"/>
                </a:solidFill>
                <a:sym typeface="+mn-lt"/>
              </a:rPr>
              <a:t>2010s</a:t>
            </a:r>
            <a:endParaRPr lang="en-US" sz="1400" dirty="0">
              <a:solidFill>
                <a:schemeClr val="accent1"/>
              </a:solidFill>
              <a:sym typeface="+mn-lt"/>
            </a:endParaRPr>
          </a:p>
        </p:txBody>
      </p:sp>
      <p:sp>
        <p:nvSpPr>
          <p:cNvPr id="12" name="Text Placeholder 22"/>
          <p:cNvSpPr>
            <a:spLocks noGrp="1"/>
          </p:cNvSpPr>
          <p:nvPr>
            <p:custDataLst>
              <p:tags r:id="rId15"/>
            </p:custDataLst>
          </p:nvPr>
        </p:nvSpPr>
        <p:spPr bwMode="auto">
          <a:xfrm>
            <a:off x="1563688" y="3365500"/>
            <a:ext cx="600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2D20C492-A9EB-4692-AE08-7CB91BE6162A}" type="datetime'''''5''''-''1''0'''''''''' ''h''a'''">
              <a:rPr lang="en-US" sz="1400">
                <a:solidFill>
                  <a:schemeClr val="accent1"/>
                </a:solidFill>
              </a:rPr>
              <a:pPr/>
              <a:t>5-10 ha</a:t>
            </a:fld>
            <a:endParaRPr lang="en-US" sz="1400" dirty="0">
              <a:solidFill>
                <a:schemeClr val="accent1"/>
              </a:solidFill>
              <a:sym typeface="+mn-lt"/>
            </a:endParaRPr>
          </a:p>
        </p:txBody>
      </p:sp>
      <p:sp>
        <p:nvSpPr>
          <p:cNvPr id="11" name="Text Placeholder 21"/>
          <p:cNvSpPr>
            <a:spLocks noGrp="1"/>
          </p:cNvSpPr>
          <p:nvPr>
            <p:custDataLst>
              <p:tags r:id="rId16"/>
            </p:custDataLst>
          </p:nvPr>
        </p:nvSpPr>
        <p:spPr bwMode="auto">
          <a:xfrm>
            <a:off x="1617663" y="2741613"/>
            <a:ext cx="5461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BDF668C8-EBA5-450E-B7BA-72BB32108004}" type="datetime'''''&gt;''''''''1''''''''0'''' ''''h''''''''''a'''''''">
              <a:rPr lang="en-US" sz="1400">
                <a:solidFill>
                  <a:schemeClr val="accent1"/>
                </a:solidFill>
              </a:rPr>
              <a:pPr/>
              <a:t>&gt;10 ha</a:t>
            </a:fld>
            <a:endParaRPr lang="en-US" sz="1400" dirty="0">
              <a:solidFill>
                <a:schemeClr val="accent1"/>
              </a:solidFill>
              <a:sym typeface="+mn-lt"/>
            </a:endParaRPr>
          </a:p>
        </p:txBody>
      </p:sp>
      <p:sp>
        <p:nvSpPr>
          <p:cNvPr id="32" name="Text Placeholder 24"/>
          <p:cNvSpPr>
            <a:spLocks noGrp="1"/>
          </p:cNvSpPr>
          <p:nvPr>
            <p:custDataLst>
              <p:tags r:id="rId17"/>
            </p:custDataLst>
          </p:nvPr>
        </p:nvSpPr>
        <p:spPr bwMode="gray">
          <a:xfrm>
            <a:off x="5665788" y="2133600"/>
            <a:ext cx="159543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b="1" dirty="0" smtClean="0">
                <a:solidFill>
                  <a:schemeClr val="accent1"/>
                </a:solidFill>
                <a:sym typeface="+mn-lt"/>
              </a:rPr>
              <a:t>460,000 to </a:t>
            </a:r>
            <a:fld id="{7CB6ACF3-A6AF-4D93-BD10-682A05E80475}" type="datetime'''''''''''''5''60,''''''''''''''''''0''0''''''0'''''''''">
              <a:rPr lang="en-US" sz="1400" b="1" smtClean="0">
                <a:solidFill>
                  <a:schemeClr val="accent1"/>
                </a:solidFill>
                <a:sym typeface="+mn-lt"/>
              </a:rPr>
              <a:pPr marL="0" indent="0" algn="ctr">
                <a:spcBef>
                  <a:spcPct val="0"/>
                </a:spcBef>
                <a:spcAft>
                  <a:spcPct val="0"/>
                </a:spcAft>
                <a:buNone/>
              </a:pPr>
              <a:t>560,000</a:t>
            </a:fld>
            <a:endParaRPr lang="en-US" sz="1400" b="1" dirty="0">
              <a:solidFill>
                <a:schemeClr val="accent1"/>
              </a:solidFill>
              <a:sym typeface="+mn-lt"/>
            </a:endParaRPr>
          </a:p>
        </p:txBody>
      </p:sp>
      <p:sp>
        <p:nvSpPr>
          <p:cNvPr id="34" name="Text Placeholder 5"/>
          <p:cNvSpPr>
            <a:spLocks noGrp="1"/>
          </p:cNvSpPr>
          <p:nvPr>
            <p:custDataLst>
              <p:tags r:id="rId18"/>
            </p:custDataLst>
          </p:nvPr>
        </p:nvSpPr>
        <p:spPr bwMode="gray">
          <a:xfrm>
            <a:off x="5857875" y="2417763"/>
            <a:ext cx="307975" cy="212725"/>
          </a:xfrm>
          <a:prstGeom prst="rect">
            <a:avLst/>
          </a:prstGeom>
          <a:solidFill>
            <a:srgbClr val="FFFFFF"/>
          </a:solidFill>
        </p:spPr>
        <p:txBody>
          <a:bodyPr wrap="none" lIns="25400" tIns="0" rIns="2540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5F723607-476B-4242-9B59-FD5D20D70F1C}" type="datetime'''''4''''''''''''''''''''%'''''''''''''''''''''''''''''''">
              <a:rPr lang="en-US" sz="1400">
                <a:solidFill>
                  <a:schemeClr val="accent1"/>
                </a:solidFill>
                <a:latin typeface="Arial"/>
                <a:sym typeface="Arial"/>
              </a:rPr>
              <a:pPr marL="0" indent="0" algn="ctr">
                <a:buNone/>
              </a:pPr>
              <a:t>4%</a:t>
            </a:fld>
            <a:endParaRPr lang="en-US" sz="1400" dirty="0">
              <a:solidFill>
                <a:schemeClr val="accent1"/>
              </a:solidFill>
              <a:latin typeface="Arial"/>
              <a:sym typeface="Arial"/>
            </a:endParaRPr>
          </a:p>
        </p:txBody>
      </p:sp>
      <p:sp>
        <p:nvSpPr>
          <p:cNvPr id="122" name="Text Placeholder 60"/>
          <p:cNvSpPr>
            <a:spLocks noGrp="1"/>
          </p:cNvSpPr>
          <p:nvPr>
            <p:custDataLst>
              <p:tags r:id="rId19"/>
            </p:custDataLst>
          </p:nvPr>
        </p:nvSpPr>
        <p:spPr bwMode="gray">
          <a:xfrm>
            <a:off x="6757988" y="2346325"/>
            <a:ext cx="307975" cy="212725"/>
          </a:xfrm>
          <a:prstGeom prst="rect">
            <a:avLst/>
          </a:prstGeom>
          <a:solidFill>
            <a:srgbClr val="FFFFFF"/>
          </a:solidFill>
        </p:spPr>
        <p:txBody>
          <a:bodyPr wrap="none" lIns="25400" tIns="0" rIns="2540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9DDBC95-6DC4-4AA7-AD21-1317292B3EB0}" type="datetime'''''''''''''''''''''''''''''''''''1%'">
              <a:rPr lang="en-US" sz="1400">
                <a:solidFill>
                  <a:schemeClr val="accent1"/>
                </a:solidFill>
                <a:latin typeface="Arial"/>
                <a:sym typeface="Arial"/>
              </a:rPr>
              <a:pPr marL="0" indent="0" algn="ctr">
                <a:buNone/>
              </a:pPr>
              <a:t>1%</a:t>
            </a:fld>
            <a:endParaRPr lang="en-US" sz="1400" dirty="0">
              <a:solidFill>
                <a:schemeClr val="accent1"/>
              </a:solidFill>
              <a:latin typeface="Arial"/>
              <a:sym typeface="Arial"/>
            </a:endParaRPr>
          </a:p>
        </p:txBody>
      </p:sp>
      <p:sp>
        <p:nvSpPr>
          <p:cNvPr id="48" name="Text Placeholder 44"/>
          <p:cNvSpPr>
            <a:spLocks noGrp="1"/>
          </p:cNvSpPr>
          <p:nvPr>
            <p:custDataLst>
              <p:tags r:id="rId20"/>
            </p:custDataLst>
          </p:nvPr>
        </p:nvSpPr>
        <p:spPr bwMode="auto">
          <a:xfrm>
            <a:off x="2962275" y="5257800"/>
            <a:ext cx="4953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accent1"/>
                </a:solidFill>
              </a:rPr>
              <a:t>1970s</a:t>
            </a:r>
            <a:endParaRPr lang="en-US" sz="1400" dirty="0">
              <a:solidFill>
                <a:schemeClr val="accent1"/>
              </a:solidFill>
              <a:latin typeface="Arial"/>
              <a:sym typeface="Arial"/>
            </a:endParaRPr>
          </a:p>
        </p:txBody>
      </p:sp>
      <p:sp>
        <p:nvSpPr>
          <p:cNvPr id="63" name="TextBox 62"/>
          <p:cNvSpPr txBox="1"/>
          <p:nvPr/>
        </p:nvSpPr>
        <p:spPr>
          <a:xfrm>
            <a:off x="400869" y="1265059"/>
            <a:ext cx="4136047" cy="523220"/>
          </a:xfrm>
          <a:prstGeom prst="rect">
            <a:avLst/>
          </a:prstGeom>
          <a:noFill/>
        </p:spPr>
        <p:txBody>
          <a:bodyPr wrap="square" rtlCol="0">
            <a:spAutoFit/>
          </a:bodyPr>
          <a:lstStyle/>
          <a:p>
            <a:r>
              <a:rPr lang="en-US" sz="1400" b="1" dirty="0" smtClean="0">
                <a:solidFill>
                  <a:schemeClr val="accent1"/>
                </a:solidFill>
              </a:rPr>
              <a:t>Coffee farms by farm size</a:t>
            </a:r>
          </a:p>
          <a:p>
            <a:r>
              <a:rPr lang="en-US" sz="1400" dirty="0" smtClean="0">
                <a:solidFill>
                  <a:schemeClr val="accent1"/>
                </a:solidFill>
              </a:rPr>
              <a:t>Percentage of coffee farms</a:t>
            </a:r>
            <a:endParaRPr lang="en-US" sz="1400" dirty="0">
              <a:solidFill>
                <a:schemeClr val="accent1"/>
              </a:solidFill>
            </a:endParaRPr>
          </a:p>
        </p:txBody>
      </p:sp>
      <p:sp>
        <p:nvSpPr>
          <p:cNvPr id="147" name="McK Footnote"/>
          <p:cNvSpPr txBox="1">
            <a:spLocks noChangeArrowheads="1"/>
          </p:cNvSpPr>
          <p:nvPr/>
        </p:nvSpPr>
        <p:spPr bwMode="auto">
          <a:xfrm>
            <a:off x="648005" y="6235155"/>
            <a:ext cx="8485187" cy="2769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Note: Data based on 1970 National </a:t>
            </a:r>
            <a:r>
              <a:rPr lang="en-US" sz="900" dirty="0">
                <a:solidFill>
                  <a:schemeClr val="tx1">
                    <a:lumMod val="65000"/>
                    <a:lumOff val="35000"/>
                  </a:schemeClr>
                </a:solidFill>
              </a:rPr>
              <a:t>C</a:t>
            </a:r>
            <a:r>
              <a:rPr lang="en-US" sz="900" dirty="0" smtClean="0">
                <a:solidFill>
                  <a:schemeClr val="tx1">
                    <a:lumMod val="65000"/>
                    <a:lumOff val="35000"/>
                  </a:schemeClr>
                </a:solidFill>
              </a:rPr>
              <a:t>offee Census  and 2013 SICA data </a:t>
            </a:r>
          </a:p>
          <a:p>
            <a:pPr marL="563563" indent="-563563" defTabSz="895350">
              <a:tabLst>
                <a:tab pos="517525" algn="r"/>
              </a:tabLst>
            </a:pPr>
            <a:r>
              <a:rPr lang="en-US" sz="900" dirty="0" smtClean="0">
                <a:solidFill>
                  <a:schemeClr val="tx1">
                    <a:lumMod val="65000"/>
                    <a:lumOff val="35000"/>
                  </a:schemeClr>
                </a:solidFill>
              </a:rPr>
              <a:t>Source: FNC; FONAC</a:t>
            </a:r>
            <a:endParaRPr lang="en-US" sz="900" dirty="0">
              <a:solidFill>
                <a:schemeClr val="tx1">
                  <a:lumMod val="65000"/>
                  <a:lumOff val="35000"/>
                </a:schemeClr>
              </a:solidFill>
            </a:endParaRPr>
          </a:p>
        </p:txBody>
      </p:sp>
      <p:sp>
        <p:nvSpPr>
          <p:cNvPr id="35" name="Oval 34"/>
          <p:cNvSpPr/>
          <p:nvPr/>
        </p:nvSpPr>
        <p:spPr bwMode="auto">
          <a:xfrm>
            <a:off x="2760742" y="5650522"/>
            <a:ext cx="829529" cy="351692"/>
          </a:xfrm>
          <a:prstGeom prst="ellipse">
            <a:avLst/>
          </a:prstGeom>
          <a:solidFill>
            <a:srgbClr val="21249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Arial" charset="0"/>
            </a:endParaRPr>
          </a:p>
        </p:txBody>
      </p:sp>
      <p:sp>
        <p:nvSpPr>
          <p:cNvPr id="36" name="TextBox 35"/>
          <p:cNvSpPr txBox="1"/>
          <p:nvPr/>
        </p:nvSpPr>
        <p:spPr>
          <a:xfrm>
            <a:off x="2872589" y="5690046"/>
            <a:ext cx="679939" cy="307777"/>
          </a:xfrm>
          <a:prstGeom prst="rect">
            <a:avLst/>
          </a:prstGeom>
          <a:noFill/>
          <a:ln>
            <a:noFill/>
          </a:ln>
        </p:spPr>
        <p:txBody>
          <a:bodyPr wrap="square" rtlCol="0">
            <a:spAutoFit/>
          </a:bodyPr>
          <a:lstStyle/>
          <a:p>
            <a:pPr algn="ctr"/>
            <a:r>
              <a:rPr lang="en-US" sz="1400" dirty="0" smtClean="0">
                <a:solidFill>
                  <a:schemeClr val="bg1"/>
                </a:solidFill>
              </a:rPr>
              <a:t>3.5 ha</a:t>
            </a:r>
            <a:endParaRPr lang="en-US" sz="1400" dirty="0">
              <a:solidFill>
                <a:schemeClr val="bg1"/>
              </a:solidFill>
            </a:endParaRPr>
          </a:p>
        </p:txBody>
      </p:sp>
      <p:sp>
        <p:nvSpPr>
          <p:cNvPr id="37" name="Oval 36"/>
          <p:cNvSpPr/>
          <p:nvPr/>
        </p:nvSpPr>
        <p:spPr bwMode="auto">
          <a:xfrm>
            <a:off x="6041264" y="5662245"/>
            <a:ext cx="829529" cy="351692"/>
          </a:xfrm>
          <a:prstGeom prst="ellipse">
            <a:avLst/>
          </a:prstGeom>
          <a:solidFill>
            <a:srgbClr val="21249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Arial" charset="0"/>
            </a:endParaRPr>
          </a:p>
        </p:txBody>
      </p:sp>
      <p:sp>
        <p:nvSpPr>
          <p:cNvPr id="38" name="TextBox 37"/>
          <p:cNvSpPr txBox="1"/>
          <p:nvPr/>
        </p:nvSpPr>
        <p:spPr>
          <a:xfrm>
            <a:off x="6125402" y="5701769"/>
            <a:ext cx="679939" cy="307777"/>
          </a:xfrm>
          <a:prstGeom prst="rect">
            <a:avLst/>
          </a:prstGeom>
          <a:noFill/>
          <a:ln>
            <a:noFill/>
          </a:ln>
        </p:spPr>
        <p:txBody>
          <a:bodyPr wrap="square" rtlCol="0">
            <a:spAutoFit/>
          </a:bodyPr>
          <a:lstStyle/>
          <a:p>
            <a:pPr algn="ctr"/>
            <a:r>
              <a:rPr lang="en-US" sz="1400" dirty="0" smtClean="0">
                <a:solidFill>
                  <a:schemeClr val="bg1"/>
                </a:solidFill>
              </a:rPr>
              <a:t>~ 2 ha</a:t>
            </a:r>
            <a:endParaRPr lang="en-US" sz="1400" dirty="0">
              <a:solidFill>
                <a:schemeClr val="bg1"/>
              </a:solidFill>
            </a:endParaRPr>
          </a:p>
        </p:txBody>
      </p:sp>
      <p:sp>
        <p:nvSpPr>
          <p:cNvPr id="39" name="TextBox 38"/>
          <p:cNvSpPr txBox="1"/>
          <p:nvPr/>
        </p:nvSpPr>
        <p:spPr>
          <a:xfrm>
            <a:off x="448472" y="5615353"/>
            <a:ext cx="1495422" cy="523220"/>
          </a:xfrm>
          <a:prstGeom prst="rect">
            <a:avLst/>
          </a:prstGeom>
          <a:noFill/>
        </p:spPr>
        <p:txBody>
          <a:bodyPr wrap="square" rtlCol="0">
            <a:spAutoFit/>
          </a:bodyPr>
          <a:lstStyle/>
          <a:p>
            <a:r>
              <a:rPr lang="en-US" sz="1400" b="1" dirty="0" smtClean="0">
                <a:solidFill>
                  <a:schemeClr val="accent1"/>
                </a:solidFill>
              </a:rPr>
              <a:t>Average coffee farm size</a:t>
            </a:r>
            <a:endParaRPr lang="en-US" sz="1400" b="1" dirty="0">
              <a:solidFill>
                <a:schemeClr val="accent1"/>
              </a:solidFill>
            </a:endParaRPr>
          </a:p>
        </p:txBody>
      </p:sp>
      <p:sp>
        <p:nvSpPr>
          <p:cNvPr id="3" name="Title 2"/>
          <p:cNvSpPr>
            <a:spLocks noGrp="1"/>
          </p:cNvSpPr>
          <p:nvPr>
            <p:ph type="title"/>
          </p:nvPr>
        </p:nvSpPr>
        <p:spPr>
          <a:xfrm>
            <a:off x="400869" y="312739"/>
            <a:ext cx="8229600" cy="851044"/>
          </a:xfrm>
        </p:spPr>
        <p:txBody>
          <a:bodyPr/>
          <a:lstStyle/>
          <a:p>
            <a:r>
              <a:rPr lang="en-US" b="0" dirty="0" smtClean="0"/>
              <a:t>A generation ago, only half of Colombia’s farms were smaller than 5 hectares</a:t>
            </a:r>
            <a:endParaRPr lang="en-US" b="0" dirty="0"/>
          </a:p>
        </p:txBody>
      </p:sp>
    </p:spTree>
    <p:extLst>
      <p:ext uri="{BB962C8B-B14F-4D97-AF65-F5344CB8AC3E}">
        <p14:creationId xmlns:p14="http://schemas.microsoft.com/office/powerpoint/2010/main" val="2350056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498228" y="1723293"/>
            <a:ext cx="2092572" cy="902676"/>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en-US" sz="1400" b="1" dirty="0" smtClean="0">
                <a:solidFill>
                  <a:schemeClr val="accent1"/>
                </a:solidFill>
                <a:latin typeface="Arial" charset="0"/>
              </a:rPr>
              <a:t>Decreasing farm size </a:t>
            </a:r>
            <a:r>
              <a:rPr lang="en-US" sz="1400" dirty="0" smtClean="0">
                <a:solidFill>
                  <a:schemeClr val="accent1"/>
                </a:solidFill>
                <a:latin typeface="Arial" charset="0"/>
              </a:rPr>
              <a:t>due to inheritance traditions</a:t>
            </a:r>
            <a:endParaRPr kumimoji="0" lang="en-US" sz="1400" i="0" u="none" strike="noStrike" cap="none" normalizeH="0" baseline="0" dirty="0" smtClean="0">
              <a:ln>
                <a:noFill/>
              </a:ln>
              <a:solidFill>
                <a:schemeClr val="accent1"/>
              </a:solidFill>
              <a:effectLst/>
              <a:latin typeface="Arial" charset="0"/>
            </a:endParaRPr>
          </a:p>
        </p:txBody>
      </p:sp>
      <p:sp>
        <p:nvSpPr>
          <p:cNvPr id="8" name="TextBox 7"/>
          <p:cNvSpPr txBox="1"/>
          <p:nvPr/>
        </p:nvSpPr>
        <p:spPr>
          <a:xfrm>
            <a:off x="2715495" y="1723293"/>
            <a:ext cx="5697414" cy="815608"/>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400" dirty="0"/>
              <a:t>Traditionally, families </a:t>
            </a:r>
            <a:r>
              <a:rPr lang="en-US" sz="1400" dirty="0" smtClean="0"/>
              <a:t>distributed </a:t>
            </a:r>
            <a:r>
              <a:rPr lang="en-US" sz="1400" dirty="0"/>
              <a:t>coffee land between </a:t>
            </a:r>
            <a:r>
              <a:rPr lang="en-US" sz="1400" dirty="0" smtClean="0"/>
              <a:t>heirs</a:t>
            </a:r>
          </a:p>
          <a:p>
            <a:pPr marL="285750" indent="-285750">
              <a:spcAft>
                <a:spcPts val="600"/>
              </a:spcAft>
              <a:buFont typeface="Arial" panose="020B0604020202020204" pitchFamily="34" charset="0"/>
              <a:buChar char="•"/>
            </a:pPr>
            <a:r>
              <a:rPr lang="en-US" sz="1400" dirty="0" smtClean="0"/>
              <a:t>With average household sizes of up to 6 this led to considerably decreasing </a:t>
            </a:r>
            <a:r>
              <a:rPr lang="en-US" sz="1400" dirty="0"/>
              <a:t>farm </a:t>
            </a:r>
            <a:r>
              <a:rPr lang="en-US" sz="1400" dirty="0" smtClean="0"/>
              <a:t>sizes</a:t>
            </a:r>
          </a:p>
        </p:txBody>
      </p:sp>
      <p:sp>
        <p:nvSpPr>
          <p:cNvPr id="9" name="Rectangle 8"/>
          <p:cNvSpPr/>
          <p:nvPr/>
        </p:nvSpPr>
        <p:spPr bwMode="auto">
          <a:xfrm>
            <a:off x="498229" y="2980009"/>
            <a:ext cx="2092571" cy="902676"/>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400" b="1" dirty="0" smtClean="0">
                <a:solidFill>
                  <a:schemeClr val="accent1"/>
                </a:solidFill>
                <a:latin typeface="Arial" charset="0"/>
              </a:rPr>
              <a:t>Exit of large farms </a:t>
            </a:r>
            <a:r>
              <a:rPr lang="en-US" sz="1400" dirty="0" smtClean="0">
                <a:solidFill>
                  <a:schemeClr val="accent1"/>
                </a:solidFill>
                <a:latin typeface="Arial" charset="0"/>
              </a:rPr>
              <a:t>due to </a:t>
            </a:r>
            <a:r>
              <a:rPr lang="en-US" sz="1400" dirty="0">
                <a:solidFill>
                  <a:schemeClr val="accent1"/>
                </a:solidFill>
                <a:latin typeface="Arial" charset="0"/>
              </a:rPr>
              <a:t>u</a:t>
            </a:r>
            <a:r>
              <a:rPr lang="en-US" sz="1400" dirty="0" smtClean="0">
                <a:solidFill>
                  <a:schemeClr val="accent1"/>
                </a:solidFill>
                <a:latin typeface="Arial" charset="0"/>
              </a:rPr>
              <a:t>nfavorable economics</a:t>
            </a:r>
            <a:endParaRPr kumimoji="0" lang="en-US" sz="1400" i="0" u="none" strike="noStrike" cap="none" normalizeH="0" baseline="0" dirty="0" smtClean="0">
              <a:ln>
                <a:noFill/>
              </a:ln>
              <a:solidFill>
                <a:schemeClr val="accent1"/>
              </a:solidFill>
              <a:effectLst/>
              <a:latin typeface="Arial" charset="0"/>
            </a:endParaRPr>
          </a:p>
        </p:txBody>
      </p:sp>
      <p:sp>
        <p:nvSpPr>
          <p:cNvPr id="10" name="TextBox 9"/>
          <p:cNvSpPr txBox="1"/>
          <p:nvPr/>
        </p:nvSpPr>
        <p:spPr>
          <a:xfrm>
            <a:off x="2715495" y="2980009"/>
            <a:ext cx="5697414" cy="1246495"/>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400" dirty="0" smtClean="0"/>
              <a:t>High cost structure due to large share of external farm workers has forced larger farms to give up their farms, in particular in times of low coffee prices (e.g., beginning of the 90s)</a:t>
            </a:r>
          </a:p>
          <a:p>
            <a:pPr marL="285750" indent="-285750">
              <a:spcAft>
                <a:spcPts val="600"/>
              </a:spcAft>
              <a:buFont typeface="Arial" panose="020B0604020202020204" pitchFamily="34" charset="0"/>
              <a:buChar char="•"/>
            </a:pPr>
            <a:r>
              <a:rPr lang="en-US" sz="1400" dirty="0" smtClean="0"/>
              <a:t>Smaller farms have proven to be more resistant to price falls due to lower cash costs</a:t>
            </a:r>
            <a:endParaRPr lang="en-US" sz="1400" dirty="0"/>
          </a:p>
        </p:txBody>
      </p:sp>
      <p:sp>
        <p:nvSpPr>
          <p:cNvPr id="11" name="Rectangle 10"/>
          <p:cNvSpPr/>
          <p:nvPr/>
        </p:nvSpPr>
        <p:spPr bwMode="auto">
          <a:xfrm>
            <a:off x="533399" y="4409588"/>
            <a:ext cx="2057401" cy="902676"/>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400" b="1" dirty="0" smtClean="0">
                <a:solidFill>
                  <a:schemeClr val="accent1"/>
                </a:solidFill>
                <a:latin typeface="Arial" charset="0"/>
              </a:rPr>
              <a:t>Many new small farms </a:t>
            </a:r>
            <a:r>
              <a:rPr lang="en-US" sz="1400" dirty="0" smtClean="0">
                <a:solidFill>
                  <a:schemeClr val="accent1"/>
                </a:solidFill>
                <a:latin typeface="Arial" charset="0"/>
              </a:rPr>
              <a:t>due to attractiveness of sector </a:t>
            </a:r>
            <a:endParaRPr kumimoji="0" lang="en-US" sz="1400" i="0" u="none" strike="noStrike" cap="none" normalizeH="0" baseline="0" dirty="0" smtClean="0">
              <a:ln>
                <a:noFill/>
              </a:ln>
              <a:solidFill>
                <a:schemeClr val="accent1"/>
              </a:solidFill>
              <a:effectLst/>
              <a:latin typeface="Arial" charset="0"/>
            </a:endParaRPr>
          </a:p>
        </p:txBody>
      </p:sp>
      <p:sp>
        <p:nvSpPr>
          <p:cNvPr id="12" name="TextBox 11"/>
          <p:cNvSpPr txBox="1"/>
          <p:nvPr/>
        </p:nvSpPr>
        <p:spPr>
          <a:xfrm>
            <a:off x="2715495" y="4409588"/>
            <a:ext cx="5826368" cy="1677382"/>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400" dirty="0"/>
              <a:t>Many farmers moved into the sector, starting to grow coffee on small </a:t>
            </a:r>
            <a:r>
              <a:rPr lang="en-US" sz="1400" dirty="0" smtClean="0"/>
              <a:t>farms because they perceived coffee to be an attractive and stable income alternative </a:t>
            </a:r>
          </a:p>
          <a:p>
            <a:pPr marL="285750" indent="-285750">
              <a:spcAft>
                <a:spcPts val="600"/>
              </a:spcAft>
              <a:buFont typeface="Arial" panose="020B0604020202020204" pitchFamily="34" charset="0"/>
              <a:buChar char="•"/>
            </a:pPr>
            <a:r>
              <a:rPr lang="en-US" sz="1400" dirty="0" smtClean="0"/>
              <a:t>Coffee sector is only sector with purchase guarantee and high institutional support (e.g. technical assistance, transfer </a:t>
            </a:r>
            <a:r>
              <a:rPr lang="en-US" sz="1400" dirty="0"/>
              <a:t>of technological innovation, credit, infrastructure, social protection, health services, </a:t>
            </a:r>
            <a:r>
              <a:rPr lang="en-US" sz="1400" dirty="0" smtClean="0"/>
              <a:t>education programs)</a:t>
            </a:r>
          </a:p>
        </p:txBody>
      </p:sp>
      <p:sp>
        <p:nvSpPr>
          <p:cNvPr id="13" name="McK Footnote"/>
          <p:cNvSpPr txBox="1">
            <a:spLocks noChangeArrowheads="1"/>
          </p:cNvSpPr>
          <p:nvPr/>
        </p:nvSpPr>
        <p:spPr bwMode="auto">
          <a:xfrm>
            <a:off x="636511" y="6247102"/>
            <a:ext cx="8485187" cy="138499"/>
          </a:xfrm>
          <a:prstGeom prst="rect">
            <a:avLst/>
          </a:prstGeom>
          <a:noFill/>
          <a:ln w="9525">
            <a:noFill/>
            <a:miter lim="800000"/>
            <a:headEnd/>
            <a:tailEnd/>
          </a:ln>
        </p:spPr>
        <p:txBody>
          <a:bodyPr lIns="0" tIns="0" rIns="0" bIns="0" anchor="b">
            <a:spAutoFit/>
          </a:bodyPr>
          <a:lstStyle/>
          <a:p>
            <a:r>
              <a:rPr lang="en-US" sz="900" dirty="0" smtClean="0">
                <a:solidFill>
                  <a:schemeClr val="tx1">
                    <a:lumMod val="65000"/>
                    <a:lumOff val="35000"/>
                  </a:schemeClr>
                </a:solidFill>
              </a:rPr>
              <a:t>Source: World Bank, stakeholder interviews</a:t>
            </a:r>
            <a:endParaRPr lang="en-US" sz="900" dirty="0">
              <a:solidFill>
                <a:schemeClr val="tx1">
                  <a:lumMod val="65000"/>
                  <a:lumOff val="35000"/>
                </a:schemeClr>
              </a:solidFill>
            </a:endParaRPr>
          </a:p>
        </p:txBody>
      </p:sp>
      <p:sp>
        <p:nvSpPr>
          <p:cNvPr id="5" name="Title 4"/>
          <p:cNvSpPr>
            <a:spLocks noGrp="1"/>
          </p:cNvSpPr>
          <p:nvPr>
            <p:ph type="title"/>
          </p:nvPr>
        </p:nvSpPr>
        <p:spPr/>
        <p:txBody>
          <a:bodyPr/>
          <a:lstStyle/>
          <a:p>
            <a:r>
              <a:rPr lang="en-US" b="0" dirty="0" smtClean="0"/>
              <a:t>A combination of demographic and economic factors have contributed to diminishing farm size</a:t>
            </a:r>
            <a:endParaRPr lang="en-US" b="0" dirty="0"/>
          </a:p>
        </p:txBody>
      </p:sp>
    </p:spTree>
    <p:extLst>
      <p:ext uri="{BB962C8B-B14F-4D97-AF65-F5344CB8AC3E}">
        <p14:creationId xmlns:p14="http://schemas.microsoft.com/office/powerpoint/2010/main" val="17657556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p:custDataLst>
              <p:tags r:id="rId2"/>
            </p:custDataLst>
            <p:extLst>
              <p:ext uri="{D42A27DB-BD31-4B8C-83A1-F6EECF244321}">
                <p14:modId xmlns:p14="http://schemas.microsoft.com/office/powerpoint/2010/main" val="260585545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1545" name="think-cell Slide" r:id="rId18" imgW="270" imgH="270" progId="TCLayout.ActiveDocument.1">
                  <p:embed/>
                </p:oleObj>
              </mc:Choice>
              <mc:Fallback>
                <p:oleObj name="think-cell Slide" r:id="rId18" imgW="270" imgH="270" progId="TCLayout.ActiveDocument.1">
                  <p:embed/>
                  <p:pic>
                    <p:nvPicPr>
                      <p:cNvPr id="0" name=""/>
                      <p:cNvPicPr/>
                      <p:nvPr/>
                    </p:nvPicPr>
                    <p:blipFill>
                      <a:blip r:embed="rId19"/>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63" name="TextBox 62"/>
          <p:cNvSpPr txBox="1"/>
          <p:nvPr/>
        </p:nvSpPr>
        <p:spPr>
          <a:xfrm>
            <a:off x="568610" y="1686021"/>
            <a:ext cx="4136047" cy="492443"/>
          </a:xfrm>
          <a:prstGeom prst="rect">
            <a:avLst/>
          </a:prstGeom>
          <a:noFill/>
        </p:spPr>
        <p:txBody>
          <a:bodyPr wrap="square" rtlCol="0">
            <a:spAutoFit/>
          </a:bodyPr>
          <a:lstStyle/>
          <a:p>
            <a:r>
              <a:rPr lang="en-US" sz="1300" b="1" dirty="0" smtClean="0">
                <a:solidFill>
                  <a:schemeClr val="accent1"/>
                </a:solidFill>
              </a:rPr>
              <a:t>Estimated number of coffee farms</a:t>
            </a:r>
          </a:p>
          <a:p>
            <a:r>
              <a:rPr lang="en-US" sz="1300" dirty="0" smtClean="0">
                <a:solidFill>
                  <a:schemeClr val="accent1"/>
                </a:solidFill>
              </a:rPr>
              <a:t>Thousands</a:t>
            </a:r>
          </a:p>
        </p:txBody>
      </p:sp>
      <p:sp>
        <p:nvSpPr>
          <p:cNvPr id="147" name="McK Footnote"/>
          <p:cNvSpPr txBox="1">
            <a:spLocks noChangeArrowheads="1"/>
          </p:cNvSpPr>
          <p:nvPr/>
        </p:nvSpPr>
        <p:spPr bwMode="auto">
          <a:xfrm>
            <a:off x="650951" y="6212428"/>
            <a:ext cx="7350125" cy="615553"/>
          </a:xfrm>
          <a:prstGeom prst="rect">
            <a:avLst/>
          </a:prstGeom>
          <a:noFill/>
          <a:ln w="9525">
            <a:noFill/>
            <a:miter lim="800000"/>
            <a:headEnd/>
            <a:tailEnd/>
          </a:ln>
        </p:spPr>
        <p:txBody>
          <a:bodyPr wrap="square" lIns="0" tIns="0" rIns="0" bIns="0" anchor="b">
            <a:spAutoFit/>
          </a:bodyPr>
          <a:lstStyle/>
          <a:p>
            <a:r>
              <a:rPr lang="en-US" sz="800" dirty="0" smtClean="0">
                <a:solidFill>
                  <a:schemeClr val="tx1">
                    <a:lumMod val="65000"/>
                    <a:lumOff val="35000"/>
                  </a:schemeClr>
                </a:solidFill>
              </a:rPr>
              <a:t>* Combination of low international coffee prices from 2001 to 2003 (“coffee crisis”) and armed conflict caused farmers to abandon land and/or switch to other crops with a quicker cash cycle, including coca, in particular in lower altitudes		 </a:t>
            </a:r>
          </a:p>
          <a:p>
            <a:r>
              <a:rPr lang="en-US" sz="800" dirty="0" smtClean="0">
                <a:solidFill>
                  <a:schemeClr val="tx1">
                    <a:lumMod val="65000"/>
                    <a:lumOff val="35000"/>
                  </a:schemeClr>
                </a:solidFill>
              </a:rPr>
              <a:t>** As of 2008			*** Inactive farmers</a:t>
            </a:r>
          </a:p>
          <a:p>
            <a:r>
              <a:rPr lang="en-US" sz="800" dirty="0" smtClean="0">
                <a:solidFill>
                  <a:schemeClr val="tx1">
                    <a:lumMod val="65000"/>
                    <a:lumOff val="35000"/>
                  </a:schemeClr>
                </a:solidFill>
              </a:rPr>
              <a:t>Source: FNC; FONAC; 1993-1997 National Coffee Survey; Universidad de los Andes – CEDE: “ </a:t>
            </a:r>
            <a:r>
              <a:rPr lang="en-US" sz="800" dirty="0">
                <a:solidFill>
                  <a:schemeClr val="tx1">
                    <a:lumMod val="65000"/>
                    <a:lumOff val="35000"/>
                  </a:schemeClr>
                </a:solidFill>
              </a:rPr>
              <a:t>Abandoning Coffee under the Threat of Violence and the Presence of Illicit Crops. Evidence from </a:t>
            </a:r>
            <a:r>
              <a:rPr lang="en-US" sz="800" dirty="0" smtClean="0">
                <a:solidFill>
                  <a:schemeClr val="tx1">
                    <a:lumMod val="65000"/>
                    <a:lumOff val="35000"/>
                  </a:schemeClr>
                </a:solidFill>
              </a:rPr>
              <a:t>Colombia”; TechnoServe estimates</a:t>
            </a:r>
            <a:endParaRPr lang="en-US" sz="800" dirty="0">
              <a:solidFill>
                <a:schemeClr val="tx1">
                  <a:lumMod val="65000"/>
                  <a:lumOff val="35000"/>
                </a:schemeClr>
              </a:solidFill>
            </a:endParaRPr>
          </a:p>
        </p:txBody>
      </p:sp>
      <p:graphicFrame>
        <p:nvGraphicFramePr>
          <p:cNvPr id="5" name="Object 4"/>
          <p:cNvGraphicFramePr>
            <a:graphicFrameLocks/>
          </p:cNvGraphicFramePr>
          <p:nvPr>
            <p:custDataLst>
              <p:tags r:id="rId4"/>
            </p:custDataLst>
            <p:extLst>
              <p:ext uri="{D42A27DB-BD31-4B8C-83A1-F6EECF244321}">
                <p14:modId xmlns:p14="http://schemas.microsoft.com/office/powerpoint/2010/main" val="2649056805"/>
              </p:ext>
            </p:extLst>
          </p:nvPr>
        </p:nvGraphicFramePr>
        <p:xfrm>
          <a:off x="609600" y="3048000"/>
          <a:ext cx="8124757" cy="2428875"/>
        </p:xfrm>
        <a:graphic>
          <a:graphicData uri="http://schemas.openxmlformats.org/presentationml/2006/ole">
            <mc:AlternateContent xmlns:mc="http://schemas.openxmlformats.org/markup-compatibility/2006">
              <mc:Choice xmlns:v="urn:schemas-microsoft-com:vml" Requires="v">
                <p:oleObj spid="_x0000_s171546" name="Chart" r:id="rId20" imgW="8124757" imgH="2428875" progId="MSGraph.Chart.8">
                  <p:embed followColorScheme="full"/>
                </p:oleObj>
              </mc:Choice>
              <mc:Fallback>
                <p:oleObj name="Chart" r:id="rId20" imgW="8124757" imgH="2428875" progId="MSGraph.Chart.8">
                  <p:embed followColorScheme="full"/>
                  <p:pic>
                    <p:nvPicPr>
                      <p:cNvPr id="0" name=""/>
                      <p:cNvPicPr/>
                      <p:nvPr/>
                    </p:nvPicPr>
                    <p:blipFill>
                      <a:blip r:embed="rId21"/>
                      <a:stretch>
                        <a:fillRect/>
                      </a:stretch>
                    </p:blipFill>
                    <p:spPr>
                      <a:xfrm>
                        <a:off x="609600" y="3048000"/>
                        <a:ext cx="8124757" cy="2428875"/>
                      </a:xfrm>
                      <a:prstGeom prst="rect">
                        <a:avLst/>
                      </a:prstGeom>
                    </p:spPr>
                  </p:pic>
                </p:oleObj>
              </mc:Fallback>
            </mc:AlternateContent>
          </a:graphicData>
        </a:graphic>
      </p:graphicFrame>
      <p:sp>
        <p:nvSpPr>
          <p:cNvPr id="41" name="Text Placeholder 18"/>
          <p:cNvSpPr>
            <a:spLocks noGrp="1"/>
          </p:cNvSpPr>
          <p:nvPr>
            <p:custDataLst>
              <p:tags r:id="rId5"/>
            </p:custDataLst>
          </p:nvPr>
        </p:nvSpPr>
        <p:spPr bwMode="auto">
          <a:xfrm>
            <a:off x="7532688" y="5534025"/>
            <a:ext cx="60325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58B61FA-9761-4D71-AE5A-11F291B41CD5}" type="datetime'''''''''''''''''''C''''''u''''''''''''''rr''''e''n''''''t'''''">
              <a:rPr lang="en-US" sz="1400">
                <a:solidFill>
                  <a:schemeClr val="accent1"/>
                </a:solidFill>
              </a:rPr>
              <a:pPr/>
              <a:t>Current</a:t>
            </a:fld>
            <a:endParaRPr lang="en-US" sz="1400" dirty="0">
              <a:solidFill>
                <a:schemeClr val="accent1"/>
              </a:solidFill>
              <a:latin typeface="Arial"/>
              <a:sym typeface="Arial"/>
            </a:endParaRPr>
          </a:p>
        </p:txBody>
      </p:sp>
      <p:sp>
        <p:nvSpPr>
          <p:cNvPr id="42" name="Text Placeholder 19"/>
          <p:cNvSpPr>
            <a:spLocks noGrp="1"/>
          </p:cNvSpPr>
          <p:nvPr>
            <p:custDataLst>
              <p:tags r:id="rId6"/>
            </p:custDataLst>
          </p:nvPr>
        </p:nvSpPr>
        <p:spPr bwMode="gray">
          <a:xfrm>
            <a:off x="7661275" y="3257550"/>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C2C4D352-FC3D-4D5D-A761-EA08EA0E91EC}" type="datetime'''''''''5''''''''''''''''6''''0'''''''">
              <a:rPr lang="en-US" sz="1400">
                <a:solidFill>
                  <a:schemeClr val="accent1"/>
                </a:solidFill>
              </a:rPr>
              <a:pPr/>
              <a:t>560</a:t>
            </a:fld>
            <a:endParaRPr lang="en-US" sz="1400" dirty="0">
              <a:solidFill>
                <a:schemeClr val="accent1"/>
              </a:solidFill>
              <a:latin typeface="Arial"/>
              <a:sym typeface="Arial"/>
            </a:endParaRPr>
          </a:p>
        </p:txBody>
      </p:sp>
      <p:sp>
        <p:nvSpPr>
          <p:cNvPr id="39" name="Text Placeholder 16"/>
          <p:cNvSpPr>
            <a:spLocks noGrp="1"/>
          </p:cNvSpPr>
          <p:nvPr>
            <p:custDataLst>
              <p:tags r:id="rId7"/>
            </p:custDataLst>
          </p:nvPr>
        </p:nvSpPr>
        <p:spPr bwMode="auto">
          <a:xfrm>
            <a:off x="5935663" y="5534025"/>
            <a:ext cx="6350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3FC9848E-8456-4212-9A3E-9C01E8507435}" type="datetime'2''''''''''''0''''''''''00''''''''''''s*''''''''''''''''''''*'">
              <a:rPr lang="en-US" sz="1400">
                <a:solidFill>
                  <a:schemeClr val="accent1"/>
                </a:solidFill>
              </a:rPr>
              <a:pPr/>
              <a:t>2000s**</a:t>
            </a:fld>
            <a:endParaRPr lang="en-US" sz="1400" dirty="0">
              <a:solidFill>
                <a:schemeClr val="accent1"/>
              </a:solidFill>
              <a:latin typeface="Arial"/>
              <a:sym typeface="Arial"/>
            </a:endParaRPr>
          </a:p>
        </p:txBody>
      </p:sp>
      <p:sp>
        <p:nvSpPr>
          <p:cNvPr id="40" name="Text Placeholder 17"/>
          <p:cNvSpPr>
            <a:spLocks noGrp="1"/>
          </p:cNvSpPr>
          <p:nvPr>
            <p:custDataLst>
              <p:tags r:id="rId8"/>
            </p:custDataLst>
          </p:nvPr>
        </p:nvSpPr>
        <p:spPr bwMode="gray">
          <a:xfrm>
            <a:off x="6080125" y="345757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59ECC6B-3FFC-4A1B-BE12-162EABC14563}" type="datetime'''''''5''''''''''''''''''''''''''0''''''0'''''''''''''''''''">
              <a:rPr lang="en-US" sz="1400">
                <a:solidFill>
                  <a:schemeClr val="accent1"/>
                </a:solidFill>
              </a:rPr>
              <a:pPr/>
              <a:t>500</a:t>
            </a:fld>
            <a:endParaRPr lang="en-US" sz="1400" dirty="0">
              <a:solidFill>
                <a:schemeClr val="accent1"/>
              </a:solidFill>
              <a:latin typeface="Arial"/>
              <a:sym typeface="Arial"/>
            </a:endParaRPr>
          </a:p>
        </p:txBody>
      </p:sp>
      <p:sp>
        <p:nvSpPr>
          <p:cNvPr id="28" name="Text Placeholder 6"/>
          <p:cNvSpPr>
            <a:spLocks noGrp="1"/>
          </p:cNvSpPr>
          <p:nvPr>
            <p:custDataLst>
              <p:tags r:id="rId9"/>
            </p:custDataLst>
          </p:nvPr>
        </p:nvSpPr>
        <p:spPr bwMode="auto">
          <a:xfrm>
            <a:off x="4429125" y="5534025"/>
            <a:ext cx="4953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A32AA7BE-0568-413C-B622-9610C28ACF21}" type="datetime'''''''''''''''''1''''''9''''''''9''''''''''0s'''''">
              <a:rPr lang="en-US" sz="1400">
                <a:solidFill>
                  <a:schemeClr val="accent1"/>
                </a:solidFill>
              </a:rPr>
              <a:pPr/>
              <a:t>1990s</a:t>
            </a:fld>
            <a:endParaRPr lang="en-US" sz="1400" dirty="0">
              <a:solidFill>
                <a:schemeClr val="accent1"/>
              </a:solidFill>
              <a:sym typeface="+mn-lt"/>
            </a:endParaRPr>
          </a:p>
        </p:txBody>
      </p:sp>
      <p:sp>
        <p:nvSpPr>
          <p:cNvPr id="38" name="Text Placeholder 15"/>
          <p:cNvSpPr>
            <a:spLocks noGrp="1"/>
          </p:cNvSpPr>
          <p:nvPr>
            <p:custDataLst>
              <p:tags r:id="rId10"/>
            </p:custDataLst>
          </p:nvPr>
        </p:nvSpPr>
        <p:spPr bwMode="gray">
          <a:xfrm>
            <a:off x="4503738" y="292417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CE364932-6913-492C-980D-45DA3C7EAE8F}" type="datetime'6''''''''''''''''''''''''6''''''''''''''''''''''''''0'''''''">
              <a:rPr lang="en-US" sz="1400">
                <a:solidFill>
                  <a:schemeClr val="accent1"/>
                </a:solidFill>
              </a:rPr>
              <a:pPr/>
              <a:t>660</a:t>
            </a:fld>
            <a:endParaRPr lang="en-US" sz="1400" dirty="0">
              <a:solidFill>
                <a:schemeClr val="accent1"/>
              </a:solidFill>
              <a:latin typeface="Arial"/>
              <a:sym typeface="Arial"/>
            </a:endParaRPr>
          </a:p>
        </p:txBody>
      </p:sp>
      <p:sp>
        <p:nvSpPr>
          <p:cNvPr id="24" name="Text Placeholder 5"/>
          <p:cNvSpPr>
            <a:spLocks noGrp="1"/>
          </p:cNvSpPr>
          <p:nvPr>
            <p:custDataLst>
              <p:tags r:id="rId11"/>
            </p:custDataLst>
          </p:nvPr>
        </p:nvSpPr>
        <p:spPr bwMode="auto">
          <a:xfrm>
            <a:off x="2852738" y="5534025"/>
            <a:ext cx="4953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F8D14E36-277A-4980-B732-4D8DC42368B7}" type="datetime'''''198''''''''''0''''''''''''''s'''''''''''''''''''''''''">
              <a:rPr lang="en-US" sz="1400">
                <a:solidFill>
                  <a:schemeClr val="accent1"/>
                </a:solidFill>
              </a:rPr>
              <a:pPr/>
              <a:t>1980s</a:t>
            </a:fld>
            <a:endParaRPr lang="en-US" sz="1400" dirty="0">
              <a:solidFill>
                <a:schemeClr val="accent1"/>
              </a:solidFill>
              <a:latin typeface="Arial"/>
              <a:sym typeface="Arial"/>
            </a:endParaRPr>
          </a:p>
        </p:txBody>
      </p:sp>
      <p:sp>
        <p:nvSpPr>
          <p:cNvPr id="26" name="Text Placeholder 7"/>
          <p:cNvSpPr>
            <a:spLocks noGrp="1"/>
          </p:cNvSpPr>
          <p:nvPr>
            <p:custDataLst>
              <p:tags r:id="rId12"/>
            </p:custDataLst>
          </p:nvPr>
        </p:nvSpPr>
        <p:spPr bwMode="gray">
          <a:xfrm>
            <a:off x="2927350" y="362902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BF6B52D8-BBEC-4A8F-9E94-66EF2B30569E}" type="datetime'''''4''5''''''''''''''''''''''''''''''''''''''''0'''''''''''">
              <a:rPr lang="en-US" sz="1400" smtClean="0">
                <a:solidFill>
                  <a:schemeClr val="accent1"/>
                </a:solidFill>
                <a:latin typeface="Arial"/>
                <a:sym typeface="Arial"/>
              </a:rPr>
              <a:pPr marL="0" indent="0" algn="ctr">
                <a:buNone/>
              </a:pPr>
              <a:t>450</a:t>
            </a:fld>
            <a:endParaRPr lang="en-US" sz="1400" dirty="0">
              <a:solidFill>
                <a:schemeClr val="accent1"/>
              </a:solidFill>
              <a:latin typeface="Arial"/>
              <a:sym typeface="Arial"/>
            </a:endParaRPr>
          </a:p>
        </p:txBody>
      </p:sp>
      <p:sp>
        <p:nvSpPr>
          <p:cNvPr id="27" name="Text Placeholder 5"/>
          <p:cNvSpPr>
            <a:spLocks noGrp="1"/>
          </p:cNvSpPr>
          <p:nvPr>
            <p:custDataLst>
              <p:tags r:id="rId13"/>
            </p:custDataLst>
          </p:nvPr>
        </p:nvSpPr>
        <p:spPr bwMode="auto">
          <a:xfrm>
            <a:off x="1271588" y="5534025"/>
            <a:ext cx="4953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accent1"/>
                </a:solidFill>
              </a:rPr>
              <a:t>1970s</a:t>
            </a:r>
            <a:endParaRPr lang="en-US" sz="1400" dirty="0">
              <a:solidFill>
                <a:schemeClr val="accent1"/>
              </a:solidFill>
              <a:sym typeface="+mn-lt"/>
            </a:endParaRPr>
          </a:p>
        </p:txBody>
      </p:sp>
      <p:sp>
        <p:nvSpPr>
          <p:cNvPr id="36" name="Text Placeholder 14"/>
          <p:cNvSpPr>
            <a:spLocks noGrp="1"/>
          </p:cNvSpPr>
          <p:nvPr>
            <p:custDataLst>
              <p:tags r:id="rId14"/>
            </p:custDataLst>
          </p:nvPr>
        </p:nvSpPr>
        <p:spPr bwMode="gray">
          <a:xfrm>
            <a:off x="1346200" y="4133850"/>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02DC1E4B-EB85-40E5-8F7D-919E641B3EEE}" type="datetime'''''''3''''''''''''''''''''''''''0''''''0'''''''''''''''''">
              <a:rPr lang="en-US" sz="1400">
                <a:solidFill>
                  <a:schemeClr val="accent1"/>
                </a:solidFill>
              </a:rPr>
              <a:pPr/>
              <a:t>300</a:t>
            </a:fld>
            <a:endParaRPr lang="en-US" sz="1400" dirty="0">
              <a:solidFill>
                <a:schemeClr val="accent1"/>
              </a:solidFill>
              <a:latin typeface="Arial"/>
              <a:sym typeface="Arial"/>
            </a:endParaRPr>
          </a:p>
        </p:txBody>
      </p:sp>
      <p:sp>
        <p:nvSpPr>
          <p:cNvPr id="22" name="Text Placeholder 4"/>
          <p:cNvSpPr>
            <a:spLocks noGrp="1"/>
          </p:cNvSpPr>
          <p:nvPr>
            <p:custDataLst>
              <p:tags r:id="rId15"/>
            </p:custDataLst>
          </p:nvPr>
        </p:nvSpPr>
        <p:spPr bwMode="gray">
          <a:xfrm>
            <a:off x="7556500" y="3556000"/>
            <a:ext cx="5556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8BF7504-960E-4956-9894-D37EBE157529}" type="datetime'''''1''''0''''''''''''''''''''''''''''''''''''''0'''''''''''">
              <a:rPr lang="en-US" sz="1400" smtClean="0">
                <a:solidFill>
                  <a:schemeClr val="bg1"/>
                </a:solidFill>
                <a:sym typeface="+mn-lt"/>
              </a:rPr>
              <a:pPr marL="0" indent="0" algn="ctr">
                <a:spcBef>
                  <a:spcPct val="0"/>
                </a:spcBef>
                <a:spcAft>
                  <a:spcPct val="0"/>
                </a:spcAft>
                <a:buNone/>
              </a:pPr>
              <a:t>100</a:t>
            </a:fld>
            <a:r>
              <a:rPr lang="en-US" sz="1400" dirty="0" smtClean="0">
                <a:solidFill>
                  <a:schemeClr val="bg1"/>
                </a:solidFill>
                <a:sym typeface="+mn-lt"/>
              </a:rPr>
              <a:t>***</a:t>
            </a:r>
            <a:endParaRPr lang="en-US" sz="1400" dirty="0">
              <a:solidFill>
                <a:schemeClr val="bg1"/>
              </a:solidFill>
              <a:sym typeface="+mn-lt"/>
            </a:endParaRPr>
          </a:p>
        </p:txBody>
      </p:sp>
      <p:sp>
        <p:nvSpPr>
          <p:cNvPr id="25" name="Text Placeholder 6"/>
          <p:cNvSpPr>
            <a:spLocks noGrp="1"/>
          </p:cNvSpPr>
          <p:nvPr>
            <p:custDataLst>
              <p:tags r:id="rId16"/>
            </p:custDataLst>
          </p:nvPr>
        </p:nvSpPr>
        <p:spPr bwMode="gray">
          <a:xfrm>
            <a:off x="7661275" y="4494213"/>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1F29E3A-DAB6-471A-B694-425DB727AC39}" type="datetime'''''''''''4''''''''''''''''''''6''''''''''''0'''''''''''''''''">
              <a:rPr lang="en-US" sz="1400">
                <a:solidFill>
                  <a:schemeClr val="bg1"/>
                </a:solidFill>
                <a:latin typeface="Arial"/>
                <a:sym typeface="Arial"/>
              </a:rPr>
              <a:pPr marL="0" indent="0" algn="ctr">
                <a:spcBef>
                  <a:spcPct val="0"/>
                </a:spcBef>
                <a:spcAft>
                  <a:spcPct val="0"/>
                </a:spcAft>
                <a:buNone/>
              </a:pPr>
              <a:t>460</a:t>
            </a:fld>
            <a:endParaRPr lang="en-US" sz="1400">
              <a:solidFill>
                <a:schemeClr val="bg1"/>
              </a:solidFill>
              <a:latin typeface="Arial"/>
              <a:sym typeface="Arial"/>
            </a:endParaRPr>
          </a:p>
        </p:txBody>
      </p:sp>
      <p:sp>
        <p:nvSpPr>
          <p:cNvPr id="3" name="Title 2"/>
          <p:cNvSpPr>
            <a:spLocks noGrp="1"/>
          </p:cNvSpPr>
          <p:nvPr>
            <p:ph type="title"/>
          </p:nvPr>
        </p:nvSpPr>
        <p:spPr>
          <a:xfrm>
            <a:off x="400869" y="312738"/>
            <a:ext cx="8229600" cy="961880"/>
          </a:xfrm>
        </p:spPr>
        <p:txBody>
          <a:bodyPr/>
          <a:lstStyle/>
          <a:p>
            <a:r>
              <a:rPr lang="en-US" b="0" dirty="0" smtClean="0"/>
              <a:t>The number of coffee farms peaked in the 1990s, but fell in the early 2000s</a:t>
            </a:r>
            <a:endParaRPr lang="en-US" sz="2800" b="0" dirty="0"/>
          </a:p>
        </p:txBody>
      </p:sp>
      <p:sp>
        <p:nvSpPr>
          <p:cNvPr id="10" name="Oval 9"/>
          <p:cNvSpPr/>
          <p:nvPr/>
        </p:nvSpPr>
        <p:spPr>
          <a:xfrm>
            <a:off x="3895722" y="1786063"/>
            <a:ext cx="3173413" cy="815975"/>
          </a:xfrm>
          <a:prstGeom prst="ellipse">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spcBef>
                <a:spcPct val="0"/>
              </a:spcBef>
              <a:spcAft>
                <a:spcPct val="0"/>
              </a:spcAft>
            </a:pPr>
            <a:r>
              <a:rPr lang="en-US" sz="1400" dirty="0">
                <a:solidFill>
                  <a:schemeClr val="accent1"/>
                </a:solidFill>
              </a:rPr>
              <a:t>Decrease due to </a:t>
            </a:r>
          </a:p>
          <a:p>
            <a:pPr algn="ctr">
              <a:lnSpc>
                <a:spcPct val="90000"/>
              </a:lnSpc>
              <a:spcBef>
                <a:spcPct val="0"/>
              </a:spcBef>
              <a:spcAft>
                <a:spcPct val="0"/>
              </a:spcAft>
            </a:pPr>
            <a:r>
              <a:rPr lang="en-US" sz="1400" dirty="0">
                <a:solidFill>
                  <a:schemeClr val="accent1"/>
                </a:solidFill>
              </a:rPr>
              <a:t>“coffee crisis” and escalation</a:t>
            </a:r>
          </a:p>
          <a:p>
            <a:pPr algn="ctr">
              <a:lnSpc>
                <a:spcPct val="90000"/>
              </a:lnSpc>
              <a:spcBef>
                <a:spcPct val="0"/>
              </a:spcBef>
              <a:spcAft>
                <a:spcPct val="0"/>
              </a:spcAft>
            </a:pPr>
            <a:r>
              <a:rPr lang="en-US" sz="1400" dirty="0">
                <a:solidFill>
                  <a:schemeClr val="accent1"/>
                </a:solidFill>
                <a:sym typeface="+mn-lt"/>
              </a:rPr>
              <a:t>of armed conflict*</a:t>
            </a:r>
          </a:p>
        </p:txBody>
      </p:sp>
    </p:spTree>
    <p:extLst>
      <p:ext uri="{BB962C8B-B14F-4D97-AF65-F5344CB8AC3E}">
        <p14:creationId xmlns:p14="http://schemas.microsoft.com/office/powerpoint/2010/main" val="13876218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09" name="Rectangle 2" hidden="1"/>
          <p:cNvGraphicFramePr>
            <a:graphicFrameLocks/>
          </p:cNvGraphicFramePr>
          <p:nvPr>
            <p:custDataLst>
              <p:tags r:id="rId2"/>
            </p:custDataLst>
            <p:extLst>
              <p:ext uri="{D42A27DB-BD31-4B8C-83A1-F6EECF244321}">
                <p14:modId xmlns:p14="http://schemas.microsoft.com/office/powerpoint/2010/main" val="3553785126"/>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74609" name="think-cell Slide" r:id="rId28" imgW="0" imgH="0" progId="TCLayout.ActiveDocument.1">
                  <p:embed/>
                </p:oleObj>
              </mc:Choice>
              <mc:Fallback>
                <p:oleObj name="think-cell Slide" r:id="rId28" imgW="0" imgH="0" progId="TCLayout.ActiveDocument.1">
                  <p:embed/>
                  <p:pic>
                    <p:nvPicPr>
                      <p:cNvPr id="0" name=""/>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7410" name="Rectangle 3" hidden="1"/>
          <p:cNvSpPr>
            <a:spLocks noChangeArrowheads="1"/>
          </p:cNvSpPr>
          <p:nvPr>
            <p:custDataLst>
              <p:tags r:id="rId3"/>
            </p:custDataLst>
          </p:nvPr>
        </p:nvSpPr>
        <p:spPr bwMode="auto">
          <a:xfrm>
            <a:off x="0" y="0"/>
            <a:ext cx="158750" cy="158750"/>
          </a:xfrm>
          <a:prstGeom prst="rect">
            <a:avLst/>
          </a:prstGeom>
          <a:solidFill>
            <a:schemeClr val="accent1"/>
          </a:solidFill>
          <a:ln w="9525">
            <a:solidFill>
              <a:schemeClr val="tx1"/>
            </a:solidFill>
            <a:miter lim="800000"/>
            <a:headEnd/>
            <a:tailEnd/>
          </a:ln>
        </p:spPr>
        <p:txBody>
          <a:bodyPr vert="horz" wrap="none" lIns="0" tIns="0" rIns="0" bIns="0" numCol="1" spcCol="0" anchor="ctr" anchorCtr="0">
            <a:noAutofit/>
          </a:bodyPr>
          <a:lstStyle>
            <a:lvl1pPr eaLnBrk="0" hangingPunct="0">
              <a:defRPr sz="800">
                <a:solidFill>
                  <a:schemeClr val="tx1"/>
                </a:solidFill>
                <a:latin typeface="Arial" pitchFamily="34" charset="0"/>
                <a:ea typeface="MS PGothic" pitchFamily="34" charset="-128"/>
              </a:defRPr>
            </a:lvl1pPr>
            <a:lvl2pPr marL="742950" indent="-285750" eaLnBrk="0" hangingPunct="0">
              <a:defRPr sz="800">
                <a:solidFill>
                  <a:schemeClr val="tx1"/>
                </a:solidFill>
                <a:latin typeface="Arial" pitchFamily="34" charset="0"/>
                <a:ea typeface="MS PGothic" pitchFamily="34" charset="-128"/>
              </a:defRPr>
            </a:lvl2pPr>
            <a:lvl3pPr marL="1143000" indent="-228600" eaLnBrk="0" hangingPunct="0">
              <a:defRPr sz="800">
                <a:solidFill>
                  <a:schemeClr val="tx1"/>
                </a:solidFill>
                <a:latin typeface="Arial" pitchFamily="34" charset="0"/>
                <a:ea typeface="MS PGothic" pitchFamily="34" charset="-128"/>
              </a:defRPr>
            </a:lvl3pPr>
            <a:lvl4pPr marL="1600200" indent="-228600" eaLnBrk="0" hangingPunct="0">
              <a:defRPr sz="800">
                <a:solidFill>
                  <a:schemeClr val="tx1"/>
                </a:solidFill>
                <a:latin typeface="Arial" pitchFamily="34" charset="0"/>
                <a:ea typeface="MS PGothic" pitchFamily="34" charset="-128"/>
              </a:defRPr>
            </a:lvl4pPr>
            <a:lvl5pPr marL="2057400" indent="-228600" eaLnBrk="0" hangingPunct="0">
              <a:defRPr sz="8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8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8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8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800">
                <a:solidFill>
                  <a:schemeClr val="tx1"/>
                </a:solidFill>
                <a:latin typeface="Arial" pitchFamily="34" charset="0"/>
                <a:ea typeface="MS PGothic" pitchFamily="34" charset="-128"/>
              </a:defRPr>
            </a:lvl9pPr>
          </a:lstStyle>
          <a:p>
            <a:pPr algn="ctr" eaLnBrk="1" hangingPunct="1">
              <a:spcBef>
                <a:spcPct val="0"/>
              </a:spcBef>
              <a:spcAft>
                <a:spcPct val="0"/>
              </a:spcAft>
            </a:pPr>
            <a:endParaRPr lang="en-US" altLang="de-DE" sz="1400">
              <a:latin typeface="Arial"/>
              <a:ea typeface="+mn-ea"/>
              <a:sym typeface="Arial"/>
            </a:endParaRPr>
          </a:p>
        </p:txBody>
      </p:sp>
      <p:graphicFrame>
        <p:nvGraphicFramePr>
          <p:cNvPr id="2" name="Object 1"/>
          <p:cNvGraphicFramePr>
            <a:graphicFrameLocks/>
          </p:cNvGraphicFramePr>
          <p:nvPr>
            <p:custDataLst>
              <p:tags r:id="rId4"/>
            </p:custDataLst>
            <p:extLst>
              <p:ext uri="{D42A27DB-BD31-4B8C-83A1-F6EECF244321}">
                <p14:modId xmlns:p14="http://schemas.microsoft.com/office/powerpoint/2010/main" val="3406665262"/>
              </p:ext>
            </p:extLst>
          </p:nvPr>
        </p:nvGraphicFramePr>
        <p:xfrm>
          <a:off x="457200" y="1905000"/>
          <a:ext cx="8277157" cy="3933915"/>
        </p:xfrm>
        <a:graphic>
          <a:graphicData uri="http://schemas.openxmlformats.org/presentationml/2006/ole">
            <mc:AlternateContent xmlns:mc="http://schemas.openxmlformats.org/markup-compatibility/2006">
              <mc:Choice xmlns:v="urn:schemas-microsoft-com:vml" Requires="v">
                <p:oleObj spid="_x0000_s174610" name="Chart" r:id="rId29" imgW="8277157" imgH="3933915" progId="MSGraph.Chart.8">
                  <p:embed followColorScheme="full"/>
                </p:oleObj>
              </mc:Choice>
              <mc:Fallback>
                <p:oleObj name="Chart" r:id="rId29" imgW="8277157" imgH="3933915" progId="MSGraph.Chart.8">
                  <p:embed followColorScheme="full"/>
                  <p:pic>
                    <p:nvPicPr>
                      <p:cNvPr id="0" name=""/>
                      <p:cNvPicPr/>
                      <p:nvPr/>
                    </p:nvPicPr>
                    <p:blipFill>
                      <a:blip r:embed="rId30"/>
                      <a:stretch>
                        <a:fillRect/>
                      </a:stretch>
                    </p:blipFill>
                    <p:spPr>
                      <a:xfrm>
                        <a:off x="457200" y="1905000"/>
                        <a:ext cx="8277157" cy="3933915"/>
                      </a:xfrm>
                      <a:prstGeom prst="rect">
                        <a:avLst/>
                      </a:prstGeom>
                    </p:spPr>
                  </p:pic>
                </p:oleObj>
              </mc:Fallback>
            </mc:AlternateContent>
          </a:graphicData>
        </a:graphic>
      </p:graphicFrame>
      <p:sp>
        <p:nvSpPr>
          <p:cNvPr id="88" name="Text Placeholder 60"/>
          <p:cNvSpPr>
            <a:spLocks noGrp="1"/>
          </p:cNvSpPr>
          <p:nvPr>
            <p:custDataLst>
              <p:tags r:id="rId5"/>
            </p:custDataLst>
          </p:nvPr>
        </p:nvSpPr>
        <p:spPr bwMode="gray">
          <a:xfrm>
            <a:off x="301625" y="1912938"/>
            <a:ext cx="19685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6470740B-2EF3-47FE-A6F8-2143A78CC600}" type="datetime'1''''''''''''''''''''''''''''''8'''''''''''''''''">
              <a:rPr lang="en-US" sz="1400">
                <a:solidFill>
                  <a:schemeClr val="accent1"/>
                </a:solidFill>
                <a:latin typeface="Arial"/>
                <a:sym typeface="Arial"/>
              </a:rPr>
              <a:pPr marL="0" indent="0" algn="r">
                <a:buNone/>
              </a:pPr>
              <a:t>18</a:t>
            </a:fld>
            <a:endParaRPr lang="en-US" sz="1400" dirty="0">
              <a:solidFill>
                <a:schemeClr val="accent1"/>
              </a:solidFill>
              <a:latin typeface="Arial"/>
              <a:sym typeface="Arial"/>
            </a:endParaRPr>
          </a:p>
        </p:txBody>
      </p:sp>
      <p:sp>
        <p:nvSpPr>
          <p:cNvPr id="87" name="Text Placeholder 59"/>
          <p:cNvSpPr>
            <a:spLocks noGrp="1"/>
          </p:cNvSpPr>
          <p:nvPr>
            <p:custDataLst>
              <p:tags r:id="rId6"/>
            </p:custDataLst>
          </p:nvPr>
        </p:nvSpPr>
        <p:spPr bwMode="gray">
          <a:xfrm>
            <a:off x="301625" y="2322513"/>
            <a:ext cx="19685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45ECD3AA-7FFA-442C-9C5A-72170A5B6627}" type="datetime'''''''''''''''''''''''''''''''''1''''6'''''''''''''''''''''''">
              <a:rPr lang="en-US" sz="1400">
                <a:solidFill>
                  <a:schemeClr val="accent1"/>
                </a:solidFill>
                <a:latin typeface="Arial"/>
                <a:sym typeface="Arial"/>
              </a:rPr>
              <a:pPr marL="0" indent="0" algn="r">
                <a:buNone/>
              </a:pPr>
              <a:t>16</a:t>
            </a:fld>
            <a:endParaRPr lang="en-US" sz="1400" dirty="0">
              <a:solidFill>
                <a:schemeClr val="accent1"/>
              </a:solidFill>
              <a:latin typeface="Arial"/>
              <a:sym typeface="Arial"/>
            </a:endParaRPr>
          </a:p>
        </p:txBody>
      </p:sp>
      <p:sp>
        <p:nvSpPr>
          <p:cNvPr id="100" name="Text Placeholder 18"/>
          <p:cNvSpPr>
            <a:spLocks noGrp="1"/>
          </p:cNvSpPr>
          <p:nvPr>
            <p:custDataLst>
              <p:tags r:id="rId7"/>
            </p:custDataLst>
          </p:nvPr>
        </p:nvSpPr>
        <p:spPr bwMode="gray">
          <a:xfrm>
            <a:off x="400050" y="3941763"/>
            <a:ext cx="98425"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8B0E581B-7F8B-4B3A-89CD-9BDA05763BE1}" type="datetime'''''8'''''''''''''''">
              <a:rPr lang="en-US" sz="1400" smtClean="0">
                <a:solidFill>
                  <a:schemeClr val="accent1"/>
                </a:solidFill>
              </a:rPr>
              <a:pPr/>
              <a:t>8</a:t>
            </a:fld>
            <a:endParaRPr lang="en-US" sz="1400" dirty="0">
              <a:solidFill>
                <a:schemeClr val="accent1"/>
              </a:solidFill>
              <a:latin typeface="Arial"/>
              <a:sym typeface="Arial"/>
            </a:endParaRPr>
          </a:p>
        </p:txBody>
      </p:sp>
      <p:sp>
        <p:nvSpPr>
          <p:cNvPr id="107" name="Text Placeholder 24"/>
          <p:cNvSpPr>
            <a:spLocks noGrp="1"/>
          </p:cNvSpPr>
          <p:nvPr>
            <p:custDataLst>
              <p:tags r:id="rId8"/>
            </p:custDataLst>
          </p:nvPr>
        </p:nvSpPr>
        <p:spPr bwMode="gray">
          <a:xfrm>
            <a:off x="301625" y="2722563"/>
            <a:ext cx="19685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7ED03E45-5B44-469A-8E71-FDB6F9F0B964}" type="datetime'''''''''''''''''''''''1''''''''''''''''''4'''''''''''">
              <a:rPr lang="en-US" sz="1400">
                <a:solidFill>
                  <a:schemeClr val="accent1"/>
                </a:solidFill>
              </a:rPr>
              <a:pPr/>
              <a:t>14</a:t>
            </a:fld>
            <a:endParaRPr lang="en-US" sz="1400" dirty="0">
              <a:solidFill>
                <a:schemeClr val="accent1"/>
              </a:solidFill>
              <a:latin typeface="Arial"/>
              <a:sym typeface="Arial"/>
            </a:endParaRPr>
          </a:p>
        </p:txBody>
      </p:sp>
      <p:sp>
        <p:nvSpPr>
          <p:cNvPr id="105" name="Text Placeholder 22"/>
          <p:cNvSpPr>
            <a:spLocks noGrp="1"/>
          </p:cNvSpPr>
          <p:nvPr>
            <p:custDataLst>
              <p:tags r:id="rId9"/>
            </p:custDataLst>
          </p:nvPr>
        </p:nvSpPr>
        <p:spPr bwMode="gray">
          <a:xfrm>
            <a:off x="301625" y="3132138"/>
            <a:ext cx="19685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157D0054-B27F-4DED-9776-E0284E8E2F94}" type="datetime'1''''''2'''''''''''''''''''''''''''''''''''''''''''''''">
              <a:rPr lang="en-US" sz="1400" smtClean="0">
                <a:solidFill>
                  <a:schemeClr val="accent1"/>
                </a:solidFill>
              </a:rPr>
              <a:pPr/>
              <a:t>12</a:t>
            </a:fld>
            <a:endParaRPr lang="en-US" sz="1400" dirty="0">
              <a:solidFill>
                <a:schemeClr val="accent1"/>
              </a:solidFill>
              <a:latin typeface="Arial"/>
              <a:sym typeface="Arial"/>
            </a:endParaRPr>
          </a:p>
        </p:txBody>
      </p:sp>
      <p:sp>
        <p:nvSpPr>
          <p:cNvPr id="102" name="Text Placeholder 20"/>
          <p:cNvSpPr>
            <a:spLocks noGrp="1"/>
          </p:cNvSpPr>
          <p:nvPr>
            <p:custDataLst>
              <p:tags r:id="rId10"/>
            </p:custDataLst>
          </p:nvPr>
        </p:nvSpPr>
        <p:spPr bwMode="gray">
          <a:xfrm>
            <a:off x="301625" y="3541713"/>
            <a:ext cx="19685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8BC41C8D-A8AB-40B1-9AF8-34BF7F85CD8A}" type="datetime'''''''''''''''1''''''''''''''''''''''''''''0'''''''''''">
              <a:rPr lang="en-US" sz="1400" smtClean="0">
                <a:solidFill>
                  <a:schemeClr val="accent1"/>
                </a:solidFill>
              </a:rPr>
              <a:pPr/>
              <a:t>10</a:t>
            </a:fld>
            <a:endParaRPr lang="en-US" sz="1400" dirty="0">
              <a:solidFill>
                <a:schemeClr val="accent1"/>
              </a:solidFill>
              <a:latin typeface="Arial"/>
              <a:sym typeface="Arial"/>
            </a:endParaRPr>
          </a:p>
        </p:txBody>
      </p:sp>
      <p:sp>
        <p:nvSpPr>
          <p:cNvPr id="75" name="Text Placeholder 16"/>
          <p:cNvSpPr>
            <a:spLocks noGrp="1"/>
          </p:cNvSpPr>
          <p:nvPr>
            <p:custDataLst>
              <p:tags r:id="rId11"/>
            </p:custDataLst>
          </p:nvPr>
        </p:nvSpPr>
        <p:spPr bwMode="gray">
          <a:xfrm>
            <a:off x="400050" y="4351338"/>
            <a:ext cx="98425"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C9894829-BC7C-4287-A6B8-CB1BABB247CD}" type="datetime'''''''''''''6'''''''''''''''''''''">
              <a:rPr lang="en-US" sz="1400">
                <a:solidFill>
                  <a:schemeClr val="accent1"/>
                </a:solidFill>
              </a:rPr>
              <a:pPr/>
              <a:t>6</a:t>
            </a:fld>
            <a:endParaRPr lang="en-US" sz="1400" dirty="0">
              <a:solidFill>
                <a:schemeClr val="accent1"/>
              </a:solidFill>
              <a:latin typeface="Arial"/>
              <a:sym typeface="Arial"/>
            </a:endParaRPr>
          </a:p>
        </p:txBody>
      </p:sp>
      <p:sp>
        <p:nvSpPr>
          <p:cNvPr id="66" name="Text Placeholder 14"/>
          <p:cNvSpPr>
            <a:spLocks noGrp="1"/>
          </p:cNvSpPr>
          <p:nvPr>
            <p:custDataLst>
              <p:tags r:id="rId12"/>
            </p:custDataLst>
          </p:nvPr>
        </p:nvSpPr>
        <p:spPr bwMode="gray">
          <a:xfrm>
            <a:off x="400050" y="4760913"/>
            <a:ext cx="98425"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2D127F0B-9D1B-4BC5-A74B-69A418719777}" type="datetime'''''4'''''''''''''''''''''''''''''''''''''''''">
              <a:rPr lang="en-US" sz="1400">
                <a:solidFill>
                  <a:schemeClr val="accent1"/>
                </a:solidFill>
              </a:rPr>
              <a:pPr/>
              <a:t>4</a:t>
            </a:fld>
            <a:endParaRPr lang="en-US" sz="1400" dirty="0">
              <a:solidFill>
                <a:schemeClr val="accent1"/>
              </a:solidFill>
              <a:latin typeface="Arial"/>
              <a:sym typeface="Arial"/>
            </a:endParaRPr>
          </a:p>
        </p:txBody>
      </p:sp>
      <p:sp>
        <p:nvSpPr>
          <p:cNvPr id="64" name="Text Placeholder 12"/>
          <p:cNvSpPr>
            <a:spLocks noGrp="1"/>
          </p:cNvSpPr>
          <p:nvPr>
            <p:custDataLst>
              <p:tags r:id="rId13"/>
            </p:custDataLst>
          </p:nvPr>
        </p:nvSpPr>
        <p:spPr bwMode="gray">
          <a:xfrm>
            <a:off x="400050" y="5160963"/>
            <a:ext cx="98425"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D13EE431-95C3-4C66-8762-518521349353}" type="datetime'''''''''''''''''''''''''''''''2'''''''''''">
              <a:rPr lang="en-US" sz="1400">
                <a:solidFill>
                  <a:schemeClr val="accent1"/>
                </a:solidFill>
              </a:rPr>
              <a:pPr/>
              <a:t>2</a:t>
            </a:fld>
            <a:endParaRPr lang="en-US" sz="1400" dirty="0">
              <a:solidFill>
                <a:schemeClr val="accent1"/>
              </a:solidFill>
              <a:latin typeface="Arial"/>
              <a:sym typeface="Arial"/>
            </a:endParaRPr>
          </a:p>
        </p:txBody>
      </p:sp>
      <p:sp>
        <p:nvSpPr>
          <p:cNvPr id="54" name="Text Placeholder 110"/>
          <p:cNvSpPr>
            <a:spLocks noGrp="1"/>
          </p:cNvSpPr>
          <p:nvPr>
            <p:custDataLst>
              <p:tags r:id="rId14"/>
            </p:custDataLst>
          </p:nvPr>
        </p:nvSpPr>
        <p:spPr bwMode="gray">
          <a:xfrm>
            <a:off x="400050" y="5570538"/>
            <a:ext cx="98425"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91CE94B0-6537-4CB9-A730-CEE4B3973EFD}" type="datetime'''''0'''''''''''''''''''''''''''''''''''''''''''''''''''">
              <a:rPr lang="en-US" sz="1400" smtClean="0">
                <a:solidFill>
                  <a:schemeClr val="accent1"/>
                </a:solidFill>
              </a:rPr>
              <a:pPr/>
              <a:t>0</a:t>
            </a:fld>
            <a:endParaRPr lang="en-US" sz="1400" dirty="0">
              <a:solidFill>
                <a:schemeClr val="accent1"/>
              </a:solidFill>
              <a:latin typeface="Arial"/>
              <a:sym typeface="Arial"/>
            </a:endParaRPr>
          </a:p>
        </p:txBody>
      </p:sp>
      <p:sp>
        <p:nvSpPr>
          <p:cNvPr id="86" name="Text Placeholder 58"/>
          <p:cNvSpPr>
            <a:spLocks noGrp="1"/>
          </p:cNvSpPr>
          <p:nvPr>
            <p:custDataLst>
              <p:tags r:id="rId15"/>
            </p:custDataLst>
          </p:nvPr>
        </p:nvSpPr>
        <p:spPr bwMode="auto">
          <a:xfrm>
            <a:off x="8426450" y="5838825"/>
            <a:ext cx="40640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square" lIns="0" tIns="0" rIns="0" bIns="0" numCol="1" anchor="t"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D0915A0F-1DA9-4F99-BF67-E99029C2A1C2}" type="datetime'''''''''''''''2''''''''''''''''''''''''''02''''''''''''''''0'">
              <a:rPr lang="en-US" sz="1400">
                <a:solidFill>
                  <a:schemeClr val="accent1"/>
                </a:solidFill>
                <a:sym typeface="+mn-lt"/>
              </a:rPr>
              <a:pPr marL="0" indent="0" algn="ctr">
                <a:buNone/>
              </a:pPr>
              <a:t>2020</a:t>
            </a:fld>
            <a:endParaRPr lang="en-US" sz="1400" dirty="0">
              <a:solidFill>
                <a:schemeClr val="accent1"/>
              </a:solidFill>
              <a:sym typeface="+mn-lt"/>
            </a:endParaRPr>
          </a:p>
        </p:txBody>
      </p:sp>
      <p:sp>
        <p:nvSpPr>
          <p:cNvPr id="69" name="Text Placeholder 6"/>
          <p:cNvSpPr>
            <a:spLocks noGrp="1"/>
          </p:cNvSpPr>
          <p:nvPr>
            <p:custDataLst>
              <p:tags r:id="rId16"/>
            </p:custDataLst>
          </p:nvPr>
        </p:nvSpPr>
        <p:spPr bwMode="auto">
          <a:xfrm>
            <a:off x="7626350" y="583882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7B7F9C1F-436C-49DA-9A8E-4C213AAAFEF0}" type="datetime'''''''''''''''''2''''''''''''''''''01''8'''''''''''''''''''">
              <a:rPr lang="en-US" sz="1400">
                <a:solidFill>
                  <a:schemeClr val="accent1"/>
                </a:solidFill>
                <a:latin typeface="Arial"/>
                <a:sym typeface="Arial"/>
              </a:rPr>
              <a:pPr marL="0" indent="0" algn="ctr">
                <a:spcBef>
                  <a:spcPct val="0"/>
                </a:spcBef>
                <a:spcAft>
                  <a:spcPct val="0"/>
                </a:spcAft>
                <a:buNone/>
              </a:pPr>
              <a:t>2018</a:t>
            </a:fld>
            <a:endParaRPr lang="en-US" sz="1400" dirty="0">
              <a:solidFill>
                <a:schemeClr val="accent1"/>
              </a:solidFill>
              <a:latin typeface="Arial"/>
              <a:sym typeface="Arial"/>
            </a:endParaRPr>
          </a:p>
        </p:txBody>
      </p:sp>
      <p:sp>
        <p:nvSpPr>
          <p:cNvPr id="65" name="Text Placeholder 4"/>
          <p:cNvSpPr>
            <a:spLocks noGrp="1"/>
          </p:cNvSpPr>
          <p:nvPr>
            <p:custDataLst>
              <p:tags r:id="rId17"/>
            </p:custDataLst>
          </p:nvPr>
        </p:nvSpPr>
        <p:spPr bwMode="auto">
          <a:xfrm>
            <a:off x="6826250" y="583882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C98CE7E-8A09-4519-BC82-0D23A152CCEC}" type="datetime'''''''2''''''''0''''1''6'''''">
              <a:rPr lang="en-US" sz="1400">
                <a:solidFill>
                  <a:schemeClr val="accent1"/>
                </a:solidFill>
              </a:rPr>
              <a:pPr/>
              <a:t>2016</a:t>
            </a:fld>
            <a:endParaRPr lang="en-US" sz="1400" dirty="0">
              <a:solidFill>
                <a:schemeClr val="accent1"/>
              </a:solidFill>
              <a:latin typeface="Arial"/>
              <a:sym typeface="Arial"/>
            </a:endParaRPr>
          </a:p>
        </p:txBody>
      </p:sp>
      <p:sp>
        <p:nvSpPr>
          <p:cNvPr id="62" name="Text Placeholder 2"/>
          <p:cNvSpPr>
            <a:spLocks noGrp="1"/>
          </p:cNvSpPr>
          <p:nvPr>
            <p:custDataLst>
              <p:tags r:id="rId18"/>
            </p:custDataLst>
          </p:nvPr>
        </p:nvSpPr>
        <p:spPr bwMode="auto">
          <a:xfrm>
            <a:off x="6026150" y="583882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0C29C4F-2D58-4EAB-97B5-4C602E1F4D32}" type="datetime'''''''''''''''2''''''0''''''''1''''''''''''4'''''''''">
              <a:rPr lang="en-US" sz="1400">
                <a:solidFill>
                  <a:schemeClr val="accent1"/>
                </a:solidFill>
              </a:rPr>
              <a:pPr/>
              <a:t>2014</a:t>
            </a:fld>
            <a:endParaRPr lang="en-US" sz="1400" dirty="0">
              <a:solidFill>
                <a:schemeClr val="accent1"/>
              </a:solidFill>
              <a:latin typeface="Arial"/>
              <a:sym typeface="Arial"/>
            </a:endParaRPr>
          </a:p>
        </p:txBody>
      </p:sp>
      <p:sp>
        <p:nvSpPr>
          <p:cNvPr id="83" name="Text Placeholder 55"/>
          <p:cNvSpPr>
            <a:spLocks noGrp="1"/>
          </p:cNvSpPr>
          <p:nvPr>
            <p:custDataLst>
              <p:tags r:id="rId19"/>
            </p:custDataLst>
          </p:nvPr>
        </p:nvSpPr>
        <p:spPr bwMode="auto">
          <a:xfrm>
            <a:off x="5226050" y="5838825"/>
            <a:ext cx="40640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square" lIns="0" tIns="0" rIns="0" bIns="0" numCol="1" anchor="t"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574D8CF5-63CF-40BF-ABA3-8461941676EE}" type="datetime'2''''''''''''0''''''''''''''''''''''1''''''''''''2'''">
              <a:rPr lang="en-US" sz="1400">
                <a:solidFill>
                  <a:schemeClr val="accent1"/>
                </a:solidFill>
                <a:sym typeface="+mn-lt"/>
              </a:rPr>
              <a:pPr marL="0" indent="0" algn="ctr">
                <a:buNone/>
              </a:pPr>
              <a:t>2012</a:t>
            </a:fld>
            <a:endParaRPr lang="en-US" sz="1400" dirty="0">
              <a:solidFill>
                <a:schemeClr val="accent1"/>
              </a:solidFill>
              <a:sym typeface="+mn-lt"/>
            </a:endParaRPr>
          </a:p>
        </p:txBody>
      </p:sp>
      <p:sp>
        <p:nvSpPr>
          <p:cNvPr id="81" name="Text Placeholder 53"/>
          <p:cNvSpPr>
            <a:spLocks noGrp="1"/>
          </p:cNvSpPr>
          <p:nvPr>
            <p:custDataLst>
              <p:tags r:id="rId20"/>
            </p:custDataLst>
          </p:nvPr>
        </p:nvSpPr>
        <p:spPr bwMode="auto">
          <a:xfrm>
            <a:off x="4435475" y="5838825"/>
            <a:ext cx="40640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square" lIns="0" tIns="0" rIns="0" bIns="0" numCol="1" anchor="t"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5D283E09-442E-420B-8470-D134120B89B4}" type="datetime'''2''''0''''''1''0'''''''''">
              <a:rPr lang="en-US" sz="1400">
                <a:solidFill>
                  <a:schemeClr val="accent1"/>
                </a:solidFill>
                <a:sym typeface="+mn-lt"/>
              </a:rPr>
              <a:pPr marL="0" indent="0" algn="ctr">
                <a:buNone/>
              </a:pPr>
              <a:t>2010</a:t>
            </a:fld>
            <a:endParaRPr lang="en-US" sz="1400" dirty="0">
              <a:solidFill>
                <a:schemeClr val="accent1"/>
              </a:solidFill>
              <a:sym typeface="+mn-lt"/>
            </a:endParaRPr>
          </a:p>
        </p:txBody>
      </p:sp>
      <p:sp>
        <p:nvSpPr>
          <p:cNvPr id="79" name="Text Placeholder 51"/>
          <p:cNvSpPr>
            <a:spLocks noGrp="1"/>
          </p:cNvSpPr>
          <p:nvPr>
            <p:custDataLst>
              <p:tags r:id="rId21"/>
            </p:custDataLst>
          </p:nvPr>
        </p:nvSpPr>
        <p:spPr bwMode="auto">
          <a:xfrm>
            <a:off x="3635375" y="5838825"/>
            <a:ext cx="40640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square" lIns="0" tIns="0" rIns="0" bIns="0" numCol="1" anchor="t"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E11701FC-B1C0-4525-95F8-2CDBA516466A}" type="datetime'''''''''2''''''''''''''''''''''''''''''''''0''''''0''8'''''">
              <a:rPr lang="en-US" sz="1400">
                <a:solidFill>
                  <a:schemeClr val="accent1"/>
                </a:solidFill>
                <a:sym typeface="+mn-lt"/>
              </a:rPr>
              <a:pPr marL="0" indent="0" algn="ctr">
                <a:buNone/>
              </a:pPr>
              <a:t>2008</a:t>
            </a:fld>
            <a:endParaRPr lang="en-US" sz="1400" dirty="0">
              <a:solidFill>
                <a:schemeClr val="accent1"/>
              </a:solidFill>
              <a:sym typeface="+mn-lt"/>
            </a:endParaRPr>
          </a:p>
        </p:txBody>
      </p:sp>
      <p:sp>
        <p:nvSpPr>
          <p:cNvPr id="77" name="Text Placeholder 49"/>
          <p:cNvSpPr>
            <a:spLocks noGrp="1"/>
          </p:cNvSpPr>
          <p:nvPr>
            <p:custDataLst>
              <p:tags r:id="rId22"/>
            </p:custDataLst>
          </p:nvPr>
        </p:nvSpPr>
        <p:spPr bwMode="auto">
          <a:xfrm>
            <a:off x="2835275" y="5838825"/>
            <a:ext cx="40640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square" lIns="0" tIns="0" rIns="0" bIns="0" numCol="1" anchor="t"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CC90879D-209F-4690-8DD6-46ECA0707FB8}" type="datetime'''20''''''''''''''''''0''''''''6'''''''''''''">
              <a:rPr lang="en-US" sz="1400">
                <a:solidFill>
                  <a:schemeClr val="accent1"/>
                </a:solidFill>
                <a:sym typeface="+mn-lt"/>
              </a:rPr>
              <a:pPr marL="0" indent="0" algn="ctr">
                <a:buNone/>
              </a:pPr>
              <a:t>2006</a:t>
            </a:fld>
            <a:endParaRPr lang="en-US" sz="1400" dirty="0">
              <a:solidFill>
                <a:schemeClr val="accent1"/>
              </a:solidFill>
              <a:sym typeface="+mn-lt"/>
            </a:endParaRPr>
          </a:p>
        </p:txBody>
      </p:sp>
      <p:sp>
        <p:nvSpPr>
          <p:cNvPr id="74" name="Text Placeholder 47"/>
          <p:cNvSpPr>
            <a:spLocks noGrp="1"/>
          </p:cNvSpPr>
          <p:nvPr>
            <p:custDataLst>
              <p:tags r:id="rId23"/>
            </p:custDataLst>
          </p:nvPr>
        </p:nvSpPr>
        <p:spPr bwMode="auto">
          <a:xfrm>
            <a:off x="2035175" y="5838825"/>
            <a:ext cx="40640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square" lIns="0" tIns="0" rIns="0" bIns="0" numCol="1" anchor="t"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897ED36-36BD-4C2F-8197-7618C6F2D3F9}" type="datetime'''''''''''''''''''''''20''0''''''''''''''''4'''''''''''''">
              <a:rPr lang="en-US" sz="1400">
                <a:solidFill>
                  <a:schemeClr val="accent1"/>
                </a:solidFill>
                <a:sym typeface="+mn-lt"/>
              </a:rPr>
              <a:pPr marL="0" indent="0" algn="ctr">
                <a:buNone/>
              </a:pPr>
              <a:t>2004</a:t>
            </a:fld>
            <a:endParaRPr lang="en-US" sz="1400" dirty="0">
              <a:solidFill>
                <a:schemeClr val="accent1"/>
              </a:solidFill>
              <a:sym typeface="+mn-lt"/>
            </a:endParaRPr>
          </a:p>
        </p:txBody>
      </p:sp>
      <p:sp>
        <p:nvSpPr>
          <p:cNvPr id="72" name="Text Placeholder 45"/>
          <p:cNvSpPr>
            <a:spLocks noGrp="1"/>
          </p:cNvSpPr>
          <p:nvPr>
            <p:custDataLst>
              <p:tags r:id="rId24"/>
            </p:custDataLst>
          </p:nvPr>
        </p:nvSpPr>
        <p:spPr bwMode="auto">
          <a:xfrm>
            <a:off x="1235075" y="5838825"/>
            <a:ext cx="40640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square" lIns="0" tIns="0" rIns="0" bIns="0" numCol="1" anchor="t"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F225BF9F-3C4D-4943-B88C-E2E10A265B5D}" type="datetime'''''''''2''''''''0''''''''0''''''''''2'''''''''''''">
              <a:rPr lang="en-US" sz="1400">
                <a:solidFill>
                  <a:schemeClr val="accent1"/>
                </a:solidFill>
                <a:sym typeface="+mn-lt"/>
              </a:rPr>
              <a:pPr marL="0" indent="0" algn="ctr">
                <a:buNone/>
              </a:pPr>
              <a:t>2002</a:t>
            </a:fld>
            <a:endParaRPr lang="en-US" sz="1400" dirty="0">
              <a:solidFill>
                <a:schemeClr val="accent1"/>
              </a:solidFill>
              <a:sym typeface="+mn-lt"/>
            </a:endParaRPr>
          </a:p>
        </p:txBody>
      </p:sp>
      <p:sp>
        <p:nvSpPr>
          <p:cNvPr id="70" name="Text Placeholder 43"/>
          <p:cNvSpPr>
            <a:spLocks noGrp="1"/>
          </p:cNvSpPr>
          <p:nvPr>
            <p:custDataLst>
              <p:tags r:id="rId25"/>
            </p:custDataLst>
          </p:nvPr>
        </p:nvSpPr>
        <p:spPr bwMode="auto">
          <a:xfrm>
            <a:off x="434975" y="5838825"/>
            <a:ext cx="406400"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square" lIns="0" tIns="0" rIns="0" bIns="0" numCol="1" anchor="t"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E643AE0-4D04-4457-AAF9-74240D5A06AC}" type="datetime'''''''''''''''''''2''''''''''0''''''0''''''''''''0'''''''''''">
              <a:rPr lang="en-US" sz="1400">
                <a:solidFill>
                  <a:schemeClr val="accent1"/>
                </a:solidFill>
                <a:sym typeface="+mn-lt"/>
              </a:rPr>
              <a:pPr marL="0" indent="0" algn="ctr">
                <a:buNone/>
              </a:pPr>
              <a:t>2000</a:t>
            </a:fld>
            <a:endParaRPr lang="en-US" sz="1400" dirty="0">
              <a:solidFill>
                <a:schemeClr val="accent1"/>
              </a:solidFill>
              <a:sym typeface="+mn-lt"/>
            </a:endParaRPr>
          </a:p>
        </p:txBody>
      </p:sp>
      <p:sp>
        <p:nvSpPr>
          <p:cNvPr id="15" name="Freeform 14"/>
          <p:cNvSpPr/>
          <p:nvPr/>
        </p:nvSpPr>
        <p:spPr>
          <a:xfrm rot="21338567">
            <a:off x="5870901" y="2718778"/>
            <a:ext cx="2848190" cy="666619"/>
          </a:xfrm>
          <a:custGeom>
            <a:avLst/>
            <a:gdLst>
              <a:gd name="connsiteX0" fmla="*/ 0 w 2798618"/>
              <a:gd name="connsiteY0" fmla="*/ 1149927 h 1149927"/>
              <a:gd name="connsiteX1" fmla="*/ 2798618 w 2798618"/>
              <a:gd name="connsiteY1" fmla="*/ 0 h 1149927"/>
              <a:gd name="connsiteX2" fmla="*/ 2798618 w 2798618"/>
              <a:gd name="connsiteY2" fmla="*/ 678873 h 1149927"/>
              <a:gd name="connsiteX3" fmla="*/ 83127 w 2798618"/>
              <a:gd name="connsiteY3" fmla="*/ 1122218 h 1149927"/>
              <a:gd name="connsiteX4" fmla="*/ 83127 w 2798618"/>
              <a:gd name="connsiteY4" fmla="*/ 1122218 h 1149927"/>
              <a:gd name="connsiteX0" fmla="*/ 0 w 2798618"/>
              <a:gd name="connsiteY0" fmla="*/ 1149927 h 1149927"/>
              <a:gd name="connsiteX1" fmla="*/ 2798618 w 2798618"/>
              <a:gd name="connsiteY1" fmla="*/ 0 h 1149927"/>
              <a:gd name="connsiteX2" fmla="*/ 2798618 w 2798618"/>
              <a:gd name="connsiteY2" fmla="*/ 678873 h 1149927"/>
              <a:gd name="connsiteX3" fmla="*/ 83127 w 2798618"/>
              <a:gd name="connsiteY3" fmla="*/ 1122218 h 1149927"/>
              <a:gd name="connsiteX0" fmla="*/ 0 w 2798618"/>
              <a:gd name="connsiteY0" fmla="*/ 1149927 h 1149927"/>
              <a:gd name="connsiteX1" fmla="*/ 2798618 w 2798618"/>
              <a:gd name="connsiteY1" fmla="*/ 0 h 1149927"/>
              <a:gd name="connsiteX2" fmla="*/ 2798618 w 2798618"/>
              <a:gd name="connsiteY2" fmla="*/ 678873 h 1149927"/>
              <a:gd name="connsiteX3" fmla="*/ 13854 w 2798618"/>
              <a:gd name="connsiteY3" fmla="*/ 1077980 h 1149927"/>
              <a:gd name="connsiteX0" fmla="*/ 27709 w 2784764"/>
              <a:gd name="connsiteY0" fmla="*/ 1050392 h 1077980"/>
              <a:gd name="connsiteX1" fmla="*/ 2784764 w 2784764"/>
              <a:gd name="connsiteY1" fmla="*/ 0 h 1077980"/>
              <a:gd name="connsiteX2" fmla="*/ 2784764 w 2784764"/>
              <a:gd name="connsiteY2" fmla="*/ 678873 h 1077980"/>
              <a:gd name="connsiteX3" fmla="*/ 0 w 2784764"/>
              <a:gd name="connsiteY3" fmla="*/ 1077980 h 1077980"/>
              <a:gd name="connsiteX0" fmla="*/ 27709 w 2784764"/>
              <a:gd name="connsiteY0" fmla="*/ 1028272 h 1055860"/>
              <a:gd name="connsiteX1" fmla="*/ 2743201 w 2784764"/>
              <a:gd name="connsiteY1" fmla="*/ 0 h 1055860"/>
              <a:gd name="connsiteX2" fmla="*/ 2784764 w 2784764"/>
              <a:gd name="connsiteY2" fmla="*/ 656753 h 1055860"/>
              <a:gd name="connsiteX3" fmla="*/ 0 w 2784764"/>
              <a:gd name="connsiteY3" fmla="*/ 1055860 h 1055860"/>
              <a:gd name="connsiteX0" fmla="*/ 27709 w 2743201"/>
              <a:gd name="connsiteY0" fmla="*/ 1028272 h 1055860"/>
              <a:gd name="connsiteX1" fmla="*/ 2743201 w 2743201"/>
              <a:gd name="connsiteY1" fmla="*/ 0 h 1055860"/>
              <a:gd name="connsiteX2" fmla="*/ 2743201 w 2743201"/>
              <a:gd name="connsiteY2" fmla="*/ 689931 h 1055860"/>
              <a:gd name="connsiteX3" fmla="*/ 0 w 2743201"/>
              <a:gd name="connsiteY3" fmla="*/ 1055860 h 1055860"/>
            </a:gdLst>
            <a:ahLst/>
            <a:cxnLst>
              <a:cxn ang="0">
                <a:pos x="connsiteX0" y="connsiteY0"/>
              </a:cxn>
              <a:cxn ang="0">
                <a:pos x="connsiteX1" y="connsiteY1"/>
              </a:cxn>
              <a:cxn ang="0">
                <a:pos x="connsiteX2" y="connsiteY2"/>
              </a:cxn>
              <a:cxn ang="0">
                <a:pos x="connsiteX3" y="connsiteY3"/>
              </a:cxn>
            </a:cxnLst>
            <a:rect l="l" t="t" r="r" b="b"/>
            <a:pathLst>
              <a:path w="2743201" h="1055860">
                <a:moveTo>
                  <a:pt x="27709" y="1028272"/>
                </a:moveTo>
                <a:lnTo>
                  <a:pt x="2743201" y="0"/>
                </a:lnTo>
                <a:lnTo>
                  <a:pt x="2743201" y="689931"/>
                </a:lnTo>
                <a:lnTo>
                  <a:pt x="0" y="1055860"/>
                </a:lnTo>
              </a:path>
            </a:pathLst>
          </a:custGeom>
          <a:solidFill>
            <a:srgbClr val="D52B1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0" name="Rectangle 21"/>
          <p:cNvSpPr>
            <a:spLocks noChangeArrowheads="1"/>
          </p:cNvSpPr>
          <p:nvPr/>
        </p:nvSpPr>
        <p:spPr bwMode="auto">
          <a:xfrm>
            <a:off x="373061" y="1368050"/>
            <a:ext cx="7197725"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800">
                <a:solidFill>
                  <a:schemeClr val="tx1"/>
                </a:solidFill>
                <a:latin typeface="Arial" pitchFamily="34" charset="0"/>
                <a:ea typeface="MS PGothic" pitchFamily="34" charset="-128"/>
              </a:defRPr>
            </a:lvl1pPr>
            <a:lvl2pPr marL="742950" indent="-285750" eaLnBrk="0" hangingPunct="0">
              <a:defRPr sz="800">
                <a:solidFill>
                  <a:schemeClr val="tx1"/>
                </a:solidFill>
                <a:latin typeface="Arial" pitchFamily="34" charset="0"/>
                <a:ea typeface="MS PGothic" pitchFamily="34" charset="-128"/>
              </a:defRPr>
            </a:lvl2pPr>
            <a:lvl3pPr marL="1143000" indent="-228600" eaLnBrk="0" hangingPunct="0">
              <a:defRPr sz="800">
                <a:solidFill>
                  <a:schemeClr val="tx1"/>
                </a:solidFill>
                <a:latin typeface="Arial" pitchFamily="34" charset="0"/>
                <a:ea typeface="MS PGothic" pitchFamily="34" charset="-128"/>
              </a:defRPr>
            </a:lvl3pPr>
            <a:lvl4pPr marL="1600200" indent="-228600" eaLnBrk="0" hangingPunct="0">
              <a:defRPr sz="800">
                <a:solidFill>
                  <a:schemeClr val="tx1"/>
                </a:solidFill>
                <a:latin typeface="Arial" pitchFamily="34" charset="0"/>
                <a:ea typeface="MS PGothic" pitchFamily="34" charset="-128"/>
              </a:defRPr>
            </a:lvl4pPr>
            <a:lvl5pPr marL="2057400" indent="-228600" eaLnBrk="0" hangingPunct="0">
              <a:defRPr sz="8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8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8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8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800">
                <a:solidFill>
                  <a:schemeClr val="tx1"/>
                </a:solidFill>
                <a:latin typeface="Arial" pitchFamily="34" charset="0"/>
                <a:ea typeface="MS PGothic" pitchFamily="34" charset="-128"/>
              </a:defRPr>
            </a:lvl9pPr>
          </a:lstStyle>
          <a:p>
            <a:pPr>
              <a:lnSpc>
                <a:spcPct val="90000"/>
              </a:lnSpc>
            </a:pPr>
            <a:r>
              <a:rPr lang="en-US" altLang="de-DE" sz="1400" b="1" dirty="0" smtClean="0">
                <a:solidFill>
                  <a:schemeClr val="accent1"/>
                </a:solidFill>
              </a:rPr>
              <a:t>Colombia national coffee production </a:t>
            </a:r>
          </a:p>
          <a:p>
            <a:pPr>
              <a:lnSpc>
                <a:spcPct val="90000"/>
              </a:lnSpc>
            </a:pPr>
            <a:r>
              <a:rPr lang="en-US" altLang="de-DE" sz="1400" dirty="0" smtClean="0">
                <a:solidFill>
                  <a:schemeClr val="accent1"/>
                </a:solidFill>
              </a:rPr>
              <a:t>Millions of bags (60-kg), green</a:t>
            </a:r>
            <a:endParaRPr lang="en-US" altLang="de-DE" sz="1400" dirty="0">
              <a:solidFill>
                <a:schemeClr val="accent1"/>
              </a:solidFill>
            </a:endParaRPr>
          </a:p>
        </p:txBody>
      </p:sp>
      <p:sp>
        <p:nvSpPr>
          <p:cNvPr id="99" name="McK Footnote"/>
          <p:cNvSpPr txBox="1">
            <a:spLocks noChangeArrowheads="1"/>
          </p:cNvSpPr>
          <p:nvPr/>
        </p:nvSpPr>
        <p:spPr bwMode="auto">
          <a:xfrm>
            <a:off x="638870" y="6255596"/>
            <a:ext cx="7408364" cy="276999"/>
          </a:xfrm>
          <a:prstGeom prst="rect">
            <a:avLst/>
          </a:prstGeom>
          <a:noFill/>
          <a:ln w="9525">
            <a:noFill/>
            <a:miter lim="800000"/>
            <a:headEnd/>
            <a:tailEnd/>
          </a:ln>
        </p:spPr>
        <p:txBody>
          <a:bodyPr wrap="square"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 El Niño and </a:t>
            </a:r>
            <a:r>
              <a:rPr lang="en-US" sz="900" dirty="0">
                <a:solidFill>
                  <a:schemeClr val="tx1">
                    <a:lumMod val="65000"/>
                    <a:lumOff val="35000"/>
                  </a:schemeClr>
                </a:solidFill>
              </a:rPr>
              <a:t>La </a:t>
            </a:r>
            <a:r>
              <a:rPr lang="en-US" sz="900" dirty="0" smtClean="0">
                <a:solidFill>
                  <a:schemeClr val="tx1">
                    <a:lumMod val="65000"/>
                    <a:lumOff val="35000"/>
                  </a:schemeClr>
                </a:solidFill>
              </a:rPr>
              <a:t>Niña</a:t>
            </a:r>
          </a:p>
          <a:p>
            <a:pPr marL="563563" indent="-563563" defTabSz="895350">
              <a:tabLst>
                <a:tab pos="517525" algn="r"/>
              </a:tabLst>
            </a:pPr>
            <a:r>
              <a:rPr lang="en-US" sz="900" dirty="0" smtClean="0">
                <a:solidFill>
                  <a:schemeClr val="tx1">
                    <a:lumMod val="65000"/>
                    <a:lumOff val="35000"/>
                  </a:schemeClr>
                </a:solidFill>
              </a:rPr>
              <a:t>Source: USDA FAS; FNC; Interviews</a:t>
            </a:r>
            <a:endParaRPr lang="en-US" sz="900" dirty="0">
              <a:solidFill>
                <a:schemeClr val="tx1">
                  <a:lumMod val="65000"/>
                  <a:lumOff val="35000"/>
                </a:schemeClr>
              </a:solidFill>
            </a:endParaRPr>
          </a:p>
        </p:txBody>
      </p:sp>
      <p:grpSp>
        <p:nvGrpSpPr>
          <p:cNvPr id="3" name="Group 2"/>
          <p:cNvGrpSpPr/>
          <p:nvPr/>
        </p:nvGrpSpPr>
        <p:grpSpPr>
          <a:xfrm>
            <a:off x="4199671" y="2206832"/>
            <a:ext cx="1998783" cy="784563"/>
            <a:chOff x="9542101" y="3295407"/>
            <a:chExt cx="1998783" cy="861159"/>
          </a:xfrm>
        </p:grpSpPr>
        <p:sp>
          <p:nvSpPr>
            <p:cNvPr id="8" name="Rectangular Callout 7"/>
            <p:cNvSpPr/>
            <p:nvPr/>
          </p:nvSpPr>
          <p:spPr bwMode="auto">
            <a:xfrm>
              <a:off x="9542101" y="3295407"/>
              <a:ext cx="1998783" cy="856066"/>
            </a:xfrm>
            <a:prstGeom prst="wedgeRectCallout">
              <a:avLst>
                <a:gd name="adj1" fmla="val 30828"/>
                <a:gd name="adj2" fmla="val 106682"/>
              </a:avLst>
            </a:prstGeom>
            <a:solidFill>
              <a:schemeClr val="bg1"/>
            </a:solidFill>
            <a:ln w="9525" cap="flat" cmpd="sng" algn="ctr">
              <a:solidFill>
                <a:schemeClr val="accent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accent1"/>
                </a:solidFill>
                <a:effectLst/>
                <a:latin typeface="Arial" charset="0"/>
              </a:endParaRPr>
            </a:p>
          </p:txBody>
        </p:sp>
        <p:sp>
          <p:nvSpPr>
            <p:cNvPr id="7" name="TextBox 6"/>
            <p:cNvSpPr txBox="1"/>
            <p:nvPr/>
          </p:nvSpPr>
          <p:spPr>
            <a:xfrm>
              <a:off x="9547752" y="3345785"/>
              <a:ext cx="1993132" cy="810781"/>
            </a:xfrm>
            <a:prstGeom prst="rect">
              <a:avLst/>
            </a:prstGeom>
            <a:noFill/>
          </p:spPr>
          <p:txBody>
            <a:bodyPr wrap="square" rtlCol="0">
              <a:spAutoFit/>
            </a:bodyPr>
            <a:lstStyle/>
            <a:p>
              <a:r>
                <a:rPr lang="en-US" sz="1400" dirty="0" smtClean="0"/>
                <a:t>Renovated farms have come back into production</a:t>
              </a:r>
              <a:endParaRPr lang="en-US" sz="1400" dirty="0"/>
            </a:p>
          </p:txBody>
        </p:sp>
      </p:grpSp>
      <p:sp>
        <p:nvSpPr>
          <p:cNvPr id="10" name="Rectangular Callout 9"/>
          <p:cNvSpPr/>
          <p:nvPr/>
        </p:nvSpPr>
        <p:spPr bwMode="auto">
          <a:xfrm>
            <a:off x="1235076" y="3901848"/>
            <a:ext cx="2497748" cy="966222"/>
          </a:xfrm>
          <a:prstGeom prst="wedgeRectCallout">
            <a:avLst>
              <a:gd name="adj1" fmla="val 69039"/>
              <a:gd name="adj2" fmla="val -47951"/>
            </a:avLst>
          </a:prstGeom>
          <a:solidFill>
            <a:schemeClr val="bg1"/>
          </a:solidFill>
          <a:ln w="9525" cap="flat" cmpd="sng" algn="ctr">
            <a:solidFill>
              <a:schemeClr val="accent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accent1"/>
              </a:solidFill>
              <a:effectLst/>
              <a:latin typeface="Arial" charset="0"/>
            </a:endParaRPr>
          </a:p>
        </p:txBody>
      </p:sp>
      <p:sp>
        <p:nvSpPr>
          <p:cNvPr id="9" name="Rectangle 8"/>
          <p:cNvSpPr/>
          <p:nvPr/>
        </p:nvSpPr>
        <p:spPr>
          <a:xfrm>
            <a:off x="1235076" y="3913963"/>
            <a:ext cx="2503399" cy="954107"/>
          </a:xfrm>
          <a:prstGeom prst="rect">
            <a:avLst/>
          </a:prstGeom>
        </p:spPr>
        <p:txBody>
          <a:bodyPr wrap="square">
            <a:spAutoFit/>
          </a:bodyPr>
          <a:lstStyle/>
          <a:p>
            <a:r>
              <a:rPr lang="en-US" sz="1400" dirty="0" smtClean="0"/>
              <a:t>Drop of ~4M bags due to renovation to address leaf rust (~2M bags) and weather conditions* (~2M bags)</a:t>
            </a:r>
            <a:endParaRPr lang="en-US" sz="1400" dirty="0"/>
          </a:p>
        </p:txBody>
      </p:sp>
      <p:sp>
        <p:nvSpPr>
          <p:cNvPr id="47" name="Title 6"/>
          <p:cNvSpPr>
            <a:spLocks noGrp="1"/>
          </p:cNvSpPr>
          <p:nvPr>
            <p:ph type="title"/>
          </p:nvPr>
        </p:nvSpPr>
        <p:spPr>
          <a:xfrm>
            <a:off x="400869" y="312738"/>
            <a:ext cx="8229600" cy="844104"/>
          </a:xfrm>
        </p:spPr>
        <p:txBody>
          <a:bodyPr/>
          <a:lstStyle/>
          <a:p>
            <a:r>
              <a:rPr lang="en-US" sz="2400" dirty="0" smtClean="0"/>
              <a:t>Output fell due to adverse weather and a national tree renovation program, but is now expected to rise</a:t>
            </a:r>
            <a:endParaRPr lang="en-US" sz="2400" dirty="0"/>
          </a:p>
        </p:txBody>
      </p:sp>
      <p:grpSp>
        <p:nvGrpSpPr>
          <p:cNvPr id="50" name="logo scp klein"/>
          <p:cNvGrpSpPr>
            <a:grpSpLocks noChangeAspect="1"/>
          </p:cNvGrpSpPr>
          <p:nvPr/>
        </p:nvGrpSpPr>
        <p:grpSpPr bwMode="auto">
          <a:xfrm>
            <a:off x="8236800" y="6426000"/>
            <a:ext cx="515900" cy="216000"/>
            <a:chOff x="1615" y="2638"/>
            <a:chExt cx="289" cy="121"/>
          </a:xfrm>
        </p:grpSpPr>
        <p:sp>
          <p:nvSpPr>
            <p:cNvPr id="51" name="Freeform 13"/>
            <p:cNvSpPr>
              <a:spLocks noEditPoints="1"/>
            </p:cNvSpPr>
            <p:nvPr/>
          </p:nvSpPr>
          <p:spPr bwMode="auto">
            <a:xfrm>
              <a:off x="1664" y="2678"/>
              <a:ext cx="42" cy="81"/>
            </a:xfrm>
            <a:custGeom>
              <a:avLst/>
              <a:gdLst/>
              <a:ahLst/>
              <a:cxnLst>
                <a:cxn ang="0">
                  <a:pos x="13" y="0"/>
                </a:cxn>
                <a:cxn ang="0">
                  <a:pos x="0" y="0"/>
                </a:cxn>
                <a:cxn ang="0">
                  <a:pos x="0" y="638"/>
                </a:cxn>
                <a:cxn ang="0">
                  <a:pos x="13" y="638"/>
                </a:cxn>
                <a:cxn ang="0">
                  <a:pos x="332" y="319"/>
                </a:cxn>
                <a:cxn ang="0">
                  <a:pos x="13" y="0"/>
                </a:cxn>
                <a:cxn ang="0">
                  <a:pos x="220" y="526"/>
                </a:cxn>
                <a:cxn ang="0">
                  <a:pos x="27" y="611"/>
                </a:cxn>
                <a:cxn ang="0">
                  <a:pos x="27" y="28"/>
                </a:cxn>
                <a:cxn ang="0">
                  <a:pos x="220" y="113"/>
                </a:cxn>
                <a:cxn ang="0">
                  <a:pos x="305" y="319"/>
                </a:cxn>
                <a:cxn ang="0">
                  <a:pos x="220" y="526"/>
                </a:cxn>
              </a:cxnLst>
              <a:rect l="0" t="0" r="r" b="b"/>
              <a:pathLst>
                <a:path w="332" h="638">
                  <a:moveTo>
                    <a:pt x="13" y="0"/>
                  </a:moveTo>
                  <a:cubicBezTo>
                    <a:pt x="0" y="0"/>
                    <a:pt x="0" y="0"/>
                    <a:pt x="0" y="0"/>
                  </a:cubicBezTo>
                  <a:cubicBezTo>
                    <a:pt x="0" y="638"/>
                    <a:pt x="0" y="638"/>
                    <a:pt x="0" y="638"/>
                  </a:cubicBezTo>
                  <a:cubicBezTo>
                    <a:pt x="13" y="638"/>
                    <a:pt x="13" y="638"/>
                    <a:pt x="13" y="638"/>
                  </a:cubicBezTo>
                  <a:cubicBezTo>
                    <a:pt x="190" y="638"/>
                    <a:pt x="332" y="495"/>
                    <a:pt x="332" y="319"/>
                  </a:cubicBezTo>
                  <a:cubicBezTo>
                    <a:pt x="332" y="143"/>
                    <a:pt x="190" y="0"/>
                    <a:pt x="13" y="0"/>
                  </a:cubicBezTo>
                  <a:close/>
                  <a:moveTo>
                    <a:pt x="220" y="526"/>
                  </a:moveTo>
                  <a:cubicBezTo>
                    <a:pt x="170" y="576"/>
                    <a:pt x="102" y="607"/>
                    <a:pt x="27" y="611"/>
                  </a:cubicBezTo>
                  <a:cubicBezTo>
                    <a:pt x="27" y="28"/>
                    <a:pt x="27" y="28"/>
                    <a:pt x="27" y="28"/>
                  </a:cubicBezTo>
                  <a:cubicBezTo>
                    <a:pt x="102" y="31"/>
                    <a:pt x="170" y="63"/>
                    <a:pt x="220" y="113"/>
                  </a:cubicBezTo>
                  <a:cubicBezTo>
                    <a:pt x="273" y="166"/>
                    <a:pt x="305" y="239"/>
                    <a:pt x="305" y="319"/>
                  </a:cubicBezTo>
                  <a:cubicBezTo>
                    <a:pt x="305" y="400"/>
                    <a:pt x="273" y="473"/>
                    <a:pt x="220" y="526"/>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52" name="Freeform 14"/>
            <p:cNvSpPr>
              <a:spLocks noEditPoints="1"/>
            </p:cNvSpPr>
            <p:nvPr/>
          </p:nvSpPr>
          <p:spPr bwMode="auto">
            <a:xfrm>
              <a:off x="1615" y="2717"/>
              <a:ext cx="42" cy="42"/>
            </a:xfrm>
            <a:custGeom>
              <a:avLst/>
              <a:gdLst/>
              <a:ahLst/>
              <a:cxnLst>
                <a:cxn ang="0">
                  <a:pos x="14" y="0"/>
                </a:cxn>
                <a:cxn ang="0">
                  <a:pos x="0" y="0"/>
                </a:cxn>
                <a:cxn ang="0">
                  <a:pos x="0" y="332"/>
                </a:cxn>
                <a:cxn ang="0">
                  <a:pos x="333" y="332"/>
                </a:cxn>
                <a:cxn ang="0">
                  <a:pos x="333" y="319"/>
                </a:cxn>
                <a:cxn ang="0">
                  <a:pos x="14" y="0"/>
                </a:cxn>
                <a:cxn ang="0">
                  <a:pos x="27" y="27"/>
                </a:cxn>
                <a:cxn ang="0">
                  <a:pos x="220" y="112"/>
                </a:cxn>
                <a:cxn ang="0">
                  <a:pos x="305" y="305"/>
                </a:cxn>
                <a:cxn ang="0">
                  <a:pos x="27" y="305"/>
                </a:cxn>
                <a:cxn ang="0">
                  <a:pos x="27" y="27"/>
                </a:cxn>
              </a:cxnLst>
              <a:rect l="0" t="0" r="r" b="b"/>
              <a:pathLst>
                <a:path w="333" h="332">
                  <a:moveTo>
                    <a:pt x="14" y="0"/>
                  </a:moveTo>
                  <a:cubicBezTo>
                    <a:pt x="0" y="0"/>
                    <a:pt x="0" y="0"/>
                    <a:pt x="0" y="0"/>
                  </a:cubicBezTo>
                  <a:cubicBezTo>
                    <a:pt x="0" y="332"/>
                    <a:pt x="0" y="332"/>
                    <a:pt x="0" y="332"/>
                  </a:cubicBezTo>
                  <a:cubicBezTo>
                    <a:pt x="333" y="332"/>
                    <a:pt x="333" y="332"/>
                    <a:pt x="333" y="332"/>
                  </a:cubicBezTo>
                  <a:cubicBezTo>
                    <a:pt x="333" y="319"/>
                    <a:pt x="333" y="319"/>
                    <a:pt x="333" y="319"/>
                  </a:cubicBezTo>
                  <a:cubicBezTo>
                    <a:pt x="333" y="143"/>
                    <a:pt x="190" y="0"/>
                    <a:pt x="14" y="0"/>
                  </a:cubicBezTo>
                  <a:close/>
                  <a:moveTo>
                    <a:pt x="27" y="27"/>
                  </a:moveTo>
                  <a:cubicBezTo>
                    <a:pt x="102" y="31"/>
                    <a:pt x="170" y="62"/>
                    <a:pt x="220" y="112"/>
                  </a:cubicBezTo>
                  <a:cubicBezTo>
                    <a:pt x="270" y="162"/>
                    <a:pt x="301" y="230"/>
                    <a:pt x="305" y="305"/>
                  </a:cubicBezTo>
                  <a:cubicBezTo>
                    <a:pt x="27" y="305"/>
                    <a:pt x="27" y="305"/>
                    <a:pt x="27" y="305"/>
                  </a:cubicBezTo>
                  <a:lnTo>
                    <a:pt x="27"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53" name="Freeform 15"/>
            <p:cNvSpPr>
              <a:spLocks noEditPoints="1"/>
            </p:cNvSpPr>
            <p:nvPr/>
          </p:nvSpPr>
          <p:spPr bwMode="auto">
            <a:xfrm>
              <a:off x="1615" y="2638"/>
              <a:ext cx="42" cy="82"/>
            </a:xfrm>
            <a:custGeom>
              <a:avLst/>
              <a:gdLst/>
              <a:ahLst/>
              <a:cxnLst>
                <a:cxn ang="0">
                  <a:pos x="0" y="318"/>
                </a:cxn>
                <a:cxn ang="0">
                  <a:pos x="319" y="637"/>
                </a:cxn>
                <a:cxn ang="0">
                  <a:pos x="333" y="637"/>
                </a:cxn>
                <a:cxn ang="0">
                  <a:pos x="333" y="0"/>
                </a:cxn>
                <a:cxn ang="0">
                  <a:pos x="319" y="0"/>
                </a:cxn>
                <a:cxn ang="0">
                  <a:pos x="0" y="318"/>
                </a:cxn>
                <a:cxn ang="0">
                  <a:pos x="27" y="318"/>
                </a:cxn>
                <a:cxn ang="0">
                  <a:pos x="113" y="112"/>
                </a:cxn>
                <a:cxn ang="0">
                  <a:pos x="306" y="27"/>
                </a:cxn>
                <a:cxn ang="0">
                  <a:pos x="306" y="610"/>
                </a:cxn>
                <a:cxn ang="0">
                  <a:pos x="113" y="525"/>
                </a:cxn>
                <a:cxn ang="0">
                  <a:pos x="27" y="318"/>
                </a:cxn>
              </a:cxnLst>
              <a:rect l="0" t="0" r="r" b="b"/>
              <a:pathLst>
                <a:path w="333" h="637">
                  <a:moveTo>
                    <a:pt x="0" y="318"/>
                  </a:moveTo>
                  <a:cubicBezTo>
                    <a:pt x="0" y="495"/>
                    <a:pt x="143" y="637"/>
                    <a:pt x="319" y="637"/>
                  </a:cubicBezTo>
                  <a:cubicBezTo>
                    <a:pt x="333" y="637"/>
                    <a:pt x="333" y="637"/>
                    <a:pt x="333" y="637"/>
                  </a:cubicBezTo>
                  <a:cubicBezTo>
                    <a:pt x="333" y="0"/>
                    <a:pt x="333" y="0"/>
                    <a:pt x="333" y="0"/>
                  </a:cubicBezTo>
                  <a:cubicBezTo>
                    <a:pt x="319" y="0"/>
                    <a:pt x="319" y="0"/>
                    <a:pt x="319" y="0"/>
                  </a:cubicBezTo>
                  <a:cubicBezTo>
                    <a:pt x="143" y="0"/>
                    <a:pt x="0" y="142"/>
                    <a:pt x="0" y="318"/>
                  </a:cubicBezTo>
                  <a:close/>
                  <a:moveTo>
                    <a:pt x="27" y="318"/>
                  </a:moveTo>
                  <a:cubicBezTo>
                    <a:pt x="27" y="238"/>
                    <a:pt x="60" y="165"/>
                    <a:pt x="113" y="112"/>
                  </a:cubicBezTo>
                  <a:cubicBezTo>
                    <a:pt x="162" y="62"/>
                    <a:pt x="230" y="31"/>
                    <a:pt x="306" y="27"/>
                  </a:cubicBezTo>
                  <a:cubicBezTo>
                    <a:pt x="306" y="610"/>
                    <a:pt x="306" y="610"/>
                    <a:pt x="306" y="610"/>
                  </a:cubicBezTo>
                  <a:cubicBezTo>
                    <a:pt x="230" y="606"/>
                    <a:pt x="162" y="575"/>
                    <a:pt x="113" y="525"/>
                  </a:cubicBezTo>
                  <a:cubicBezTo>
                    <a:pt x="60" y="472"/>
                    <a:pt x="27" y="399"/>
                    <a:pt x="27" y="318"/>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55" name="Freeform 16"/>
            <p:cNvSpPr>
              <a:spLocks noEditPoints="1"/>
            </p:cNvSpPr>
            <p:nvPr/>
          </p:nvSpPr>
          <p:spPr bwMode="auto">
            <a:xfrm>
              <a:off x="1763" y="2717"/>
              <a:ext cx="43" cy="42"/>
            </a:xfrm>
            <a:custGeom>
              <a:avLst/>
              <a:gdLst/>
              <a:ahLst/>
              <a:cxnLst>
                <a:cxn ang="0">
                  <a:pos x="0" y="332"/>
                </a:cxn>
                <a:cxn ang="0">
                  <a:pos x="13" y="332"/>
                </a:cxn>
                <a:cxn ang="0">
                  <a:pos x="332" y="13"/>
                </a:cxn>
                <a:cxn ang="0">
                  <a:pos x="332" y="0"/>
                </a:cxn>
                <a:cxn ang="0">
                  <a:pos x="0" y="0"/>
                </a:cxn>
                <a:cxn ang="0">
                  <a:pos x="0" y="332"/>
                </a:cxn>
                <a:cxn ang="0">
                  <a:pos x="304" y="27"/>
                </a:cxn>
                <a:cxn ang="0">
                  <a:pos x="219" y="220"/>
                </a:cxn>
                <a:cxn ang="0">
                  <a:pos x="26" y="305"/>
                </a:cxn>
                <a:cxn ang="0">
                  <a:pos x="26" y="27"/>
                </a:cxn>
                <a:cxn ang="0">
                  <a:pos x="304" y="27"/>
                </a:cxn>
              </a:cxnLst>
              <a:rect l="0" t="0" r="r" b="b"/>
              <a:pathLst>
                <a:path w="332" h="332">
                  <a:moveTo>
                    <a:pt x="0" y="332"/>
                  </a:moveTo>
                  <a:cubicBezTo>
                    <a:pt x="13" y="332"/>
                    <a:pt x="13" y="332"/>
                    <a:pt x="13" y="332"/>
                  </a:cubicBezTo>
                  <a:cubicBezTo>
                    <a:pt x="189" y="332"/>
                    <a:pt x="332" y="189"/>
                    <a:pt x="332" y="13"/>
                  </a:cubicBezTo>
                  <a:cubicBezTo>
                    <a:pt x="332" y="0"/>
                    <a:pt x="332" y="0"/>
                    <a:pt x="332" y="0"/>
                  </a:cubicBezTo>
                  <a:cubicBezTo>
                    <a:pt x="0" y="0"/>
                    <a:pt x="0" y="0"/>
                    <a:pt x="0" y="0"/>
                  </a:cubicBezTo>
                  <a:lnTo>
                    <a:pt x="0" y="332"/>
                  </a:lnTo>
                  <a:close/>
                  <a:moveTo>
                    <a:pt x="304" y="27"/>
                  </a:moveTo>
                  <a:cubicBezTo>
                    <a:pt x="301" y="102"/>
                    <a:pt x="269" y="170"/>
                    <a:pt x="219" y="220"/>
                  </a:cubicBezTo>
                  <a:cubicBezTo>
                    <a:pt x="170" y="270"/>
                    <a:pt x="102" y="301"/>
                    <a:pt x="26" y="305"/>
                  </a:cubicBezTo>
                  <a:cubicBezTo>
                    <a:pt x="26" y="27"/>
                    <a:pt x="26" y="27"/>
                    <a:pt x="26" y="27"/>
                  </a:cubicBezTo>
                  <a:lnTo>
                    <a:pt x="304"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56" name="Freeform 17"/>
            <p:cNvSpPr>
              <a:spLocks noEditPoints="1"/>
            </p:cNvSpPr>
            <p:nvPr/>
          </p:nvSpPr>
          <p:spPr bwMode="auto">
            <a:xfrm>
              <a:off x="1664" y="2638"/>
              <a:ext cx="42" cy="43"/>
            </a:xfrm>
            <a:custGeom>
              <a:avLst/>
              <a:gdLst/>
              <a:ahLst/>
              <a:cxnLst>
                <a:cxn ang="0">
                  <a:pos x="0" y="13"/>
                </a:cxn>
                <a:cxn ang="0">
                  <a:pos x="319" y="332"/>
                </a:cxn>
                <a:cxn ang="0">
                  <a:pos x="332" y="332"/>
                </a:cxn>
                <a:cxn ang="0">
                  <a:pos x="332" y="0"/>
                </a:cxn>
                <a:cxn ang="0">
                  <a:pos x="0" y="0"/>
                </a:cxn>
                <a:cxn ang="0">
                  <a:pos x="0" y="13"/>
                </a:cxn>
                <a:cxn ang="0">
                  <a:pos x="305" y="304"/>
                </a:cxn>
                <a:cxn ang="0">
                  <a:pos x="112" y="220"/>
                </a:cxn>
                <a:cxn ang="0">
                  <a:pos x="28" y="27"/>
                </a:cxn>
                <a:cxn ang="0">
                  <a:pos x="305" y="27"/>
                </a:cxn>
                <a:cxn ang="0">
                  <a:pos x="305" y="304"/>
                </a:cxn>
              </a:cxnLst>
              <a:rect l="0" t="0" r="r" b="b"/>
              <a:pathLst>
                <a:path w="332" h="332">
                  <a:moveTo>
                    <a:pt x="0" y="13"/>
                  </a:moveTo>
                  <a:cubicBezTo>
                    <a:pt x="0" y="189"/>
                    <a:pt x="143" y="332"/>
                    <a:pt x="319" y="332"/>
                  </a:cubicBezTo>
                  <a:cubicBezTo>
                    <a:pt x="332" y="332"/>
                    <a:pt x="332" y="332"/>
                    <a:pt x="332" y="332"/>
                  </a:cubicBezTo>
                  <a:cubicBezTo>
                    <a:pt x="332" y="0"/>
                    <a:pt x="332" y="0"/>
                    <a:pt x="332" y="0"/>
                  </a:cubicBezTo>
                  <a:cubicBezTo>
                    <a:pt x="0" y="0"/>
                    <a:pt x="0" y="0"/>
                    <a:pt x="0" y="0"/>
                  </a:cubicBezTo>
                  <a:lnTo>
                    <a:pt x="0" y="13"/>
                  </a:lnTo>
                  <a:close/>
                  <a:moveTo>
                    <a:pt x="305" y="304"/>
                  </a:moveTo>
                  <a:cubicBezTo>
                    <a:pt x="230" y="301"/>
                    <a:pt x="162" y="269"/>
                    <a:pt x="112" y="220"/>
                  </a:cubicBezTo>
                  <a:cubicBezTo>
                    <a:pt x="63" y="170"/>
                    <a:pt x="31" y="102"/>
                    <a:pt x="28" y="27"/>
                  </a:cubicBezTo>
                  <a:cubicBezTo>
                    <a:pt x="305" y="27"/>
                    <a:pt x="305" y="27"/>
                    <a:pt x="305" y="27"/>
                  </a:cubicBezTo>
                  <a:lnTo>
                    <a:pt x="305" y="30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57" name="Freeform 18"/>
            <p:cNvSpPr>
              <a:spLocks noEditPoints="1"/>
            </p:cNvSpPr>
            <p:nvPr/>
          </p:nvSpPr>
          <p:spPr bwMode="auto">
            <a:xfrm>
              <a:off x="1814" y="2638"/>
              <a:ext cx="41" cy="121"/>
            </a:xfrm>
            <a:custGeom>
              <a:avLst/>
              <a:gdLst/>
              <a:ahLst/>
              <a:cxnLst>
                <a:cxn ang="0">
                  <a:pos x="0" y="120"/>
                </a:cxn>
                <a:cxn ang="0">
                  <a:pos x="0" y="121"/>
                </a:cxn>
                <a:cxn ang="0">
                  <a:pos x="41" y="121"/>
                </a:cxn>
                <a:cxn ang="0">
                  <a:pos x="41" y="0"/>
                </a:cxn>
                <a:cxn ang="0">
                  <a:pos x="0" y="0"/>
                </a:cxn>
                <a:cxn ang="0">
                  <a:pos x="0" y="120"/>
                </a:cxn>
                <a:cxn ang="0">
                  <a:pos x="37" y="4"/>
                </a:cxn>
                <a:cxn ang="0">
                  <a:pos x="37" y="118"/>
                </a:cxn>
                <a:cxn ang="0">
                  <a:pos x="4" y="118"/>
                </a:cxn>
                <a:cxn ang="0">
                  <a:pos x="4" y="4"/>
                </a:cxn>
                <a:cxn ang="0">
                  <a:pos x="37" y="4"/>
                </a:cxn>
              </a:cxnLst>
              <a:rect l="0" t="0" r="r" b="b"/>
              <a:pathLst>
                <a:path w="41" h="121">
                  <a:moveTo>
                    <a:pt x="0" y="120"/>
                  </a:moveTo>
                  <a:lnTo>
                    <a:pt x="0" y="121"/>
                  </a:lnTo>
                  <a:lnTo>
                    <a:pt x="41" y="121"/>
                  </a:lnTo>
                  <a:lnTo>
                    <a:pt x="41" y="0"/>
                  </a:lnTo>
                  <a:lnTo>
                    <a:pt x="0" y="0"/>
                  </a:lnTo>
                  <a:lnTo>
                    <a:pt x="0" y="120"/>
                  </a:lnTo>
                  <a:close/>
                  <a:moveTo>
                    <a:pt x="37" y="4"/>
                  </a:moveTo>
                  <a:lnTo>
                    <a:pt x="37" y="118"/>
                  </a:lnTo>
                  <a:lnTo>
                    <a:pt x="4" y="118"/>
                  </a:lnTo>
                  <a:lnTo>
                    <a:pt x="4" y="4"/>
                  </a:lnTo>
                  <a:lnTo>
                    <a:pt x="37" y="4"/>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58" name="Freeform 19"/>
            <p:cNvSpPr>
              <a:spLocks noEditPoints="1"/>
            </p:cNvSpPr>
            <p:nvPr/>
          </p:nvSpPr>
          <p:spPr bwMode="auto">
            <a:xfrm>
              <a:off x="1861" y="2638"/>
              <a:ext cx="43" cy="82"/>
            </a:xfrm>
            <a:custGeom>
              <a:avLst/>
              <a:gdLst/>
              <a:ahLst/>
              <a:cxnLst>
                <a:cxn ang="0">
                  <a:pos x="14" y="0"/>
                </a:cxn>
                <a:cxn ang="0">
                  <a:pos x="0" y="0"/>
                </a:cxn>
                <a:cxn ang="0">
                  <a:pos x="0" y="638"/>
                </a:cxn>
                <a:cxn ang="0">
                  <a:pos x="14" y="638"/>
                </a:cxn>
                <a:cxn ang="0">
                  <a:pos x="333" y="319"/>
                </a:cxn>
                <a:cxn ang="0">
                  <a:pos x="14" y="0"/>
                </a:cxn>
                <a:cxn ang="0">
                  <a:pos x="220" y="525"/>
                </a:cxn>
                <a:cxn ang="0">
                  <a:pos x="27" y="610"/>
                </a:cxn>
                <a:cxn ang="0">
                  <a:pos x="27" y="28"/>
                </a:cxn>
                <a:cxn ang="0">
                  <a:pos x="220" y="112"/>
                </a:cxn>
                <a:cxn ang="0">
                  <a:pos x="306" y="319"/>
                </a:cxn>
                <a:cxn ang="0">
                  <a:pos x="220" y="525"/>
                </a:cxn>
              </a:cxnLst>
              <a:rect l="0" t="0" r="r" b="b"/>
              <a:pathLst>
                <a:path w="333" h="638">
                  <a:moveTo>
                    <a:pt x="14" y="0"/>
                  </a:moveTo>
                  <a:cubicBezTo>
                    <a:pt x="0" y="0"/>
                    <a:pt x="0" y="0"/>
                    <a:pt x="0" y="0"/>
                  </a:cubicBezTo>
                  <a:cubicBezTo>
                    <a:pt x="0" y="638"/>
                    <a:pt x="0" y="638"/>
                    <a:pt x="0" y="638"/>
                  </a:cubicBezTo>
                  <a:cubicBezTo>
                    <a:pt x="14" y="638"/>
                    <a:pt x="14" y="638"/>
                    <a:pt x="14" y="638"/>
                  </a:cubicBezTo>
                  <a:cubicBezTo>
                    <a:pt x="190" y="638"/>
                    <a:pt x="333" y="495"/>
                    <a:pt x="333" y="319"/>
                  </a:cubicBezTo>
                  <a:cubicBezTo>
                    <a:pt x="333" y="143"/>
                    <a:pt x="190" y="0"/>
                    <a:pt x="14" y="0"/>
                  </a:cubicBezTo>
                  <a:close/>
                  <a:moveTo>
                    <a:pt x="220" y="525"/>
                  </a:moveTo>
                  <a:cubicBezTo>
                    <a:pt x="170" y="575"/>
                    <a:pt x="103" y="607"/>
                    <a:pt x="27" y="610"/>
                  </a:cubicBezTo>
                  <a:cubicBezTo>
                    <a:pt x="27" y="28"/>
                    <a:pt x="27" y="28"/>
                    <a:pt x="27" y="28"/>
                  </a:cubicBezTo>
                  <a:cubicBezTo>
                    <a:pt x="103" y="31"/>
                    <a:pt x="170" y="63"/>
                    <a:pt x="220" y="112"/>
                  </a:cubicBezTo>
                  <a:cubicBezTo>
                    <a:pt x="273" y="165"/>
                    <a:pt x="306" y="238"/>
                    <a:pt x="306" y="319"/>
                  </a:cubicBezTo>
                  <a:cubicBezTo>
                    <a:pt x="306" y="400"/>
                    <a:pt x="273" y="473"/>
                    <a:pt x="220" y="525"/>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59" name="Freeform 20"/>
            <p:cNvSpPr>
              <a:spLocks noEditPoints="1"/>
            </p:cNvSpPr>
            <p:nvPr/>
          </p:nvSpPr>
          <p:spPr bwMode="auto">
            <a:xfrm>
              <a:off x="1763" y="2638"/>
              <a:ext cx="43" cy="43"/>
            </a:xfrm>
            <a:custGeom>
              <a:avLst/>
              <a:gdLst/>
              <a:ahLst/>
              <a:cxnLst>
                <a:cxn ang="0">
                  <a:pos x="0" y="332"/>
                </a:cxn>
                <a:cxn ang="0">
                  <a:pos x="13" y="332"/>
                </a:cxn>
                <a:cxn ang="0">
                  <a:pos x="332" y="13"/>
                </a:cxn>
                <a:cxn ang="0">
                  <a:pos x="332" y="0"/>
                </a:cxn>
                <a:cxn ang="0">
                  <a:pos x="0" y="0"/>
                </a:cxn>
                <a:cxn ang="0">
                  <a:pos x="0" y="332"/>
                </a:cxn>
                <a:cxn ang="0">
                  <a:pos x="305" y="27"/>
                </a:cxn>
                <a:cxn ang="0">
                  <a:pos x="220" y="220"/>
                </a:cxn>
                <a:cxn ang="0">
                  <a:pos x="27" y="305"/>
                </a:cxn>
                <a:cxn ang="0">
                  <a:pos x="27" y="27"/>
                </a:cxn>
                <a:cxn ang="0">
                  <a:pos x="305" y="27"/>
                </a:cxn>
              </a:cxnLst>
              <a:rect l="0" t="0" r="r" b="b"/>
              <a:pathLst>
                <a:path w="332" h="332">
                  <a:moveTo>
                    <a:pt x="0" y="332"/>
                  </a:moveTo>
                  <a:cubicBezTo>
                    <a:pt x="13" y="332"/>
                    <a:pt x="13" y="332"/>
                    <a:pt x="13" y="332"/>
                  </a:cubicBezTo>
                  <a:cubicBezTo>
                    <a:pt x="190" y="332"/>
                    <a:pt x="332" y="189"/>
                    <a:pt x="332" y="13"/>
                  </a:cubicBezTo>
                  <a:cubicBezTo>
                    <a:pt x="332" y="0"/>
                    <a:pt x="332" y="0"/>
                    <a:pt x="332" y="0"/>
                  </a:cubicBezTo>
                  <a:cubicBezTo>
                    <a:pt x="0" y="0"/>
                    <a:pt x="0" y="0"/>
                    <a:pt x="0" y="0"/>
                  </a:cubicBezTo>
                  <a:lnTo>
                    <a:pt x="0" y="332"/>
                  </a:lnTo>
                  <a:close/>
                  <a:moveTo>
                    <a:pt x="305" y="27"/>
                  </a:moveTo>
                  <a:cubicBezTo>
                    <a:pt x="301" y="102"/>
                    <a:pt x="270" y="170"/>
                    <a:pt x="220" y="220"/>
                  </a:cubicBezTo>
                  <a:cubicBezTo>
                    <a:pt x="170" y="270"/>
                    <a:pt x="102" y="301"/>
                    <a:pt x="27" y="305"/>
                  </a:cubicBezTo>
                  <a:cubicBezTo>
                    <a:pt x="27" y="27"/>
                    <a:pt x="27" y="27"/>
                    <a:pt x="27" y="27"/>
                  </a:cubicBezTo>
                  <a:lnTo>
                    <a:pt x="305" y="27"/>
                  </a:ln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60" name="Freeform 21"/>
            <p:cNvSpPr>
              <a:spLocks noEditPoints="1"/>
            </p:cNvSpPr>
            <p:nvPr/>
          </p:nvSpPr>
          <p:spPr bwMode="auto">
            <a:xfrm>
              <a:off x="1714" y="2638"/>
              <a:ext cx="43" cy="121"/>
            </a:xfrm>
            <a:custGeom>
              <a:avLst/>
              <a:gdLst/>
              <a:ahLst/>
              <a:cxnLst>
                <a:cxn ang="0">
                  <a:pos x="0" y="319"/>
                </a:cxn>
                <a:cxn ang="0">
                  <a:pos x="0" y="624"/>
                </a:cxn>
                <a:cxn ang="0">
                  <a:pos x="319" y="943"/>
                </a:cxn>
                <a:cxn ang="0">
                  <a:pos x="332" y="943"/>
                </a:cxn>
                <a:cxn ang="0">
                  <a:pos x="332" y="624"/>
                </a:cxn>
                <a:cxn ang="0">
                  <a:pos x="332" y="319"/>
                </a:cxn>
                <a:cxn ang="0">
                  <a:pos x="332" y="0"/>
                </a:cxn>
                <a:cxn ang="0">
                  <a:pos x="319" y="0"/>
                </a:cxn>
                <a:cxn ang="0">
                  <a:pos x="0" y="319"/>
                </a:cxn>
                <a:cxn ang="0">
                  <a:pos x="27" y="624"/>
                </a:cxn>
                <a:cxn ang="0">
                  <a:pos x="27" y="319"/>
                </a:cxn>
                <a:cxn ang="0">
                  <a:pos x="112" y="112"/>
                </a:cxn>
                <a:cxn ang="0">
                  <a:pos x="305" y="27"/>
                </a:cxn>
                <a:cxn ang="0">
                  <a:pos x="305" y="319"/>
                </a:cxn>
                <a:cxn ang="0">
                  <a:pos x="305" y="624"/>
                </a:cxn>
                <a:cxn ang="0">
                  <a:pos x="305" y="916"/>
                </a:cxn>
                <a:cxn ang="0">
                  <a:pos x="112" y="831"/>
                </a:cxn>
                <a:cxn ang="0">
                  <a:pos x="27" y="624"/>
                </a:cxn>
              </a:cxnLst>
              <a:rect l="0" t="0" r="r" b="b"/>
              <a:pathLst>
                <a:path w="332" h="943">
                  <a:moveTo>
                    <a:pt x="0" y="319"/>
                  </a:moveTo>
                  <a:cubicBezTo>
                    <a:pt x="0" y="624"/>
                    <a:pt x="0" y="624"/>
                    <a:pt x="0" y="624"/>
                  </a:cubicBezTo>
                  <a:cubicBezTo>
                    <a:pt x="0" y="800"/>
                    <a:pt x="142" y="943"/>
                    <a:pt x="319" y="943"/>
                  </a:cubicBezTo>
                  <a:cubicBezTo>
                    <a:pt x="332" y="943"/>
                    <a:pt x="332" y="943"/>
                    <a:pt x="332" y="943"/>
                  </a:cubicBezTo>
                  <a:cubicBezTo>
                    <a:pt x="332" y="624"/>
                    <a:pt x="332" y="624"/>
                    <a:pt x="332" y="624"/>
                  </a:cubicBezTo>
                  <a:cubicBezTo>
                    <a:pt x="332" y="319"/>
                    <a:pt x="332" y="319"/>
                    <a:pt x="332" y="319"/>
                  </a:cubicBezTo>
                  <a:cubicBezTo>
                    <a:pt x="332" y="0"/>
                    <a:pt x="332" y="0"/>
                    <a:pt x="332" y="0"/>
                  </a:cubicBezTo>
                  <a:cubicBezTo>
                    <a:pt x="319" y="0"/>
                    <a:pt x="319" y="0"/>
                    <a:pt x="319" y="0"/>
                  </a:cubicBezTo>
                  <a:cubicBezTo>
                    <a:pt x="142" y="0"/>
                    <a:pt x="0" y="143"/>
                    <a:pt x="0" y="319"/>
                  </a:cubicBezTo>
                  <a:close/>
                  <a:moveTo>
                    <a:pt x="27" y="624"/>
                  </a:moveTo>
                  <a:cubicBezTo>
                    <a:pt x="27" y="319"/>
                    <a:pt x="27" y="319"/>
                    <a:pt x="27" y="319"/>
                  </a:cubicBezTo>
                  <a:cubicBezTo>
                    <a:pt x="27" y="238"/>
                    <a:pt x="59" y="165"/>
                    <a:pt x="112" y="112"/>
                  </a:cubicBezTo>
                  <a:cubicBezTo>
                    <a:pt x="162" y="62"/>
                    <a:pt x="230" y="31"/>
                    <a:pt x="305" y="27"/>
                  </a:cubicBezTo>
                  <a:cubicBezTo>
                    <a:pt x="305" y="319"/>
                    <a:pt x="305" y="319"/>
                    <a:pt x="305" y="319"/>
                  </a:cubicBezTo>
                  <a:cubicBezTo>
                    <a:pt x="305" y="624"/>
                    <a:pt x="305" y="624"/>
                    <a:pt x="305" y="624"/>
                  </a:cubicBezTo>
                  <a:cubicBezTo>
                    <a:pt x="305" y="916"/>
                    <a:pt x="305" y="916"/>
                    <a:pt x="305" y="916"/>
                  </a:cubicBezTo>
                  <a:cubicBezTo>
                    <a:pt x="230" y="912"/>
                    <a:pt x="162" y="881"/>
                    <a:pt x="112" y="831"/>
                  </a:cubicBezTo>
                  <a:cubicBezTo>
                    <a:pt x="59" y="778"/>
                    <a:pt x="27" y="705"/>
                    <a:pt x="27" y="624"/>
                  </a:cubicBezTo>
                  <a:close/>
                </a:path>
              </a:pathLst>
            </a:custGeom>
            <a:solidFill>
              <a:srgbClr val="6E3219"/>
            </a:solid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sp>
        <p:nvSpPr>
          <p:cNvPr id="61" name="Tijdelijke aanduiding voor dianummer 6"/>
          <p:cNvSpPr txBox="1">
            <a:spLocks/>
          </p:cNvSpPr>
          <p:nvPr/>
        </p:nvSpPr>
        <p:spPr>
          <a:xfrm>
            <a:off x="400869" y="6356350"/>
            <a:ext cx="684000" cy="365125"/>
          </a:xfrm>
          <a:prstGeom prst="rect">
            <a:avLst/>
          </a:prstGeom>
        </p:spPr>
        <p:txBody>
          <a:bodyPr vert="horz" lIns="0" tIns="0" rIns="0" bIns="0" rtlCol="0" anchor="ctr">
            <a:noAutofit/>
          </a:bodyPr>
          <a:lstStyle>
            <a:defPPr>
              <a:defRPr lang="nl-NL"/>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336C48C-F87C-4E4B-81EF-5027B17D1F61}" type="slidenum">
              <a:rPr lang="en-US" noProof="1" smtClean="0"/>
              <a:pPr/>
              <a:t>12</a:t>
            </a:fld>
            <a:endParaRPr lang="en-US" noProof="1"/>
          </a:p>
        </p:txBody>
      </p:sp>
      <p:cxnSp>
        <p:nvCxnSpPr>
          <p:cNvPr id="13" name="Straight Connector 12"/>
          <p:cNvCxnSpPr/>
          <p:nvPr/>
        </p:nvCxnSpPr>
        <p:spPr>
          <a:xfrm flipV="1">
            <a:off x="5851602" y="2596793"/>
            <a:ext cx="2835929" cy="852989"/>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5851602" y="3053237"/>
            <a:ext cx="2885020" cy="396545"/>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029450" y="2343494"/>
            <a:ext cx="1643116" cy="215444"/>
          </a:xfrm>
          <a:prstGeom prst="rect">
            <a:avLst/>
          </a:prstGeom>
          <a:noFill/>
        </p:spPr>
        <p:txBody>
          <a:bodyPr wrap="square" lIns="0" tIns="0" rIns="0" bIns="0" rtlCol="0">
            <a:spAutoFit/>
          </a:bodyPr>
          <a:lstStyle/>
          <a:p>
            <a:pPr algn="ctr"/>
            <a:r>
              <a:rPr lang="en-US" sz="1400" dirty="0" smtClean="0">
                <a:solidFill>
                  <a:schemeClr val="accent1"/>
                </a:solidFill>
              </a:rPr>
              <a:t>Range of estimates</a:t>
            </a:r>
            <a:endParaRPr lang="en-US" sz="1400" dirty="0">
              <a:solidFill>
                <a:schemeClr val="accent1"/>
              </a:solidFill>
            </a:endParaRPr>
          </a:p>
        </p:txBody>
      </p:sp>
      <p:grpSp>
        <p:nvGrpSpPr>
          <p:cNvPr id="63" name="Group 62"/>
          <p:cNvGrpSpPr>
            <a:grpSpLocks noChangeAspect="1"/>
          </p:cNvGrpSpPr>
          <p:nvPr/>
        </p:nvGrpSpPr>
        <p:grpSpPr bwMode="auto">
          <a:xfrm>
            <a:off x="393700" y="2143125"/>
            <a:ext cx="8358188" cy="4076700"/>
            <a:chOff x="248" y="1350"/>
            <a:chExt cx="5265" cy="2568"/>
          </a:xfrm>
        </p:grpSpPr>
        <p:sp>
          <p:nvSpPr>
            <p:cNvPr id="67" name="Rectangle 66"/>
            <p:cNvSpPr>
              <a:spLocks noChangeArrowheads="1"/>
            </p:cNvSpPr>
            <p:nvPr/>
          </p:nvSpPr>
          <p:spPr bwMode="auto">
            <a:xfrm>
              <a:off x="248" y="3912"/>
              <a:ext cx="5265" cy="6"/>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nl-NL"/>
            </a:p>
          </p:txBody>
        </p:sp>
        <p:sp>
          <p:nvSpPr>
            <p:cNvPr id="68" name="Freeform 6"/>
            <p:cNvSpPr>
              <a:spLocks/>
            </p:cNvSpPr>
            <p:nvPr/>
          </p:nvSpPr>
          <p:spPr bwMode="auto">
            <a:xfrm>
              <a:off x="248" y="3912"/>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sp>
          <p:nvSpPr>
            <p:cNvPr id="73" name="Freeform 72"/>
            <p:cNvSpPr>
              <a:spLocks/>
            </p:cNvSpPr>
            <p:nvPr/>
          </p:nvSpPr>
          <p:spPr bwMode="auto">
            <a:xfrm>
              <a:off x="248" y="1350"/>
              <a:ext cx="5265" cy="6"/>
            </a:xfrm>
            <a:custGeom>
              <a:avLst/>
              <a:gdLst/>
              <a:ahLst/>
              <a:cxnLst>
                <a:cxn ang="0">
                  <a:pos x="0" y="0"/>
                </a:cxn>
                <a:cxn ang="0">
                  <a:pos x="5265" y="0"/>
                </a:cxn>
                <a:cxn ang="0">
                  <a:pos x="5265" y="6"/>
                </a:cxn>
                <a:cxn ang="0">
                  <a:pos x="0" y="6"/>
                </a:cxn>
              </a:cxnLst>
              <a:rect l="0" t="0" r="r" b="b"/>
              <a:pathLst>
                <a:path w="5265" h="6">
                  <a:moveTo>
                    <a:pt x="0" y="0"/>
                  </a:moveTo>
                  <a:lnTo>
                    <a:pt x="5265" y="0"/>
                  </a:lnTo>
                  <a:lnTo>
                    <a:pt x="5265" y="6"/>
                  </a:lnTo>
                  <a:lnTo>
                    <a:pt x="0" y="6"/>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nl-NL"/>
            </a:p>
          </p:txBody>
        </p:sp>
      </p:grpSp>
    </p:spTree>
    <p:extLst>
      <p:ext uri="{BB962C8B-B14F-4D97-AF65-F5344CB8AC3E}">
        <p14:creationId xmlns:p14="http://schemas.microsoft.com/office/powerpoint/2010/main" val="17604421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p:cNvGraphicFramePr>
            <a:graphicFrameLocks/>
          </p:cNvGraphicFramePr>
          <p:nvPr>
            <p:extLst>
              <p:ext uri="{D42A27DB-BD31-4B8C-83A1-F6EECF244321}">
                <p14:modId xmlns:p14="http://schemas.microsoft.com/office/powerpoint/2010/main" val="20987280"/>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75631" name="think-cell Slide" r:id="rId36" imgW="360" imgH="360" progId="TCLayout.ActiveDocument.1">
                  <p:embed/>
                </p:oleObj>
              </mc:Choice>
              <mc:Fallback>
                <p:oleObj name="think-cell Slide" r:id="rId36" imgW="360" imgH="360" progId="TCLayout.ActiveDocument.1">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hidden="1"/>
          <p:cNvSpPr/>
          <p:nvPr>
            <p:custDataLst>
              <p:tags r:id="rId2"/>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000" u="none" strike="noStrike" cap="none" normalizeH="0" smtClean="0">
              <a:ln>
                <a:noFill/>
              </a:ln>
              <a:solidFill>
                <a:schemeClr val="tx1"/>
              </a:solidFill>
              <a:effectLst/>
              <a:latin typeface="Arial"/>
              <a:sym typeface="Arial"/>
            </a:endParaRPr>
          </a:p>
        </p:txBody>
      </p:sp>
      <p:sp>
        <p:nvSpPr>
          <p:cNvPr id="23" name="McK Footnote"/>
          <p:cNvSpPr txBox="1">
            <a:spLocks noChangeArrowheads="1"/>
          </p:cNvSpPr>
          <p:nvPr/>
        </p:nvSpPr>
        <p:spPr bwMode="auto">
          <a:xfrm>
            <a:off x="639271" y="6244660"/>
            <a:ext cx="7335063" cy="415498"/>
          </a:xfrm>
          <a:prstGeom prst="rect">
            <a:avLst/>
          </a:prstGeom>
          <a:noFill/>
          <a:ln w="9525">
            <a:noFill/>
            <a:miter lim="800000"/>
            <a:headEnd/>
            <a:tailEnd/>
          </a:ln>
        </p:spPr>
        <p:txBody>
          <a:bodyPr wrap="square" lIns="0" tIns="0" rIns="0" bIns="0" anchor="b">
            <a:spAutoFit/>
          </a:bodyPr>
          <a:lstStyle/>
          <a:p>
            <a:pPr defTabSz="895350">
              <a:tabLst>
                <a:tab pos="517525" algn="r"/>
              </a:tabLst>
            </a:pPr>
            <a:r>
              <a:rPr lang="en-US" sz="900" dirty="0" smtClean="0">
                <a:solidFill>
                  <a:schemeClr val="tx1">
                    <a:lumMod val="65000"/>
                    <a:lumOff val="35000"/>
                  </a:schemeClr>
                </a:solidFill>
              </a:rPr>
              <a:t>* Estimate based on assumption that a tree is “in production” in the 3</a:t>
            </a:r>
            <a:r>
              <a:rPr lang="en-US" sz="900" baseline="30000" dirty="0" smtClean="0">
                <a:solidFill>
                  <a:schemeClr val="tx1">
                    <a:lumMod val="65000"/>
                    <a:lumOff val="35000"/>
                  </a:schemeClr>
                </a:solidFill>
              </a:rPr>
              <a:t>rd</a:t>
            </a:r>
            <a:r>
              <a:rPr lang="en-US" sz="900" dirty="0" smtClean="0">
                <a:solidFill>
                  <a:schemeClr val="tx1">
                    <a:lumMod val="65000"/>
                    <a:lumOff val="35000"/>
                  </a:schemeClr>
                </a:solidFill>
              </a:rPr>
              <a:t> harvest after planting</a:t>
            </a:r>
          </a:p>
          <a:p>
            <a:pPr defTabSz="895350">
              <a:tabLst>
                <a:tab pos="517525" algn="r"/>
              </a:tabLst>
            </a:pPr>
            <a:r>
              <a:rPr lang="en-US" sz="900" dirty="0" smtClean="0">
                <a:solidFill>
                  <a:schemeClr val="tx1">
                    <a:lumMod val="65000"/>
                    <a:lumOff val="35000"/>
                  </a:schemeClr>
                </a:solidFill>
              </a:rPr>
              <a:t>** Assuming that total coffee area remains constant at 2013 value; FNC aims to renovate 98% of tree stock by 2020</a:t>
            </a:r>
          </a:p>
          <a:p>
            <a:pPr marL="563563" indent="-563563" defTabSz="895350">
              <a:tabLst>
                <a:tab pos="517525" algn="r"/>
              </a:tabLst>
            </a:pPr>
            <a:r>
              <a:rPr lang="en-US" sz="900" dirty="0" smtClean="0">
                <a:solidFill>
                  <a:schemeClr val="tx1">
                    <a:lumMod val="65000"/>
                    <a:lumOff val="35000"/>
                  </a:schemeClr>
                </a:solidFill>
              </a:rPr>
              <a:t>Source:  FNC</a:t>
            </a:r>
            <a:endParaRPr lang="en-US" sz="900" dirty="0">
              <a:solidFill>
                <a:schemeClr val="tx1">
                  <a:lumMod val="65000"/>
                  <a:lumOff val="35000"/>
                </a:schemeClr>
              </a:solidFill>
            </a:endParaRPr>
          </a:p>
        </p:txBody>
      </p:sp>
      <p:sp>
        <p:nvSpPr>
          <p:cNvPr id="6" name="TextBox 5"/>
          <p:cNvSpPr txBox="1"/>
          <p:nvPr/>
        </p:nvSpPr>
        <p:spPr>
          <a:xfrm>
            <a:off x="387014" y="1567438"/>
            <a:ext cx="2950028" cy="523220"/>
          </a:xfrm>
          <a:prstGeom prst="rect">
            <a:avLst/>
          </a:prstGeom>
          <a:noFill/>
        </p:spPr>
        <p:txBody>
          <a:bodyPr wrap="square" rtlCol="0">
            <a:spAutoFit/>
          </a:bodyPr>
          <a:lstStyle/>
          <a:p>
            <a:r>
              <a:rPr lang="en-US" sz="1400" b="1" dirty="0" smtClean="0">
                <a:solidFill>
                  <a:schemeClr val="accent1"/>
                </a:solidFill>
              </a:rPr>
              <a:t>Cultivated coffee area </a:t>
            </a:r>
          </a:p>
          <a:p>
            <a:r>
              <a:rPr lang="en-US" sz="1400" dirty="0" smtClean="0">
                <a:solidFill>
                  <a:schemeClr val="accent1"/>
                </a:solidFill>
              </a:rPr>
              <a:t>Thousand hectares</a:t>
            </a:r>
            <a:endParaRPr lang="en-US" sz="1400" dirty="0">
              <a:solidFill>
                <a:schemeClr val="accent1"/>
              </a:solidFill>
            </a:endParaRPr>
          </a:p>
        </p:txBody>
      </p:sp>
      <p:graphicFrame>
        <p:nvGraphicFramePr>
          <p:cNvPr id="10" name="Object 9"/>
          <p:cNvGraphicFramePr>
            <a:graphicFrameLocks/>
          </p:cNvGraphicFramePr>
          <p:nvPr>
            <p:custDataLst>
              <p:tags r:id="rId3"/>
            </p:custDataLst>
            <p:extLst>
              <p:ext uri="{D42A27DB-BD31-4B8C-83A1-F6EECF244321}">
                <p14:modId xmlns:p14="http://schemas.microsoft.com/office/powerpoint/2010/main" val="853031307"/>
              </p:ext>
            </p:extLst>
          </p:nvPr>
        </p:nvGraphicFramePr>
        <p:xfrm>
          <a:off x="266701" y="2552700"/>
          <a:ext cx="8744085" cy="2886075"/>
        </p:xfrm>
        <a:graphic>
          <a:graphicData uri="http://schemas.openxmlformats.org/presentationml/2006/ole">
            <mc:AlternateContent xmlns:mc="http://schemas.openxmlformats.org/markup-compatibility/2006">
              <mc:Choice xmlns:v="urn:schemas-microsoft-com:vml" Requires="v">
                <p:oleObj spid="_x0000_s175632" name="Chart" r:id="rId38" imgW="8744085" imgH="2886075" progId="MSGraph.Chart.8">
                  <p:embed followColorScheme="full"/>
                </p:oleObj>
              </mc:Choice>
              <mc:Fallback>
                <p:oleObj name="Chart" r:id="rId38" imgW="8744085" imgH="2886075" progId="MSGraph.Chart.8">
                  <p:embed followColorScheme="full"/>
                  <p:pic>
                    <p:nvPicPr>
                      <p:cNvPr id="0" name=""/>
                      <p:cNvPicPr/>
                      <p:nvPr/>
                    </p:nvPicPr>
                    <p:blipFill>
                      <a:blip r:embed="rId39"/>
                      <a:stretch>
                        <a:fillRect/>
                      </a:stretch>
                    </p:blipFill>
                    <p:spPr>
                      <a:xfrm>
                        <a:off x="266701" y="2552700"/>
                        <a:ext cx="8744085" cy="2886075"/>
                      </a:xfrm>
                      <a:prstGeom prst="rect">
                        <a:avLst/>
                      </a:prstGeom>
                    </p:spPr>
                  </p:pic>
                </p:oleObj>
              </mc:Fallback>
            </mc:AlternateContent>
          </a:graphicData>
        </a:graphic>
      </p:graphicFrame>
      <p:sp useBgFill="1">
        <p:nvSpPr>
          <p:cNvPr id="8" name="Freeform 7"/>
          <p:cNvSpPr/>
          <p:nvPr>
            <p:custDataLst>
              <p:tags r:id="rId4"/>
            </p:custDataLst>
          </p:nvPr>
        </p:nvSpPr>
        <p:spPr bwMode="auto">
          <a:xfrm>
            <a:off x="7639050" y="5260975"/>
            <a:ext cx="96839" cy="146051"/>
          </a:xfrm>
          <a:custGeom>
            <a:avLst/>
            <a:gdLst/>
            <a:ahLst/>
            <a:cxnLst/>
            <a:rect l="0" t="0" r="0" b="0"/>
            <a:pathLst>
              <a:path w="96839" h="146051">
                <a:moveTo>
                  <a:pt x="96838" y="0"/>
                </a:moveTo>
                <a:lnTo>
                  <a:pt x="57150" y="146050"/>
                </a:lnTo>
                <a:lnTo>
                  <a:pt x="0" y="146050"/>
                </a:lnTo>
                <a:lnTo>
                  <a:pt x="39688" y="0"/>
                </a:lnTo>
                <a:close/>
              </a:path>
            </a:pathLst>
          </a:custGeom>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custDataLst>
              <p:tags r:id="rId5"/>
            </p:custDataLst>
          </p:nvPr>
        </p:nvSpPr>
        <p:spPr bwMode="auto">
          <a:xfrm>
            <a:off x="7696200" y="5260975"/>
            <a:ext cx="39689" cy="146051"/>
          </a:xfrm>
          <a:custGeom>
            <a:avLst/>
            <a:gdLst/>
            <a:ahLst/>
            <a:cxnLst/>
            <a:rect l="0" t="0" r="0" b="0"/>
            <a:pathLst>
              <a:path w="39689" h="146051">
                <a:moveTo>
                  <a:pt x="39688" y="0"/>
                </a:moveTo>
                <a:lnTo>
                  <a:pt x="0" y="146050"/>
                </a:lnTo>
              </a:path>
            </a:pathLst>
          </a:cu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Freeform 1"/>
          <p:cNvSpPr/>
          <p:nvPr>
            <p:custDataLst>
              <p:tags r:id="rId6"/>
            </p:custDataLst>
          </p:nvPr>
        </p:nvSpPr>
        <p:spPr bwMode="auto">
          <a:xfrm>
            <a:off x="7639050" y="5260975"/>
            <a:ext cx="39689" cy="146051"/>
          </a:xfrm>
          <a:custGeom>
            <a:avLst/>
            <a:gdLst/>
            <a:ahLst/>
            <a:cxnLst/>
            <a:rect l="0" t="0" r="0" b="0"/>
            <a:pathLst>
              <a:path w="39689" h="146051">
                <a:moveTo>
                  <a:pt x="39688" y="0"/>
                </a:moveTo>
                <a:lnTo>
                  <a:pt x="0" y="146050"/>
                </a:lnTo>
              </a:path>
            </a:pathLst>
          </a:cu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 Placeholder 149"/>
          <p:cNvSpPr>
            <a:spLocks noGrp="1"/>
          </p:cNvSpPr>
          <p:nvPr>
            <p:custDataLst>
              <p:tags r:id="rId7"/>
            </p:custDataLst>
          </p:nvPr>
        </p:nvSpPr>
        <p:spPr bwMode="gray">
          <a:xfrm>
            <a:off x="2036763" y="267652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5B1BD1CA-8601-495F-B9B1-1A07340EF260}" type="datetime'8''''''8''''''''7'''''''''''''''''''''''''''''''''''''''''">
              <a:rPr lang="en-US" sz="1400">
                <a:solidFill>
                  <a:schemeClr val="accent1"/>
                </a:solidFill>
              </a:rPr>
              <a:pPr/>
              <a:t>887</a:t>
            </a:fld>
            <a:endParaRPr lang="en-US" sz="1400" dirty="0">
              <a:solidFill>
                <a:schemeClr val="accent1"/>
              </a:solidFill>
              <a:sym typeface="+mn-lt"/>
            </a:endParaRPr>
          </a:p>
        </p:txBody>
      </p:sp>
      <p:sp>
        <p:nvSpPr>
          <p:cNvPr id="44" name="Text Placeholder 143"/>
          <p:cNvSpPr>
            <a:spLocks noGrp="1"/>
          </p:cNvSpPr>
          <p:nvPr>
            <p:custDataLst>
              <p:tags r:id="rId8"/>
            </p:custDataLst>
          </p:nvPr>
        </p:nvSpPr>
        <p:spPr bwMode="auto">
          <a:xfrm>
            <a:off x="2006600" y="5573713"/>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DBB304CF-81D4-48D5-BCC7-3174201A744B}" type="datetime'2''''0''''''''0''''''9'''''''''''''''''''''''''''''''''''''''">
              <a:rPr lang="en-US" sz="1400">
                <a:solidFill>
                  <a:schemeClr val="accent1"/>
                </a:solidFill>
                <a:sym typeface="+mn-lt"/>
              </a:rPr>
              <a:pPr/>
              <a:t>2009</a:t>
            </a:fld>
            <a:endParaRPr lang="en-US" sz="1400" dirty="0">
              <a:solidFill>
                <a:schemeClr val="accent1"/>
              </a:solidFill>
              <a:sym typeface="+mn-lt"/>
            </a:endParaRPr>
          </a:p>
        </p:txBody>
      </p:sp>
      <p:sp>
        <p:nvSpPr>
          <p:cNvPr id="37" name="Text Placeholder 5"/>
          <p:cNvSpPr>
            <a:spLocks noGrp="1"/>
          </p:cNvSpPr>
          <p:nvPr>
            <p:custDataLst>
              <p:tags r:id="rId9"/>
            </p:custDataLst>
          </p:nvPr>
        </p:nvSpPr>
        <p:spPr bwMode="gray">
          <a:xfrm>
            <a:off x="2036763" y="421322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742</a:t>
            </a:r>
            <a:endParaRPr lang="en-US" sz="1400" dirty="0">
              <a:solidFill>
                <a:schemeClr val="accent1"/>
              </a:solidFill>
              <a:latin typeface="Arial"/>
              <a:sym typeface="Arial"/>
            </a:endParaRPr>
          </a:p>
        </p:txBody>
      </p:sp>
      <p:sp>
        <p:nvSpPr>
          <p:cNvPr id="42" name="Text Placeholder 142"/>
          <p:cNvSpPr>
            <a:spLocks noGrp="1"/>
          </p:cNvSpPr>
          <p:nvPr>
            <p:custDataLst>
              <p:tags r:id="rId10"/>
            </p:custDataLst>
          </p:nvPr>
        </p:nvSpPr>
        <p:spPr bwMode="auto">
          <a:xfrm>
            <a:off x="787400" y="5573713"/>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05A46C6B-056F-4C4E-AE82-31F32E18253D}" type="datetime'''2''''''''''''''''''''''''''''''''''''''0''0''8'''''''''''">
              <a:rPr lang="en-US" sz="1400">
                <a:solidFill>
                  <a:schemeClr val="accent1"/>
                </a:solidFill>
                <a:sym typeface="+mn-lt"/>
              </a:rPr>
              <a:pPr/>
              <a:t>2008</a:t>
            </a:fld>
            <a:endParaRPr lang="en-US" sz="1400" dirty="0">
              <a:solidFill>
                <a:schemeClr val="accent1"/>
              </a:solidFill>
              <a:sym typeface="+mn-lt"/>
            </a:endParaRPr>
          </a:p>
        </p:txBody>
      </p:sp>
      <p:sp>
        <p:nvSpPr>
          <p:cNvPr id="50" name="Text Placeholder 148"/>
          <p:cNvSpPr>
            <a:spLocks noGrp="1"/>
          </p:cNvSpPr>
          <p:nvPr>
            <p:custDataLst>
              <p:tags r:id="rId11"/>
            </p:custDataLst>
          </p:nvPr>
        </p:nvSpPr>
        <p:spPr bwMode="gray">
          <a:xfrm>
            <a:off x="817563" y="269557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2D6852BB-8D58-4100-93D0-09724FA114E4}" type="datetime'''''''8''''''''''''''''7''''''''''''''8'">
              <a:rPr lang="en-US" sz="1400">
                <a:solidFill>
                  <a:schemeClr val="accent1"/>
                </a:solidFill>
              </a:rPr>
              <a:pPr/>
              <a:t>878</a:t>
            </a:fld>
            <a:endParaRPr lang="en-US" sz="1400" dirty="0">
              <a:solidFill>
                <a:schemeClr val="accent1"/>
              </a:solidFill>
              <a:sym typeface="+mn-lt"/>
            </a:endParaRPr>
          </a:p>
        </p:txBody>
      </p:sp>
      <p:sp>
        <p:nvSpPr>
          <p:cNvPr id="53" name="Text Placeholder 151"/>
          <p:cNvSpPr>
            <a:spLocks noGrp="1"/>
          </p:cNvSpPr>
          <p:nvPr>
            <p:custDataLst>
              <p:tags r:id="rId12"/>
            </p:custDataLst>
          </p:nvPr>
        </p:nvSpPr>
        <p:spPr bwMode="auto">
          <a:xfrm>
            <a:off x="4446588" y="5573713"/>
            <a:ext cx="3937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A5600BD0-8EC8-4918-9D72-28EB477C45E0}" type="datetime'''20''1''''''''''''''''''''''''''''''''''1'''''''''''''''''''">
              <a:rPr lang="en-US" sz="1400">
                <a:solidFill>
                  <a:schemeClr val="accent1"/>
                </a:solidFill>
                <a:sym typeface="+mn-lt"/>
              </a:rPr>
              <a:pPr marL="0" indent="0" algn="ctr">
                <a:buNone/>
              </a:pPr>
              <a:t>2011</a:t>
            </a:fld>
            <a:endParaRPr lang="en-US" sz="1400" dirty="0">
              <a:solidFill>
                <a:schemeClr val="accent1"/>
              </a:solidFill>
              <a:sym typeface="+mn-lt"/>
            </a:endParaRPr>
          </a:p>
        </p:txBody>
      </p:sp>
      <p:sp>
        <p:nvSpPr>
          <p:cNvPr id="59" name="Text Placeholder 157"/>
          <p:cNvSpPr>
            <a:spLocks noGrp="1"/>
          </p:cNvSpPr>
          <p:nvPr>
            <p:custDataLst>
              <p:tags r:id="rId13"/>
            </p:custDataLst>
          </p:nvPr>
        </p:nvSpPr>
        <p:spPr bwMode="gray">
          <a:xfrm>
            <a:off x="4470400" y="258127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6EA9E597-408B-40B9-A26F-FC4648DAFAA2}" type="datetime'''''''9''''2''''''''1'''''''''''''''''''''">
              <a:rPr lang="en-US" sz="1400">
                <a:solidFill>
                  <a:schemeClr val="accent1"/>
                </a:solidFill>
              </a:rPr>
              <a:pPr/>
              <a:t>921</a:t>
            </a:fld>
            <a:endParaRPr lang="en-US" sz="1400" dirty="0">
              <a:solidFill>
                <a:schemeClr val="accent1"/>
              </a:solidFill>
              <a:sym typeface="+mn-lt"/>
            </a:endParaRPr>
          </a:p>
        </p:txBody>
      </p:sp>
      <p:sp>
        <p:nvSpPr>
          <p:cNvPr id="40" name="Text Placeholder 7"/>
          <p:cNvSpPr>
            <a:spLocks noGrp="1"/>
          </p:cNvSpPr>
          <p:nvPr>
            <p:custDataLst>
              <p:tags r:id="rId14"/>
            </p:custDataLst>
          </p:nvPr>
        </p:nvSpPr>
        <p:spPr bwMode="gray">
          <a:xfrm>
            <a:off x="4470400" y="444182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sym typeface="+mn-lt"/>
              </a:rPr>
              <a:t>577</a:t>
            </a:r>
            <a:endParaRPr lang="en-US" sz="1400" dirty="0">
              <a:solidFill>
                <a:schemeClr val="accent1"/>
              </a:solidFill>
              <a:sym typeface="+mn-lt"/>
            </a:endParaRPr>
          </a:p>
        </p:txBody>
      </p:sp>
      <p:sp>
        <p:nvSpPr>
          <p:cNvPr id="46" name="Text Placeholder 144"/>
          <p:cNvSpPr>
            <a:spLocks noGrp="1"/>
          </p:cNvSpPr>
          <p:nvPr>
            <p:custDataLst>
              <p:tags r:id="rId15"/>
            </p:custDataLst>
          </p:nvPr>
        </p:nvSpPr>
        <p:spPr bwMode="auto">
          <a:xfrm>
            <a:off x="3225800" y="5573713"/>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E1CE9D31-CD64-4DE0-A1D0-332B1AA06A07}" type="datetime'''''''2''''0''''''''1''0'''''''''''''''''''''''">
              <a:rPr lang="en-US" sz="1400">
                <a:solidFill>
                  <a:schemeClr val="accent1"/>
                </a:solidFill>
                <a:sym typeface="+mn-lt"/>
              </a:rPr>
              <a:pPr/>
              <a:t>2010</a:t>
            </a:fld>
            <a:endParaRPr lang="en-US" sz="1400" dirty="0">
              <a:solidFill>
                <a:schemeClr val="accent1"/>
              </a:solidFill>
              <a:sym typeface="+mn-lt"/>
            </a:endParaRPr>
          </a:p>
        </p:txBody>
      </p:sp>
      <p:sp>
        <p:nvSpPr>
          <p:cNvPr id="52" name="Text Placeholder 150"/>
          <p:cNvSpPr>
            <a:spLocks noGrp="1"/>
          </p:cNvSpPr>
          <p:nvPr>
            <p:custDataLst>
              <p:tags r:id="rId16"/>
            </p:custDataLst>
          </p:nvPr>
        </p:nvSpPr>
        <p:spPr bwMode="gray">
          <a:xfrm>
            <a:off x="3255963" y="260032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47162F5B-D6D9-440B-8ABE-7177C357BB14}" type="datetime'''9''''''''''''''''''''''''''''''''''''''''''1''''4'">
              <a:rPr lang="en-US" sz="1400">
                <a:solidFill>
                  <a:schemeClr val="accent1"/>
                </a:solidFill>
              </a:rPr>
              <a:pPr/>
              <a:t>914</a:t>
            </a:fld>
            <a:endParaRPr lang="en-US" sz="1400" dirty="0">
              <a:solidFill>
                <a:schemeClr val="accent1"/>
              </a:solidFill>
              <a:sym typeface="+mn-lt"/>
            </a:endParaRPr>
          </a:p>
        </p:txBody>
      </p:sp>
      <p:sp>
        <p:nvSpPr>
          <p:cNvPr id="38" name="Text Placeholder 6"/>
          <p:cNvSpPr>
            <a:spLocks noGrp="1"/>
          </p:cNvSpPr>
          <p:nvPr>
            <p:custDataLst>
              <p:tags r:id="rId17"/>
            </p:custDataLst>
          </p:nvPr>
        </p:nvSpPr>
        <p:spPr bwMode="gray">
          <a:xfrm>
            <a:off x="3255963" y="428942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687</a:t>
            </a:r>
            <a:endParaRPr lang="en-US" sz="1400" dirty="0">
              <a:solidFill>
                <a:schemeClr val="accent1"/>
              </a:solidFill>
              <a:latin typeface="Arial"/>
              <a:sym typeface="Arial"/>
            </a:endParaRPr>
          </a:p>
        </p:txBody>
      </p:sp>
      <p:sp>
        <p:nvSpPr>
          <p:cNvPr id="61" name="Text Placeholder 159"/>
          <p:cNvSpPr>
            <a:spLocks noGrp="1"/>
          </p:cNvSpPr>
          <p:nvPr>
            <p:custDataLst>
              <p:tags r:id="rId18"/>
            </p:custDataLst>
          </p:nvPr>
        </p:nvSpPr>
        <p:spPr bwMode="gray">
          <a:xfrm>
            <a:off x="5684838" y="2552700"/>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786452F3-16BE-484E-A59E-31F917CE67E5}" type="datetime'''''''''''''''''''''''''''''''9''3''''1'''''''">
              <a:rPr lang="en-US" sz="1400">
                <a:solidFill>
                  <a:schemeClr val="accent1"/>
                </a:solidFill>
              </a:rPr>
              <a:pPr/>
              <a:t>931</a:t>
            </a:fld>
            <a:endParaRPr lang="en-US" sz="1400" dirty="0">
              <a:solidFill>
                <a:schemeClr val="accent1"/>
              </a:solidFill>
              <a:sym typeface="+mn-lt"/>
            </a:endParaRPr>
          </a:p>
        </p:txBody>
      </p:sp>
      <p:sp>
        <p:nvSpPr>
          <p:cNvPr id="41" name="Text Placeholder 8"/>
          <p:cNvSpPr>
            <a:spLocks noGrp="1"/>
          </p:cNvSpPr>
          <p:nvPr>
            <p:custDataLst>
              <p:tags r:id="rId19"/>
            </p:custDataLst>
          </p:nvPr>
        </p:nvSpPr>
        <p:spPr bwMode="gray">
          <a:xfrm>
            <a:off x="5684838" y="4584700"/>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sym typeface="+mn-lt"/>
              </a:rPr>
              <a:t>470</a:t>
            </a:r>
            <a:endParaRPr lang="en-US" sz="1400" dirty="0">
              <a:solidFill>
                <a:schemeClr val="accent1"/>
              </a:solidFill>
              <a:sym typeface="+mn-lt"/>
            </a:endParaRPr>
          </a:p>
        </p:txBody>
      </p:sp>
      <p:sp>
        <p:nvSpPr>
          <p:cNvPr id="62" name="Text Placeholder 160"/>
          <p:cNvSpPr>
            <a:spLocks noGrp="1"/>
          </p:cNvSpPr>
          <p:nvPr>
            <p:custDataLst>
              <p:tags r:id="rId20"/>
            </p:custDataLst>
          </p:nvPr>
        </p:nvSpPr>
        <p:spPr bwMode="gray">
          <a:xfrm>
            <a:off x="6904038" y="2438400"/>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19589A84-5625-4618-BBB4-B3785BDC2C02}" type="datetime'''''9''''''''''7''''''''''''''''''''''4'''''''">
              <a:rPr lang="en-US" sz="1400">
                <a:solidFill>
                  <a:schemeClr val="accent1"/>
                </a:solidFill>
              </a:rPr>
              <a:pPr/>
              <a:t>974</a:t>
            </a:fld>
            <a:endParaRPr lang="en-US" sz="1400" dirty="0">
              <a:solidFill>
                <a:schemeClr val="accent1"/>
              </a:solidFill>
              <a:sym typeface="+mn-lt"/>
            </a:endParaRPr>
          </a:p>
        </p:txBody>
      </p:sp>
      <p:sp>
        <p:nvSpPr>
          <p:cNvPr id="39" name="Text Placeholder 36"/>
          <p:cNvSpPr>
            <a:spLocks noGrp="1"/>
          </p:cNvSpPr>
          <p:nvPr>
            <p:custDataLst>
              <p:tags r:id="rId21"/>
            </p:custDataLst>
          </p:nvPr>
        </p:nvSpPr>
        <p:spPr bwMode="gray">
          <a:xfrm>
            <a:off x="8172450" y="5199063"/>
            <a:ext cx="247650" cy="212725"/>
          </a:xfrm>
          <a:prstGeom prst="rect">
            <a:avLst/>
          </a:prstGeom>
          <a:solidFill>
            <a:schemeClr val="bg1"/>
          </a:solidFill>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sym typeface="+mn-lt"/>
              </a:rPr>
              <a:t>19</a:t>
            </a:r>
            <a:endParaRPr lang="en-US" sz="1400" dirty="0">
              <a:solidFill>
                <a:schemeClr val="accent1"/>
              </a:solidFill>
              <a:sym typeface="+mn-lt"/>
            </a:endParaRPr>
          </a:p>
        </p:txBody>
      </p:sp>
      <p:sp>
        <p:nvSpPr>
          <p:cNvPr id="32" name="Text Placeholder 8"/>
          <p:cNvSpPr>
            <a:spLocks noGrp="1"/>
          </p:cNvSpPr>
          <p:nvPr>
            <p:custDataLst>
              <p:tags r:id="rId22"/>
            </p:custDataLst>
          </p:nvPr>
        </p:nvSpPr>
        <p:spPr bwMode="gray">
          <a:xfrm>
            <a:off x="8053388" y="2438400"/>
            <a:ext cx="4857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C10EA662-F41D-429D-A42F-7EAFEA0B32FF}" type="datetime'''''''''''''''''''''''''''''''9''7''''''''''4'''''''''''''">
              <a:rPr lang="en-US" sz="1400" i="1" smtClean="0">
                <a:solidFill>
                  <a:schemeClr val="accent1"/>
                </a:solidFill>
                <a:latin typeface="Arial"/>
                <a:sym typeface="Arial"/>
              </a:rPr>
              <a:pPr marL="0" indent="0" algn="ctr">
                <a:spcBef>
                  <a:spcPct val="0"/>
                </a:spcBef>
                <a:spcAft>
                  <a:spcPct val="0"/>
                </a:spcAft>
                <a:buNone/>
              </a:pPr>
              <a:t>974</a:t>
            </a:fld>
            <a:r>
              <a:rPr lang="en-US" sz="1400" dirty="0" smtClean="0">
                <a:solidFill>
                  <a:schemeClr val="accent1"/>
                </a:solidFill>
                <a:latin typeface="Arial"/>
                <a:sym typeface="Arial"/>
              </a:rPr>
              <a:t>**</a:t>
            </a:r>
            <a:endParaRPr lang="en-US" sz="1400" dirty="0">
              <a:solidFill>
                <a:schemeClr val="accent1"/>
              </a:solidFill>
              <a:latin typeface="Arial"/>
              <a:sym typeface="Arial"/>
            </a:endParaRPr>
          </a:p>
        </p:txBody>
      </p:sp>
      <p:sp>
        <p:nvSpPr>
          <p:cNvPr id="54" name="Text Placeholder 152"/>
          <p:cNvSpPr>
            <a:spLocks noGrp="1"/>
          </p:cNvSpPr>
          <p:nvPr>
            <p:custDataLst>
              <p:tags r:id="rId23"/>
            </p:custDataLst>
          </p:nvPr>
        </p:nvSpPr>
        <p:spPr bwMode="auto">
          <a:xfrm>
            <a:off x="5654675" y="5573713"/>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67EF4BC6-1650-4F33-8A20-44ABC66E9E25}" type="datetime'''''''2''''''''''''''''''''''0''''''''''''''1''''2'">
              <a:rPr lang="en-US" sz="1400">
                <a:solidFill>
                  <a:schemeClr val="accent1"/>
                </a:solidFill>
                <a:sym typeface="+mn-lt"/>
              </a:rPr>
              <a:pPr/>
              <a:t>2012</a:t>
            </a:fld>
            <a:endParaRPr lang="en-US" sz="1400" dirty="0">
              <a:solidFill>
                <a:schemeClr val="accent1"/>
              </a:solidFill>
              <a:sym typeface="+mn-lt"/>
            </a:endParaRPr>
          </a:p>
        </p:txBody>
      </p:sp>
      <p:sp>
        <p:nvSpPr>
          <p:cNvPr id="43" name="Text Placeholder 9"/>
          <p:cNvSpPr>
            <a:spLocks noGrp="1"/>
          </p:cNvSpPr>
          <p:nvPr>
            <p:custDataLst>
              <p:tags r:id="rId24"/>
            </p:custDataLst>
          </p:nvPr>
        </p:nvSpPr>
        <p:spPr bwMode="gray">
          <a:xfrm>
            <a:off x="6904038" y="4622800"/>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sym typeface="+mn-lt"/>
              </a:rPr>
              <a:t>443</a:t>
            </a:r>
            <a:endParaRPr lang="en-US" sz="1400" dirty="0">
              <a:solidFill>
                <a:schemeClr val="accent1"/>
              </a:solidFill>
              <a:sym typeface="+mn-lt"/>
            </a:endParaRPr>
          </a:p>
        </p:txBody>
      </p:sp>
      <p:sp>
        <p:nvSpPr>
          <p:cNvPr id="55" name="Text Placeholder 153"/>
          <p:cNvSpPr>
            <a:spLocks noGrp="1"/>
          </p:cNvSpPr>
          <p:nvPr>
            <p:custDataLst>
              <p:tags r:id="rId25"/>
            </p:custDataLst>
          </p:nvPr>
        </p:nvSpPr>
        <p:spPr bwMode="auto">
          <a:xfrm>
            <a:off x="6873875" y="5573713"/>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CA1BF71-3C2D-424E-8E9C-E3DEB5B5132E}" type="datetime'''2''''01''3'''''''''''''''">
              <a:rPr lang="en-US" sz="1400">
                <a:solidFill>
                  <a:schemeClr val="accent1"/>
                </a:solidFill>
              </a:rPr>
              <a:pPr/>
              <a:t>2013</a:t>
            </a:fld>
            <a:endParaRPr lang="en-US" sz="1400" dirty="0">
              <a:solidFill>
                <a:schemeClr val="accent1"/>
              </a:solidFill>
              <a:sym typeface="+mn-lt"/>
            </a:endParaRPr>
          </a:p>
        </p:txBody>
      </p:sp>
      <p:sp>
        <p:nvSpPr>
          <p:cNvPr id="33" name="Text Placeholder 4"/>
          <p:cNvSpPr>
            <a:spLocks noGrp="1"/>
          </p:cNvSpPr>
          <p:nvPr>
            <p:custDataLst>
              <p:tags r:id="rId26"/>
            </p:custDataLst>
          </p:nvPr>
        </p:nvSpPr>
        <p:spPr bwMode="gray">
          <a:xfrm>
            <a:off x="817563" y="4122738"/>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809</a:t>
            </a:r>
            <a:endParaRPr lang="en-US" sz="1400" dirty="0">
              <a:solidFill>
                <a:schemeClr val="accent1"/>
              </a:solidFill>
              <a:latin typeface="Arial"/>
              <a:sym typeface="Arial"/>
            </a:endParaRPr>
          </a:p>
        </p:txBody>
      </p:sp>
      <p:sp>
        <p:nvSpPr>
          <p:cNvPr id="31" name="Text Placeholder 7"/>
          <p:cNvSpPr>
            <a:spLocks noGrp="1"/>
          </p:cNvSpPr>
          <p:nvPr>
            <p:custDataLst>
              <p:tags r:id="rId27"/>
            </p:custDataLst>
          </p:nvPr>
        </p:nvSpPr>
        <p:spPr bwMode="auto">
          <a:xfrm>
            <a:off x="7847013" y="5573713"/>
            <a:ext cx="898525"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32244D3-C6E4-483A-80EC-735D5BD1C2AE}" type="datetime'''2''''''''''''''''''''''''''''''''''0''''''''2''''''''0'''">
              <a:rPr lang="en-US" sz="1400" i="1" smtClean="0">
                <a:solidFill>
                  <a:schemeClr val="accent1"/>
                </a:solidFill>
                <a:latin typeface="Arial"/>
                <a:sym typeface="Arial"/>
              </a:rPr>
              <a:pPr marL="0" indent="0" algn="ctr">
                <a:spcBef>
                  <a:spcPct val="0"/>
                </a:spcBef>
                <a:spcAft>
                  <a:spcPct val="0"/>
                </a:spcAft>
                <a:buNone/>
              </a:pPr>
              <a:t>2020</a:t>
            </a:fld>
            <a:endParaRPr lang="en-US" sz="1400" i="1" dirty="0" smtClean="0">
              <a:solidFill>
                <a:schemeClr val="accent1"/>
              </a:solidFill>
              <a:latin typeface="Arial"/>
              <a:sym typeface="Arial"/>
            </a:endParaRPr>
          </a:p>
          <a:p>
            <a:pPr marL="0" indent="0" algn="ctr">
              <a:spcBef>
                <a:spcPct val="0"/>
              </a:spcBef>
              <a:spcAft>
                <a:spcPct val="0"/>
              </a:spcAft>
              <a:buNone/>
            </a:pPr>
            <a:r>
              <a:rPr lang="en-US" sz="1400" dirty="0" smtClean="0">
                <a:solidFill>
                  <a:schemeClr val="accent1"/>
                </a:solidFill>
                <a:latin typeface="Arial"/>
                <a:sym typeface="Arial"/>
              </a:rPr>
              <a:t>(</a:t>
            </a:r>
            <a:r>
              <a:rPr lang="en-US" sz="1400" i="1" dirty="0" smtClean="0">
                <a:solidFill>
                  <a:schemeClr val="accent1"/>
                </a:solidFill>
                <a:latin typeface="Arial"/>
                <a:sym typeface="Arial"/>
              </a:rPr>
              <a:t>projection)</a:t>
            </a:r>
            <a:endParaRPr lang="en-US" sz="1400" i="1" dirty="0">
              <a:solidFill>
                <a:schemeClr val="accent1"/>
              </a:solidFill>
              <a:latin typeface="Arial"/>
              <a:sym typeface="Arial"/>
            </a:endParaRPr>
          </a:p>
        </p:txBody>
      </p:sp>
      <p:sp>
        <p:nvSpPr>
          <p:cNvPr id="12" name="Rectangle 11"/>
          <p:cNvSpPr/>
          <p:nvPr>
            <p:custDataLst>
              <p:tags r:id="rId28"/>
            </p:custDataLst>
          </p:nvPr>
        </p:nvSpPr>
        <p:spPr bwMode="auto">
          <a:xfrm>
            <a:off x="6605588" y="1776413"/>
            <a:ext cx="179388" cy="133350"/>
          </a:xfrm>
          <a:prstGeom prst="rect">
            <a:avLst/>
          </a:prstGeom>
          <a:solidFill>
            <a:schemeClr val="bg1"/>
          </a:solidFill>
          <a:ln w="9525">
            <a:solidFill>
              <a:srgbClr val="D52B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custDataLst>
              <p:tags r:id="rId29"/>
            </p:custDataLst>
          </p:nvPr>
        </p:nvSpPr>
        <p:spPr bwMode="auto">
          <a:xfrm>
            <a:off x="6605588" y="1573213"/>
            <a:ext cx="179388" cy="133350"/>
          </a:xfrm>
          <a:prstGeom prst="rect">
            <a:avLst/>
          </a:prstGeom>
          <a:solidFill>
            <a:srgbClr val="212492"/>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17" name="Rectangle 16"/>
          <p:cNvSpPr/>
          <p:nvPr>
            <p:custDataLst>
              <p:tags r:id="rId30"/>
            </p:custDataLst>
          </p:nvPr>
        </p:nvSpPr>
        <p:spPr bwMode="auto">
          <a:xfrm>
            <a:off x="6605588" y="1370013"/>
            <a:ext cx="179388" cy="133350"/>
          </a:xfrm>
          <a:prstGeom prst="rect">
            <a:avLst/>
          </a:prstGeom>
          <a:solidFill>
            <a:srgbClr val="D52B1E"/>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36" name="Text Placeholder 33"/>
          <p:cNvSpPr>
            <a:spLocks noGrp="1"/>
          </p:cNvSpPr>
          <p:nvPr>
            <p:custDataLst>
              <p:tags r:id="rId31"/>
            </p:custDataLst>
          </p:nvPr>
        </p:nvSpPr>
        <p:spPr bwMode="auto">
          <a:xfrm>
            <a:off x="6835775" y="1773238"/>
            <a:ext cx="1909763" cy="15240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5274F2E3-4F7D-41BE-9097-41C772FD6487}" type="datetime'Origi''n''al tree'' ''s''''toc''k (''not'''''''' renovated'')'">
              <a:rPr lang="en-US" sz="1000">
                <a:solidFill>
                  <a:schemeClr val="accent1"/>
                </a:solidFill>
                <a:sym typeface="+mn-lt"/>
              </a:rPr>
              <a:pPr marL="0" indent="0">
                <a:spcBef>
                  <a:spcPct val="0"/>
                </a:spcBef>
                <a:spcAft>
                  <a:spcPct val="0"/>
                </a:spcAft>
                <a:buNone/>
              </a:pPr>
              <a:t>Original tree stock (not renovated)</a:t>
            </a:fld>
            <a:endParaRPr lang="en-US" sz="1000" dirty="0">
              <a:solidFill>
                <a:schemeClr val="accent1"/>
              </a:solidFill>
              <a:sym typeface="+mn-lt"/>
            </a:endParaRPr>
          </a:p>
        </p:txBody>
      </p:sp>
      <p:sp>
        <p:nvSpPr>
          <p:cNvPr id="47" name="Text Placeholder 145"/>
          <p:cNvSpPr>
            <a:spLocks noGrp="1"/>
          </p:cNvSpPr>
          <p:nvPr>
            <p:custDataLst>
              <p:tags r:id="rId32"/>
            </p:custDataLst>
          </p:nvPr>
        </p:nvSpPr>
        <p:spPr bwMode="auto">
          <a:xfrm>
            <a:off x="6835775" y="1366838"/>
            <a:ext cx="1401763" cy="15240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41A7796E-FF29-428F-90E6-60B131F784A9}" type="datetime'R''en''''''ova''ted'', in'' ''''p''''''''roduct''''io''''n'''">
              <a:rPr lang="en-US" sz="1000">
                <a:solidFill>
                  <a:schemeClr val="accent1"/>
                </a:solidFill>
                <a:sym typeface="+mn-lt"/>
              </a:rPr>
              <a:pPr/>
              <a:t>Renovated, in production</a:t>
            </a:fld>
            <a:endParaRPr lang="en-US" sz="1000" dirty="0">
              <a:solidFill>
                <a:schemeClr val="accent1"/>
              </a:solidFill>
              <a:sym typeface="+mn-lt"/>
            </a:endParaRPr>
          </a:p>
        </p:txBody>
      </p:sp>
      <p:sp>
        <p:nvSpPr>
          <p:cNvPr id="64" name="Text Placeholder 162"/>
          <p:cNvSpPr>
            <a:spLocks noGrp="1"/>
          </p:cNvSpPr>
          <p:nvPr>
            <p:custDataLst>
              <p:tags r:id="rId33"/>
            </p:custDataLst>
          </p:nvPr>
        </p:nvSpPr>
        <p:spPr bwMode="auto">
          <a:xfrm>
            <a:off x="6835775" y="1570038"/>
            <a:ext cx="1863725" cy="15240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8D5746FC-5EBD-43B4-9EBA-0B2D58564F6F}" type="datetime'''R''e''nov''''ated, not yet'' in p''roduc''ti''''''''''''on*'">
              <a:rPr lang="en-US" sz="1000">
                <a:solidFill>
                  <a:schemeClr val="accent1"/>
                </a:solidFill>
                <a:sym typeface="+mn-lt"/>
              </a:rPr>
              <a:pPr/>
              <a:t>Renovated, not yet in production*</a:t>
            </a:fld>
            <a:endParaRPr lang="en-US" sz="1000" dirty="0">
              <a:solidFill>
                <a:schemeClr val="accent1"/>
              </a:solidFill>
              <a:sym typeface="+mn-lt"/>
            </a:endParaRPr>
          </a:p>
        </p:txBody>
      </p:sp>
      <p:sp>
        <p:nvSpPr>
          <p:cNvPr id="7" name="Title 6"/>
          <p:cNvSpPr>
            <a:spLocks noGrp="1"/>
          </p:cNvSpPr>
          <p:nvPr>
            <p:ph type="title"/>
          </p:nvPr>
        </p:nvSpPr>
        <p:spPr>
          <a:xfrm>
            <a:off x="400869" y="312738"/>
            <a:ext cx="8229600" cy="809480"/>
          </a:xfrm>
        </p:spPr>
        <p:txBody>
          <a:bodyPr/>
          <a:lstStyle/>
          <a:p>
            <a:r>
              <a:rPr lang="en-US" b="0" dirty="0" smtClean="0"/>
              <a:t>Renovation is ongoing and more than half of existing trees have already been replanted</a:t>
            </a:r>
            <a:endParaRPr lang="en-US" sz="2800" b="0" dirty="0"/>
          </a:p>
        </p:txBody>
      </p:sp>
    </p:spTree>
    <p:extLst>
      <p:ext uri="{BB962C8B-B14F-4D97-AF65-F5344CB8AC3E}">
        <p14:creationId xmlns:p14="http://schemas.microsoft.com/office/powerpoint/2010/main" val="1240401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p:cNvGraphicFramePr>
            <a:graphicFrameLocks/>
          </p:cNvGraphicFramePr>
          <p:nvPr>
            <p:extLst>
              <p:ext uri="{D42A27DB-BD31-4B8C-83A1-F6EECF244321}">
                <p14:modId xmlns:p14="http://schemas.microsoft.com/office/powerpoint/2010/main" val="371528311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11112" name="think-cell Slide" r:id="rId14" imgW="360" imgH="360" progId="TCLayout.ActiveDocument.1">
                  <p:embed/>
                </p:oleObj>
              </mc:Choice>
              <mc:Fallback>
                <p:oleObj name="think-cell Slide" r:id="rId14" imgW="360" imgH="360" progId="TCLayout.ActiveDocument.1">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3" hidden="1"/>
          <p:cNvSpPr/>
          <p:nvPr>
            <p:custDataLst>
              <p:tags r:id="rId2"/>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noAutofit/>
          </a:bodyPr>
          <a:lstStyle/>
          <a:p>
            <a:pPr fontAlgn="base">
              <a:spcBef>
                <a:spcPct val="0"/>
              </a:spcBef>
              <a:spcAft>
                <a:spcPct val="0"/>
              </a:spcAft>
            </a:pPr>
            <a:endParaRPr kumimoji="0" lang="en-US" sz="1200" u="none" strike="noStrike" cap="none" normalizeH="0" smtClean="0">
              <a:ln>
                <a:noFill/>
              </a:ln>
              <a:solidFill>
                <a:schemeClr val="tx1"/>
              </a:solidFill>
              <a:effectLst/>
              <a:latin typeface="Arial"/>
              <a:sym typeface="Arial"/>
            </a:endParaRPr>
          </a:p>
        </p:txBody>
      </p:sp>
      <p:sp>
        <p:nvSpPr>
          <p:cNvPr id="32" name="Rectangle 31"/>
          <p:cNvSpPr/>
          <p:nvPr/>
        </p:nvSpPr>
        <p:spPr>
          <a:xfrm>
            <a:off x="435774" y="5527789"/>
            <a:ext cx="8223292" cy="488548"/>
          </a:xfrm>
          <a:prstGeom prst="rect">
            <a:avLst/>
          </a:prstGeom>
          <a:solidFill>
            <a:schemeClr val="bg1">
              <a:lumMod val="95000"/>
            </a:schemeClr>
          </a:solidFill>
          <a:ln w="1270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accent1"/>
              </a:solidFill>
            </a:endParaRPr>
          </a:p>
        </p:txBody>
      </p:sp>
      <p:sp>
        <p:nvSpPr>
          <p:cNvPr id="2" name="Rectangle 1"/>
          <p:cNvSpPr/>
          <p:nvPr/>
        </p:nvSpPr>
        <p:spPr>
          <a:xfrm>
            <a:off x="445415" y="3433552"/>
            <a:ext cx="1556061" cy="1174982"/>
          </a:xfrm>
          <a:prstGeom prst="rect">
            <a:avLst/>
          </a:prstGeom>
          <a:solidFill>
            <a:schemeClr val="bg1">
              <a:lumMod val="95000"/>
            </a:schemeClr>
          </a:solidFill>
          <a:ln w="1270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accent1"/>
              </a:solidFill>
            </a:endParaRPr>
          </a:p>
        </p:txBody>
      </p:sp>
      <p:sp>
        <p:nvSpPr>
          <p:cNvPr id="33" name="Freeform 3"/>
          <p:cNvSpPr>
            <a:spLocks/>
          </p:cNvSpPr>
          <p:nvPr>
            <p:custDataLst>
              <p:tags r:id="rId3"/>
            </p:custDataLst>
          </p:nvPr>
        </p:nvSpPr>
        <p:spPr bwMode="blackWhite">
          <a:xfrm>
            <a:off x="6226175" y="1717147"/>
            <a:ext cx="2333625" cy="804862"/>
          </a:xfrm>
          <a:custGeom>
            <a:avLst/>
            <a:gdLst>
              <a:gd name="T0" fmla="*/ 0 w 1208"/>
              <a:gd name="T1" fmla="*/ 0 h 515"/>
              <a:gd name="T2" fmla="*/ 2147483647 w 1208"/>
              <a:gd name="T3" fmla="*/ 0 h 515"/>
              <a:gd name="T4" fmla="*/ 2147483647 w 1208"/>
              <a:gd name="T5" fmla="*/ 2147483647 h 515"/>
              <a:gd name="T6" fmla="*/ 2147483647 w 1208"/>
              <a:gd name="T7" fmla="*/ 2147483647 h 515"/>
              <a:gd name="T8" fmla="*/ 0 w 1208"/>
              <a:gd name="T9" fmla="*/ 2147483647 h 515"/>
              <a:gd name="T10" fmla="*/ 0 w 1208"/>
              <a:gd name="T11" fmla="*/ 2147483647 h 515"/>
              <a:gd name="T12" fmla="*/ 0 w 1208"/>
              <a:gd name="T13" fmla="*/ 0 h 515"/>
              <a:gd name="T14" fmla="*/ 0 60000 65536"/>
              <a:gd name="T15" fmla="*/ 0 60000 65536"/>
              <a:gd name="T16" fmla="*/ 0 60000 65536"/>
              <a:gd name="T17" fmla="*/ 0 60000 65536"/>
              <a:gd name="T18" fmla="*/ 0 60000 65536"/>
              <a:gd name="T19" fmla="*/ 0 60000 65536"/>
              <a:gd name="T20" fmla="*/ 0 60000 65536"/>
              <a:gd name="T21" fmla="*/ 0 w 1208"/>
              <a:gd name="T22" fmla="*/ 0 h 515"/>
              <a:gd name="T23" fmla="*/ 1208 w 1208"/>
              <a:gd name="T24" fmla="*/ 515 h 5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8" h="515">
                <a:moveTo>
                  <a:pt x="0" y="0"/>
                </a:moveTo>
                <a:lnTo>
                  <a:pt x="1115" y="0"/>
                </a:lnTo>
                <a:lnTo>
                  <a:pt x="1208" y="258"/>
                </a:lnTo>
                <a:lnTo>
                  <a:pt x="1115" y="515"/>
                </a:lnTo>
                <a:lnTo>
                  <a:pt x="0" y="515"/>
                </a:lnTo>
                <a:lnTo>
                  <a:pt x="0" y="258"/>
                </a:lnTo>
                <a:lnTo>
                  <a:pt x="0" y="0"/>
                </a:lnTo>
                <a:close/>
              </a:path>
            </a:pathLst>
          </a:custGeom>
          <a:solidFill>
            <a:schemeClr val="accent1"/>
          </a:solidFill>
          <a:ln w="19050">
            <a:solidFill>
              <a:schemeClr val="bg1"/>
            </a:solidFill>
            <a:round/>
            <a:headEnd/>
            <a:tailEnd/>
          </a:ln>
        </p:spPr>
        <p:txBody>
          <a:bodyPr lIns="0" tIns="0" rIns="0" bIns="0">
            <a:spAutoFit/>
          </a:bodyPr>
          <a:lstStyle/>
          <a:p>
            <a:pPr algn="ctr"/>
            <a:endParaRPr lang="en-US" dirty="0"/>
          </a:p>
        </p:txBody>
      </p:sp>
      <p:sp>
        <p:nvSpPr>
          <p:cNvPr id="30" name="Rectangle 29"/>
          <p:cNvSpPr/>
          <p:nvPr/>
        </p:nvSpPr>
        <p:spPr>
          <a:xfrm>
            <a:off x="5470683" y="3931889"/>
            <a:ext cx="1587034" cy="822960"/>
          </a:xfrm>
          <a:prstGeom prst="rect">
            <a:avLst/>
          </a:prstGeom>
          <a:solidFill>
            <a:schemeClr val="bg1">
              <a:lumMod val="95000"/>
            </a:schemeClr>
          </a:solidFill>
          <a:ln w="1270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accent1"/>
              </a:solidFill>
            </a:endParaRPr>
          </a:p>
        </p:txBody>
      </p:sp>
      <p:sp>
        <p:nvSpPr>
          <p:cNvPr id="28" name="Rectangle 27"/>
          <p:cNvSpPr/>
          <p:nvPr/>
        </p:nvSpPr>
        <p:spPr>
          <a:xfrm>
            <a:off x="3837141" y="4517263"/>
            <a:ext cx="1565702" cy="796689"/>
          </a:xfrm>
          <a:prstGeom prst="rect">
            <a:avLst/>
          </a:prstGeom>
          <a:solidFill>
            <a:schemeClr val="bg1">
              <a:lumMod val="95000"/>
            </a:schemeClr>
          </a:solidFill>
          <a:ln w="1270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accent1"/>
              </a:solidFill>
            </a:endParaRPr>
          </a:p>
        </p:txBody>
      </p:sp>
      <p:sp>
        <p:nvSpPr>
          <p:cNvPr id="27" name="Rectangle 26"/>
          <p:cNvSpPr/>
          <p:nvPr/>
        </p:nvSpPr>
        <p:spPr>
          <a:xfrm>
            <a:off x="3849260" y="3437479"/>
            <a:ext cx="1541463" cy="1005840"/>
          </a:xfrm>
          <a:prstGeom prst="rect">
            <a:avLst/>
          </a:prstGeom>
          <a:solidFill>
            <a:schemeClr val="bg1">
              <a:lumMod val="95000"/>
            </a:schemeClr>
          </a:solidFill>
          <a:ln w="1270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accent1"/>
              </a:solidFill>
            </a:endParaRPr>
          </a:p>
        </p:txBody>
      </p:sp>
      <p:sp>
        <p:nvSpPr>
          <p:cNvPr id="26" name="Rectangle 25"/>
          <p:cNvSpPr/>
          <p:nvPr/>
        </p:nvSpPr>
        <p:spPr>
          <a:xfrm>
            <a:off x="2129715" y="2546036"/>
            <a:ext cx="1638299" cy="1182392"/>
          </a:xfrm>
          <a:prstGeom prst="rect">
            <a:avLst/>
          </a:prstGeom>
          <a:solidFill>
            <a:schemeClr val="bg1">
              <a:lumMod val="95000"/>
            </a:schemeClr>
          </a:solidFill>
          <a:ln w="1270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accent1"/>
              </a:solidFill>
            </a:endParaRPr>
          </a:p>
        </p:txBody>
      </p:sp>
      <p:sp>
        <p:nvSpPr>
          <p:cNvPr id="29" name="McK Footnote"/>
          <p:cNvSpPr txBox="1">
            <a:spLocks noChangeArrowheads="1"/>
          </p:cNvSpPr>
          <p:nvPr/>
        </p:nvSpPr>
        <p:spPr bwMode="auto">
          <a:xfrm>
            <a:off x="640880" y="6244787"/>
            <a:ext cx="8018186" cy="443198"/>
          </a:xfrm>
          <a:prstGeom prst="rect">
            <a:avLst/>
          </a:prstGeom>
          <a:noFill/>
          <a:ln w="9525">
            <a:noFill/>
            <a:miter lim="800000"/>
            <a:headEnd/>
            <a:tailEnd/>
          </a:ln>
        </p:spPr>
        <p:txBody>
          <a:bodyPr wrap="square" lIns="0" tIns="0" rIns="0" bIns="0" anchor="b">
            <a:spAutoFit/>
          </a:bodyPr>
          <a:lstStyle/>
          <a:p>
            <a:pPr defTabSz="895350">
              <a:lnSpc>
                <a:spcPct val="80000"/>
              </a:lnSpc>
              <a:tabLst>
                <a:tab pos="517525" algn="r"/>
              </a:tabLst>
            </a:pPr>
            <a:r>
              <a:rPr lang="en-US" sz="900" dirty="0" smtClean="0">
                <a:solidFill>
                  <a:schemeClr val="tx1">
                    <a:lumMod val="65000"/>
                    <a:lumOff val="35000"/>
                  </a:schemeClr>
                </a:solidFill>
              </a:rPr>
              <a:t>* There are 34 coops with 515 purchase points country-wide; while in 2013 45% of volume went though cooperatives, the share has been ~35% on average over the last years		** </a:t>
            </a:r>
            <a:r>
              <a:rPr lang="en-US" sz="900" dirty="0" err="1" smtClean="0">
                <a:solidFill>
                  <a:schemeClr val="tx1">
                    <a:lumMod val="65000"/>
                    <a:lumOff val="35000"/>
                  </a:schemeClr>
                </a:solidFill>
              </a:rPr>
              <a:t>Federación</a:t>
            </a:r>
            <a:r>
              <a:rPr lang="en-US" sz="900" dirty="0" smtClean="0">
                <a:solidFill>
                  <a:schemeClr val="tx1">
                    <a:lumMod val="65000"/>
                    <a:lumOff val="35000"/>
                  </a:schemeClr>
                </a:solidFill>
              </a:rPr>
              <a:t> </a:t>
            </a:r>
            <a:r>
              <a:rPr lang="en-US" sz="900" dirty="0" err="1" smtClean="0">
                <a:solidFill>
                  <a:schemeClr val="tx1">
                    <a:lumMod val="65000"/>
                    <a:lumOff val="35000"/>
                  </a:schemeClr>
                </a:solidFill>
              </a:rPr>
              <a:t>Nacional</a:t>
            </a:r>
            <a:r>
              <a:rPr lang="en-US" sz="900" dirty="0" smtClean="0">
                <a:solidFill>
                  <a:schemeClr val="tx1">
                    <a:lumMod val="65000"/>
                    <a:lumOff val="35000"/>
                  </a:schemeClr>
                </a:solidFill>
              </a:rPr>
              <a:t> de Café; responsible for the implementation of the National Coffee Fund</a:t>
            </a:r>
          </a:p>
          <a:p>
            <a:pPr defTabSz="895350">
              <a:lnSpc>
                <a:spcPct val="80000"/>
              </a:lnSpc>
              <a:tabLst>
                <a:tab pos="517525" algn="r"/>
              </a:tabLst>
            </a:pPr>
            <a:r>
              <a:rPr lang="en-US" sz="900" dirty="0" smtClean="0">
                <a:solidFill>
                  <a:schemeClr val="tx1">
                    <a:lumMod val="65000"/>
                    <a:lumOff val="35000"/>
                  </a:schemeClr>
                </a:solidFill>
              </a:rPr>
              <a:t>*** Coffee not fulfilling export quality standards is used for internal consumption</a:t>
            </a:r>
          </a:p>
          <a:p>
            <a:pPr marL="563563" indent="-563563" defTabSz="895350">
              <a:lnSpc>
                <a:spcPct val="80000"/>
              </a:lnSpc>
              <a:tabLst>
                <a:tab pos="517525" algn="r"/>
              </a:tabLst>
            </a:pPr>
            <a:r>
              <a:rPr lang="en-US" sz="900" dirty="0" smtClean="0">
                <a:solidFill>
                  <a:schemeClr val="tx1">
                    <a:lumMod val="65000"/>
                    <a:lumOff val="35000"/>
                  </a:schemeClr>
                </a:solidFill>
              </a:rPr>
              <a:t>Source: FNC; interviews</a:t>
            </a:r>
            <a:endParaRPr lang="en-US" sz="900" dirty="0">
              <a:solidFill>
                <a:schemeClr val="tx1">
                  <a:lumMod val="65000"/>
                  <a:lumOff val="35000"/>
                </a:schemeClr>
              </a:solidFill>
            </a:endParaRPr>
          </a:p>
        </p:txBody>
      </p:sp>
      <p:sp>
        <p:nvSpPr>
          <p:cNvPr id="39" name="Freeform 3"/>
          <p:cNvSpPr>
            <a:spLocks/>
          </p:cNvSpPr>
          <p:nvPr>
            <p:custDataLst>
              <p:tags r:id="rId4"/>
            </p:custDataLst>
          </p:nvPr>
        </p:nvSpPr>
        <p:spPr bwMode="blackWhite">
          <a:xfrm>
            <a:off x="4757545" y="1717147"/>
            <a:ext cx="2333625" cy="804862"/>
          </a:xfrm>
          <a:custGeom>
            <a:avLst/>
            <a:gdLst>
              <a:gd name="T0" fmla="*/ 0 w 1208"/>
              <a:gd name="T1" fmla="*/ 0 h 515"/>
              <a:gd name="T2" fmla="*/ 2147483647 w 1208"/>
              <a:gd name="T3" fmla="*/ 0 h 515"/>
              <a:gd name="T4" fmla="*/ 2147483647 w 1208"/>
              <a:gd name="T5" fmla="*/ 2147483647 h 515"/>
              <a:gd name="T6" fmla="*/ 2147483647 w 1208"/>
              <a:gd name="T7" fmla="*/ 2147483647 h 515"/>
              <a:gd name="T8" fmla="*/ 0 w 1208"/>
              <a:gd name="T9" fmla="*/ 2147483647 h 515"/>
              <a:gd name="T10" fmla="*/ 0 w 1208"/>
              <a:gd name="T11" fmla="*/ 2147483647 h 515"/>
              <a:gd name="T12" fmla="*/ 0 w 1208"/>
              <a:gd name="T13" fmla="*/ 0 h 515"/>
              <a:gd name="T14" fmla="*/ 0 60000 65536"/>
              <a:gd name="T15" fmla="*/ 0 60000 65536"/>
              <a:gd name="T16" fmla="*/ 0 60000 65536"/>
              <a:gd name="T17" fmla="*/ 0 60000 65536"/>
              <a:gd name="T18" fmla="*/ 0 60000 65536"/>
              <a:gd name="T19" fmla="*/ 0 60000 65536"/>
              <a:gd name="T20" fmla="*/ 0 60000 65536"/>
              <a:gd name="T21" fmla="*/ 0 w 1208"/>
              <a:gd name="T22" fmla="*/ 0 h 515"/>
              <a:gd name="T23" fmla="*/ 1208 w 1208"/>
              <a:gd name="T24" fmla="*/ 515 h 5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8" h="515">
                <a:moveTo>
                  <a:pt x="0" y="0"/>
                </a:moveTo>
                <a:lnTo>
                  <a:pt x="1115" y="0"/>
                </a:lnTo>
                <a:lnTo>
                  <a:pt x="1208" y="258"/>
                </a:lnTo>
                <a:lnTo>
                  <a:pt x="1115" y="515"/>
                </a:lnTo>
                <a:lnTo>
                  <a:pt x="0" y="515"/>
                </a:lnTo>
                <a:lnTo>
                  <a:pt x="0" y="258"/>
                </a:lnTo>
                <a:lnTo>
                  <a:pt x="0" y="0"/>
                </a:lnTo>
                <a:close/>
              </a:path>
            </a:pathLst>
          </a:custGeom>
          <a:solidFill>
            <a:schemeClr val="accent1"/>
          </a:solidFill>
          <a:ln w="19050">
            <a:solidFill>
              <a:schemeClr val="bg1"/>
            </a:solidFill>
            <a:round/>
            <a:headEnd/>
            <a:tailEnd/>
          </a:ln>
        </p:spPr>
        <p:txBody>
          <a:bodyPr lIns="0" tIns="0" rIns="0" bIns="0">
            <a:spAutoFit/>
          </a:bodyPr>
          <a:lstStyle/>
          <a:p>
            <a:pPr algn="ctr"/>
            <a:endParaRPr lang="en-US"/>
          </a:p>
        </p:txBody>
      </p:sp>
      <p:sp>
        <p:nvSpPr>
          <p:cNvPr id="45" name="Freeform 5"/>
          <p:cNvSpPr>
            <a:spLocks/>
          </p:cNvSpPr>
          <p:nvPr>
            <p:custDataLst>
              <p:tags r:id="rId5"/>
            </p:custDataLst>
          </p:nvPr>
        </p:nvSpPr>
        <p:spPr bwMode="blackWhite">
          <a:xfrm>
            <a:off x="3321773" y="1717147"/>
            <a:ext cx="2143125" cy="804862"/>
          </a:xfrm>
          <a:custGeom>
            <a:avLst/>
            <a:gdLst>
              <a:gd name="T0" fmla="*/ 0 w 1208"/>
              <a:gd name="T1" fmla="*/ 0 h 515"/>
              <a:gd name="T2" fmla="*/ 2147483647 w 1208"/>
              <a:gd name="T3" fmla="*/ 0 h 515"/>
              <a:gd name="T4" fmla="*/ 2147483647 w 1208"/>
              <a:gd name="T5" fmla="*/ 2147483647 h 515"/>
              <a:gd name="T6" fmla="*/ 2147483647 w 1208"/>
              <a:gd name="T7" fmla="*/ 2147483647 h 515"/>
              <a:gd name="T8" fmla="*/ 0 w 1208"/>
              <a:gd name="T9" fmla="*/ 2147483647 h 515"/>
              <a:gd name="T10" fmla="*/ 0 w 1208"/>
              <a:gd name="T11" fmla="*/ 2147483647 h 515"/>
              <a:gd name="T12" fmla="*/ 0 w 1208"/>
              <a:gd name="T13" fmla="*/ 0 h 515"/>
              <a:gd name="T14" fmla="*/ 0 60000 65536"/>
              <a:gd name="T15" fmla="*/ 0 60000 65536"/>
              <a:gd name="T16" fmla="*/ 0 60000 65536"/>
              <a:gd name="T17" fmla="*/ 0 60000 65536"/>
              <a:gd name="T18" fmla="*/ 0 60000 65536"/>
              <a:gd name="T19" fmla="*/ 0 60000 65536"/>
              <a:gd name="T20" fmla="*/ 0 60000 65536"/>
              <a:gd name="T21" fmla="*/ 0 w 1208"/>
              <a:gd name="T22" fmla="*/ 0 h 515"/>
              <a:gd name="T23" fmla="*/ 1208 w 1208"/>
              <a:gd name="T24" fmla="*/ 515 h 5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8" h="515">
                <a:moveTo>
                  <a:pt x="0" y="0"/>
                </a:moveTo>
                <a:lnTo>
                  <a:pt x="1115" y="0"/>
                </a:lnTo>
                <a:lnTo>
                  <a:pt x="1208" y="258"/>
                </a:lnTo>
                <a:lnTo>
                  <a:pt x="1115" y="515"/>
                </a:lnTo>
                <a:lnTo>
                  <a:pt x="0" y="515"/>
                </a:lnTo>
                <a:lnTo>
                  <a:pt x="0" y="258"/>
                </a:lnTo>
                <a:lnTo>
                  <a:pt x="0" y="0"/>
                </a:lnTo>
                <a:close/>
              </a:path>
            </a:pathLst>
          </a:custGeom>
          <a:solidFill>
            <a:schemeClr val="accent1"/>
          </a:solidFill>
          <a:ln w="19050">
            <a:solidFill>
              <a:schemeClr val="bg1"/>
            </a:solidFill>
            <a:round/>
            <a:headEnd/>
            <a:tailEnd/>
          </a:ln>
        </p:spPr>
        <p:txBody>
          <a:bodyPr lIns="0" tIns="0" rIns="0" bIns="0">
            <a:spAutoFit/>
          </a:bodyPr>
          <a:lstStyle/>
          <a:p>
            <a:pPr algn="ctr"/>
            <a:endParaRPr lang="en-US"/>
          </a:p>
        </p:txBody>
      </p:sp>
      <p:sp>
        <p:nvSpPr>
          <p:cNvPr id="46" name="Freeform 6"/>
          <p:cNvSpPr>
            <a:spLocks/>
          </p:cNvSpPr>
          <p:nvPr>
            <p:custDataLst>
              <p:tags r:id="rId6"/>
            </p:custDataLst>
          </p:nvPr>
        </p:nvSpPr>
        <p:spPr bwMode="blackWhite">
          <a:xfrm>
            <a:off x="1856510" y="1717147"/>
            <a:ext cx="2041525" cy="804862"/>
          </a:xfrm>
          <a:custGeom>
            <a:avLst/>
            <a:gdLst>
              <a:gd name="T0" fmla="*/ 0 w 1208"/>
              <a:gd name="T1" fmla="*/ 0 h 515"/>
              <a:gd name="T2" fmla="*/ 2147483647 w 1208"/>
              <a:gd name="T3" fmla="*/ 0 h 515"/>
              <a:gd name="T4" fmla="*/ 2147483647 w 1208"/>
              <a:gd name="T5" fmla="*/ 2147483647 h 515"/>
              <a:gd name="T6" fmla="*/ 2147483647 w 1208"/>
              <a:gd name="T7" fmla="*/ 2147483647 h 515"/>
              <a:gd name="T8" fmla="*/ 0 w 1208"/>
              <a:gd name="T9" fmla="*/ 2147483647 h 515"/>
              <a:gd name="T10" fmla="*/ 0 w 1208"/>
              <a:gd name="T11" fmla="*/ 2147483647 h 515"/>
              <a:gd name="T12" fmla="*/ 0 w 1208"/>
              <a:gd name="T13" fmla="*/ 0 h 515"/>
              <a:gd name="T14" fmla="*/ 0 60000 65536"/>
              <a:gd name="T15" fmla="*/ 0 60000 65536"/>
              <a:gd name="T16" fmla="*/ 0 60000 65536"/>
              <a:gd name="T17" fmla="*/ 0 60000 65536"/>
              <a:gd name="T18" fmla="*/ 0 60000 65536"/>
              <a:gd name="T19" fmla="*/ 0 60000 65536"/>
              <a:gd name="T20" fmla="*/ 0 60000 65536"/>
              <a:gd name="T21" fmla="*/ 0 w 1208"/>
              <a:gd name="T22" fmla="*/ 0 h 515"/>
              <a:gd name="T23" fmla="*/ 1208 w 1208"/>
              <a:gd name="T24" fmla="*/ 515 h 5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8" h="515">
                <a:moveTo>
                  <a:pt x="0" y="0"/>
                </a:moveTo>
                <a:lnTo>
                  <a:pt x="1115" y="0"/>
                </a:lnTo>
                <a:lnTo>
                  <a:pt x="1208" y="258"/>
                </a:lnTo>
                <a:lnTo>
                  <a:pt x="1115" y="515"/>
                </a:lnTo>
                <a:lnTo>
                  <a:pt x="0" y="515"/>
                </a:lnTo>
                <a:lnTo>
                  <a:pt x="0" y="258"/>
                </a:lnTo>
                <a:lnTo>
                  <a:pt x="0" y="0"/>
                </a:lnTo>
                <a:close/>
              </a:path>
            </a:pathLst>
          </a:custGeom>
          <a:solidFill>
            <a:schemeClr val="accent1"/>
          </a:solidFill>
          <a:ln w="19050">
            <a:solidFill>
              <a:schemeClr val="bg1"/>
            </a:solidFill>
            <a:round/>
            <a:headEnd/>
            <a:tailEnd/>
          </a:ln>
        </p:spPr>
        <p:txBody>
          <a:bodyPr lIns="0" tIns="0" rIns="0" bIns="0">
            <a:spAutoFit/>
          </a:bodyPr>
          <a:lstStyle/>
          <a:p>
            <a:pPr algn="ctr"/>
            <a:endParaRPr lang="en-US"/>
          </a:p>
        </p:txBody>
      </p:sp>
      <p:sp>
        <p:nvSpPr>
          <p:cNvPr id="47" name="Freeform 7"/>
          <p:cNvSpPr>
            <a:spLocks/>
          </p:cNvSpPr>
          <p:nvPr>
            <p:custDataLst>
              <p:tags r:id="rId7"/>
            </p:custDataLst>
          </p:nvPr>
        </p:nvSpPr>
        <p:spPr bwMode="blackWhite">
          <a:xfrm>
            <a:off x="389660" y="1717147"/>
            <a:ext cx="1825625" cy="804862"/>
          </a:xfrm>
          <a:custGeom>
            <a:avLst/>
            <a:gdLst>
              <a:gd name="T0" fmla="*/ 0 w 1208"/>
              <a:gd name="T1" fmla="*/ 0 h 515"/>
              <a:gd name="T2" fmla="*/ 2147483647 w 1208"/>
              <a:gd name="T3" fmla="*/ 0 h 515"/>
              <a:gd name="T4" fmla="*/ 2147483647 w 1208"/>
              <a:gd name="T5" fmla="*/ 2147483647 h 515"/>
              <a:gd name="T6" fmla="*/ 2147483647 w 1208"/>
              <a:gd name="T7" fmla="*/ 2147483647 h 515"/>
              <a:gd name="T8" fmla="*/ 0 w 1208"/>
              <a:gd name="T9" fmla="*/ 2147483647 h 515"/>
              <a:gd name="T10" fmla="*/ 0 w 1208"/>
              <a:gd name="T11" fmla="*/ 2147483647 h 515"/>
              <a:gd name="T12" fmla="*/ 0 w 1208"/>
              <a:gd name="T13" fmla="*/ 0 h 515"/>
              <a:gd name="T14" fmla="*/ 0 60000 65536"/>
              <a:gd name="T15" fmla="*/ 0 60000 65536"/>
              <a:gd name="T16" fmla="*/ 0 60000 65536"/>
              <a:gd name="T17" fmla="*/ 0 60000 65536"/>
              <a:gd name="T18" fmla="*/ 0 60000 65536"/>
              <a:gd name="T19" fmla="*/ 0 60000 65536"/>
              <a:gd name="T20" fmla="*/ 0 60000 65536"/>
              <a:gd name="T21" fmla="*/ 0 w 1208"/>
              <a:gd name="T22" fmla="*/ 0 h 515"/>
              <a:gd name="T23" fmla="*/ 1208 w 1208"/>
              <a:gd name="T24" fmla="*/ 515 h 5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8" h="515">
                <a:moveTo>
                  <a:pt x="0" y="0"/>
                </a:moveTo>
                <a:lnTo>
                  <a:pt x="1115" y="0"/>
                </a:lnTo>
                <a:lnTo>
                  <a:pt x="1208" y="258"/>
                </a:lnTo>
                <a:lnTo>
                  <a:pt x="1115" y="515"/>
                </a:lnTo>
                <a:lnTo>
                  <a:pt x="0" y="515"/>
                </a:lnTo>
                <a:lnTo>
                  <a:pt x="0" y="258"/>
                </a:lnTo>
                <a:lnTo>
                  <a:pt x="0" y="0"/>
                </a:lnTo>
                <a:close/>
              </a:path>
            </a:pathLst>
          </a:custGeom>
          <a:solidFill>
            <a:schemeClr val="accent1"/>
          </a:solidFill>
          <a:ln w="19050">
            <a:solidFill>
              <a:schemeClr val="bg1"/>
            </a:solidFill>
            <a:round/>
            <a:headEnd/>
            <a:tailEnd/>
          </a:ln>
        </p:spPr>
        <p:txBody>
          <a:bodyPr lIns="0" tIns="0" rIns="0" bIns="0">
            <a:spAutoFit/>
          </a:bodyPr>
          <a:lstStyle/>
          <a:p>
            <a:pPr algn="ctr"/>
            <a:endParaRPr lang="en-US"/>
          </a:p>
        </p:txBody>
      </p:sp>
      <p:sp>
        <p:nvSpPr>
          <p:cNvPr id="48" name="Rectangle 8"/>
          <p:cNvSpPr>
            <a:spLocks noChangeArrowheads="1"/>
          </p:cNvSpPr>
          <p:nvPr>
            <p:custDataLst>
              <p:tags r:id="rId8"/>
            </p:custDataLst>
          </p:nvPr>
        </p:nvSpPr>
        <p:spPr bwMode="blackWhite">
          <a:xfrm>
            <a:off x="911948" y="2022368"/>
            <a:ext cx="1173162" cy="166199"/>
          </a:xfrm>
          <a:prstGeom prst="rect">
            <a:avLst/>
          </a:prstGeom>
          <a:solidFill>
            <a:schemeClr val="accent1"/>
          </a:solidFill>
          <a:ln>
            <a:noFill/>
          </a:ln>
          <a:extLst/>
        </p:spPr>
        <p:txBody>
          <a:bodyPr lIns="0" tIns="0" rIns="0" bIns="0">
            <a:spAutoFit/>
          </a:bodyPr>
          <a:lstStyle/>
          <a:p>
            <a:pPr defTabSz="677863">
              <a:lnSpc>
                <a:spcPct val="90000"/>
              </a:lnSpc>
              <a:buSzPct val="120000"/>
            </a:pPr>
            <a:r>
              <a:rPr lang="en-US" sz="1200" b="1" dirty="0">
                <a:solidFill>
                  <a:schemeClr val="bg1"/>
                </a:solidFill>
              </a:rPr>
              <a:t>Farming</a:t>
            </a:r>
          </a:p>
        </p:txBody>
      </p:sp>
      <p:sp>
        <p:nvSpPr>
          <p:cNvPr id="50" name="Rectangle 10"/>
          <p:cNvSpPr>
            <a:spLocks noChangeArrowheads="1"/>
          </p:cNvSpPr>
          <p:nvPr>
            <p:custDataLst>
              <p:tags r:id="rId9"/>
            </p:custDataLst>
          </p:nvPr>
        </p:nvSpPr>
        <p:spPr bwMode="blackWhite">
          <a:xfrm>
            <a:off x="4236173" y="2022368"/>
            <a:ext cx="989012" cy="166199"/>
          </a:xfrm>
          <a:prstGeom prst="rect">
            <a:avLst/>
          </a:prstGeom>
          <a:solidFill>
            <a:schemeClr val="accent1"/>
          </a:solidFill>
          <a:ln>
            <a:noFill/>
          </a:ln>
          <a:extLst/>
        </p:spPr>
        <p:txBody>
          <a:bodyPr lIns="0" tIns="0" rIns="0" bIns="0">
            <a:spAutoFit/>
          </a:bodyPr>
          <a:lstStyle/>
          <a:p>
            <a:pPr defTabSz="677863">
              <a:lnSpc>
                <a:spcPct val="90000"/>
              </a:lnSpc>
              <a:buSzPct val="120000"/>
            </a:pPr>
            <a:r>
              <a:rPr lang="en-US" sz="1200" b="1" dirty="0" smtClean="0">
                <a:solidFill>
                  <a:schemeClr val="bg1"/>
                </a:solidFill>
              </a:rPr>
              <a:t>Aggregation</a:t>
            </a:r>
            <a:endParaRPr lang="en-US" sz="1200" b="1" dirty="0">
              <a:solidFill>
                <a:schemeClr val="bg1"/>
              </a:solidFill>
            </a:endParaRPr>
          </a:p>
        </p:txBody>
      </p:sp>
      <p:sp>
        <p:nvSpPr>
          <p:cNvPr id="51" name="Rectangle 11"/>
          <p:cNvSpPr>
            <a:spLocks noChangeArrowheads="1"/>
          </p:cNvSpPr>
          <p:nvPr>
            <p:custDataLst>
              <p:tags r:id="rId10"/>
            </p:custDataLst>
          </p:nvPr>
        </p:nvSpPr>
        <p:spPr bwMode="blackWhite">
          <a:xfrm>
            <a:off x="5891020" y="2013134"/>
            <a:ext cx="1025525" cy="184666"/>
          </a:xfrm>
          <a:prstGeom prst="rect">
            <a:avLst/>
          </a:prstGeom>
          <a:solidFill>
            <a:schemeClr val="accent1"/>
          </a:solidFill>
          <a:ln>
            <a:noFill/>
          </a:ln>
          <a:extLst/>
        </p:spPr>
        <p:txBody>
          <a:bodyPr lIns="0" tIns="0" rIns="0" bIns="0">
            <a:spAutoFit/>
          </a:bodyPr>
          <a:lstStyle/>
          <a:p>
            <a:pPr defTabSz="677863">
              <a:buSzPct val="120000"/>
            </a:pPr>
            <a:r>
              <a:rPr lang="en-US" sz="1200" b="1" dirty="0" smtClean="0">
                <a:solidFill>
                  <a:schemeClr val="bg1"/>
                </a:solidFill>
              </a:rPr>
              <a:t>Exporting</a:t>
            </a:r>
            <a:endParaRPr lang="en-US" sz="1200" b="1" dirty="0">
              <a:solidFill>
                <a:schemeClr val="bg1"/>
              </a:solidFill>
            </a:endParaRPr>
          </a:p>
        </p:txBody>
      </p:sp>
      <p:sp>
        <p:nvSpPr>
          <p:cNvPr id="52" name="Rectangle 19"/>
          <p:cNvSpPr>
            <a:spLocks noChangeArrowheads="1"/>
          </p:cNvSpPr>
          <p:nvPr>
            <p:custDataLst>
              <p:tags r:id="rId11"/>
            </p:custDataLst>
          </p:nvPr>
        </p:nvSpPr>
        <p:spPr bwMode="blackWhite">
          <a:xfrm>
            <a:off x="2459760" y="1939268"/>
            <a:ext cx="1173163" cy="332399"/>
          </a:xfrm>
          <a:prstGeom prst="rect">
            <a:avLst/>
          </a:prstGeom>
          <a:solidFill>
            <a:schemeClr val="accent1"/>
          </a:solidFill>
          <a:ln>
            <a:noFill/>
          </a:ln>
          <a:extLst/>
        </p:spPr>
        <p:txBody>
          <a:bodyPr lIns="0" tIns="0" rIns="0" bIns="0">
            <a:spAutoFit/>
          </a:bodyPr>
          <a:lstStyle/>
          <a:p>
            <a:pPr defTabSz="677863">
              <a:lnSpc>
                <a:spcPct val="90000"/>
              </a:lnSpc>
              <a:buSzPct val="120000"/>
            </a:pPr>
            <a:r>
              <a:rPr lang="en-US" sz="1200" b="1">
                <a:solidFill>
                  <a:schemeClr val="bg1"/>
                </a:solidFill>
              </a:rPr>
              <a:t>Processing: Wet milling</a:t>
            </a:r>
          </a:p>
        </p:txBody>
      </p:sp>
      <p:sp>
        <p:nvSpPr>
          <p:cNvPr id="53" name="Text Box 25"/>
          <p:cNvSpPr txBox="1">
            <a:spLocks noChangeArrowheads="1"/>
          </p:cNvSpPr>
          <p:nvPr/>
        </p:nvSpPr>
        <p:spPr bwMode="auto">
          <a:xfrm>
            <a:off x="427760" y="2546036"/>
            <a:ext cx="1662114"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0"/>
              </a:spcBef>
              <a:spcAft>
                <a:spcPct val="0"/>
              </a:spcAft>
              <a:defRPr sz="1200">
                <a:solidFill>
                  <a:schemeClr val="tx1"/>
                </a:solidFill>
                <a:latin typeface="Arial" charset="0"/>
                <a:cs typeface="Arial" charset="0"/>
              </a:defRPr>
            </a:lvl6pPr>
            <a:lvl7pPr marL="2971800" indent="-228600" eaLnBrk="0" fontAlgn="base" hangingPunct="0">
              <a:spcBef>
                <a:spcPct val="0"/>
              </a:spcBef>
              <a:spcAft>
                <a:spcPct val="0"/>
              </a:spcAft>
              <a:defRPr sz="1200">
                <a:solidFill>
                  <a:schemeClr val="tx1"/>
                </a:solidFill>
                <a:latin typeface="Arial" charset="0"/>
                <a:cs typeface="Arial" charset="0"/>
              </a:defRPr>
            </a:lvl7pPr>
            <a:lvl8pPr marL="3429000" indent="-228600" eaLnBrk="0" fontAlgn="base" hangingPunct="0">
              <a:spcBef>
                <a:spcPct val="0"/>
              </a:spcBef>
              <a:spcAft>
                <a:spcPct val="0"/>
              </a:spcAft>
              <a:defRPr sz="1200">
                <a:solidFill>
                  <a:schemeClr val="tx1"/>
                </a:solidFill>
                <a:latin typeface="Arial" charset="0"/>
                <a:cs typeface="Arial" charset="0"/>
              </a:defRPr>
            </a:lvl8pPr>
            <a:lvl9pPr marL="3886200" indent="-228600" eaLnBrk="0" fontAlgn="base" hangingPunct="0">
              <a:spcBef>
                <a:spcPct val="0"/>
              </a:spcBef>
              <a:spcAft>
                <a:spcPct val="0"/>
              </a:spcAft>
              <a:defRPr sz="1200">
                <a:solidFill>
                  <a:schemeClr val="tx1"/>
                </a:solidFill>
                <a:latin typeface="Arial" charset="0"/>
                <a:cs typeface="Arial" charset="0"/>
              </a:defRPr>
            </a:lvl9pPr>
          </a:lstStyle>
          <a:p>
            <a:pPr marL="171450" indent="-171450" eaLnBrk="1" hangingPunct="1">
              <a:spcAft>
                <a:spcPts val="300"/>
              </a:spcAft>
              <a:buFont typeface="Arial" panose="020B0604020202020204" pitchFamily="34" charset="0"/>
              <a:buChar char="•"/>
            </a:pPr>
            <a:r>
              <a:rPr lang="en-US" sz="1100" b="1" dirty="0" smtClean="0"/>
              <a:t>Majority of farms are smallholders</a:t>
            </a:r>
            <a:r>
              <a:rPr lang="en-US" sz="1100" dirty="0" smtClean="0"/>
              <a:t> (with less than 5 ha under coffee)</a:t>
            </a:r>
          </a:p>
          <a:p>
            <a:pPr marL="171450" indent="-171450" eaLnBrk="1" hangingPunct="1">
              <a:spcAft>
                <a:spcPts val="300"/>
              </a:spcAft>
              <a:buFont typeface="Arial" panose="020B0604020202020204" pitchFamily="34" charset="0"/>
              <a:buChar char="•"/>
            </a:pPr>
            <a:endParaRPr lang="en-US" sz="1100" dirty="0" smtClean="0"/>
          </a:p>
          <a:p>
            <a:pPr marL="171450" indent="-171450" eaLnBrk="1" hangingPunct="1">
              <a:spcAft>
                <a:spcPts val="300"/>
              </a:spcAft>
              <a:buFont typeface="Arial" panose="020B0604020202020204" pitchFamily="34" charset="0"/>
              <a:buChar char="•"/>
            </a:pPr>
            <a:r>
              <a:rPr lang="en-US" sz="1100" b="1" dirty="0" smtClean="0"/>
              <a:t>Harvesting occurs year-round</a:t>
            </a:r>
            <a:r>
              <a:rPr lang="en-US" sz="1100" dirty="0" smtClean="0"/>
              <a:t> in most areas, with a main harvest and a 2</a:t>
            </a:r>
            <a:r>
              <a:rPr lang="en-US" sz="1100" baseline="30000" dirty="0" smtClean="0"/>
              <a:t>nd</a:t>
            </a:r>
            <a:r>
              <a:rPr lang="en-US" sz="1100" dirty="0" smtClean="0"/>
              <a:t> mid-year harvest (</a:t>
            </a:r>
            <a:r>
              <a:rPr lang="en-US" sz="1100" i="1" dirty="0" err="1" smtClean="0"/>
              <a:t>mitaca</a:t>
            </a:r>
            <a:r>
              <a:rPr lang="en-US" sz="1100" dirty="0" smtClean="0"/>
              <a:t>)</a:t>
            </a:r>
          </a:p>
        </p:txBody>
      </p:sp>
      <p:sp>
        <p:nvSpPr>
          <p:cNvPr id="54" name="Text Box 26"/>
          <p:cNvSpPr txBox="1">
            <a:spLocks noChangeArrowheads="1"/>
          </p:cNvSpPr>
          <p:nvPr/>
        </p:nvSpPr>
        <p:spPr bwMode="auto">
          <a:xfrm>
            <a:off x="2089873" y="2546036"/>
            <a:ext cx="1716087" cy="2539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0"/>
              </a:spcBef>
              <a:spcAft>
                <a:spcPct val="0"/>
              </a:spcAft>
              <a:defRPr sz="1200">
                <a:solidFill>
                  <a:schemeClr val="tx1"/>
                </a:solidFill>
                <a:latin typeface="Arial" charset="0"/>
                <a:cs typeface="Arial" charset="0"/>
              </a:defRPr>
            </a:lvl6pPr>
            <a:lvl7pPr marL="2971800" indent="-228600" eaLnBrk="0" fontAlgn="base" hangingPunct="0">
              <a:spcBef>
                <a:spcPct val="0"/>
              </a:spcBef>
              <a:spcAft>
                <a:spcPct val="0"/>
              </a:spcAft>
              <a:defRPr sz="1200">
                <a:solidFill>
                  <a:schemeClr val="tx1"/>
                </a:solidFill>
                <a:latin typeface="Arial" charset="0"/>
                <a:cs typeface="Arial" charset="0"/>
              </a:defRPr>
            </a:lvl7pPr>
            <a:lvl8pPr marL="3429000" indent="-228600" eaLnBrk="0" fontAlgn="base" hangingPunct="0">
              <a:spcBef>
                <a:spcPct val="0"/>
              </a:spcBef>
              <a:spcAft>
                <a:spcPct val="0"/>
              </a:spcAft>
              <a:defRPr sz="1200">
                <a:solidFill>
                  <a:schemeClr val="tx1"/>
                </a:solidFill>
                <a:latin typeface="Arial" charset="0"/>
                <a:cs typeface="Arial" charset="0"/>
              </a:defRPr>
            </a:lvl8pPr>
            <a:lvl9pPr marL="3886200" indent="-228600" eaLnBrk="0" fontAlgn="base" hangingPunct="0">
              <a:spcBef>
                <a:spcPct val="0"/>
              </a:spcBef>
              <a:spcAft>
                <a:spcPct val="0"/>
              </a:spcAft>
              <a:defRPr sz="1200">
                <a:solidFill>
                  <a:schemeClr val="tx1"/>
                </a:solidFill>
                <a:latin typeface="Arial" charset="0"/>
                <a:cs typeface="Arial" charset="0"/>
              </a:defRPr>
            </a:lvl9pPr>
          </a:lstStyle>
          <a:p>
            <a:pPr marL="171450" indent="-171450" eaLnBrk="1" hangingPunct="1">
              <a:spcAft>
                <a:spcPts val="300"/>
              </a:spcAft>
              <a:buFont typeface="Arial" panose="020B0604020202020204" pitchFamily="34" charset="0"/>
              <a:buChar char="•"/>
            </a:pPr>
            <a:r>
              <a:rPr lang="en-US" sz="1100" b="1" dirty="0" smtClean="0"/>
              <a:t>Nearly all farmers wet-mill at home and sell dry parchment</a:t>
            </a:r>
            <a:r>
              <a:rPr lang="en-US" sz="1100" dirty="0" smtClean="0"/>
              <a:t> (in most regions there is no market for cherry)</a:t>
            </a:r>
            <a:endParaRPr lang="en-US" sz="1100" b="1" dirty="0" smtClean="0"/>
          </a:p>
          <a:p>
            <a:pPr marL="171450" indent="-171450" eaLnBrk="1" hangingPunct="1">
              <a:spcAft>
                <a:spcPts val="300"/>
              </a:spcAft>
              <a:buFont typeface="Arial" panose="020B0604020202020204" pitchFamily="34" charset="0"/>
              <a:buChar char="•"/>
            </a:pPr>
            <a:endParaRPr lang="en-US" sz="1100" b="1" dirty="0"/>
          </a:p>
          <a:p>
            <a:pPr marL="171450" indent="-171450" eaLnBrk="1" hangingPunct="1">
              <a:spcAft>
                <a:spcPts val="300"/>
              </a:spcAft>
              <a:buFont typeface="Arial" panose="020B0604020202020204" pitchFamily="34" charset="0"/>
              <a:buChar char="•"/>
            </a:pPr>
            <a:r>
              <a:rPr lang="en-US" sz="1100" dirty="0" smtClean="0"/>
              <a:t>Some </a:t>
            </a:r>
            <a:r>
              <a:rPr lang="en-US" sz="1100" b="1" dirty="0" smtClean="0"/>
              <a:t>wet mills have gaps in infrastructure</a:t>
            </a:r>
            <a:r>
              <a:rPr lang="en-US" sz="1100" dirty="0" smtClean="0"/>
              <a:t>, e.g., insufficient drying space, inadequate wastewater disposal, etc.</a:t>
            </a:r>
          </a:p>
        </p:txBody>
      </p:sp>
      <p:sp>
        <p:nvSpPr>
          <p:cNvPr id="55" name="Text Box 27"/>
          <p:cNvSpPr txBox="1">
            <a:spLocks noChangeArrowheads="1"/>
          </p:cNvSpPr>
          <p:nvPr/>
        </p:nvSpPr>
        <p:spPr bwMode="auto">
          <a:xfrm>
            <a:off x="3723410" y="2546036"/>
            <a:ext cx="1624013" cy="27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0"/>
              </a:spcBef>
              <a:spcAft>
                <a:spcPct val="0"/>
              </a:spcAft>
              <a:defRPr sz="1200">
                <a:solidFill>
                  <a:schemeClr val="tx1"/>
                </a:solidFill>
                <a:latin typeface="Arial" charset="0"/>
                <a:cs typeface="Arial" charset="0"/>
              </a:defRPr>
            </a:lvl6pPr>
            <a:lvl7pPr marL="2971800" indent="-228600" eaLnBrk="0" fontAlgn="base" hangingPunct="0">
              <a:spcBef>
                <a:spcPct val="0"/>
              </a:spcBef>
              <a:spcAft>
                <a:spcPct val="0"/>
              </a:spcAft>
              <a:defRPr sz="1200">
                <a:solidFill>
                  <a:schemeClr val="tx1"/>
                </a:solidFill>
                <a:latin typeface="Arial" charset="0"/>
                <a:cs typeface="Arial" charset="0"/>
              </a:defRPr>
            </a:lvl7pPr>
            <a:lvl8pPr marL="3429000" indent="-228600" eaLnBrk="0" fontAlgn="base" hangingPunct="0">
              <a:spcBef>
                <a:spcPct val="0"/>
              </a:spcBef>
              <a:spcAft>
                <a:spcPct val="0"/>
              </a:spcAft>
              <a:defRPr sz="1200">
                <a:solidFill>
                  <a:schemeClr val="tx1"/>
                </a:solidFill>
                <a:latin typeface="Arial" charset="0"/>
                <a:cs typeface="Arial" charset="0"/>
              </a:defRPr>
            </a:lvl8pPr>
            <a:lvl9pPr marL="3886200" indent="-228600" eaLnBrk="0" fontAlgn="base" hangingPunct="0">
              <a:spcBef>
                <a:spcPct val="0"/>
              </a:spcBef>
              <a:spcAft>
                <a:spcPct val="0"/>
              </a:spcAft>
              <a:defRPr sz="1200">
                <a:solidFill>
                  <a:schemeClr val="tx1"/>
                </a:solidFill>
                <a:latin typeface="Arial" charset="0"/>
                <a:cs typeface="Arial" charset="0"/>
              </a:defRPr>
            </a:lvl9pPr>
          </a:lstStyle>
          <a:p>
            <a:pPr marL="231775" indent="-171450" eaLnBrk="1" hangingPunct="1">
              <a:spcAft>
                <a:spcPts val="300"/>
              </a:spcAft>
              <a:buFont typeface="Arial" panose="020B0604020202020204" pitchFamily="34" charset="0"/>
              <a:buChar char="•"/>
            </a:pPr>
            <a:r>
              <a:rPr lang="en-US" sz="1100" dirty="0" smtClean="0"/>
              <a:t>Aggregation is done </a:t>
            </a:r>
            <a:r>
              <a:rPr lang="en-US" sz="1100" b="1" dirty="0" smtClean="0"/>
              <a:t>both by cooperatives and private buyers</a:t>
            </a:r>
          </a:p>
          <a:p>
            <a:pPr marL="231775" indent="-171450" eaLnBrk="1" hangingPunct="1">
              <a:spcAft>
                <a:spcPts val="300"/>
              </a:spcAft>
              <a:buFont typeface="Arial" panose="020B0604020202020204" pitchFamily="34" charset="0"/>
              <a:buChar char="•"/>
            </a:pPr>
            <a:endParaRPr lang="en-US" sz="1100" b="1" dirty="0" smtClean="0"/>
          </a:p>
          <a:p>
            <a:pPr marL="231775" indent="-171450" eaLnBrk="1" hangingPunct="1">
              <a:spcAft>
                <a:spcPts val="300"/>
              </a:spcAft>
              <a:buFont typeface="Arial" panose="020B0604020202020204" pitchFamily="34" charset="0"/>
              <a:buChar char="•"/>
            </a:pPr>
            <a:r>
              <a:rPr lang="en-US" sz="1100" b="1" dirty="0" smtClean="0"/>
              <a:t>~ 35% of volume goes through coops*</a:t>
            </a:r>
            <a:r>
              <a:rPr lang="en-US" sz="1100" dirty="0" smtClean="0"/>
              <a:t> , the highest share in Latin America</a:t>
            </a:r>
          </a:p>
          <a:p>
            <a:pPr marL="231775" indent="-171450" eaLnBrk="1" hangingPunct="1">
              <a:spcAft>
                <a:spcPts val="300"/>
              </a:spcAft>
              <a:buFont typeface="Arial" panose="020B0604020202020204" pitchFamily="34" charset="0"/>
              <a:buChar char="•"/>
            </a:pPr>
            <a:endParaRPr lang="en-US" sz="1100" dirty="0"/>
          </a:p>
          <a:p>
            <a:pPr marL="231775" indent="-171450" eaLnBrk="1" hangingPunct="1">
              <a:spcAft>
                <a:spcPts val="300"/>
              </a:spcAft>
              <a:buFont typeface="Arial" panose="020B0604020202020204" pitchFamily="34" charset="0"/>
              <a:buChar char="•"/>
            </a:pPr>
            <a:r>
              <a:rPr lang="en-US" sz="1100" b="1" dirty="0" smtClean="0"/>
              <a:t>A purchase guarantee </a:t>
            </a:r>
            <a:r>
              <a:rPr lang="en-US" sz="1100" dirty="0" smtClean="0"/>
              <a:t>exists at all aggregation points</a:t>
            </a:r>
            <a:endParaRPr lang="en-US" sz="1100" dirty="0"/>
          </a:p>
        </p:txBody>
      </p:sp>
      <p:sp>
        <p:nvSpPr>
          <p:cNvPr id="56" name="Text Box 29"/>
          <p:cNvSpPr txBox="1">
            <a:spLocks noChangeArrowheads="1"/>
          </p:cNvSpPr>
          <p:nvPr/>
        </p:nvSpPr>
        <p:spPr bwMode="auto">
          <a:xfrm>
            <a:off x="5400483" y="2546036"/>
            <a:ext cx="1657233"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0"/>
              </a:spcBef>
              <a:spcAft>
                <a:spcPct val="0"/>
              </a:spcAft>
              <a:defRPr sz="1200">
                <a:solidFill>
                  <a:schemeClr val="tx1"/>
                </a:solidFill>
                <a:latin typeface="Arial" charset="0"/>
                <a:cs typeface="Arial" charset="0"/>
              </a:defRPr>
            </a:lvl6pPr>
            <a:lvl7pPr marL="2971800" indent="-228600" eaLnBrk="0" fontAlgn="base" hangingPunct="0">
              <a:spcBef>
                <a:spcPct val="0"/>
              </a:spcBef>
              <a:spcAft>
                <a:spcPct val="0"/>
              </a:spcAft>
              <a:defRPr sz="1200">
                <a:solidFill>
                  <a:schemeClr val="tx1"/>
                </a:solidFill>
                <a:latin typeface="Arial" charset="0"/>
                <a:cs typeface="Arial" charset="0"/>
              </a:defRPr>
            </a:lvl7pPr>
            <a:lvl8pPr marL="3429000" indent="-228600" eaLnBrk="0" fontAlgn="base" hangingPunct="0">
              <a:spcBef>
                <a:spcPct val="0"/>
              </a:spcBef>
              <a:spcAft>
                <a:spcPct val="0"/>
              </a:spcAft>
              <a:defRPr sz="1200">
                <a:solidFill>
                  <a:schemeClr val="tx1"/>
                </a:solidFill>
                <a:latin typeface="Arial" charset="0"/>
                <a:cs typeface="Arial" charset="0"/>
              </a:defRPr>
            </a:lvl8pPr>
            <a:lvl9pPr marL="3886200" indent="-228600" eaLnBrk="0" fontAlgn="base" hangingPunct="0">
              <a:spcBef>
                <a:spcPct val="0"/>
              </a:spcBef>
              <a:spcAft>
                <a:spcPct val="0"/>
              </a:spcAft>
              <a:defRPr sz="1200">
                <a:solidFill>
                  <a:schemeClr val="tx1"/>
                </a:solidFill>
                <a:latin typeface="Arial" charset="0"/>
                <a:cs typeface="Arial" charset="0"/>
              </a:defRPr>
            </a:lvl9pPr>
          </a:lstStyle>
          <a:p>
            <a:pPr marL="120650" indent="-120650">
              <a:spcAft>
                <a:spcPts val="300"/>
              </a:spcAft>
              <a:buFont typeface="Arial" panose="020B0604020202020204" pitchFamily="34" charset="0"/>
              <a:buChar char="•"/>
            </a:pPr>
            <a:r>
              <a:rPr lang="en-US" sz="1100" b="1" dirty="0" smtClean="0"/>
              <a:t>Competition exists between local and multinational exporters </a:t>
            </a:r>
            <a:r>
              <a:rPr lang="en-US" sz="1100" dirty="0" smtClean="0"/>
              <a:t>(multi-national </a:t>
            </a:r>
            <a:r>
              <a:rPr lang="en-US" sz="1100" dirty="0"/>
              <a:t>exporters </a:t>
            </a:r>
            <a:r>
              <a:rPr lang="en-US" sz="1100" dirty="0" smtClean="0"/>
              <a:t> have ~33% market share)</a:t>
            </a:r>
          </a:p>
          <a:p>
            <a:pPr marL="120650" indent="-120650">
              <a:spcAft>
                <a:spcPts val="300"/>
              </a:spcAft>
              <a:buFont typeface="Arial" panose="020B0604020202020204" pitchFamily="34" charset="0"/>
              <a:buChar char="•"/>
            </a:pPr>
            <a:endParaRPr lang="en-US" sz="1100" dirty="0" smtClean="0"/>
          </a:p>
          <a:p>
            <a:pPr marL="120650" indent="-120650">
              <a:spcAft>
                <a:spcPts val="300"/>
              </a:spcAft>
              <a:buFont typeface="Arial" panose="020B0604020202020204" pitchFamily="34" charset="0"/>
              <a:buChar char="•"/>
            </a:pPr>
            <a:r>
              <a:rPr lang="en-US" sz="1100" b="1" dirty="0" smtClean="0"/>
              <a:t>The FNC**, a nonprofit,  is the largest exporter </a:t>
            </a:r>
            <a:r>
              <a:rPr lang="en-US" sz="1100" dirty="0" smtClean="0"/>
              <a:t>(25</a:t>
            </a:r>
            <a:r>
              <a:rPr lang="en-US" sz="1100" dirty="0"/>
              <a:t>% </a:t>
            </a:r>
            <a:r>
              <a:rPr lang="en-US" sz="1100" dirty="0" smtClean="0"/>
              <a:t>market share) </a:t>
            </a:r>
          </a:p>
          <a:p>
            <a:pPr marL="120650" indent="-120650">
              <a:spcAft>
                <a:spcPts val="300"/>
              </a:spcAft>
              <a:buFont typeface="Arial" panose="020B0604020202020204" pitchFamily="34" charset="0"/>
              <a:buChar char="•"/>
            </a:pPr>
            <a:endParaRPr lang="en-US" sz="1100" dirty="0" smtClean="0"/>
          </a:p>
          <a:p>
            <a:pPr marL="120650" indent="-120650">
              <a:spcAft>
                <a:spcPts val="300"/>
              </a:spcAft>
              <a:buFont typeface="Arial" panose="020B0604020202020204" pitchFamily="34" charset="0"/>
              <a:buChar char="•"/>
            </a:pPr>
            <a:r>
              <a:rPr lang="en-US" sz="1100" b="1" dirty="0" smtClean="0"/>
              <a:t>~</a:t>
            </a:r>
            <a:r>
              <a:rPr lang="en-US" sz="1100" b="1" dirty="0"/>
              <a:t>90% of </a:t>
            </a:r>
            <a:r>
              <a:rPr lang="en-US" sz="1100" b="1" dirty="0" smtClean="0"/>
              <a:t>total production is </a:t>
            </a:r>
            <a:r>
              <a:rPr lang="en-US" sz="1100" b="1" dirty="0"/>
              <a:t>exported</a:t>
            </a:r>
            <a:r>
              <a:rPr lang="en-US" sz="1100" dirty="0" smtClean="0"/>
              <a:t>***</a:t>
            </a:r>
            <a:endParaRPr lang="en-US" sz="1100" dirty="0"/>
          </a:p>
        </p:txBody>
      </p:sp>
      <p:sp>
        <p:nvSpPr>
          <p:cNvPr id="57" name="Rectangle 30"/>
          <p:cNvSpPr>
            <a:spLocks noChangeArrowheads="1"/>
          </p:cNvSpPr>
          <p:nvPr/>
        </p:nvSpPr>
        <p:spPr bwMode="auto">
          <a:xfrm>
            <a:off x="361950" y="1451667"/>
            <a:ext cx="4605337"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defTabSz="895350">
              <a:buSzPct val="120000"/>
            </a:pPr>
            <a:r>
              <a:rPr lang="en-US" sz="1200" b="1" dirty="0" smtClean="0">
                <a:solidFill>
                  <a:schemeClr val="accent1"/>
                </a:solidFill>
              </a:rPr>
              <a:t>Colombia’s coffee supply chain (Arabica)</a:t>
            </a:r>
            <a:endParaRPr lang="en-US" sz="1200" b="1" dirty="0">
              <a:solidFill>
                <a:schemeClr val="accent1"/>
              </a:solidFill>
            </a:endParaRPr>
          </a:p>
        </p:txBody>
      </p:sp>
      <p:sp>
        <p:nvSpPr>
          <p:cNvPr id="3" name="Title 2"/>
          <p:cNvSpPr>
            <a:spLocks noGrp="1"/>
          </p:cNvSpPr>
          <p:nvPr>
            <p:ph type="title"/>
          </p:nvPr>
        </p:nvSpPr>
        <p:spPr/>
        <p:txBody>
          <a:bodyPr/>
          <a:lstStyle/>
          <a:p>
            <a:r>
              <a:rPr lang="en-US" b="0" dirty="0" smtClean="0"/>
              <a:t>Colombia’s </a:t>
            </a:r>
            <a:r>
              <a:rPr lang="en-US" b="0" dirty="0" smtClean="0"/>
              <a:t>supply chain </a:t>
            </a:r>
            <a:r>
              <a:rPr lang="en-US" b="0" dirty="0" smtClean="0"/>
              <a:t>has six distinctive attributes in </a:t>
            </a:r>
            <a:r>
              <a:rPr lang="en-US" b="0" dirty="0" smtClean="0"/>
              <a:t>comparison </a:t>
            </a:r>
            <a:r>
              <a:rPr lang="en-US" b="0" dirty="0" smtClean="0"/>
              <a:t>to</a:t>
            </a:r>
            <a:r>
              <a:rPr lang="en-US" b="0" dirty="0" smtClean="0"/>
              <a:t> </a:t>
            </a:r>
            <a:r>
              <a:rPr lang="en-US" b="0" dirty="0" smtClean="0"/>
              <a:t>other </a:t>
            </a:r>
            <a:r>
              <a:rPr lang="en-US" b="0" dirty="0" smtClean="0"/>
              <a:t>countries</a:t>
            </a:r>
            <a:endParaRPr lang="en-US" b="0" dirty="0"/>
          </a:p>
        </p:txBody>
      </p:sp>
      <p:grpSp>
        <p:nvGrpSpPr>
          <p:cNvPr id="7" name="Group 6"/>
          <p:cNvGrpSpPr/>
          <p:nvPr/>
        </p:nvGrpSpPr>
        <p:grpSpPr>
          <a:xfrm>
            <a:off x="6910623" y="1432984"/>
            <a:ext cx="1890477" cy="177976"/>
            <a:chOff x="7686503" y="1294434"/>
            <a:chExt cx="1890477" cy="177976"/>
          </a:xfrm>
        </p:grpSpPr>
        <p:sp>
          <p:nvSpPr>
            <p:cNvPr id="31" name="Rectangle 30"/>
            <p:cNvSpPr/>
            <p:nvPr/>
          </p:nvSpPr>
          <p:spPr>
            <a:xfrm>
              <a:off x="7686503" y="1294434"/>
              <a:ext cx="155748" cy="163912"/>
            </a:xfrm>
            <a:prstGeom prst="rect">
              <a:avLst/>
            </a:prstGeom>
            <a:solidFill>
              <a:schemeClr val="bg1">
                <a:lumMod val="95000"/>
              </a:schemeClr>
            </a:solidFill>
            <a:ln w="9525">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 name="TextBox 5"/>
            <p:cNvSpPr txBox="1"/>
            <p:nvPr/>
          </p:nvSpPr>
          <p:spPr>
            <a:xfrm>
              <a:off x="7905866" y="1303133"/>
              <a:ext cx="1671114" cy="169277"/>
            </a:xfrm>
            <a:prstGeom prst="rect">
              <a:avLst/>
            </a:prstGeom>
            <a:noFill/>
          </p:spPr>
          <p:txBody>
            <a:bodyPr wrap="square" lIns="0" tIns="0" rIns="0" bIns="0" rtlCol="0">
              <a:spAutoFit/>
            </a:bodyPr>
            <a:lstStyle/>
            <a:p>
              <a:r>
                <a:rPr lang="en-US" sz="1100" dirty="0" smtClean="0">
                  <a:solidFill>
                    <a:schemeClr val="accent1"/>
                  </a:solidFill>
                </a:rPr>
                <a:t>Distinctive to Colombia</a:t>
              </a:r>
              <a:endParaRPr lang="en-US" sz="1100" dirty="0">
                <a:solidFill>
                  <a:schemeClr val="accent1"/>
                </a:solidFill>
              </a:endParaRPr>
            </a:p>
          </p:txBody>
        </p:sp>
      </p:grpSp>
      <p:sp>
        <p:nvSpPr>
          <p:cNvPr id="34" name="Rectangle 11"/>
          <p:cNvSpPr>
            <a:spLocks noChangeArrowheads="1"/>
          </p:cNvSpPr>
          <p:nvPr>
            <p:custDataLst>
              <p:tags r:id="rId12"/>
            </p:custDataLst>
          </p:nvPr>
        </p:nvSpPr>
        <p:spPr bwMode="blackWhite">
          <a:xfrm>
            <a:off x="7295902" y="2013134"/>
            <a:ext cx="1025525" cy="184666"/>
          </a:xfrm>
          <a:prstGeom prst="rect">
            <a:avLst/>
          </a:prstGeom>
          <a:solidFill>
            <a:schemeClr val="accent1"/>
          </a:solidFill>
          <a:ln>
            <a:noFill/>
          </a:ln>
          <a:extLst/>
        </p:spPr>
        <p:txBody>
          <a:bodyPr lIns="0" tIns="0" rIns="0" bIns="0">
            <a:spAutoFit/>
          </a:bodyPr>
          <a:lstStyle/>
          <a:p>
            <a:pPr defTabSz="677863">
              <a:buSzPct val="120000"/>
            </a:pPr>
            <a:r>
              <a:rPr lang="en-US" sz="1200" b="1" dirty="0" smtClean="0">
                <a:solidFill>
                  <a:schemeClr val="bg1"/>
                </a:solidFill>
              </a:rPr>
              <a:t>Roasting</a:t>
            </a:r>
            <a:endParaRPr lang="en-US" sz="1200" b="1" dirty="0">
              <a:solidFill>
                <a:schemeClr val="bg1"/>
              </a:solidFill>
            </a:endParaRPr>
          </a:p>
        </p:txBody>
      </p:sp>
      <p:sp>
        <p:nvSpPr>
          <p:cNvPr id="35" name="Text Box 29"/>
          <p:cNvSpPr txBox="1">
            <a:spLocks noChangeArrowheads="1"/>
          </p:cNvSpPr>
          <p:nvPr/>
        </p:nvSpPr>
        <p:spPr bwMode="auto">
          <a:xfrm>
            <a:off x="7043861" y="2546036"/>
            <a:ext cx="161520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0"/>
              </a:spcBef>
              <a:spcAft>
                <a:spcPct val="0"/>
              </a:spcAft>
              <a:defRPr sz="1200">
                <a:solidFill>
                  <a:schemeClr val="tx1"/>
                </a:solidFill>
                <a:latin typeface="Arial" charset="0"/>
                <a:cs typeface="Arial" charset="0"/>
              </a:defRPr>
            </a:lvl6pPr>
            <a:lvl7pPr marL="2971800" indent="-228600" eaLnBrk="0" fontAlgn="base" hangingPunct="0">
              <a:spcBef>
                <a:spcPct val="0"/>
              </a:spcBef>
              <a:spcAft>
                <a:spcPct val="0"/>
              </a:spcAft>
              <a:defRPr sz="1200">
                <a:solidFill>
                  <a:schemeClr val="tx1"/>
                </a:solidFill>
                <a:latin typeface="Arial" charset="0"/>
                <a:cs typeface="Arial" charset="0"/>
              </a:defRPr>
            </a:lvl7pPr>
            <a:lvl8pPr marL="3429000" indent="-228600" eaLnBrk="0" fontAlgn="base" hangingPunct="0">
              <a:spcBef>
                <a:spcPct val="0"/>
              </a:spcBef>
              <a:spcAft>
                <a:spcPct val="0"/>
              </a:spcAft>
              <a:defRPr sz="1200">
                <a:solidFill>
                  <a:schemeClr val="tx1"/>
                </a:solidFill>
                <a:latin typeface="Arial" charset="0"/>
                <a:cs typeface="Arial" charset="0"/>
              </a:defRPr>
            </a:lvl8pPr>
            <a:lvl9pPr marL="3886200" indent="-228600" eaLnBrk="0" fontAlgn="base" hangingPunct="0">
              <a:spcBef>
                <a:spcPct val="0"/>
              </a:spcBef>
              <a:spcAft>
                <a:spcPct val="0"/>
              </a:spcAft>
              <a:defRPr sz="1200">
                <a:solidFill>
                  <a:schemeClr val="tx1"/>
                </a:solidFill>
                <a:latin typeface="Arial" charset="0"/>
                <a:cs typeface="Arial" charset="0"/>
              </a:defRPr>
            </a:lvl9pPr>
          </a:lstStyle>
          <a:p>
            <a:pPr marL="120650" indent="-120650">
              <a:spcAft>
                <a:spcPts val="300"/>
              </a:spcAft>
              <a:buFont typeface="Arial" panose="020B0604020202020204" pitchFamily="34" charset="0"/>
              <a:buChar char="•"/>
            </a:pPr>
            <a:r>
              <a:rPr lang="en-US" sz="1100" b="1" dirty="0" smtClean="0"/>
              <a:t>~10% of production is consumed internally</a:t>
            </a:r>
            <a:endParaRPr lang="en-US" sz="1100" dirty="0" smtClean="0"/>
          </a:p>
          <a:p>
            <a:pPr marL="120650" indent="-120650">
              <a:spcAft>
                <a:spcPts val="300"/>
              </a:spcAft>
              <a:buFont typeface="Arial" panose="020B0604020202020204" pitchFamily="34" charset="0"/>
              <a:buChar char="•"/>
            </a:pPr>
            <a:endParaRPr lang="en-US" sz="1100" dirty="0" smtClean="0"/>
          </a:p>
          <a:p>
            <a:pPr marL="120650" indent="-120650">
              <a:spcAft>
                <a:spcPts val="300"/>
              </a:spcAft>
              <a:buFont typeface="Arial" panose="020B0604020202020204" pitchFamily="34" charset="0"/>
              <a:buChar char="•"/>
            </a:pPr>
            <a:r>
              <a:rPr lang="en-US" sz="1100" b="1" dirty="0" smtClean="0"/>
              <a:t>Internal demand is mainly for roast &amp; ground </a:t>
            </a:r>
            <a:r>
              <a:rPr lang="en-US" sz="1100" dirty="0" smtClean="0"/>
              <a:t>(rather than soluble)</a:t>
            </a:r>
          </a:p>
          <a:p>
            <a:pPr marL="120650" indent="-120650">
              <a:spcAft>
                <a:spcPts val="300"/>
              </a:spcAft>
              <a:buFont typeface="Arial" panose="020B0604020202020204" pitchFamily="34" charset="0"/>
              <a:buChar char="•"/>
            </a:pPr>
            <a:endParaRPr lang="en-US" sz="1100" dirty="0"/>
          </a:p>
          <a:p>
            <a:pPr marL="120650" indent="-120650">
              <a:spcAft>
                <a:spcPts val="300"/>
              </a:spcAft>
              <a:buFont typeface="Arial" panose="020B0604020202020204" pitchFamily="34" charset="0"/>
              <a:buChar char="•"/>
            </a:pPr>
            <a:r>
              <a:rPr lang="en-US" sz="1100" b="1" dirty="0" smtClean="0"/>
              <a:t>Soluble manufacturing capacity exists</a:t>
            </a:r>
            <a:r>
              <a:rPr lang="en-US" sz="1100" dirty="0" smtClean="0"/>
              <a:t>, both for export and internal markets</a:t>
            </a:r>
            <a:endParaRPr lang="en-US" sz="1100" b="1" dirty="0"/>
          </a:p>
        </p:txBody>
      </p:sp>
      <p:sp>
        <p:nvSpPr>
          <p:cNvPr id="4" name="TextBox 3"/>
          <p:cNvSpPr txBox="1"/>
          <p:nvPr/>
        </p:nvSpPr>
        <p:spPr>
          <a:xfrm>
            <a:off x="529936" y="5608361"/>
            <a:ext cx="7949046" cy="33855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100" b="1" dirty="0" smtClean="0">
                <a:solidFill>
                  <a:schemeClr val="accent1"/>
                </a:solidFill>
              </a:rPr>
              <a:t>Strong institutional framework </a:t>
            </a:r>
            <a:r>
              <a:rPr lang="en-US" sz="1100" dirty="0" smtClean="0">
                <a:solidFill>
                  <a:schemeClr val="accent1"/>
                </a:solidFill>
              </a:rPr>
              <a:t>through the establishment of the National Coffee Fund, which provides support to the coffee sector and is managed by the FNC</a:t>
            </a:r>
            <a:endParaRPr lang="en-US" sz="1100" dirty="0">
              <a:solidFill>
                <a:schemeClr val="accent1"/>
              </a:solidFill>
            </a:endParaRPr>
          </a:p>
        </p:txBody>
      </p:sp>
    </p:spTree>
    <p:extLst>
      <p:ext uri="{BB962C8B-B14F-4D97-AF65-F5344CB8AC3E}">
        <p14:creationId xmlns:p14="http://schemas.microsoft.com/office/powerpoint/2010/main" val="23269577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Object 59" hidden="1"/>
          <p:cNvGraphicFramePr>
            <a:graphicFrameLocks noChangeAspect="1"/>
          </p:cNvGraphicFramePr>
          <p:nvPr>
            <p:custDataLst>
              <p:tags r:id="rId2"/>
            </p:custDataLst>
            <p:extLst>
              <p:ext uri="{D42A27DB-BD31-4B8C-83A1-F6EECF244321}">
                <p14:modId xmlns:p14="http://schemas.microsoft.com/office/powerpoint/2010/main" val="205956471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70501" name="think-cell Slide" r:id="rId35" imgW="270" imgH="270" progId="TCLayout.ActiveDocument.1">
                  <p:embed/>
                </p:oleObj>
              </mc:Choice>
              <mc:Fallback>
                <p:oleObj name="think-cell Slide" r:id="rId35" imgW="270" imgH="270" progId="TCLayout.ActiveDocument.1">
                  <p:embed/>
                  <p:pic>
                    <p:nvPicPr>
                      <p:cNvPr id="0" name=""/>
                      <p:cNvPicPr/>
                      <p:nvPr/>
                    </p:nvPicPr>
                    <p:blipFill>
                      <a:blip r:embed="rId36"/>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44" name="Rectangular Callout 43"/>
          <p:cNvSpPr/>
          <p:nvPr/>
        </p:nvSpPr>
        <p:spPr>
          <a:xfrm>
            <a:off x="4286250" y="1701785"/>
            <a:ext cx="2376329" cy="745187"/>
          </a:xfrm>
          <a:prstGeom prst="wedgeRectCallout">
            <a:avLst>
              <a:gd name="adj1" fmla="val -48193"/>
              <a:gd name="adj2" fmla="val 80906"/>
            </a:avLst>
          </a:prstGeom>
          <a:solidFill>
            <a:schemeClr val="bg1"/>
          </a:solidFill>
          <a:ln w="9525">
            <a:solidFill>
              <a:srgbClr val="2124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McK Footnote"/>
          <p:cNvSpPr txBox="1">
            <a:spLocks noChangeArrowheads="1"/>
          </p:cNvSpPr>
          <p:nvPr/>
        </p:nvSpPr>
        <p:spPr bwMode="auto">
          <a:xfrm>
            <a:off x="729284" y="6221046"/>
            <a:ext cx="7421642" cy="553998"/>
          </a:xfrm>
          <a:prstGeom prst="rect">
            <a:avLst/>
          </a:prstGeom>
          <a:noFill/>
          <a:ln w="9525">
            <a:noFill/>
            <a:miter lim="800000"/>
            <a:headEnd/>
            <a:tailEnd/>
          </a:ln>
        </p:spPr>
        <p:txBody>
          <a:bodyPr wrap="square"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Note: Cost of production does not include costs for installation of wet milling equipment, tree renovation or financing</a:t>
            </a:r>
          </a:p>
          <a:p>
            <a:pPr marL="563563" indent="-563563" defTabSz="895350">
              <a:tabLst>
                <a:tab pos="517525" algn="r"/>
              </a:tabLst>
            </a:pPr>
            <a:r>
              <a:rPr lang="en-US" sz="900" dirty="0" smtClean="0">
                <a:solidFill>
                  <a:schemeClr val="tx1">
                    <a:lumMod val="65000"/>
                    <a:lumOff val="35000"/>
                  </a:schemeClr>
                </a:solidFill>
              </a:rPr>
              <a:t>*Normalized </a:t>
            </a:r>
            <a:r>
              <a:rPr lang="en-US" sz="900" dirty="0">
                <a:solidFill>
                  <a:schemeClr val="tx1">
                    <a:lumMod val="65000"/>
                    <a:lumOff val="35000"/>
                  </a:schemeClr>
                </a:solidFill>
              </a:rPr>
              <a:t>to 2012/13 average commodity prices – Arabica ICE “C” of $1.50 but adjusted for market differentials)</a:t>
            </a:r>
            <a:endParaRPr lang="en-US" sz="900" dirty="0" smtClean="0">
              <a:solidFill>
                <a:schemeClr val="tx1">
                  <a:lumMod val="65000"/>
                  <a:lumOff val="35000"/>
                </a:schemeClr>
              </a:solidFill>
            </a:endParaRPr>
          </a:p>
          <a:p>
            <a:pPr marL="563563" indent="-563563" defTabSz="895350">
              <a:tabLst>
                <a:tab pos="517525" algn="r"/>
              </a:tabLst>
            </a:pPr>
            <a:r>
              <a:rPr lang="en-US" sz="900" dirty="0" smtClean="0">
                <a:solidFill>
                  <a:schemeClr val="tx1">
                    <a:lumMod val="65000"/>
                    <a:lumOff val="35000"/>
                  </a:schemeClr>
                </a:solidFill>
              </a:rPr>
              <a:t>** </a:t>
            </a:r>
            <a:r>
              <a:rPr lang="en-US" sz="900" dirty="0">
                <a:solidFill>
                  <a:schemeClr val="tx1">
                    <a:lumMod val="65000"/>
                    <a:lumOff val="35000"/>
                  </a:schemeClr>
                </a:solidFill>
              </a:rPr>
              <a:t>Includes farm tools, equipment, internal transport, etc.</a:t>
            </a:r>
          </a:p>
          <a:p>
            <a:pPr defTabSz="895350">
              <a:tabLst>
                <a:tab pos="517525" algn="r"/>
              </a:tabLst>
            </a:pPr>
            <a:r>
              <a:rPr lang="en-US" sz="900" dirty="0" smtClean="0">
                <a:solidFill>
                  <a:schemeClr val="tx1">
                    <a:lumMod val="65000"/>
                    <a:lumOff val="35000"/>
                  </a:schemeClr>
                </a:solidFill>
              </a:rPr>
              <a:t>Source</a:t>
            </a:r>
            <a:r>
              <a:rPr lang="en-US" sz="900" dirty="0">
                <a:solidFill>
                  <a:schemeClr val="tx1">
                    <a:lumMod val="65000"/>
                    <a:lumOff val="35000"/>
                  </a:schemeClr>
                </a:solidFill>
              </a:rPr>
              <a:t>: </a:t>
            </a:r>
            <a:r>
              <a:rPr lang="en-US" sz="900" dirty="0" smtClean="0">
                <a:solidFill>
                  <a:schemeClr val="tx1">
                    <a:lumMod val="65000"/>
                    <a:lumOff val="35000"/>
                  </a:schemeClr>
                </a:solidFill>
              </a:rPr>
              <a:t>Stakeholder interviews, TechnoServe analysis</a:t>
            </a:r>
            <a:endParaRPr lang="en-US" sz="900" dirty="0">
              <a:solidFill>
                <a:schemeClr val="tx1">
                  <a:lumMod val="65000"/>
                  <a:lumOff val="35000"/>
                </a:schemeClr>
              </a:solidFill>
            </a:endParaRPr>
          </a:p>
        </p:txBody>
      </p:sp>
      <p:sp>
        <p:nvSpPr>
          <p:cNvPr id="52" name="Title 51"/>
          <p:cNvSpPr>
            <a:spLocks noGrp="1"/>
          </p:cNvSpPr>
          <p:nvPr>
            <p:ph type="title"/>
          </p:nvPr>
        </p:nvSpPr>
        <p:spPr/>
        <p:txBody>
          <a:bodyPr/>
          <a:lstStyle/>
          <a:p>
            <a:r>
              <a:rPr lang="en-US" b="0" dirty="0" smtClean="0"/>
              <a:t>Average farming cash costs are estimated to be around US$1.10  per </a:t>
            </a:r>
            <a:r>
              <a:rPr lang="en-US" b="0" dirty="0" err="1" smtClean="0"/>
              <a:t>lb</a:t>
            </a:r>
            <a:r>
              <a:rPr lang="en-US" b="0" dirty="0" smtClean="0"/>
              <a:t> and farmers receive ~ 80% of export price </a:t>
            </a:r>
            <a:endParaRPr lang="en-US" b="0" dirty="0"/>
          </a:p>
        </p:txBody>
      </p:sp>
      <p:sp>
        <p:nvSpPr>
          <p:cNvPr id="42" name="TextBox 41"/>
          <p:cNvSpPr txBox="1"/>
          <p:nvPr/>
        </p:nvSpPr>
        <p:spPr>
          <a:xfrm>
            <a:off x="370036" y="1212855"/>
            <a:ext cx="4704762" cy="523220"/>
          </a:xfrm>
          <a:prstGeom prst="rect">
            <a:avLst/>
          </a:prstGeom>
          <a:noFill/>
        </p:spPr>
        <p:txBody>
          <a:bodyPr wrap="square" rtlCol="0">
            <a:spAutoFit/>
          </a:bodyPr>
          <a:lstStyle/>
          <a:p>
            <a:r>
              <a:rPr lang="en-US" sz="1400" b="1" dirty="0" smtClean="0">
                <a:solidFill>
                  <a:schemeClr val="accent1"/>
                </a:solidFill>
              </a:rPr>
              <a:t>Cash cost of production for average Colombian farm</a:t>
            </a:r>
          </a:p>
          <a:p>
            <a:r>
              <a:rPr lang="en-US" sz="1400" dirty="0" smtClean="0">
                <a:solidFill>
                  <a:schemeClr val="accent1"/>
                </a:solidFill>
              </a:rPr>
              <a:t>US$ per </a:t>
            </a:r>
            <a:r>
              <a:rPr lang="en-US" sz="1400" dirty="0" err="1" smtClean="0">
                <a:solidFill>
                  <a:schemeClr val="accent1"/>
                </a:solidFill>
              </a:rPr>
              <a:t>lb</a:t>
            </a:r>
            <a:r>
              <a:rPr lang="en-US" sz="1400" dirty="0" smtClean="0">
                <a:solidFill>
                  <a:schemeClr val="accent1"/>
                </a:solidFill>
              </a:rPr>
              <a:t> green</a:t>
            </a:r>
            <a:endParaRPr lang="en-US" sz="1400" dirty="0">
              <a:solidFill>
                <a:schemeClr val="accent1"/>
              </a:solidFill>
            </a:endParaRPr>
          </a:p>
        </p:txBody>
      </p:sp>
      <p:cxnSp>
        <p:nvCxnSpPr>
          <p:cNvPr id="23" name="Straight Connector 22"/>
          <p:cNvCxnSpPr/>
          <p:nvPr>
            <p:custDataLst>
              <p:tags r:id="rId4"/>
            </p:custDataLst>
          </p:nvPr>
        </p:nvCxnSpPr>
        <p:spPr bwMode="gray">
          <a:xfrm>
            <a:off x="1143000" y="2143125"/>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custDataLst>
              <p:tags r:id="rId5"/>
            </p:custDataLst>
          </p:nvPr>
        </p:nvCxnSpPr>
        <p:spPr bwMode="gray">
          <a:xfrm>
            <a:off x="1971675" y="2238375"/>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custDataLst>
              <p:tags r:id="rId6"/>
            </p:custDataLst>
          </p:nvPr>
        </p:nvCxnSpPr>
        <p:spPr bwMode="gray">
          <a:xfrm>
            <a:off x="7753350" y="4162425"/>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custDataLst>
              <p:tags r:id="rId7"/>
            </p:custDataLst>
          </p:nvPr>
        </p:nvCxnSpPr>
        <p:spPr bwMode="gray">
          <a:xfrm>
            <a:off x="6924675" y="361950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custDataLst>
              <p:tags r:id="rId8"/>
            </p:custDataLst>
          </p:nvPr>
        </p:nvCxnSpPr>
        <p:spPr bwMode="gray">
          <a:xfrm>
            <a:off x="6105525" y="339090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custDataLst>
              <p:tags r:id="rId9"/>
            </p:custDataLst>
          </p:nvPr>
        </p:nvCxnSpPr>
        <p:spPr bwMode="gray">
          <a:xfrm>
            <a:off x="5276850" y="320040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custDataLst>
              <p:tags r:id="rId10"/>
            </p:custDataLst>
          </p:nvPr>
        </p:nvCxnSpPr>
        <p:spPr bwMode="gray">
          <a:xfrm>
            <a:off x="2790825" y="272415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11"/>
            </p:custDataLst>
          </p:nvPr>
        </p:nvCxnSpPr>
        <p:spPr bwMode="gray">
          <a:xfrm>
            <a:off x="4448175" y="320040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custDataLst>
              <p:tags r:id="rId12"/>
            </p:custDataLst>
          </p:nvPr>
        </p:nvCxnSpPr>
        <p:spPr bwMode="gray">
          <a:xfrm>
            <a:off x="3619500" y="272415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4" name="Object 3"/>
          <p:cNvGraphicFramePr>
            <a:graphicFrameLocks/>
          </p:cNvGraphicFramePr>
          <p:nvPr>
            <p:custDataLst>
              <p:tags r:id="rId13"/>
            </p:custDataLst>
            <p:extLst>
              <p:ext uri="{D42A27DB-BD31-4B8C-83A1-F6EECF244321}">
                <p14:modId xmlns:p14="http://schemas.microsoft.com/office/powerpoint/2010/main" val="3260792996"/>
              </p:ext>
            </p:extLst>
          </p:nvPr>
        </p:nvGraphicFramePr>
        <p:xfrm>
          <a:off x="381000" y="2019300"/>
          <a:ext cx="8486843" cy="3114675"/>
        </p:xfrm>
        <a:graphic>
          <a:graphicData uri="http://schemas.openxmlformats.org/presentationml/2006/ole">
            <mc:AlternateContent xmlns:mc="http://schemas.openxmlformats.org/markup-compatibility/2006">
              <mc:Choice xmlns:v="urn:schemas-microsoft-com:vml" Requires="v">
                <p:oleObj spid="_x0000_s270502" name="Chart" r:id="rId37" imgW="8486843" imgH="3114675" progId="MSGraph.Chart.8">
                  <p:embed followColorScheme="full"/>
                </p:oleObj>
              </mc:Choice>
              <mc:Fallback>
                <p:oleObj name="Chart" r:id="rId37" imgW="8486843" imgH="3114675" progId="MSGraph.Chart.8">
                  <p:embed followColorScheme="full"/>
                  <p:pic>
                    <p:nvPicPr>
                      <p:cNvPr id="0" name=""/>
                      <p:cNvPicPr/>
                      <p:nvPr/>
                    </p:nvPicPr>
                    <p:blipFill>
                      <a:blip r:embed="rId38"/>
                      <a:stretch>
                        <a:fillRect/>
                      </a:stretch>
                    </p:blipFill>
                    <p:spPr>
                      <a:xfrm>
                        <a:off x="381000" y="2019300"/>
                        <a:ext cx="8486843" cy="3114675"/>
                      </a:xfrm>
                      <a:prstGeom prst="rect">
                        <a:avLst/>
                      </a:prstGeom>
                    </p:spPr>
                  </p:pic>
                </p:oleObj>
              </mc:Fallback>
            </mc:AlternateContent>
          </a:graphicData>
        </a:graphic>
      </p:graphicFrame>
      <p:sp>
        <p:nvSpPr>
          <p:cNvPr id="63" name="Text Placeholder 50"/>
          <p:cNvSpPr>
            <a:spLocks noGrp="1"/>
          </p:cNvSpPr>
          <p:nvPr>
            <p:custDataLst>
              <p:tags r:id="rId14"/>
            </p:custDataLst>
          </p:nvPr>
        </p:nvSpPr>
        <p:spPr bwMode="auto">
          <a:xfrm>
            <a:off x="622300" y="5191125"/>
            <a:ext cx="574675"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FD94DF2-13C3-49FD-A398-E174E71D3A67}" type="datetime'Exp''''''o''rt ''''''''''''''p''''r''''i''c''''''''''e'''''">
              <a:rPr lang="en-US" sz="1400" b="1" smtClean="0">
                <a:solidFill>
                  <a:schemeClr val="accent1"/>
                </a:solidFill>
              </a:rPr>
              <a:pPr/>
              <a:t>Export price</a:t>
            </a:fld>
            <a:r>
              <a:rPr lang="en-US" sz="1400" b="1" dirty="0" smtClean="0">
                <a:solidFill>
                  <a:schemeClr val="accent1"/>
                </a:solidFill>
              </a:rPr>
              <a:t>*</a:t>
            </a:r>
            <a:endParaRPr lang="en-US" sz="1400" b="1" dirty="0">
              <a:solidFill>
                <a:schemeClr val="accent1"/>
              </a:solidFill>
              <a:latin typeface="Arial"/>
              <a:sym typeface="Arial"/>
            </a:endParaRPr>
          </a:p>
        </p:txBody>
      </p:sp>
      <p:sp useBgFill="1">
        <p:nvSpPr>
          <p:cNvPr id="89" name="Text Placeholder 54"/>
          <p:cNvSpPr>
            <a:spLocks noGrp="1"/>
          </p:cNvSpPr>
          <p:nvPr>
            <p:custDataLst>
              <p:tags r:id="rId15"/>
            </p:custDataLst>
          </p:nvPr>
        </p:nvSpPr>
        <p:spPr bwMode="gray">
          <a:xfrm>
            <a:off x="1541463" y="2084388"/>
            <a:ext cx="395288" cy="212725"/>
          </a:xfrm>
          <a:prstGeom prst="rect">
            <a:avLst/>
          </a:prstGeom>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5C34016-5474-485B-81BD-3F7910B3B87E}" type="datetime'''''''''0.''''''''0''''''''''''''6'''''''''''''">
              <a:rPr lang="en-US" sz="1400">
                <a:solidFill>
                  <a:schemeClr val="accent1"/>
                </a:solidFill>
                <a:latin typeface="Arial"/>
                <a:sym typeface="Arial"/>
              </a:rPr>
              <a:pPr marL="0" indent="0" algn="ctr">
                <a:spcBef>
                  <a:spcPct val="0"/>
                </a:spcBef>
                <a:spcAft>
                  <a:spcPct val="0"/>
                </a:spcAft>
                <a:buNone/>
              </a:pPr>
              <a:t>0.06</a:t>
            </a:fld>
            <a:endParaRPr lang="en-US" sz="1400" dirty="0">
              <a:solidFill>
                <a:schemeClr val="accent1"/>
              </a:solidFill>
              <a:latin typeface="Arial"/>
              <a:sym typeface="Arial"/>
            </a:endParaRPr>
          </a:p>
        </p:txBody>
      </p:sp>
      <p:sp>
        <p:nvSpPr>
          <p:cNvPr id="66" name="Text Placeholder 51"/>
          <p:cNvSpPr>
            <a:spLocks noGrp="1"/>
          </p:cNvSpPr>
          <p:nvPr>
            <p:custDataLst>
              <p:tags r:id="rId16"/>
            </p:custDataLst>
          </p:nvPr>
        </p:nvSpPr>
        <p:spPr bwMode="auto">
          <a:xfrm>
            <a:off x="1274763" y="5191125"/>
            <a:ext cx="928688"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A4FFDB8-A1DB-48EE-B1C6-4078B0631B3C}" type="datetime'''Cof''f''''''ee'''''' co''n''''''tr''ib''''''''uti''''''on'">
              <a:rPr lang="en-US" sz="1400">
                <a:solidFill>
                  <a:schemeClr val="accent1"/>
                </a:solidFill>
              </a:rPr>
              <a:pPr/>
              <a:t>Coffee contribution</a:t>
            </a:fld>
            <a:endParaRPr lang="en-US" sz="1400" dirty="0">
              <a:solidFill>
                <a:schemeClr val="accent1"/>
              </a:solidFill>
              <a:latin typeface="Arial"/>
              <a:sym typeface="Arial"/>
            </a:endParaRPr>
          </a:p>
        </p:txBody>
      </p:sp>
      <p:sp>
        <p:nvSpPr>
          <p:cNvPr id="70" name="Text Placeholder 52"/>
          <p:cNvSpPr>
            <a:spLocks noGrp="1"/>
          </p:cNvSpPr>
          <p:nvPr>
            <p:custDataLst>
              <p:tags r:id="rId17"/>
            </p:custDataLst>
          </p:nvPr>
        </p:nvSpPr>
        <p:spPr bwMode="auto">
          <a:xfrm>
            <a:off x="2284413" y="5191125"/>
            <a:ext cx="555625" cy="63817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CE42042-B8E6-4C8E-AFD9-CB6F5703A925}" type="datetime'S''up''pl''''y ''''''''''c''h''a''i''''''n ''c''osts'''">
              <a:rPr lang="en-US" sz="1400">
                <a:solidFill>
                  <a:schemeClr val="accent1"/>
                </a:solidFill>
              </a:rPr>
              <a:pPr/>
              <a:t>Supply chain costs</a:t>
            </a:fld>
            <a:endParaRPr lang="en-US" sz="1400" dirty="0">
              <a:solidFill>
                <a:schemeClr val="accent1"/>
              </a:solidFill>
              <a:latin typeface="Arial"/>
              <a:sym typeface="Arial"/>
            </a:endParaRPr>
          </a:p>
        </p:txBody>
      </p:sp>
      <p:sp>
        <p:nvSpPr>
          <p:cNvPr id="88" name="Text Placeholder 53"/>
          <p:cNvSpPr>
            <a:spLocks noGrp="1"/>
          </p:cNvSpPr>
          <p:nvPr>
            <p:custDataLst>
              <p:tags r:id="rId18"/>
            </p:custDataLst>
          </p:nvPr>
        </p:nvSpPr>
        <p:spPr bwMode="gray">
          <a:xfrm>
            <a:off x="712788" y="1905000"/>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69A7F49-A88C-47DF-9B72-76DF72D27AC0}" type="datetime'''''''''''''1''''''.''''''7''''''''''''''''''''''''''''''4'''">
              <a:rPr lang="en-US" sz="1400" b="1">
                <a:solidFill>
                  <a:schemeClr val="accent1"/>
                </a:solidFill>
              </a:rPr>
              <a:pPr/>
              <a:t>1.74</a:t>
            </a:fld>
            <a:endParaRPr lang="en-US" sz="1400" b="1" dirty="0">
              <a:solidFill>
                <a:schemeClr val="accent1"/>
              </a:solidFill>
              <a:latin typeface="Arial"/>
              <a:sym typeface="Arial"/>
            </a:endParaRPr>
          </a:p>
        </p:txBody>
      </p:sp>
      <p:sp>
        <p:nvSpPr>
          <p:cNvPr id="90" name="Text Placeholder 55"/>
          <p:cNvSpPr>
            <a:spLocks noGrp="1"/>
          </p:cNvSpPr>
          <p:nvPr>
            <p:custDataLst>
              <p:tags r:id="rId19"/>
            </p:custDataLst>
          </p:nvPr>
        </p:nvSpPr>
        <p:spPr bwMode="gray">
          <a:xfrm>
            <a:off x="2365375" y="2374900"/>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33B8703-ED32-47B7-968C-3944D36D294E}" type="datetime'''''''''''''''''''0''''''''''''''''''''.''''''''''''2''9'''">
              <a:rPr lang="en-US" sz="1400">
                <a:solidFill>
                  <a:schemeClr val="accent1"/>
                </a:solidFill>
                <a:latin typeface="Arial"/>
                <a:sym typeface="Arial"/>
              </a:rPr>
              <a:pPr marL="0" indent="0" algn="ctr">
                <a:spcBef>
                  <a:spcPct val="0"/>
                </a:spcBef>
                <a:spcAft>
                  <a:spcPct val="0"/>
                </a:spcAft>
                <a:buNone/>
              </a:pPr>
              <a:t>0.29</a:t>
            </a:fld>
            <a:endParaRPr lang="en-US" sz="1400" dirty="0">
              <a:solidFill>
                <a:schemeClr val="accent1"/>
              </a:solidFill>
              <a:latin typeface="Arial"/>
              <a:sym typeface="Arial"/>
            </a:endParaRPr>
          </a:p>
        </p:txBody>
      </p:sp>
      <p:sp>
        <p:nvSpPr>
          <p:cNvPr id="84" name="Text Placeholder 234"/>
          <p:cNvSpPr>
            <a:spLocks noGrp="1"/>
          </p:cNvSpPr>
          <p:nvPr>
            <p:custDataLst>
              <p:tags r:id="rId20"/>
            </p:custDataLst>
          </p:nvPr>
        </p:nvSpPr>
        <p:spPr bwMode="auto">
          <a:xfrm>
            <a:off x="8105775" y="5191125"/>
            <a:ext cx="485775"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936CD40-2ED7-4BBE-B42A-E2968CC5EE3B}" type="datetime'''''Ag''''''''r''''o-''''''''''''inp''''''ut''''''''s'''''">
              <a:rPr lang="en-US" sz="1400">
                <a:solidFill>
                  <a:schemeClr val="accent1"/>
                </a:solidFill>
              </a:rPr>
              <a:pPr/>
              <a:t>Agro-inputs</a:t>
            </a:fld>
            <a:endParaRPr lang="en-US" sz="1400" dirty="0">
              <a:solidFill>
                <a:schemeClr val="accent1"/>
              </a:solidFill>
              <a:latin typeface="Arial"/>
              <a:sym typeface="Arial"/>
            </a:endParaRPr>
          </a:p>
        </p:txBody>
      </p:sp>
      <p:sp>
        <p:nvSpPr>
          <p:cNvPr id="29" name="Text Placeholder 100"/>
          <p:cNvSpPr>
            <a:spLocks noGrp="1"/>
          </p:cNvSpPr>
          <p:nvPr>
            <p:custDataLst>
              <p:tags r:id="rId21"/>
            </p:custDataLst>
          </p:nvPr>
        </p:nvSpPr>
        <p:spPr bwMode="gray">
          <a:xfrm>
            <a:off x="8151813" y="3924300"/>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3A1A0DE-F999-427E-A86D-4314261C61FA}" type="datetime'''''''''''''''0''''''''''''''''.5''''''''''2'''''''''''''">
              <a:rPr lang="en-US" sz="1400">
                <a:solidFill>
                  <a:schemeClr val="accent1"/>
                </a:solidFill>
              </a:rPr>
              <a:pPr/>
              <a:t>0.52</a:t>
            </a:fld>
            <a:endParaRPr lang="en-US" sz="1400" dirty="0">
              <a:solidFill>
                <a:schemeClr val="accent1"/>
              </a:solidFill>
              <a:latin typeface="Arial"/>
              <a:sym typeface="Arial"/>
            </a:endParaRPr>
          </a:p>
        </p:txBody>
      </p:sp>
      <p:sp>
        <p:nvSpPr>
          <p:cNvPr id="83" name="Text Placeholder 233"/>
          <p:cNvSpPr>
            <a:spLocks noGrp="1"/>
          </p:cNvSpPr>
          <p:nvPr>
            <p:custDataLst>
              <p:tags r:id="rId22"/>
            </p:custDataLst>
          </p:nvPr>
        </p:nvSpPr>
        <p:spPr bwMode="auto">
          <a:xfrm>
            <a:off x="7307263" y="5191125"/>
            <a:ext cx="425450"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F298930-CBEC-42EC-A3D1-9D2CD933BDFB}" type="datetime'''F''ar''''''''''m'''''''''' ''''la''''''''bo''''''''''''r'''">
              <a:rPr lang="en-US" sz="1400">
                <a:solidFill>
                  <a:schemeClr val="accent1"/>
                </a:solidFill>
              </a:rPr>
              <a:pPr/>
              <a:t>Farm labor</a:t>
            </a:fld>
            <a:endParaRPr lang="en-US" sz="1400" dirty="0">
              <a:solidFill>
                <a:schemeClr val="accent1"/>
              </a:solidFill>
              <a:latin typeface="Arial"/>
              <a:sym typeface="Arial"/>
            </a:endParaRPr>
          </a:p>
        </p:txBody>
      </p:sp>
      <p:sp>
        <p:nvSpPr>
          <p:cNvPr id="28" name="Text Placeholder 99"/>
          <p:cNvSpPr>
            <a:spLocks noGrp="1"/>
          </p:cNvSpPr>
          <p:nvPr>
            <p:custDataLst>
              <p:tags r:id="rId23"/>
            </p:custDataLst>
          </p:nvPr>
        </p:nvSpPr>
        <p:spPr bwMode="gray">
          <a:xfrm>
            <a:off x="7323138" y="3784600"/>
            <a:ext cx="395288" cy="212725"/>
          </a:xfrm>
          <a:prstGeom prst="rect">
            <a:avLst/>
          </a:prstGeom>
          <a:noFill/>
          <a:extLst>
            <a:ext uri="{909E8E84-426E-40DD-AFC4-6F175D3DCCD1}">
              <a14:hiddenFill xmlns:a14="http://schemas.microsoft.com/office/drawing/2010/main">
                <a:solidFill>
                  <a:schemeClr val="accent1"/>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0898803-FA9C-4268-AEA1-E33E9CF22BC5}" type="datetime'''''''''''''''''''''''''''0''''''''''''''''''.''''''3''''3'''">
              <a:rPr lang="en-US" sz="1400">
                <a:solidFill>
                  <a:schemeClr val="accent1"/>
                </a:solidFill>
              </a:rPr>
              <a:pPr/>
              <a:t>0.33</a:t>
            </a:fld>
            <a:endParaRPr lang="en-US" sz="1400" dirty="0">
              <a:solidFill>
                <a:schemeClr val="accent1"/>
              </a:solidFill>
              <a:latin typeface="Arial"/>
              <a:sym typeface="Arial"/>
            </a:endParaRPr>
          </a:p>
        </p:txBody>
      </p:sp>
      <p:sp>
        <p:nvSpPr>
          <p:cNvPr id="82" name="Text Placeholder 232"/>
          <p:cNvSpPr>
            <a:spLocks noGrp="1"/>
          </p:cNvSpPr>
          <p:nvPr>
            <p:custDataLst>
              <p:tags r:id="rId24"/>
            </p:custDataLst>
          </p:nvPr>
        </p:nvSpPr>
        <p:spPr bwMode="auto">
          <a:xfrm>
            <a:off x="6438900" y="5191125"/>
            <a:ext cx="515938"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78D208F-D235-4B26-95BC-8BF580BC4871}" type="datetime'We''t-''''m''''''''''''''i''ll''''''i''''''''n''g'''''''">
              <a:rPr lang="en-US" sz="1400">
                <a:solidFill>
                  <a:schemeClr val="accent1"/>
                </a:solidFill>
              </a:rPr>
              <a:pPr/>
              <a:t>Wet-milling</a:t>
            </a:fld>
            <a:endParaRPr lang="en-US" sz="1400" dirty="0">
              <a:solidFill>
                <a:schemeClr val="accent1"/>
              </a:solidFill>
              <a:latin typeface="Arial"/>
              <a:sym typeface="Arial"/>
            </a:endParaRPr>
          </a:p>
        </p:txBody>
      </p:sp>
      <p:sp>
        <p:nvSpPr>
          <p:cNvPr id="27" name="Text Placeholder 98"/>
          <p:cNvSpPr>
            <a:spLocks noGrp="1"/>
          </p:cNvSpPr>
          <p:nvPr>
            <p:custDataLst>
              <p:tags r:id="rId25"/>
            </p:custDataLst>
          </p:nvPr>
        </p:nvSpPr>
        <p:spPr bwMode="gray">
          <a:xfrm>
            <a:off x="6499225" y="3398838"/>
            <a:ext cx="395288" cy="212725"/>
          </a:xfrm>
          <a:prstGeom prst="rect">
            <a:avLst/>
          </a:prstGeom>
          <a:noFill/>
          <a:extLst>
            <a:ext uri="{909E8E84-426E-40DD-AFC4-6F175D3DCCD1}">
              <a14:hiddenFill xmlns:a14="http://schemas.microsoft.com/office/drawing/2010/main">
                <a:solidFill>
                  <a:srgbClr val="FFFFFF"/>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C23F924C-E30B-47AF-987E-7BFD0E01CB05}" type="datetime'''''''''''''0.''''''''''''''''''''''''''1''''''''''''''4'">
              <a:rPr lang="en-US" sz="1400">
                <a:solidFill>
                  <a:schemeClr val="accent1"/>
                </a:solidFill>
              </a:rPr>
              <a:pPr/>
              <a:t>0.14</a:t>
            </a:fld>
            <a:endParaRPr lang="en-US" sz="1400" dirty="0">
              <a:solidFill>
                <a:schemeClr val="accent1"/>
              </a:solidFill>
              <a:latin typeface="Arial"/>
              <a:sym typeface="Arial"/>
            </a:endParaRPr>
          </a:p>
        </p:txBody>
      </p:sp>
      <p:sp>
        <p:nvSpPr>
          <p:cNvPr id="34" name="Text Placeholder 103"/>
          <p:cNvSpPr>
            <a:spLocks noGrp="1"/>
          </p:cNvSpPr>
          <p:nvPr>
            <p:custDataLst>
              <p:tags r:id="rId26"/>
            </p:custDataLst>
          </p:nvPr>
        </p:nvSpPr>
        <p:spPr bwMode="auto">
          <a:xfrm>
            <a:off x="5589588" y="5191125"/>
            <a:ext cx="566738"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C448C63-63E6-43B3-A99B-C7C9F00B2FD9}" type="datetime'Ot''''''''h''''e''''''r co''''''''''s''''t''''''''''s'''''''''">
              <a:rPr lang="en-US" sz="1400" smtClean="0">
                <a:solidFill>
                  <a:schemeClr val="accent1"/>
                </a:solidFill>
              </a:rPr>
              <a:pPr/>
              <a:t>Other costs</a:t>
            </a:fld>
            <a:r>
              <a:rPr lang="en-US" sz="1400" dirty="0" smtClean="0">
                <a:solidFill>
                  <a:schemeClr val="accent1"/>
                </a:solidFill>
              </a:rPr>
              <a:t>**</a:t>
            </a:r>
            <a:endParaRPr lang="en-US" sz="1400" dirty="0">
              <a:solidFill>
                <a:schemeClr val="accent1"/>
              </a:solidFill>
              <a:latin typeface="Arial"/>
              <a:sym typeface="Arial"/>
            </a:endParaRPr>
          </a:p>
        </p:txBody>
      </p:sp>
      <p:sp>
        <p:nvSpPr>
          <p:cNvPr id="37" name="Text Placeholder 104"/>
          <p:cNvSpPr>
            <a:spLocks noGrp="1"/>
          </p:cNvSpPr>
          <p:nvPr>
            <p:custDataLst>
              <p:tags r:id="rId27"/>
            </p:custDataLst>
          </p:nvPr>
        </p:nvSpPr>
        <p:spPr bwMode="gray">
          <a:xfrm>
            <a:off x="5681663" y="3189288"/>
            <a:ext cx="382588" cy="212725"/>
          </a:xfrm>
          <a:prstGeom prst="rect">
            <a:avLst/>
          </a:prstGeom>
          <a:noFill/>
          <a:extLst>
            <a:ext uri="{909E8E84-426E-40DD-AFC4-6F175D3DCCD1}">
              <a14:hiddenFill xmlns:a14="http://schemas.microsoft.com/office/drawing/2010/main">
                <a:solidFill>
                  <a:srgbClr val="FFFFFF"/>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8C3DB4F-B749-4671-A422-E2F7C9D7C0C7}" type="datetime'''''''''''''''''''0''''.''''''''1''''''''''''''1'''''''">
              <a:rPr lang="en-US" sz="1400">
                <a:solidFill>
                  <a:schemeClr val="accent1"/>
                </a:solidFill>
              </a:rPr>
              <a:pPr/>
              <a:t>0.11</a:t>
            </a:fld>
            <a:endParaRPr lang="en-US" sz="1400" dirty="0">
              <a:solidFill>
                <a:schemeClr val="accent1"/>
              </a:solidFill>
              <a:latin typeface="Arial"/>
              <a:sym typeface="Arial"/>
            </a:endParaRPr>
          </a:p>
        </p:txBody>
      </p:sp>
      <p:sp>
        <p:nvSpPr>
          <p:cNvPr id="86" name="Text Placeholder 236"/>
          <p:cNvSpPr>
            <a:spLocks noGrp="1"/>
          </p:cNvSpPr>
          <p:nvPr>
            <p:custDataLst>
              <p:tags r:id="rId28"/>
            </p:custDataLst>
          </p:nvPr>
        </p:nvSpPr>
        <p:spPr bwMode="auto">
          <a:xfrm>
            <a:off x="4687888" y="5191125"/>
            <a:ext cx="712788"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D70ABB5-6CEA-476F-8C78-93ABAF426086}" type="datetime'F''a''r''''''''''''m''i''n''''''g'''''' ''c''os''''''''''ts'">
              <a:rPr lang="en-US" sz="1400" b="1">
                <a:solidFill>
                  <a:schemeClr val="accent1"/>
                </a:solidFill>
                <a:latin typeface="Arial"/>
                <a:sym typeface="Arial"/>
              </a:rPr>
              <a:pPr marL="0" indent="0" algn="ctr">
                <a:spcBef>
                  <a:spcPct val="0"/>
                </a:spcBef>
                <a:spcAft>
                  <a:spcPct val="0"/>
                </a:spcAft>
                <a:buNone/>
              </a:pPr>
              <a:t>Farming costs</a:t>
            </a:fld>
            <a:endParaRPr lang="en-US" sz="1400" b="1" dirty="0">
              <a:solidFill>
                <a:schemeClr val="accent1"/>
              </a:solidFill>
              <a:latin typeface="Arial"/>
              <a:sym typeface="Arial"/>
            </a:endParaRPr>
          </a:p>
        </p:txBody>
      </p:sp>
      <p:sp>
        <p:nvSpPr>
          <p:cNvPr id="26" name="Text Placeholder 97"/>
          <p:cNvSpPr>
            <a:spLocks noGrp="1"/>
          </p:cNvSpPr>
          <p:nvPr>
            <p:custDataLst>
              <p:tags r:id="rId29"/>
            </p:custDataLst>
          </p:nvPr>
        </p:nvSpPr>
        <p:spPr bwMode="gray">
          <a:xfrm>
            <a:off x="4846638" y="2962275"/>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C4943F97-C0BD-4B05-8A3A-4C7B0A796270}" type="datetime'''''1.''''''''''''1''''''''''''''''''''''0'''''''''''''''">
              <a:rPr lang="en-US" sz="1400" b="1">
                <a:solidFill>
                  <a:schemeClr val="accent1"/>
                </a:solidFill>
              </a:rPr>
              <a:pPr/>
              <a:t>1.10</a:t>
            </a:fld>
            <a:endParaRPr lang="en-US" sz="1400" b="1" dirty="0">
              <a:solidFill>
                <a:schemeClr val="accent1"/>
              </a:solidFill>
              <a:latin typeface="Arial"/>
              <a:sym typeface="Arial"/>
            </a:endParaRPr>
          </a:p>
        </p:txBody>
      </p:sp>
      <p:sp>
        <p:nvSpPr>
          <p:cNvPr id="81" name="Text Placeholder 231"/>
          <p:cNvSpPr>
            <a:spLocks noGrp="1"/>
          </p:cNvSpPr>
          <p:nvPr>
            <p:custDataLst>
              <p:tags r:id="rId30"/>
            </p:custDataLst>
          </p:nvPr>
        </p:nvSpPr>
        <p:spPr bwMode="auto">
          <a:xfrm>
            <a:off x="3938588" y="5191124"/>
            <a:ext cx="554038"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C6EBDDAE-146F-426F-978C-31255484EA8B}" type="datetime'''''''C''''a''s''''h&#10;m''''a''''''r''''''g''''''''''in'''">
              <a:rPr lang="en-US" sz="1400">
                <a:solidFill>
                  <a:schemeClr val="accent1"/>
                </a:solidFill>
              </a:rPr>
              <a:pPr/>
              <a:t>Cash
margin</a:t>
            </a:fld>
            <a:endParaRPr lang="en-US" sz="1400" dirty="0">
              <a:solidFill>
                <a:schemeClr val="accent1"/>
              </a:solidFill>
              <a:latin typeface="Arial"/>
              <a:sym typeface="Arial"/>
            </a:endParaRPr>
          </a:p>
        </p:txBody>
      </p:sp>
      <p:sp>
        <p:nvSpPr>
          <p:cNvPr id="25" name="Text Placeholder 96"/>
          <p:cNvSpPr>
            <a:spLocks noGrp="1"/>
          </p:cNvSpPr>
          <p:nvPr>
            <p:custDataLst>
              <p:tags r:id="rId31"/>
            </p:custDataLst>
          </p:nvPr>
        </p:nvSpPr>
        <p:spPr bwMode="gray">
          <a:xfrm>
            <a:off x="4017963" y="2855913"/>
            <a:ext cx="395288" cy="212725"/>
          </a:xfrm>
          <a:prstGeom prst="rect">
            <a:avLst/>
          </a:prstGeom>
          <a:noFill/>
          <a:extLst>
            <a:ext uri="{909E8E84-426E-40DD-AFC4-6F175D3DCCD1}">
              <a14:hiddenFill xmlns:a14="http://schemas.microsoft.com/office/drawing/2010/main">
                <a:solidFill>
                  <a:schemeClr val="accent1"/>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6DCD69D-D8A3-4848-93FE-B342F1350CB1}" type="datetime'0''''''''''''''''''''''''.''''''''''''''2''''''''9'''">
              <a:rPr lang="en-US" sz="1400">
                <a:solidFill>
                  <a:schemeClr val="accent1"/>
                </a:solidFill>
              </a:rPr>
              <a:pPr/>
              <a:t>0.29</a:t>
            </a:fld>
            <a:endParaRPr lang="en-US" sz="1400" dirty="0">
              <a:solidFill>
                <a:schemeClr val="accent1"/>
              </a:solidFill>
              <a:latin typeface="Arial"/>
              <a:sym typeface="Arial"/>
            </a:endParaRPr>
          </a:p>
        </p:txBody>
      </p:sp>
      <p:sp>
        <p:nvSpPr>
          <p:cNvPr id="80" name="Text Placeholder 230"/>
          <p:cNvSpPr>
            <a:spLocks noGrp="1"/>
          </p:cNvSpPr>
          <p:nvPr>
            <p:custDataLst>
              <p:tags r:id="rId32"/>
            </p:custDataLst>
          </p:nvPr>
        </p:nvSpPr>
        <p:spPr bwMode="auto">
          <a:xfrm>
            <a:off x="3133725" y="5191125"/>
            <a:ext cx="506413" cy="63817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7769BC9-FF32-497C-B5CD-3A777EDDC12D}" type="datetime'''''''Fa''''''''''r''m''-''''''g''a''''''te'' ''pr''''i''c''e'">
              <a:rPr lang="en-US" sz="1400" b="1" smtClean="0">
                <a:solidFill>
                  <a:schemeClr val="accent1"/>
                </a:solidFill>
              </a:rPr>
              <a:pPr/>
              <a:t>Farm-gate price</a:t>
            </a:fld>
            <a:endParaRPr lang="en-US" sz="1400" b="1" dirty="0">
              <a:solidFill>
                <a:schemeClr val="accent1"/>
              </a:solidFill>
              <a:latin typeface="Arial"/>
              <a:sym typeface="Arial"/>
            </a:endParaRPr>
          </a:p>
        </p:txBody>
      </p:sp>
      <p:sp>
        <p:nvSpPr>
          <p:cNvPr id="24" name="Text Placeholder 95"/>
          <p:cNvSpPr>
            <a:spLocks noGrp="1"/>
          </p:cNvSpPr>
          <p:nvPr>
            <p:custDataLst>
              <p:tags r:id="rId33"/>
            </p:custDataLst>
          </p:nvPr>
        </p:nvSpPr>
        <p:spPr bwMode="gray">
          <a:xfrm>
            <a:off x="3189288" y="2486025"/>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2B434D8-BDCE-4CB0-8525-7883EBC32000}" type="datetime'''''''''''1.3''''''''''9'''''''''''''''''''''''''''''''''''">
              <a:rPr lang="en-US" sz="1400" b="1">
                <a:solidFill>
                  <a:schemeClr val="accent1"/>
                </a:solidFill>
              </a:rPr>
              <a:pPr/>
              <a:t>1.39</a:t>
            </a:fld>
            <a:endParaRPr lang="en-US" sz="1400" b="1" dirty="0">
              <a:solidFill>
                <a:schemeClr val="accent1"/>
              </a:solidFill>
              <a:latin typeface="Arial"/>
              <a:sym typeface="Arial"/>
            </a:endParaRPr>
          </a:p>
        </p:txBody>
      </p:sp>
      <p:sp>
        <p:nvSpPr>
          <p:cNvPr id="43" name="TextBox 42"/>
          <p:cNvSpPr txBox="1"/>
          <p:nvPr/>
        </p:nvSpPr>
        <p:spPr>
          <a:xfrm>
            <a:off x="4400550" y="1758935"/>
            <a:ext cx="2098675" cy="646331"/>
          </a:xfrm>
          <a:prstGeom prst="rect">
            <a:avLst/>
          </a:prstGeom>
          <a:noFill/>
        </p:spPr>
        <p:txBody>
          <a:bodyPr wrap="square" lIns="0" tIns="0" rIns="0" bIns="0" rtlCol="0">
            <a:spAutoFit/>
          </a:bodyPr>
          <a:lstStyle/>
          <a:p>
            <a:r>
              <a:rPr lang="en-US" sz="1400" dirty="0" smtClean="0"/>
              <a:t>Negative margin if family labor is factored in at </a:t>
            </a:r>
            <a:r>
              <a:rPr lang="en-US" sz="1400" dirty="0"/>
              <a:t>full value </a:t>
            </a:r>
            <a:r>
              <a:rPr lang="en-US" sz="1400" dirty="0" smtClean="0"/>
              <a:t>(</a:t>
            </a:r>
            <a:r>
              <a:rPr lang="en-US" sz="1400" dirty="0"/>
              <a:t>US$ </a:t>
            </a:r>
            <a:r>
              <a:rPr lang="en-US" sz="1400" dirty="0" smtClean="0"/>
              <a:t>0.56 per lb)</a:t>
            </a:r>
            <a:endParaRPr lang="en-US" sz="1400" dirty="0"/>
          </a:p>
        </p:txBody>
      </p:sp>
    </p:spTree>
    <p:extLst>
      <p:ext uri="{BB962C8B-B14F-4D97-AF65-F5344CB8AC3E}">
        <p14:creationId xmlns:p14="http://schemas.microsoft.com/office/powerpoint/2010/main" val="24013242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extLst>
              <p:ext uri="{D42A27DB-BD31-4B8C-83A1-F6EECF244321}">
                <p14:modId xmlns:p14="http://schemas.microsoft.com/office/powerpoint/2010/main" val="413335665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76661" name="think-cell Slide" r:id="rId26" imgW="270" imgH="270" progId="TCLayout.ActiveDocument.1">
                  <p:embed/>
                </p:oleObj>
              </mc:Choice>
              <mc:Fallback>
                <p:oleObj name="think-cell Slide" r:id="rId26" imgW="270" imgH="270" progId="TCLayout.ActiveDocument.1">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b="1" u="none" strike="noStrike" cap="none" normalizeH="0" smtClean="0">
              <a:ln>
                <a:noFill/>
              </a:ln>
              <a:solidFill>
                <a:schemeClr val="tx1"/>
              </a:solidFill>
              <a:effectLst/>
              <a:latin typeface="Arial"/>
              <a:sym typeface="Arial"/>
            </a:endParaRPr>
          </a:p>
        </p:txBody>
      </p:sp>
      <p:sp>
        <p:nvSpPr>
          <p:cNvPr id="18" name="McK Footnote"/>
          <p:cNvSpPr txBox="1">
            <a:spLocks noChangeArrowheads="1"/>
          </p:cNvSpPr>
          <p:nvPr/>
        </p:nvSpPr>
        <p:spPr bwMode="auto">
          <a:xfrm>
            <a:off x="696232" y="6211094"/>
            <a:ext cx="7124541" cy="623248"/>
          </a:xfrm>
          <a:prstGeom prst="rect">
            <a:avLst/>
          </a:prstGeom>
          <a:noFill/>
          <a:ln w="9525">
            <a:noFill/>
            <a:miter lim="800000"/>
            <a:headEnd/>
            <a:tailEnd/>
          </a:ln>
        </p:spPr>
        <p:txBody>
          <a:bodyPr wrap="square" lIns="0" tIns="0" rIns="0" bIns="0" anchor="b">
            <a:spAutoFit/>
          </a:bodyPr>
          <a:lstStyle/>
          <a:p>
            <a:pPr marL="563563" indent="-563563" defTabSz="895350">
              <a:lnSpc>
                <a:spcPct val="90000"/>
              </a:lnSpc>
              <a:tabLst>
                <a:tab pos="517525" algn="r"/>
              </a:tabLst>
            </a:pPr>
            <a:r>
              <a:rPr lang="en-US" sz="900" dirty="0" smtClean="0">
                <a:solidFill>
                  <a:schemeClr val="tx1">
                    <a:lumMod val="65000"/>
                    <a:lumOff val="35000"/>
                  </a:schemeClr>
                </a:solidFill>
              </a:rPr>
              <a:t>*Prices </a:t>
            </a:r>
            <a:r>
              <a:rPr lang="en-US" sz="900" dirty="0">
                <a:solidFill>
                  <a:schemeClr val="tx1">
                    <a:lumMod val="65000"/>
                    <a:lumOff val="35000"/>
                  </a:schemeClr>
                </a:solidFill>
              </a:rPr>
              <a:t>are normalized to 2012/13 average commodity prices – Arabica (ICE “C”) $</a:t>
            </a:r>
            <a:r>
              <a:rPr lang="en-US" sz="900" dirty="0" smtClean="0">
                <a:solidFill>
                  <a:schemeClr val="tx1">
                    <a:lumMod val="65000"/>
                    <a:lumOff val="35000"/>
                  </a:schemeClr>
                </a:solidFill>
              </a:rPr>
              <a:t>1.50 but adjusted for market differentials</a:t>
            </a:r>
          </a:p>
          <a:p>
            <a:pPr defTabSz="895350">
              <a:lnSpc>
                <a:spcPct val="90000"/>
              </a:lnSpc>
              <a:tabLst>
                <a:tab pos="517525" algn="r"/>
              </a:tabLst>
            </a:pPr>
            <a:r>
              <a:rPr lang="en-US" sz="900" dirty="0" smtClean="0">
                <a:solidFill>
                  <a:schemeClr val="tx1">
                    <a:lumMod val="65000"/>
                    <a:lumOff val="35000"/>
                  </a:schemeClr>
                </a:solidFill>
              </a:rPr>
              <a:t>** Coffee contribution of US$ 6 cents/</a:t>
            </a:r>
            <a:r>
              <a:rPr lang="en-US" sz="900" dirty="0" err="1" smtClean="0">
                <a:solidFill>
                  <a:schemeClr val="tx1">
                    <a:lumMod val="65000"/>
                    <a:lumOff val="35000"/>
                  </a:schemeClr>
                </a:solidFill>
              </a:rPr>
              <a:t>lb</a:t>
            </a:r>
            <a:r>
              <a:rPr lang="en-US" sz="900" dirty="0" smtClean="0">
                <a:solidFill>
                  <a:schemeClr val="tx1">
                    <a:lumMod val="65000"/>
                    <a:lumOff val="35000"/>
                  </a:schemeClr>
                </a:solidFill>
              </a:rPr>
              <a:t> in Colombia and US$ 4.25 per 46-kg bag in Honduras (not considering ‘</a:t>
            </a:r>
            <a:r>
              <a:rPr lang="en-US" sz="900" dirty="0" err="1" smtClean="0">
                <a:solidFill>
                  <a:schemeClr val="tx1">
                    <a:lumMod val="65000"/>
                    <a:lumOff val="35000"/>
                  </a:schemeClr>
                </a:solidFill>
              </a:rPr>
              <a:t>retención</a:t>
            </a:r>
            <a:r>
              <a:rPr lang="en-US" sz="900" dirty="0" smtClean="0">
                <a:solidFill>
                  <a:schemeClr val="tx1">
                    <a:lumMod val="65000"/>
                    <a:lumOff val="35000"/>
                  </a:schemeClr>
                </a:solidFill>
              </a:rPr>
              <a:t>’ of US$ 9 per 46 kg bag that is reimbursed to registered farmers after payment)</a:t>
            </a:r>
          </a:p>
          <a:p>
            <a:pPr defTabSz="895350">
              <a:lnSpc>
                <a:spcPct val="90000"/>
              </a:lnSpc>
              <a:tabLst>
                <a:tab pos="517525" algn="r"/>
              </a:tabLst>
            </a:pPr>
            <a:r>
              <a:rPr lang="en-US" sz="900" dirty="0" smtClean="0">
                <a:solidFill>
                  <a:schemeClr val="tx1">
                    <a:lumMod val="65000"/>
                    <a:lumOff val="35000"/>
                  </a:schemeClr>
                </a:solidFill>
              </a:rPr>
              <a:t>*** Calculated as difference between farm gate price and ICO price</a:t>
            </a:r>
            <a:endParaRPr lang="en-US" sz="900" dirty="0">
              <a:solidFill>
                <a:schemeClr val="tx1">
                  <a:lumMod val="65000"/>
                  <a:lumOff val="35000"/>
                </a:schemeClr>
              </a:solidFill>
            </a:endParaRPr>
          </a:p>
          <a:p>
            <a:pPr marL="563563" indent="-563563" defTabSz="895350">
              <a:lnSpc>
                <a:spcPct val="90000"/>
              </a:lnSpc>
              <a:tabLst>
                <a:tab pos="517525" algn="r"/>
              </a:tabLst>
            </a:pPr>
            <a:r>
              <a:rPr lang="en-US" sz="900" dirty="0">
                <a:solidFill>
                  <a:schemeClr val="tx1">
                    <a:lumMod val="65000"/>
                    <a:lumOff val="35000"/>
                  </a:schemeClr>
                </a:solidFill>
              </a:rPr>
              <a:t>Source: trade statistics; TechnoServe analysis and interviews in Brazil, </a:t>
            </a:r>
            <a:r>
              <a:rPr lang="en-US" sz="900" dirty="0" smtClean="0">
                <a:solidFill>
                  <a:schemeClr val="tx1">
                    <a:lumMod val="65000"/>
                    <a:lumOff val="35000"/>
                  </a:schemeClr>
                </a:solidFill>
              </a:rPr>
              <a:t>Colombia, Honduras and Peru</a:t>
            </a:r>
            <a:endParaRPr lang="en-US" sz="900" dirty="0">
              <a:solidFill>
                <a:schemeClr val="tx1">
                  <a:lumMod val="65000"/>
                  <a:lumOff val="35000"/>
                </a:schemeClr>
              </a:solidFill>
            </a:endParaRPr>
          </a:p>
        </p:txBody>
      </p:sp>
      <p:graphicFrame>
        <p:nvGraphicFramePr>
          <p:cNvPr id="17" name="Object 16"/>
          <p:cNvGraphicFramePr>
            <a:graphicFrameLocks/>
          </p:cNvGraphicFramePr>
          <p:nvPr>
            <p:custDataLst>
              <p:tags r:id="rId4"/>
            </p:custDataLst>
            <p:extLst>
              <p:ext uri="{D42A27DB-BD31-4B8C-83A1-F6EECF244321}">
                <p14:modId xmlns:p14="http://schemas.microsoft.com/office/powerpoint/2010/main" val="3705052957"/>
              </p:ext>
            </p:extLst>
          </p:nvPr>
        </p:nvGraphicFramePr>
        <p:xfrm>
          <a:off x="533400" y="2247900"/>
          <a:ext cx="6715057" cy="3286125"/>
        </p:xfrm>
        <a:graphic>
          <a:graphicData uri="http://schemas.openxmlformats.org/presentationml/2006/ole">
            <mc:AlternateContent xmlns:mc="http://schemas.openxmlformats.org/markup-compatibility/2006">
              <mc:Choice xmlns:v="urn:schemas-microsoft-com:vml" Requires="v">
                <p:oleObj spid="_x0000_s176662" name="Chart" r:id="rId28" imgW="6715057" imgH="3286125" progId="MSGraph.Chart.8">
                  <p:embed followColorScheme="full"/>
                </p:oleObj>
              </mc:Choice>
              <mc:Fallback>
                <p:oleObj name="Chart" r:id="rId28" imgW="6715057" imgH="3286125" progId="MSGraph.Chart.8">
                  <p:embed followColorScheme="full"/>
                  <p:pic>
                    <p:nvPicPr>
                      <p:cNvPr id="0" name=""/>
                      <p:cNvPicPr/>
                      <p:nvPr/>
                    </p:nvPicPr>
                    <p:blipFill>
                      <a:blip r:embed="rId29"/>
                      <a:stretch>
                        <a:fillRect/>
                      </a:stretch>
                    </p:blipFill>
                    <p:spPr>
                      <a:xfrm>
                        <a:off x="533400" y="2247900"/>
                        <a:ext cx="6715057" cy="3286125"/>
                      </a:xfrm>
                      <a:prstGeom prst="rect">
                        <a:avLst/>
                      </a:prstGeom>
                    </p:spPr>
                  </p:pic>
                </p:oleObj>
              </mc:Fallback>
            </mc:AlternateContent>
          </a:graphicData>
        </a:graphic>
      </p:graphicFrame>
      <p:cxnSp>
        <p:nvCxnSpPr>
          <p:cNvPr id="4" name="Straight Connector 3"/>
          <p:cNvCxnSpPr/>
          <p:nvPr>
            <p:custDataLst>
              <p:tags r:id="rId5"/>
            </p:custDataLst>
          </p:nvPr>
        </p:nvCxnSpPr>
        <p:spPr bwMode="auto">
          <a:xfrm flipH="1" flipV="1">
            <a:off x="6819900" y="2409825"/>
            <a:ext cx="77788" cy="77788"/>
          </a:xfrm>
          <a:prstGeom prst="line">
            <a:avLst/>
          </a:prstGeom>
          <a:ln w="63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 name="Rectangle 12"/>
          <p:cNvSpPr/>
          <p:nvPr>
            <p:custDataLst>
              <p:tags r:id="rId6"/>
            </p:custDataLst>
          </p:nvPr>
        </p:nvSpPr>
        <p:spPr bwMode="auto">
          <a:xfrm>
            <a:off x="6923088" y="2381250"/>
            <a:ext cx="1719263"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C78AB7DB-308B-4FB1-8EFE-FFAB5E1C887A}" type="datetime'''''''''T''''''''''''''a''''x''''''''es'''''''''''''''''''''">
              <a:rPr lang="en-US" sz="1400" b="1" smtClean="0"/>
              <a:pPr/>
              <a:t>Taxes</a:t>
            </a:fld>
            <a:r>
              <a:rPr lang="en-US" sz="1400" b="1" dirty="0" smtClean="0"/>
              <a:t> / deductions**</a:t>
            </a:r>
            <a:endParaRPr lang="en-US" sz="1400" b="1" strike="noStrike" cap="none" normalizeH="0" dirty="0" smtClean="0">
              <a:ln>
                <a:noFill/>
              </a:ln>
              <a:effectLst/>
              <a:latin typeface="Arial"/>
              <a:sym typeface="Arial"/>
            </a:endParaRPr>
          </a:p>
        </p:txBody>
      </p:sp>
      <p:sp>
        <p:nvSpPr>
          <p:cNvPr id="31" name="Text Placeholder 5"/>
          <p:cNvSpPr>
            <a:spLocks noGrp="1"/>
          </p:cNvSpPr>
          <p:nvPr>
            <p:custDataLst>
              <p:tags r:id="rId7"/>
            </p:custDataLst>
          </p:nvPr>
        </p:nvSpPr>
        <p:spPr bwMode="gray">
          <a:xfrm>
            <a:off x="4468813" y="2062163"/>
            <a:ext cx="4937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3049EE4-4632-4B6D-8F6F-14EDE8A18DD9}" type="datetime'''$''''''''''''''''''''''''1''''.''''''''49'''''''''''''''''">
              <a:rPr lang="en-US" sz="1400" b="1">
                <a:solidFill>
                  <a:schemeClr val="accent1"/>
                </a:solidFill>
                <a:latin typeface="Arial"/>
                <a:sym typeface="Arial"/>
              </a:rPr>
              <a:pPr marL="0" indent="0" algn="ctr">
                <a:spcBef>
                  <a:spcPct val="0"/>
                </a:spcBef>
                <a:spcAft>
                  <a:spcPct val="0"/>
                </a:spcAft>
                <a:buNone/>
              </a:pPr>
              <a:t>$1.49</a:t>
            </a:fld>
            <a:endParaRPr lang="en-US" sz="1400" b="1" dirty="0">
              <a:solidFill>
                <a:schemeClr val="accent1"/>
              </a:solidFill>
              <a:latin typeface="Arial"/>
              <a:sym typeface="Arial"/>
            </a:endParaRPr>
          </a:p>
        </p:txBody>
      </p:sp>
      <p:sp>
        <p:nvSpPr>
          <p:cNvPr id="8" name="Rectangle 7"/>
          <p:cNvSpPr/>
          <p:nvPr>
            <p:custDataLst>
              <p:tags r:id="rId8"/>
            </p:custDataLst>
          </p:nvPr>
        </p:nvSpPr>
        <p:spPr bwMode="gray">
          <a:xfrm>
            <a:off x="6088063" y="2062163"/>
            <a:ext cx="493713"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25400" tIns="0" rIns="25400" bIns="0" numCol="1" rtlCol="0" anchor="b" anchorCtr="0" compatLnSpc="1">
            <a:prstTxWarp prst="textNoShape">
              <a:avLst/>
            </a:prstTxWarp>
          </a:bodyPr>
          <a:lstStyle/>
          <a:p>
            <a:pPr algn="ctr" fontAlgn="base">
              <a:spcBef>
                <a:spcPct val="0"/>
              </a:spcBef>
              <a:spcAft>
                <a:spcPct val="0"/>
              </a:spcAft>
            </a:pPr>
            <a:fld id="{F917735F-40EB-47C0-AE05-4F7554273303}" type="datetime'''''''''$''''''1''''''''''''''''.''''''''''''''''''''''6''1'">
              <a:rPr lang="en-US" sz="1400" b="1">
                <a:solidFill>
                  <a:schemeClr val="accent1"/>
                </a:solidFill>
              </a:rPr>
              <a:pPr/>
              <a:t>$1.61</a:t>
            </a:fld>
            <a:endParaRPr lang="en-US" sz="1400" b="1" strike="noStrike" cap="none" normalizeH="0" dirty="0" smtClean="0">
              <a:ln>
                <a:noFill/>
              </a:ln>
              <a:solidFill>
                <a:schemeClr val="accent1"/>
              </a:solidFill>
              <a:effectLst/>
              <a:latin typeface="Arial"/>
              <a:sym typeface="Arial"/>
            </a:endParaRPr>
          </a:p>
        </p:txBody>
      </p:sp>
      <p:sp>
        <p:nvSpPr>
          <p:cNvPr id="35" name="Text Placeholder 27"/>
          <p:cNvSpPr>
            <a:spLocks noGrp="1"/>
          </p:cNvSpPr>
          <p:nvPr>
            <p:custDataLst>
              <p:tags r:id="rId9"/>
            </p:custDataLst>
          </p:nvPr>
        </p:nvSpPr>
        <p:spPr bwMode="gray">
          <a:xfrm>
            <a:off x="6130925" y="4194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sym typeface="+mn-lt"/>
              </a:rPr>
              <a:t>74%</a:t>
            </a:r>
            <a:endParaRPr lang="en-US" sz="1400" dirty="0">
              <a:solidFill>
                <a:schemeClr val="accent1"/>
              </a:solidFill>
              <a:sym typeface="+mn-lt"/>
            </a:endParaRPr>
          </a:p>
        </p:txBody>
      </p:sp>
      <p:sp>
        <p:nvSpPr>
          <p:cNvPr id="7" name="Rectangle 6"/>
          <p:cNvSpPr/>
          <p:nvPr>
            <p:custDataLst>
              <p:tags r:id="rId10"/>
            </p:custDataLst>
          </p:nvPr>
        </p:nvSpPr>
        <p:spPr bwMode="auto">
          <a:xfrm>
            <a:off x="5621338" y="5591175"/>
            <a:ext cx="1425575" cy="42545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43D73156-F23A-4D9C-947D-120996D9079D}" type="datetime'Hon''du''r''a''s''&#10;(''Wa''shed ''A''ra''b''i''''c''''a'''''')'">
              <a:rPr lang="en-US" sz="1400">
                <a:solidFill>
                  <a:schemeClr val="accent1"/>
                </a:solidFill>
              </a:rPr>
              <a:pPr/>
              <a:t>Honduras
(Washed Arabica)</a:t>
            </a:fld>
            <a:endParaRPr lang="en-US" sz="1400" strike="noStrike" cap="none" normalizeH="0" dirty="0" smtClean="0">
              <a:ln>
                <a:noFill/>
              </a:ln>
              <a:solidFill>
                <a:schemeClr val="accent1"/>
              </a:solidFill>
              <a:effectLst/>
              <a:latin typeface="Arial"/>
              <a:sym typeface="Arial"/>
            </a:endParaRPr>
          </a:p>
        </p:txBody>
      </p:sp>
      <p:sp>
        <p:nvSpPr>
          <p:cNvPr id="33" name="Text Placeholder 26"/>
          <p:cNvSpPr>
            <a:spLocks noGrp="1"/>
          </p:cNvSpPr>
          <p:nvPr>
            <p:custDataLst>
              <p:tags r:id="rId11"/>
            </p:custDataLst>
          </p:nvPr>
        </p:nvSpPr>
        <p:spPr bwMode="gray">
          <a:xfrm>
            <a:off x="4511675" y="4179888"/>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sym typeface="+mn-lt"/>
              </a:rPr>
              <a:t>75%</a:t>
            </a:r>
            <a:endParaRPr lang="en-US" sz="1400" dirty="0">
              <a:solidFill>
                <a:schemeClr val="accent1"/>
              </a:solidFill>
              <a:sym typeface="+mn-lt"/>
            </a:endParaRPr>
          </a:p>
        </p:txBody>
      </p:sp>
      <p:sp>
        <p:nvSpPr>
          <p:cNvPr id="44" name="Text Placeholder 162"/>
          <p:cNvSpPr>
            <a:spLocks noGrp="1"/>
          </p:cNvSpPr>
          <p:nvPr>
            <p:custDataLst>
              <p:tags r:id="rId12"/>
            </p:custDataLst>
          </p:nvPr>
        </p:nvSpPr>
        <p:spPr bwMode="gray">
          <a:xfrm>
            <a:off x="2844800" y="2062163"/>
            <a:ext cx="4937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4BA2E70C-13F4-4B5F-8246-E7A9E87E3AC2}" type="datetime'''''''''''''''''''''''''''''''''''''$''''''1.''''''''''74'">
              <a:rPr lang="en-US" sz="1400" b="1">
                <a:solidFill>
                  <a:schemeClr val="accent1"/>
                </a:solidFill>
              </a:rPr>
              <a:pPr/>
              <a:t>$1.74</a:t>
            </a:fld>
            <a:endParaRPr lang="en-US" sz="1400" b="1" dirty="0">
              <a:solidFill>
                <a:schemeClr val="accent1"/>
              </a:solidFill>
              <a:latin typeface="Arial"/>
              <a:sym typeface="Arial"/>
            </a:endParaRPr>
          </a:p>
        </p:txBody>
      </p:sp>
      <p:sp>
        <p:nvSpPr>
          <p:cNvPr id="29" name="Text Placeholder 25"/>
          <p:cNvSpPr>
            <a:spLocks noGrp="1"/>
          </p:cNvSpPr>
          <p:nvPr>
            <p:custDataLst>
              <p:tags r:id="rId13"/>
            </p:custDataLst>
          </p:nvPr>
        </p:nvSpPr>
        <p:spPr bwMode="gray">
          <a:xfrm>
            <a:off x="2887663" y="4103688"/>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b="1" dirty="0" smtClean="0">
                <a:solidFill>
                  <a:schemeClr val="accent1"/>
                </a:solidFill>
                <a:latin typeface="Arial"/>
                <a:sym typeface="Arial"/>
              </a:rPr>
              <a:t>80%</a:t>
            </a:r>
            <a:endParaRPr lang="en-US" sz="1400" b="1" dirty="0">
              <a:solidFill>
                <a:schemeClr val="accent1"/>
              </a:solidFill>
              <a:latin typeface="Arial"/>
              <a:sym typeface="Arial"/>
            </a:endParaRPr>
          </a:p>
        </p:txBody>
      </p:sp>
      <p:sp>
        <p:nvSpPr>
          <p:cNvPr id="38" name="Rectangle 37"/>
          <p:cNvSpPr/>
          <p:nvPr>
            <p:custDataLst>
              <p:tags r:id="rId14"/>
            </p:custDataLst>
          </p:nvPr>
        </p:nvSpPr>
        <p:spPr bwMode="gray">
          <a:xfrm>
            <a:off x="6180138" y="2303463"/>
            <a:ext cx="307975" cy="212725"/>
          </a:xfrm>
          <a:prstGeom prst="rect">
            <a:avLst/>
          </a:prstGeom>
          <a:solidFill>
            <a:srgbClr val="21249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25400" tIns="0" rIns="25400" bIns="0" numCol="1" rtlCol="0" anchor="ctr" anchorCtr="0" compatLnSpc="1">
            <a:prstTxWarp prst="textNoShape">
              <a:avLst/>
            </a:prstTxWarp>
          </a:bodyPr>
          <a:lstStyle/>
          <a:p>
            <a:pPr algn="ctr" fontAlgn="base">
              <a:spcBef>
                <a:spcPct val="0"/>
              </a:spcBef>
              <a:spcAft>
                <a:spcPct val="0"/>
              </a:spcAft>
            </a:pPr>
            <a:fld id="{238F6AEF-3752-4855-8AD6-C1F6054E32D5}" type="datetime'''''''''''''''''''''''2''''''''''''''%'''">
              <a:rPr lang="en-US" sz="1400">
                <a:solidFill>
                  <a:schemeClr val="bg1"/>
                </a:solidFill>
              </a:rPr>
              <a:pPr/>
              <a:t>2%</a:t>
            </a:fld>
            <a:endParaRPr lang="en-US" sz="1400" strike="noStrike" cap="none" normalizeH="0" dirty="0" smtClean="0">
              <a:ln>
                <a:noFill/>
              </a:ln>
              <a:solidFill>
                <a:schemeClr val="bg1"/>
              </a:solidFill>
              <a:effectLst/>
              <a:latin typeface="Arial"/>
              <a:sym typeface="Arial"/>
            </a:endParaRPr>
          </a:p>
        </p:txBody>
      </p:sp>
      <p:sp>
        <p:nvSpPr>
          <p:cNvPr id="30" name="Text Placeholder 4"/>
          <p:cNvSpPr>
            <a:spLocks noGrp="1"/>
          </p:cNvSpPr>
          <p:nvPr>
            <p:custDataLst>
              <p:tags r:id="rId15"/>
            </p:custDataLst>
          </p:nvPr>
        </p:nvSpPr>
        <p:spPr bwMode="auto">
          <a:xfrm>
            <a:off x="4002088" y="5591175"/>
            <a:ext cx="1425575"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5516E91-1929-481D-AAFA-27BEF672DB6D}" type="datetime'Per''u''&#10;''(''''W''''''as''he''''''d'' A''ra''''''bic''''a)'''">
              <a:rPr lang="en-US" sz="1400">
                <a:solidFill>
                  <a:schemeClr val="accent1"/>
                </a:solidFill>
              </a:rPr>
              <a:pPr/>
              <a:t>Peru
(Washed Arabica)</a:t>
            </a:fld>
            <a:endParaRPr lang="en-US" sz="1400" dirty="0">
              <a:solidFill>
                <a:schemeClr val="accent1"/>
              </a:solidFill>
              <a:latin typeface="Arial"/>
              <a:sym typeface="Arial"/>
            </a:endParaRPr>
          </a:p>
        </p:txBody>
      </p:sp>
      <p:sp>
        <p:nvSpPr>
          <p:cNvPr id="21" name="Rectangle 20"/>
          <p:cNvSpPr/>
          <p:nvPr>
            <p:custDataLst>
              <p:tags r:id="rId16"/>
            </p:custDataLst>
          </p:nvPr>
        </p:nvSpPr>
        <p:spPr bwMode="auto">
          <a:xfrm>
            <a:off x="6923088" y="2644775"/>
            <a:ext cx="1781175" cy="63817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r>
              <a:rPr lang="en-US" sz="1400" b="1" dirty="0" smtClean="0"/>
              <a:t>Farm-to-export</a:t>
            </a:r>
            <a:endParaRPr lang="en-US" sz="1400" b="1" dirty="0" smtClean="0"/>
          </a:p>
          <a:p>
            <a:pPr fontAlgn="base">
              <a:spcBef>
                <a:spcPct val="0"/>
              </a:spcBef>
              <a:spcAft>
                <a:spcPct val="0"/>
              </a:spcAft>
            </a:pPr>
            <a:r>
              <a:rPr lang="en-US" sz="1400" strike="noStrike" cap="none" normalizeH="0" dirty="0" smtClean="0">
                <a:ln>
                  <a:noFill/>
                </a:ln>
                <a:effectLst/>
                <a:latin typeface="Arial"/>
                <a:sym typeface="Arial"/>
              </a:rPr>
              <a:t>(aggregation, </a:t>
            </a:r>
            <a:r>
              <a:rPr lang="en-US" sz="1400" dirty="0" smtClean="0">
                <a:latin typeface="Arial"/>
                <a:sym typeface="Arial"/>
              </a:rPr>
              <a:t>grading</a:t>
            </a:r>
            <a:r>
              <a:rPr lang="en-US" sz="1400" strike="noStrike" cap="none" normalizeH="0" dirty="0" smtClean="0">
                <a:ln>
                  <a:noFill/>
                </a:ln>
                <a:effectLst/>
                <a:latin typeface="Arial"/>
                <a:sym typeface="Arial"/>
              </a:rPr>
              <a:t>, </a:t>
            </a:r>
          </a:p>
          <a:p>
            <a:pPr fontAlgn="base">
              <a:spcBef>
                <a:spcPct val="0"/>
              </a:spcBef>
              <a:spcAft>
                <a:spcPct val="0"/>
              </a:spcAft>
            </a:pPr>
            <a:r>
              <a:rPr lang="en-US" sz="1400" strike="noStrike" cap="none" normalizeH="0" dirty="0" smtClean="0">
                <a:ln>
                  <a:noFill/>
                </a:ln>
                <a:effectLst/>
                <a:latin typeface="Arial"/>
                <a:sym typeface="Arial"/>
              </a:rPr>
              <a:t>exportation</a:t>
            </a:r>
            <a:r>
              <a:rPr lang="en-US" sz="1400" dirty="0">
                <a:latin typeface="Arial"/>
                <a:sym typeface="Arial"/>
              </a:rPr>
              <a:t>,</a:t>
            </a:r>
            <a:r>
              <a:rPr lang="en-US" sz="1400" strike="noStrike" cap="none" normalizeH="0" dirty="0" smtClean="0">
                <a:ln>
                  <a:noFill/>
                </a:ln>
                <a:effectLst/>
                <a:latin typeface="Arial"/>
                <a:sym typeface="Arial"/>
              </a:rPr>
              <a:t> etc.)***</a:t>
            </a:r>
          </a:p>
        </p:txBody>
      </p:sp>
      <p:sp>
        <p:nvSpPr>
          <p:cNvPr id="24" name="Rectangle 23"/>
          <p:cNvSpPr/>
          <p:nvPr>
            <p:custDataLst>
              <p:tags r:id="rId17"/>
            </p:custDataLst>
          </p:nvPr>
        </p:nvSpPr>
        <p:spPr bwMode="auto">
          <a:xfrm>
            <a:off x="6923088" y="3875088"/>
            <a:ext cx="1633538" cy="8509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6043300F-F3BA-4584-872E-033B6CF2123B}" type="datetime'F''''''ar''mer'' s''h''''''''''''''a''r''''''e'''''''">
              <a:rPr lang="en-US" sz="1400" b="1" smtClean="0"/>
              <a:pPr/>
              <a:t>Farmer share</a:t>
            </a:fld>
            <a:endParaRPr lang="en-US" sz="1400" b="1" dirty="0" smtClean="0"/>
          </a:p>
          <a:p>
            <a:pPr fontAlgn="base">
              <a:spcBef>
                <a:spcPct val="0"/>
              </a:spcBef>
              <a:spcAft>
                <a:spcPct val="0"/>
              </a:spcAft>
            </a:pPr>
            <a:r>
              <a:rPr lang="en-US" sz="1400" strike="noStrike" cap="none" normalizeH="0" dirty="0" smtClean="0">
                <a:ln>
                  <a:noFill/>
                </a:ln>
                <a:effectLst/>
                <a:sym typeface="+mn-lt"/>
              </a:rPr>
              <a:t>(before processing,</a:t>
            </a:r>
          </a:p>
          <a:p>
            <a:pPr fontAlgn="base">
              <a:spcBef>
                <a:spcPct val="0"/>
              </a:spcBef>
              <a:spcAft>
                <a:spcPct val="0"/>
              </a:spcAft>
            </a:pPr>
            <a:r>
              <a:rPr lang="en-US" sz="1400" strike="noStrike" cap="none" normalizeH="0" dirty="0" smtClean="0">
                <a:ln>
                  <a:noFill/>
                </a:ln>
                <a:effectLst/>
                <a:sym typeface="+mn-lt"/>
              </a:rPr>
              <a:t>harvesting </a:t>
            </a:r>
            <a:r>
              <a:rPr lang="en-US" sz="1400" dirty="0" smtClean="0">
                <a:sym typeface="+mn-lt"/>
              </a:rPr>
              <a:t>and </a:t>
            </a:r>
          </a:p>
          <a:p>
            <a:pPr fontAlgn="base">
              <a:spcBef>
                <a:spcPct val="0"/>
              </a:spcBef>
              <a:spcAft>
                <a:spcPct val="0"/>
              </a:spcAft>
            </a:pPr>
            <a:r>
              <a:rPr lang="en-US" sz="1400" dirty="0" smtClean="0">
                <a:sym typeface="+mn-lt"/>
              </a:rPr>
              <a:t>other on-farm  costs)</a:t>
            </a:r>
            <a:endParaRPr lang="en-US" sz="1400" strike="noStrike" cap="none" normalizeH="0" dirty="0" smtClean="0">
              <a:ln>
                <a:noFill/>
              </a:ln>
              <a:effectLst/>
              <a:sym typeface="+mn-lt"/>
            </a:endParaRPr>
          </a:p>
        </p:txBody>
      </p:sp>
      <p:sp>
        <p:nvSpPr>
          <p:cNvPr id="32" name="Text Placeholder 6"/>
          <p:cNvSpPr>
            <a:spLocks noGrp="1"/>
          </p:cNvSpPr>
          <p:nvPr>
            <p:custDataLst>
              <p:tags r:id="rId18"/>
            </p:custDataLst>
          </p:nvPr>
        </p:nvSpPr>
        <p:spPr bwMode="gray">
          <a:xfrm>
            <a:off x="4560888" y="2274888"/>
            <a:ext cx="307975" cy="212725"/>
          </a:xfrm>
          <a:prstGeom prst="rect">
            <a:avLst/>
          </a:prstGeom>
          <a:solidFill>
            <a:srgbClr val="212492"/>
          </a:solidFill>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A6421E4-63E1-4E92-937F-C9842691C40D}" type="datetime'''''''''''''''''''''''''0''''''''''''''''''%'''''''''''''">
              <a:rPr lang="en-US" sz="1400">
                <a:solidFill>
                  <a:schemeClr val="bg1"/>
                </a:solidFill>
                <a:latin typeface="Arial"/>
                <a:sym typeface="Arial"/>
              </a:rPr>
              <a:pPr marL="0" indent="0" algn="ctr">
                <a:spcBef>
                  <a:spcPct val="0"/>
                </a:spcBef>
                <a:spcAft>
                  <a:spcPct val="0"/>
                </a:spcAft>
                <a:buNone/>
              </a:pPr>
              <a:t>0%</a:t>
            </a:fld>
            <a:endParaRPr lang="en-US" sz="1400" dirty="0">
              <a:solidFill>
                <a:schemeClr val="bg1"/>
              </a:solidFill>
              <a:latin typeface="Arial"/>
              <a:sym typeface="Arial"/>
            </a:endParaRPr>
          </a:p>
        </p:txBody>
      </p:sp>
      <p:sp>
        <p:nvSpPr>
          <p:cNvPr id="43" name="Text Placeholder 161"/>
          <p:cNvSpPr>
            <a:spLocks noGrp="1"/>
          </p:cNvSpPr>
          <p:nvPr>
            <p:custDataLst>
              <p:tags r:id="rId19"/>
            </p:custDataLst>
          </p:nvPr>
        </p:nvSpPr>
        <p:spPr bwMode="auto">
          <a:xfrm>
            <a:off x="2339975" y="5591175"/>
            <a:ext cx="1503363"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323D9936-443D-42B7-B3B2-C2FA3F75BD5E}" type="datetime'''Co''l''''''omb''''ia&#10;(W''as''''he''d A''ra''''''b''ica'')'''">
              <a:rPr lang="en-US" sz="1400" b="1">
                <a:solidFill>
                  <a:schemeClr val="accent1"/>
                </a:solidFill>
              </a:rPr>
              <a:pPr/>
              <a:t>Colombia
(Washed Arabica)</a:t>
            </a:fld>
            <a:endParaRPr lang="en-US" sz="1400" b="1" dirty="0">
              <a:solidFill>
                <a:schemeClr val="accent1"/>
              </a:solidFill>
              <a:latin typeface="Arial"/>
              <a:sym typeface="Arial"/>
            </a:endParaRPr>
          </a:p>
        </p:txBody>
      </p:sp>
      <p:sp>
        <p:nvSpPr>
          <p:cNvPr id="45" name="Text Placeholder 163"/>
          <p:cNvSpPr>
            <a:spLocks noGrp="1"/>
          </p:cNvSpPr>
          <p:nvPr>
            <p:custDataLst>
              <p:tags r:id="rId20"/>
            </p:custDataLst>
          </p:nvPr>
        </p:nvSpPr>
        <p:spPr bwMode="gray">
          <a:xfrm>
            <a:off x="2936875" y="2322513"/>
            <a:ext cx="307975" cy="212725"/>
          </a:xfrm>
          <a:prstGeom prst="rect">
            <a:avLst/>
          </a:prstGeom>
          <a:solidFill>
            <a:srgbClr val="212492"/>
          </a:solidFill>
        </p:spPr>
        <p:txBody>
          <a:bodyPr wrap="none" lIns="25400" tIns="0" rIns="2540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6718358F-4BD0-4101-8C43-1AD45A74B49E}" type="datetime'''''''''''''3''''''%'''''''''''''">
              <a:rPr lang="en-US" sz="1400">
                <a:solidFill>
                  <a:schemeClr val="bg1"/>
                </a:solidFill>
                <a:latin typeface="Arial"/>
                <a:sym typeface="Arial"/>
              </a:rPr>
              <a:pPr marL="0" indent="0" algn="ctr">
                <a:buNone/>
              </a:pPr>
              <a:t>3%</a:t>
            </a:fld>
            <a:endParaRPr lang="en-US" sz="1400" dirty="0">
              <a:solidFill>
                <a:schemeClr val="bg1"/>
              </a:solidFill>
              <a:latin typeface="Arial"/>
              <a:sym typeface="Arial"/>
            </a:endParaRPr>
          </a:p>
        </p:txBody>
      </p:sp>
      <p:sp>
        <p:nvSpPr>
          <p:cNvPr id="27" name="Rectangle 26"/>
          <p:cNvSpPr/>
          <p:nvPr>
            <p:custDataLst>
              <p:tags r:id="rId21"/>
            </p:custDataLst>
          </p:nvPr>
        </p:nvSpPr>
        <p:spPr bwMode="auto">
          <a:xfrm>
            <a:off x="790575" y="5591175"/>
            <a:ext cx="1352550" cy="42545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325966FE-E0F9-4506-ABCE-DDB6C87A6FE9}" type="datetime'Br''''''azil''&#10;''(''''''''''''Natura''l Ar''''abi''''''''ca)'">
              <a:rPr lang="en-US" sz="1400">
                <a:solidFill>
                  <a:schemeClr val="accent1"/>
                </a:solidFill>
              </a:rPr>
              <a:pPr/>
              <a:t>Brazil
(Natural Arabica)</a:t>
            </a:fld>
            <a:endParaRPr lang="en-US" sz="1400" strike="noStrike" cap="none" normalizeH="0" dirty="0" smtClean="0">
              <a:ln>
                <a:noFill/>
              </a:ln>
              <a:solidFill>
                <a:schemeClr val="accent1"/>
              </a:solidFill>
              <a:effectLst/>
              <a:latin typeface="Arial"/>
              <a:sym typeface="Arial"/>
            </a:endParaRPr>
          </a:p>
        </p:txBody>
      </p:sp>
      <p:sp>
        <p:nvSpPr>
          <p:cNvPr id="28" name="Rectangle 27"/>
          <p:cNvSpPr/>
          <p:nvPr>
            <p:custDataLst>
              <p:tags r:id="rId22"/>
            </p:custDataLst>
          </p:nvPr>
        </p:nvSpPr>
        <p:spPr bwMode="gray">
          <a:xfrm>
            <a:off x="1220788" y="2062163"/>
            <a:ext cx="493713"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25400" tIns="0" rIns="25400" bIns="0" numCol="1" rtlCol="0" anchor="b" anchorCtr="0" compatLnSpc="1">
            <a:prstTxWarp prst="textNoShape">
              <a:avLst/>
            </a:prstTxWarp>
          </a:bodyPr>
          <a:lstStyle/>
          <a:p>
            <a:pPr algn="ctr" fontAlgn="base">
              <a:spcBef>
                <a:spcPct val="0"/>
              </a:spcBef>
              <a:spcAft>
                <a:spcPct val="0"/>
              </a:spcAft>
            </a:pPr>
            <a:fld id="{922DFA0F-B544-46B3-BF46-70BFD582B04D}" type="datetime'''''''''''''$''''''''''''1''''''''.''''''''''''3''''''''4'">
              <a:rPr lang="en-US" sz="1400" b="1">
                <a:solidFill>
                  <a:schemeClr val="accent1"/>
                </a:solidFill>
              </a:rPr>
              <a:pPr/>
              <a:t>$1.34</a:t>
            </a:fld>
            <a:endParaRPr lang="en-US" sz="1400" b="1" strike="noStrike" cap="none" normalizeH="0" dirty="0" smtClean="0">
              <a:ln>
                <a:noFill/>
              </a:ln>
              <a:solidFill>
                <a:schemeClr val="accent1"/>
              </a:solidFill>
              <a:effectLst/>
              <a:latin typeface="Arial"/>
              <a:sym typeface="Arial"/>
            </a:endParaRPr>
          </a:p>
        </p:txBody>
      </p:sp>
      <p:sp>
        <p:nvSpPr>
          <p:cNvPr id="26" name="Text Placeholder 24"/>
          <p:cNvSpPr>
            <a:spLocks noGrp="1"/>
          </p:cNvSpPr>
          <p:nvPr>
            <p:custDataLst>
              <p:tags r:id="rId23"/>
            </p:custDataLst>
          </p:nvPr>
        </p:nvSpPr>
        <p:spPr bwMode="gray">
          <a:xfrm>
            <a:off x="1263650" y="394652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90%</a:t>
            </a:r>
            <a:endParaRPr lang="en-US" sz="1400" dirty="0">
              <a:solidFill>
                <a:schemeClr val="accent1"/>
              </a:solidFill>
              <a:latin typeface="Arial"/>
              <a:sym typeface="Arial"/>
            </a:endParaRPr>
          </a:p>
        </p:txBody>
      </p:sp>
      <p:sp>
        <p:nvSpPr>
          <p:cNvPr id="15" name="Rectangle 14"/>
          <p:cNvSpPr/>
          <p:nvPr>
            <p:custDataLst>
              <p:tags r:id="rId24"/>
            </p:custDataLst>
          </p:nvPr>
        </p:nvSpPr>
        <p:spPr bwMode="gray">
          <a:xfrm>
            <a:off x="1536700" y="2274888"/>
            <a:ext cx="307975" cy="212725"/>
          </a:xfrm>
          <a:prstGeom prst="rect">
            <a:avLst/>
          </a:prstGeom>
          <a:solidFill>
            <a:srgbClr val="21249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25400" tIns="0" rIns="25400" bIns="0" numCol="1" rtlCol="0" anchor="ctr" anchorCtr="0" compatLnSpc="1">
            <a:prstTxWarp prst="textNoShape">
              <a:avLst/>
            </a:prstTxWarp>
          </a:bodyPr>
          <a:lstStyle/>
          <a:p>
            <a:pPr algn="ctr" fontAlgn="base">
              <a:spcBef>
                <a:spcPct val="0"/>
              </a:spcBef>
              <a:spcAft>
                <a:spcPct val="0"/>
              </a:spcAft>
            </a:pPr>
            <a:fld id="{2B73BC19-5675-47F3-9A59-3650EA67A791}" type="datetime'''''''''''''''''''''0''''''''''''%'''''''''''">
              <a:rPr lang="en-US" sz="1400">
                <a:solidFill>
                  <a:schemeClr val="bg1"/>
                </a:solidFill>
                <a:latin typeface="Arial"/>
                <a:sym typeface="Arial"/>
              </a:rPr>
              <a:pPr algn="ctr" fontAlgn="base">
                <a:spcBef>
                  <a:spcPct val="0"/>
                </a:spcBef>
                <a:spcAft>
                  <a:spcPct val="0"/>
                </a:spcAft>
              </a:pPr>
              <a:t>0%</a:t>
            </a:fld>
            <a:endParaRPr lang="en-US" sz="1400" strike="noStrike" cap="none" normalizeH="0" dirty="0" smtClean="0">
              <a:ln>
                <a:noFill/>
              </a:ln>
              <a:solidFill>
                <a:schemeClr val="bg1"/>
              </a:solidFill>
              <a:effectLst/>
              <a:latin typeface="Arial"/>
              <a:sym typeface="Arial"/>
            </a:endParaRPr>
          </a:p>
        </p:txBody>
      </p:sp>
      <p:sp>
        <p:nvSpPr>
          <p:cNvPr id="34" name="TextBox 33"/>
          <p:cNvSpPr txBox="1"/>
          <p:nvPr/>
        </p:nvSpPr>
        <p:spPr>
          <a:xfrm>
            <a:off x="6848430" y="2013673"/>
            <a:ext cx="1944687" cy="307777"/>
          </a:xfrm>
          <a:prstGeom prst="rect">
            <a:avLst/>
          </a:prstGeom>
          <a:noFill/>
        </p:spPr>
        <p:txBody>
          <a:bodyPr wrap="square" rtlCol="0">
            <a:spAutoFit/>
          </a:bodyPr>
          <a:lstStyle/>
          <a:p>
            <a:r>
              <a:rPr lang="en-US" sz="1400" b="1" dirty="0" smtClean="0"/>
              <a:t>Export (FOB) price*</a:t>
            </a:r>
          </a:p>
        </p:txBody>
      </p:sp>
      <p:sp>
        <p:nvSpPr>
          <p:cNvPr id="37" name="AutoShape 71"/>
          <p:cNvSpPr>
            <a:spLocks noChangeArrowheads="1"/>
          </p:cNvSpPr>
          <p:nvPr/>
        </p:nvSpPr>
        <p:spPr bwMode="auto">
          <a:xfrm>
            <a:off x="497852" y="1379538"/>
            <a:ext cx="8303395" cy="449263"/>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18288" anchor="b">
            <a:spAutoFit/>
          </a:bodyPr>
          <a:lstStyle/>
          <a:p>
            <a:pPr defTabSz="895350"/>
            <a:r>
              <a:rPr lang="en-US" sz="1400" b="1" dirty="0">
                <a:solidFill>
                  <a:schemeClr val="accent1"/>
                </a:solidFill>
              </a:rPr>
              <a:t>Efficiency levels of </a:t>
            </a:r>
            <a:r>
              <a:rPr lang="en-US" sz="1400" b="1" dirty="0" smtClean="0">
                <a:solidFill>
                  <a:schemeClr val="accent1"/>
                </a:solidFill>
              </a:rPr>
              <a:t>major Latin American coffee </a:t>
            </a:r>
            <a:r>
              <a:rPr lang="en-US" sz="1400" b="1" dirty="0">
                <a:solidFill>
                  <a:schemeClr val="accent1"/>
                </a:solidFill>
              </a:rPr>
              <a:t>supply </a:t>
            </a:r>
            <a:r>
              <a:rPr lang="en-US" sz="1400" b="1" dirty="0" smtClean="0">
                <a:solidFill>
                  <a:schemeClr val="accent1"/>
                </a:solidFill>
              </a:rPr>
              <a:t>chains, 2012/13</a:t>
            </a:r>
            <a:endParaRPr lang="en-US" sz="1400" b="1" dirty="0">
              <a:solidFill>
                <a:schemeClr val="accent1"/>
              </a:solidFill>
            </a:endParaRPr>
          </a:p>
          <a:p>
            <a:pPr defTabSz="895350"/>
            <a:r>
              <a:rPr lang="en-US" sz="1400" dirty="0">
                <a:solidFill>
                  <a:schemeClr val="accent1"/>
                </a:solidFill>
              </a:rPr>
              <a:t>US$ per pound green</a:t>
            </a:r>
          </a:p>
        </p:txBody>
      </p:sp>
      <p:sp>
        <p:nvSpPr>
          <p:cNvPr id="3" name="Title 2"/>
          <p:cNvSpPr>
            <a:spLocks noGrp="1"/>
          </p:cNvSpPr>
          <p:nvPr>
            <p:ph type="title"/>
          </p:nvPr>
        </p:nvSpPr>
        <p:spPr>
          <a:xfrm>
            <a:off x="400868" y="312738"/>
            <a:ext cx="8423091" cy="989589"/>
          </a:xfrm>
        </p:spPr>
        <p:txBody>
          <a:bodyPr/>
          <a:lstStyle/>
          <a:p>
            <a:r>
              <a:rPr lang="en-US" b="0" dirty="0" smtClean="0"/>
              <a:t>Colombia’s farm-to-export </a:t>
            </a:r>
            <a:r>
              <a:rPr lang="en-US" b="0" dirty="0" smtClean="0"/>
              <a:t>chain is </a:t>
            </a:r>
            <a:r>
              <a:rPr lang="en-US" b="0" dirty="0" smtClean="0"/>
              <a:t>efficient relative to regional peers (e.g., Peru, Honduras)</a:t>
            </a:r>
            <a:endParaRPr lang="en-US" b="0" dirty="0"/>
          </a:p>
        </p:txBody>
      </p:sp>
    </p:spTree>
    <p:extLst>
      <p:ext uri="{BB962C8B-B14F-4D97-AF65-F5344CB8AC3E}">
        <p14:creationId xmlns:p14="http://schemas.microsoft.com/office/powerpoint/2010/main" val="18105341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Object 59" hidden="1"/>
          <p:cNvGraphicFramePr>
            <a:graphicFrameLocks noChangeAspect="1"/>
          </p:cNvGraphicFramePr>
          <p:nvPr>
            <p:custDataLst>
              <p:tags r:id="rId2"/>
            </p:custDataLst>
            <p:extLst>
              <p:ext uri="{D42A27DB-BD31-4B8C-83A1-F6EECF244321}">
                <p14:modId xmlns:p14="http://schemas.microsoft.com/office/powerpoint/2010/main" val="347102527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1335" name="think-cell Slide" r:id="rId35" imgW="270" imgH="270" progId="TCLayout.ActiveDocument.1">
                  <p:embed/>
                </p:oleObj>
              </mc:Choice>
              <mc:Fallback>
                <p:oleObj name="think-cell Slide" r:id="rId35" imgW="270" imgH="270" progId="TCLayout.ActiveDocument.1">
                  <p:embed/>
                  <p:pic>
                    <p:nvPicPr>
                      <p:cNvPr id="0" name=""/>
                      <p:cNvPicPr/>
                      <p:nvPr/>
                    </p:nvPicPr>
                    <p:blipFill>
                      <a:blip r:embed="rId36"/>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200" b="1" u="none" strike="noStrike" cap="none" normalizeH="0" smtClean="0">
              <a:ln>
                <a:noFill/>
              </a:ln>
              <a:solidFill>
                <a:schemeClr val="tx1"/>
              </a:solidFill>
              <a:effectLst/>
              <a:latin typeface="Arial"/>
              <a:sym typeface="Arial"/>
            </a:endParaRPr>
          </a:p>
        </p:txBody>
      </p:sp>
      <p:sp>
        <p:nvSpPr>
          <p:cNvPr id="52" name="Title 51"/>
          <p:cNvSpPr>
            <a:spLocks noGrp="1"/>
          </p:cNvSpPr>
          <p:nvPr>
            <p:ph type="title"/>
          </p:nvPr>
        </p:nvSpPr>
        <p:spPr/>
        <p:txBody>
          <a:bodyPr/>
          <a:lstStyle/>
          <a:p>
            <a:r>
              <a:rPr lang="en-US" b="0" dirty="0" smtClean="0"/>
              <a:t>However, Colombia’s </a:t>
            </a:r>
            <a:r>
              <a:rPr lang="en-US" b="0" dirty="0"/>
              <a:t>f</a:t>
            </a:r>
            <a:r>
              <a:rPr lang="en-US" b="0" dirty="0" smtClean="0"/>
              <a:t>arm-level </a:t>
            </a:r>
            <a:r>
              <a:rPr lang="en-US" b="0" dirty="0"/>
              <a:t>costs </a:t>
            </a:r>
            <a:r>
              <a:rPr lang="en-US" b="0" dirty="0" smtClean="0"/>
              <a:t>are significantly higher than the two cost leaders (Brazil and Ethiopia)</a:t>
            </a:r>
            <a:endParaRPr lang="en-US" b="0" dirty="0"/>
          </a:p>
        </p:txBody>
      </p:sp>
      <p:sp>
        <p:nvSpPr>
          <p:cNvPr id="45" name="McK Footnote"/>
          <p:cNvSpPr txBox="1">
            <a:spLocks noChangeArrowheads="1"/>
          </p:cNvSpPr>
          <p:nvPr/>
        </p:nvSpPr>
        <p:spPr bwMode="auto">
          <a:xfrm>
            <a:off x="640707" y="6230020"/>
            <a:ext cx="7421642" cy="553998"/>
          </a:xfrm>
          <a:prstGeom prst="rect">
            <a:avLst/>
          </a:prstGeom>
          <a:noFill/>
          <a:ln w="9525">
            <a:noFill/>
            <a:miter lim="800000"/>
            <a:headEnd/>
            <a:tailEnd/>
          </a:ln>
        </p:spPr>
        <p:txBody>
          <a:bodyPr wrap="square" lIns="0" tIns="0" rIns="0" bIns="0" anchor="b">
            <a:spAutoFit/>
          </a:bodyPr>
          <a:lstStyle/>
          <a:p>
            <a:pPr defTabSz="895350">
              <a:tabLst>
                <a:tab pos="517525" algn="r"/>
              </a:tabLst>
            </a:pPr>
            <a:r>
              <a:rPr lang="en-US" sz="900" dirty="0" smtClean="0">
                <a:solidFill>
                  <a:schemeClr val="tx1">
                    <a:lumMod val="65000"/>
                    <a:lumOff val="35000"/>
                  </a:schemeClr>
                </a:solidFill>
              </a:rPr>
              <a:t>* Includes secondary processing (e.g., dry-milling, grading); also includes primary processing for Ethiopia</a:t>
            </a:r>
          </a:p>
          <a:p>
            <a:pPr defTabSz="895350">
              <a:tabLst>
                <a:tab pos="517525" algn="r"/>
              </a:tabLst>
            </a:pPr>
            <a:r>
              <a:rPr lang="en-US" sz="900" dirty="0" smtClean="0">
                <a:solidFill>
                  <a:schemeClr val="tx1">
                    <a:lumMod val="65000"/>
                    <a:lumOff val="35000"/>
                  </a:schemeClr>
                </a:solidFill>
              </a:rPr>
              <a:t>* Includes depreciation, fuel, internal transport, other fixed costs</a:t>
            </a:r>
            <a:endParaRPr lang="en-US" sz="900" dirty="0">
              <a:solidFill>
                <a:schemeClr val="tx1">
                  <a:lumMod val="65000"/>
                  <a:lumOff val="35000"/>
                </a:schemeClr>
              </a:solidFill>
            </a:endParaRPr>
          </a:p>
          <a:p>
            <a:pPr defTabSz="895350">
              <a:tabLst>
                <a:tab pos="517525" algn="r"/>
              </a:tabLst>
            </a:pPr>
            <a:r>
              <a:rPr lang="en-US" sz="900" dirty="0" smtClean="0">
                <a:solidFill>
                  <a:schemeClr val="tx1">
                    <a:lumMod val="65000"/>
                    <a:lumOff val="35000"/>
                  </a:schemeClr>
                </a:solidFill>
              </a:rPr>
              <a:t>** Excludes family labor</a:t>
            </a:r>
          </a:p>
          <a:p>
            <a:pPr defTabSz="895350">
              <a:tabLst>
                <a:tab pos="517525" algn="r"/>
              </a:tabLst>
            </a:pPr>
            <a:r>
              <a:rPr lang="en-US" sz="900" dirty="0" smtClean="0">
                <a:solidFill>
                  <a:schemeClr val="tx1">
                    <a:lumMod val="65000"/>
                    <a:lumOff val="35000"/>
                  </a:schemeClr>
                </a:solidFill>
              </a:rPr>
              <a:t>Source</a:t>
            </a:r>
            <a:r>
              <a:rPr lang="en-US" sz="900" dirty="0">
                <a:solidFill>
                  <a:schemeClr val="tx1">
                    <a:lumMod val="65000"/>
                    <a:lumOff val="35000"/>
                  </a:schemeClr>
                </a:solidFill>
              </a:rPr>
              <a:t>: </a:t>
            </a:r>
            <a:r>
              <a:rPr lang="en-US" sz="900" dirty="0" smtClean="0">
                <a:solidFill>
                  <a:schemeClr val="tx1">
                    <a:lumMod val="65000"/>
                    <a:lumOff val="35000"/>
                  </a:schemeClr>
                </a:solidFill>
              </a:rPr>
              <a:t>Stakeholder interviews, TechnoServe analysis</a:t>
            </a:r>
            <a:endParaRPr lang="en-US" sz="900" dirty="0">
              <a:solidFill>
                <a:schemeClr val="tx1">
                  <a:lumMod val="65000"/>
                  <a:lumOff val="35000"/>
                </a:schemeClr>
              </a:solidFill>
            </a:endParaRPr>
          </a:p>
        </p:txBody>
      </p:sp>
      <p:graphicFrame>
        <p:nvGraphicFramePr>
          <p:cNvPr id="49" name="Object 48"/>
          <p:cNvGraphicFramePr>
            <a:graphicFrameLocks/>
          </p:cNvGraphicFramePr>
          <p:nvPr>
            <p:custDataLst>
              <p:tags r:id="rId4"/>
            </p:custDataLst>
            <p:extLst>
              <p:ext uri="{D42A27DB-BD31-4B8C-83A1-F6EECF244321}">
                <p14:modId xmlns:p14="http://schemas.microsoft.com/office/powerpoint/2010/main" val="2777417459"/>
              </p:ext>
            </p:extLst>
          </p:nvPr>
        </p:nvGraphicFramePr>
        <p:xfrm>
          <a:off x="381000" y="2057400"/>
          <a:ext cx="5172143" cy="3219540"/>
        </p:xfrm>
        <a:graphic>
          <a:graphicData uri="http://schemas.openxmlformats.org/presentationml/2006/ole">
            <mc:AlternateContent xmlns:mc="http://schemas.openxmlformats.org/markup-compatibility/2006">
              <mc:Choice xmlns:v="urn:schemas-microsoft-com:vml" Requires="v">
                <p:oleObj spid="_x0000_s161336" name="Chart" r:id="rId37" imgW="5172143" imgH="3219540" progId="MSGraph.Chart.8">
                  <p:embed followColorScheme="full"/>
                </p:oleObj>
              </mc:Choice>
              <mc:Fallback>
                <p:oleObj name="Chart" r:id="rId37" imgW="5172143" imgH="3219540" progId="MSGraph.Chart.8">
                  <p:embed followColorScheme="full"/>
                  <p:pic>
                    <p:nvPicPr>
                      <p:cNvPr id="0" name=""/>
                      <p:cNvPicPr/>
                      <p:nvPr/>
                    </p:nvPicPr>
                    <p:blipFill>
                      <a:blip r:embed="rId38"/>
                      <a:stretch>
                        <a:fillRect/>
                      </a:stretch>
                    </p:blipFill>
                    <p:spPr>
                      <a:xfrm>
                        <a:off x="381000" y="2057400"/>
                        <a:ext cx="5172143" cy="3219540"/>
                      </a:xfrm>
                      <a:prstGeom prst="rect">
                        <a:avLst/>
                      </a:prstGeom>
                    </p:spPr>
                  </p:pic>
                </p:oleObj>
              </mc:Fallback>
            </mc:AlternateContent>
          </a:graphicData>
        </a:graphic>
      </p:graphicFrame>
      <p:cxnSp>
        <p:nvCxnSpPr>
          <p:cNvPr id="7" name="Straight Connector 6"/>
          <p:cNvCxnSpPr/>
          <p:nvPr>
            <p:custDataLst>
              <p:tags r:id="rId5"/>
            </p:custDataLst>
          </p:nvPr>
        </p:nvCxnSpPr>
        <p:spPr bwMode="auto">
          <a:xfrm flipH="1">
            <a:off x="1381125" y="4953000"/>
            <a:ext cx="95250" cy="0"/>
          </a:xfrm>
          <a:prstGeom prst="line">
            <a:avLst/>
          </a:prstGeom>
          <a:ln w="63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2" name="Text Placeholder 9"/>
          <p:cNvSpPr>
            <a:spLocks noGrp="1"/>
          </p:cNvSpPr>
          <p:nvPr>
            <p:custDataLst>
              <p:tags r:id="rId6"/>
            </p:custDataLst>
          </p:nvPr>
        </p:nvSpPr>
        <p:spPr bwMode="auto">
          <a:xfrm>
            <a:off x="5292725" y="4752975"/>
            <a:ext cx="85883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7899596E-559F-4C82-8B33-E19353FD4284}" type="datetime'''''P''''''a''''''i''''''''''''''''''''d'''' ''l''abor'''">
              <a:rPr lang="en-US" sz="1200" smtClean="0">
                <a:solidFill>
                  <a:schemeClr val="accent1"/>
                </a:solidFill>
                <a:latin typeface="Arial"/>
                <a:sym typeface="Arial"/>
              </a:rPr>
              <a:pPr marL="0" indent="0">
                <a:spcBef>
                  <a:spcPct val="0"/>
                </a:spcBef>
                <a:spcAft>
                  <a:spcPct val="0"/>
                </a:spcAft>
                <a:buNone/>
              </a:pPr>
              <a:t>Paid labor</a:t>
            </a:fld>
            <a:r>
              <a:rPr lang="en-US" sz="1200" dirty="0" smtClean="0">
                <a:solidFill>
                  <a:schemeClr val="accent1"/>
                </a:solidFill>
                <a:latin typeface="Arial"/>
                <a:sym typeface="Arial"/>
              </a:rPr>
              <a:t>***</a:t>
            </a:r>
            <a:endParaRPr lang="en-US" sz="1200" dirty="0">
              <a:solidFill>
                <a:schemeClr val="accent1"/>
              </a:solidFill>
              <a:latin typeface="Arial"/>
              <a:sym typeface="Arial"/>
            </a:endParaRPr>
          </a:p>
        </p:txBody>
      </p:sp>
      <p:sp>
        <p:nvSpPr>
          <p:cNvPr id="86" name="Text Placeholder 32"/>
          <p:cNvSpPr>
            <a:spLocks noGrp="1"/>
          </p:cNvSpPr>
          <p:nvPr>
            <p:custDataLst>
              <p:tags r:id="rId7"/>
            </p:custDataLst>
          </p:nvPr>
        </p:nvSpPr>
        <p:spPr bwMode="auto">
          <a:xfrm>
            <a:off x="4409555" y="5321299"/>
            <a:ext cx="838200" cy="547688"/>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DF6DEEF-E239-4A93-B33F-F1A488240DF7}" type="datetime'''''Colo''mbia&#10;(2 ha ''''f''''''''''''''arm'', Was''h''e''d)'">
              <a:rPr lang="en-US" sz="1200" b="1">
                <a:solidFill>
                  <a:schemeClr val="accent1"/>
                </a:solidFill>
                <a:latin typeface="Arial"/>
                <a:sym typeface="Arial"/>
              </a:rPr>
              <a:pPr marL="0" indent="0" algn="ctr">
                <a:spcBef>
                  <a:spcPct val="0"/>
                </a:spcBef>
                <a:spcAft>
                  <a:spcPct val="0"/>
                </a:spcAft>
                <a:buNone/>
              </a:pPr>
              <a:t>Colombia
(2 ha farm, Washed)</a:t>
            </a:fld>
            <a:endParaRPr lang="en-US" sz="1200" b="1" dirty="0">
              <a:solidFill>
                <a:schemeClr val="accent1"/>
              </a:solidFill>
              <a:latin typeface="Arial"/>
              <a:sym typeface="Arial"/>
            </a:endParaRPr>
          </a:p>
        </p:txBody>
      </p:sp>
      <p:sp>
        <p:nvSpPr>
          <p:cNvPr id="37" name="Text Placeholder 4"/>
          <p:cNvSpPr>
            <a:spLocks noGrp="1"/>
          </p:cNvSpPr>
          <p:nvPr>
            <p:custDataLst>
              <p:tags r:id="rId8"/>
            </p:custDataLst>
          </p:nvPr>
        </p:nvSpPr>
        <p:spPr bwMode="auto">
          <a:xfrm>
            <a:off x="5292725" y="3957638"/>
            <a:ext cx="7762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3C059051-C8E3-453F-8A9D-CDFEB89333E0}" type="datetime'A''''''''''gro''''-''i''''''''''''''np''ut''''''''''''s'''''">
              <a:rPr lang="en-US" sz="1200">
                <a:solidFill>
                  <a:schemeClr val="accent1"/>
                </a:solidFill>
              </a:rPr>
              <a:pPr marL="0" indent="0">
                <a:spcBef>
                  <a:spcPct val="0"/>
                </a:spcBef>
                <a:spcAft>
                  <a:spcPct val="0"/>
                </a:spcAft>
                <a:buNone/>
              </a:pPr>
              <a:t>Agro-inputs</a:t>
            </a:fld>
            <a:endParaRPr lang="en-US" sz="1200" dirty="0">
              <a:solidFill>
                <a:schemeClr val="accent1"/>
              </a:solidFill>
              <a:latin typeface="Arial"/>
              <a:sym typeface="Arial"/>
            </a:endParaRPr>
          </a:p>
        </p:txBody>
      </p:sp>
      <p:sp>
        <p:nvSpPr>
          <p:cNvPr id="51" name="Text Placeholder 57"/>
          <p:cNvSpPr>
            <a:spLocks noGrp="1"/>
          </p:cNvSpPr>
          <p:nvPr>
            <p:custDataLst>
              <p:tags r:id="rId9"/>
            </p:custDataLst>
          </p:nvPr>
        </p:nvSpPr>
        <p:spPr bwMode="auto">
          <a:xfrm>
            <a:off x="5292725" y="3328988"/>
            <a:ext cx="12080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39990ACA-9DA9-47EB-BD37-083F64BD5A82}" type="datetime'''O''the''''''r fa''r''''m''''-''''''l''''e''v''el'''''">
              <a:rPr lang="en-US" sz="1200" smtClean="0">
                <a:solidFill>
                  <a:schemeClr val="accent1"/>
                </a:solidFill>
              </a:rPr>
              <a:pPr marL="0" indent="0">
                <a:spcBef>
                  <a:spcPct val="0"/>
                </a:spcBef>
                <a:spcAft>
                  <a:spcPct val="0"/>
                </a:spcAft>
                <a:buNone/>
              </a:pPr>
              <a:t>Other farm-level</a:t>
            </a:fld>
            <a:r>
              <a:rPr lang="en-US" sz="1200" dirty="0" smtClean="0">
                <a:solidFill>
                  <a:schemeClr val="accent1"/>
                </a:solidFill>
              </a:rPr>
              <a:t>**</a:t>
            </a:r>
            <a:endParaRPr lang="en-US" sz="1200" dirty="0">
              <a:solidFill>
                <a:schemeClr val="accent1"/>
              </a:solidFill>
              <a:latin typeface="Arial"/>
              <a:sym typeface="Arial"/>
            </a:endParaRPr>
          </a:p>
        </p:txBody>
      </p:sp>
      <p:sp>
        <p:nvSpPr>
          <p:cNvPr id="43" name="Text Placeholder 21"/>
          <p:cNvSpPr>
            <a:spLocks noGrp="1"/>
          </p:cNvSpPr>
          <p:nvPr>
            <p:custDataLst>
              <p:tags r:id="rId10"/>
            </p:custDataLst>
          </p:nvPr>
        </p:nvSpPr>
        <p:spPr bwMode="auto">
          <a:xfrm>
            <a:off x="5292725" y="2857500"/>
            <a:ext cx="106521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2EB7CF99-5669-4D60-A139-F2CD4893320E}" type="datetime'F''a''''''''r''''m''-to-''''ex''p''''o''r''''''t'''">
              <a:rPr lang="en-US" sz="1200" smtClean="0">
                <a:solidFill>
                  <a:schemeClr val="accent1"/>
                </a:solidFill>
              </a:rPr>
              <a:pPr marL="0" indent="0">
                <a:spcBef>
                  <a:spcPct val="0"/>
                </a:spcBef>
                <a:spcAft>
                  <a:spcPct val="0"/>
                </a:spcAft>
                <a:buNone/>
              </a:pPr>
              <a:t>Farm-to-export</a:t>
            </a:fld>
            <a:r>
              <a:rPr lang="en-US" sz="1200" dirty="0" smtClean="0">
                <a:solidFill>
                  <a:schemeClr val="accent1"/>
                </a:solidFill>
              </a:rPr>
              <a:t>*</a:t>
            </a:r>
            <a:endParaRPr lang="en-US" sz="1200" dirty="0">
              <a:solidFill>
                <a:schemeClr val="accent1"/>
              </a:solidFill>
              <a:latin typeface="Arial"/>
              <a:sym typeface="Arial"/>
            </a:endParaRPr>
          </a:p>
        </p:txBody>
      </p:sp>
      <p:sp>
        <p:nvSpPr>
          <p:cNvPr id="87" name="Text Placeholder 33"/>
          <p:cNvSpPr>
            <a:spLocks noGrp="1"/>
          </p:cNvSpPr>
          <p:nvPr>
            <p:custDataLst>
              <p:tags r:id="rId11"/>
            </p:custDataLst>
          </p:nvPr>
        </p:nvSpPr>
        <p:spPr bwMode="gray">
          <a:xfrm>
            <a:off x="4659313" y="243998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DD42F37-4114-4447-BF4A-FB3D3D32A64E}" type="datetime'''''''1''''''''''''.''''''''4''''''''''3'''''">
              <a:rPr lang="en-US" sz="1200" b="1">
                <a:solidFill>
                  <a:schemeClr val="accent1"/>
                </a:solidFill>
              </a:rPr>
              <a:pPr/>
              <a:t>1.43</a:t>
            </a:fld>
            <a:endParaRPr lang="en-US" sz="1200" b="1" dirty="0">
              <a:solidFill>
                <a:schemeClr val="accent1"/>
              </a:solidFill>
              <a:latin typeface="Arial"/>
              <a:sym typeface="Arial"/>
            </a:endParaRPr>
          </a:p>
        </p:txBody>
      </p:sp>
      <p:sp>
        <p:nvSpPr>
          <p:cNvPr id="50" name="Text Placeholder 118"/>
          <p:cNvSpPr>
            <a:spLocks noGrp="1"/>
          </p:cNvSpPr>
          <p:nvPr>
            <p:custDataLst>
              <p:tags r:id="rId12"/>
            </p:custDataLst>
          </p:nvPr>
        </p:nvSpPr>
        <p:spPr bwMode="gray">
          <a:xfrm>
            <a:off x="4659313" y="4752975"/>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8402FB8-5DBD-4D45-BA51-DCA395FBF5F1}" type="datetime'''''''''''''''0.''3''''''''''''8'">
              <a:rPr lang="en-US" sz="1200">
                <a:solidFill>
                  <a:schemeClr val="bg1"/>
                </a:solidFill>
              </a:rPr>
              <a:pPr/>
              <a:t>0.38</a:t>
            </a:fld>
            <a:endParaRPr lang="en-US" sz="1200" dirty="0">
              <a:solidFill>
                <a:schemeClr val="bg1"/>
              </a:solidFill>
              <a:latin typeface="Arial"/>
              <a:sym typeface="Arial"/>
            </a:endParaRPr>
          </a:p>
        </p:txBody>
      </p:sp>
      <p:sp>
        <p:nvSpPr>
          <p:cNvPr id="53" name="Text Placeholder 119"/>
          <p:cNvSpPr>
            <a:spLocks noGrp="1"/>
          </p:cNvSpPr>
          <p:nvPr>
            <p:custDataLst>
              <p:tags r:id="rId13"/>
            </p:custDataLst>
          </p:nvPr>
        </p:nvSpPr>
        <p:spPr bwMode="gray">
          <a:xfrm>
            <a:off x="4659313" y="395763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195C900-E407-4A6C-9BB9-B03346ABC15D}" type="datetime'''''''''''0''.''''''5''2'''''''''''''''''''''''''''">
              <a:rPr lang="en-US" sz="1200">
                <a:solidFill>
                  <a:schemeClr val="bg1"/>
                </a:solidFill>
              </a:rPr>
              <a:pPr/>
              <a:t>0.52</a:t>
            </a:fld>
            <a:endParaRPr lang="en-US" sz="1200" dirty="0">
              <a:solidFill>
                <a:schemeClr val="bg1"/>
              </a:solidFill>
              <a:latin typeface="Arial"/>
              <a:sym typeface="Arial"/>
            </a:endParaRPr>
          </a:p>
        </p:txBody>
      </p:sp>
      <p:sp>
        <p:nvSpPr>
          <p:cNvPr id="54" name="Text Placeholder 120"/>
          <p:cNvSpPr>
            <a:spLocks noGrp="1"/>
          </p:cNvSpPr>
          <p:nvPr>
            <p:custDataLst>
              <p:tags r:id="rId14"/>
            </p:custDataLst>
          </p:nvPr>
        </p:nvSpPr>
        <p:spPr bwMode="gray">
          <a:xfrm>
            <a:off x="4659313" y="332898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rPr>
              <a:t>0.21</a:t>
            </a:r>
            <a:endParaRPr lang="en-US" sz="1200" dirty="0">
              <a:solidFill>
                <a:schemeClr val="accent1"/>
              </a:solidFill>
              <a:latin typeface="Arial"/>
              <a:sym typeface="Arial"/>
            </a:endParaRPr>
          </a:p>
        </p:txBody>
      </p:sp>
      <p:sp>
        <p:nvSpPr>
          <p:cNvPr id="55" name="Text Placeholder 121"/>
          <p:cNvSpPr>
            <a:spLocks noGrp="1"/>
          </p:cNvSpPr>
          <p:nvPr>
            <p:custDataLst>
              <p:tags r:id="rId15"/>
            </p:custDataLst>
          </p:nvPr>
        </p:nvSpPr>
        <p:spPr bwMode="gray">
          <a:xfrm>
            <a:off x="4659313" y="2857500"/>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B2A996B-98AC-4774-A5A1-DE429A5C9222}" type="datetime'''''''''''0''''''''''''''''''.''3''4'''''''''''">
              <a:rPr lang="en-US" sz="1200">
                <a:solidFill>
                  <a:schemeClr val="accent1"/>
                </a:solidFill>
                <a:latin typeface="Arial"/>
                <a:sym typeface="Arial"/>
              </a:rPr>
              <a:pPr marL="0" indent="0" algn="ctr">
                <a:spcBef>
                  <a:spcPct val="0"/>
                </a:spcBef>
                <a:spcAft>
                  <a:spcPct val="0"/>
                </a:spcAft>
                <a:buNone/>
              </a:pPr>
              <a:t>0.34</a:t>
            </a:fld>
            <a:endParaRPr lang="en-US" sz="1200" dirty="0">
              <a:solidFill>
                <a:schemeClr val="accent1"/>
              </a:solidFill>
              <a:latin typeface="Arial"/>
              <a:sym typeface="Arial"/>
            </a:endParaRPr>
          </a:p>
        </p:txBody>
      </p:sp>
      <p:sp>
        <p:nvSpPr>
          <p:cNvPr id="84" name="Text Placeholder 30"/>
          <p:cNvSpPr>
            <a:spLocks noGrp="1"/>
          </p:cNvSpPr>
          <p:nvPr>
            <p:custDataLst>
              <p:tags r:id="rId16"/>
            </p:custDataLst>
          </p:nvPr>
        </p:nvSpPr>
        <p:spPr bwMode="auto">
          <a:xfrm>
            <a:off x="3216275" y="5321299"/>
            <a:ext cx="749300" cy="547688"/>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B37AF8E-5287-4E22-9098-25A83E9FA2FE}" type="datetime'Braz''''''il&#10;''(''5'' ha'' ''f''arm'','''' Natura''ls'')'''''">
              <a:rPr lang="en-US" sz="1200">
                <a:solidFill>
                  <a:schemeClr val="accent1"/>
                </a:solidFill>
                <a:latin typeface="Arial"/>
                <a:sym typeface="Arial"/>
              </a:rPr>
              <a:pPr marL="0" indent="0" algn="ctr">
                <a:spcBef>
                  <a:spcPct val="0"/>
                </a:spcBef>
                <a:spcAft>
                  <a:spcPct val="0"/>
                </a:spcAft>
                <a:buNone/>
              </a:pPr>
              <a:t>Brazil
(5 ha farm, Naturals)</a:t>
            </a:fld>
            <a:endParaRPr lang="en-US" sz="1200" dirty="0">
              <a:solidFill>
                <a:schemeClr val="accent1"/>
              </a:solidFill>
              <a:latin typeface="Arial"/>
              <a:sym typeface="Arial"/>
            </a:endParaRPr>
          </a:p>
        </p:txBody>
      </p:sp>
      <p:sp>
        <p:nvSpPr>
          <p:cNvPr id="85" name="Text Placeholder 31"/>
          <p:cNvSpPr>
            <a:spLocks noGrp="1"/>
          </p:cNvSpPr>
          <p:nvPr>
            <p:custDataLst>
              <p:tags r:id="rId17"/>
            </p:custDataLst>
          </p:nvPr>
        </p:nvSpPr>
        <p:spPr bwMode="gray">
          <a:xfrm>
            <a:off x="3421063" y="284003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D156558-ECF1-4C3B-A6DB-59E8D71941D7}" type="datetime'''''''''''''''1''.''''''2''''''''''''''''''''0'''''''''''">
              <a:rPr lang="en-US" sz="1200" b="1">
                <a:solidFill>
                  <a:schemeClr val="accent1"/>
                </a:solidFill>
                <a:latin typeface="Arial"/>
                <a:sym typeface="Arial"/>
              </a:rPr>
              <a:pPr marL="0" indent="0" algn="ctr">
                <a:spcBef>
                  <a:spcPct val="0"/>
                </a:spcBef>
                <a:spcAft>
                  <a:spcPct val="0"/>
                </a:spcAft>
                <a:buNone/>
              </a:pPr>
              <a:t>1.20</a:t>
            </a:fld>
            <a:endParaRPr lang="en-US" sz="1200" b="1" dirty="0">
              <a:solidFill>
                <a:schemeClr val="accent1"/>
              </a:solidFill>
              <a:latin typeface="Arial"/>
              <a:sym typeface="Arial"/>
            </a:endParaRPr>
          </a:p>
        </p:txBody>
      </p:sp>
      <p:sp>
        <p:nvSpPr>
          <p:cNvPr id="39" name="Text Placeholder 114"/>
          <p:cNvSpPr>
            <a:spLocks noGrp="1"/>
          </p:cNvSpPr>
          <p:nvPr>
            <p:custDataLst>
              <p:tags r:id="rId18"/>
            </p:custDataLst>
          </p:nvPr>
        </p:nvSpPr>
        <p:spPr bwMode="gray">
          <a:xfrm>
            <a:off x="3421063" y="4800600"/>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7C388D65-5BC6-427A-B446-3BC18E58F668}" type="datetime'''''''''''''''''''''''''0''''''''''''''''.''3''''3'''''''''''">
              <a:rPr lang="en-US" sz="1200">
                <a:solidFill>
                  <a:schemeClr val="bg1"/>
                </a:solidFill>
                <a:latin typeface="Arial"/>
                <a:sym typeface="Arial"/>
              </a:rPr>
              <a:pPr marL="0" indent="0" algn="ctr">
                <a:spcBef>
                  <a:spcPct val="0"/>
                </a:spcBef>
                <a:spcAft>
                  <a:spcPct val="0"/>
                </a:spcAft>
                <a:buNone/>
              </a:pPr>
              <a:t>0.33</a:t>
            </a:fld>
            <a:endParaRPr lang="en-US" sz="1200" dirty="0">
              <a:solidFill>
                <a:schemeClr val="bg1"/>
              </a:solidFill>
              <a:latin typeface="Arial"/>
              <a:sym typeface="Arial"/>
            </a:endParaRPr>
          </a:p>
        </p:txBody>
      </p:sp>
      <p:sp>
        <p:nvSpPr>
          <p:cNvPr id="40" name="Text Placeholder 115"/>
          <p:cNvSpPr>
            <a:spLocks noGrp="1"/>
          </p:cNvSpPr>
          <p:nvPr>
            <p:custDataLst>
              <p:tags r:id="rId19"/>
            </p:custDataLst>
          </p:nvPr>
        </p:nvSpPr>
        <p:spPr bwMode="gray">
          <a:xfrm>
            <a:off x="3421063" y="4233863"/>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A9E98D4-5F7B-4ED1-8A1E-4BAD3E4CE6F0}" type="datetime'''0''''''.''3''''''''''''''''''''''''''''''''''1'''''''''">
              <a:rPr lang="en-US" sz="1200">
                <a:solidFill>
                  <a:schemeClr val="bg1"/>
                </a:solidFill>
                <a:latin typeface="Arial"/>
                <a:sym typeface="Arial"/>
              </a:rPr>
              <a:pPr marL="0" indent="0" algn="ctr">
                <a:spcBef>
                  <a:spcPct val="0"/>
                </a:spcBef>
                <a:spcAft>
                  <a:spcPct val="0"/>
                </a:spcAft>
                <a:buNone/>
              </a:pPr>
              <a:t>0.31</a:t>
            </a:fld>
            <a:endParaRPr lang="en-US" sz="1200" dirty="0">
              <a:solidFill>
                <a:schemeClr val="bg1"/>
              </a:solidFill>
              <a:latin typeface="Arial"/>
              <a:sym typeface="Arial"/>
            </a:endParaRPr>
          </a:p>
        </p:txBody>
      </p:sp>
      <p:sp>
        <p:nvSpPr>
          <p:cNvPr id="41" name="Text Placeholder 116"/>
          <p:cNvSpPr>
            <a:spLocks noGrp="1"/>
          </p:cNvSpPr>
          <p:nvPr>
            <p:custDataLst>
              <p:tags r:id="rId20"/>
            </p:custDataLst>
          </p:nvPr>
        </p:nvSpPr>
        <p:spPr bwMode="gray">
          <a:xfrm>
            <a:off x="3421063" y="3581400"/>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0.42</a:t>
            </a:r>
            <a:endParaRPr lang="en-US" sz="1200" dirty="0">
              <a:solidFill>
                <a:schemeClr val="accent1"/>
              </a:solidFill>
              <a:latin typeface="Arial"/>
              <a:sym typeface="Arial"/>
            </a:endParaRPr>
          </a:p>
        </p:txBody>
      </p:sp>
      <p:sp>
        <p:nvSpPr>
          <p:cNvPr id="44" name="Text Placeholder 117"/>
          <p:cNvSpPr>
            <a:spLocks noGrp="1"/>
          </p:cNvSpPr>
          <p:nvPr>
            <p:custDataLst>
              <p:tags r:id="rId21"/>
            </p:custDataLst>
          </p:nvPr>
        </p:nvSpPr>
        <p:spPr bwMode="gray">
          <a:xfrm>
            <a:off x="3421063" y="3081338"/>
            <a:ext cx="339725" cy="182563"/>
          </a:xfrm>
          <a:prstGeom prst="rect">
            <a:avLst/>
          </a:prstGeom>
          <a:noFill/>
          <a:extLst>
            <a:ext uri="{909E8E84-426E-40DD-AFC4-6F175D3DCCD1}">
              <a14:hiddenFill xmlns:a14="http://schemas.microsoft.com/office/drawing/2010/main">
                <a:solidFill>
                  <a:srgbClr val="FFFFFF"/>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AAD6670-7133-4C0F-A5EE-D68442CF5D95}" type="datetime'''''''0''''''''''''''''''''''.''''1''''''''''''''''''''4'">
              <a:rPr lang="en-US" sz="1200">
                <a:solidFill>
                  <a:schemeClr val="accent1"/>
                </a:solidFill>
                <a:latin typeface="Arial"/>
                <a:sym typeface="Arial"/>
              </a:rPr>
              <a:pPr marL="0" indent="0" algn="ctr">
                <a:spcBef>
                  <a:spcPct val="0"/>
                </a:spcBef>
                <a:spcAft>
                  <a:spcPct val="0"/>
                </a:spcAft>
                <a:buNone/>
              </a:pPr>
              <a:t>0.14</a:t>
            </a:fld>
            <a:endParaRPr lang="en-US" sz="1200" dirty="0">
              <a:solidFill>
                <a:schemeClr val="accent1"/>
              </a:solidFill>
              <a:latin typeface="Arial"/>
              <a:sym typeface="Arial"/>
            </a:endParaRPr>
          </a:p>
        </p:txBody>
      </p:sp>
      <p:sp>
        <p:nvSpPr>
          <p:cNvPr id="82" name="Text Placeholder 28"/>
          <p:cNvSpPr>
            <a:spLocks noGrp="1"/>
          </p:cNvSpPr>
          <p:nvPr>
            <p:custDataLst>
              <p:tags r:id="rId22"/>
            </p:custDataLst>
          </p:nvPr>
        </p:nvSpPr>
        <p:spPr bwMode="auto">
          <a:xfrm>
            <a:off x="1912938" y="5321300"/>
            <a:ext cx="881063" cy="547688"/>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6348F5D-0078-4A94-91F6-50360848CC1C}" type="datetime'B''r''''azi''''l&#10;(50 ''ha far''m'''', ''Mech''an''i''''ze''d)'">
              <a:rPr lang="en-US" sz="1200">
                <a:solidFill>
                  <a:schemeClr val="accent1"/>
                </a:solidFill>
                <a:latin typeface="Arial"/>
                <a:sym typeface="Arial"/>
              </a:rPr>
              <a:pPr marL="0" indent="0" algn="ctr">
                <a:spcBef>
                  <a:spcPct val="0"/>
                </a:spcBef>
                <a:spcAft>
                  <a:spcPct val="0"/>
                </a:spcAft>
                <a:buNone/>
              </a:pPr>
              <a:t>Brazil
(50 ha farm, Mechanized)</a:t>
            </a:fld>
            <a:endParaRPr lang="en-US" sz="1200" dirty="0">
              <a:solidFill>
                <a:schemeClr val="accent1"/>
              </a:solidFill>
              <a:latin typeface="Arial"/>
              <a:sym typeface="Arial"/>
            </a:endParaRPr>
          </a:p>
        </p:txBody>
      </p:sp>
      <p:sp>
        <p:nvSpPr>
          <p:cNvPr id="83" name="Text Placeholder 29"/>
          <p:cNvSpPr>
            <a:spLocks noGrp="1"/>
          </p:cNvSpPr>
          <p:nvPr>
            <p:custDataLst>
              <p:tags r:id="rId23"/>
            </p:custDataLst>
          </p:nvPr>
        </p:nvSpPr>
        <p:spPr bwMode="gray">
          <a:xfrm>
            <a:off x="2182813" y="314483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E1B88E6-8B3C-4D78-A223-62B0BB3CE843}" type="datetime'1''''''.''''''''''''''''''03'''''''''''''''''">
              <a:rPr lang="en-US" sz="1200" b="1">
                <a:solidFill>
                  <a:schemeClr val="accent1"/>
                </a:solidFill>
                <a:latin typeface="Arial"/>
                <a:sym typeface="Arial"/>
              </a:rPr>
              <a:pPr marL="0" indent="0" algn="ctr">
                <a:spcBef>
                  <a:spcPct val="0"/>
                </a:spcBef>
                <a:spcAft>
                  <a:spcPct val="0"/>
                </a:spcAft>
                <a:buNone/>
              </a:pPr>
              <a:t>1.03</a:t>
            </a:fld>
            <a:endParaRPr lang="en-US" sz="1200" b="1" dirty="0">
              <a:solidFill>
                <a:schemeClr val="accent1"/>
              </a:solidFill>
              <a:latin typeface="Arial"/>
              <a:sym typeface="Arial"/>
            </a:endParaRPr>
          </a:p>
        </p:txBody>
      </p:sp>
      <p:sp>
        <p:nvSpPr>
          <p:cNvPr id="34" name="Text Placeholder 110"/>
          <p:cNvSpPr>
            <a:spLocks noGrp="1"/>
          </p:cNvSpPr>
          <p:nvPr>
            <p:custDataLst>
              <p:tags r:id="rId24"/>
            </p:custDataLst>
          </p:nvPr>
        </p:nvSpPr>
        <p:spPr bwMode="gray">
          <a:xfrm>
            <a:off x="2182813" y="4957763"/>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353E9A2-93D1-4304-AAE7-250C7C475476}" type="datetime'''''''''''''0''''''''''''''''''.''1''''''''''''''''5'">
              <a:rPr lang="en-US" sz="1200">
                <a:solidFill>
                  <a:schemeClr val="bg1"/>
                </a:solidFill>
                <a:latin typeface="Arial"/>
                <a:sym typeface="Arial"/>
              </a:rPr>
              <a:pPr marL="0" indent="0" algn="ctr">
                <a:spcBef>
                  <a:spcPct val="0"/>
                </a:spcBef>
                <a:spcAft>
                  <a:spcPct val="0"/>
                </a:spcAft>
                <a:buNone/>
              </a:pPr>
              <a:t>0.15</a:t>
            </a:fld>
            <a:endParaRPr lang="en-US" sz="1200" dirty="0">
              <a:solidFill>
                <a:schemeClr val="bg1"/>
              </a:solidFill>
              <a:latin typeface="Arial"/>
              <a:sym typeface="Arial"/>
            </a:endParaRPr>
          </a:p>
        </p:txBody>
      </p:sp>
      <p:sp>
        <p:nvSpPr>
          <p:cNvPr id="35" name="Text Placeholder 111"/>
          <p:cNvSpPr>
            <a:spLocks noGrp="1"/>
          </p:cNvSpPr>
          <p:nvPr>
            <p:custDataLst>
              <p:tags r:id="rId25"/>
            </p:custDataLst>
          </p:nvPr>
        </p:nvSpPr>
        <p:spPr bwMode="gray">
          <a:xfrm>
            <a:off x="2182813" y="4538663"/>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CAF2950C-73AA-475B-95CC-70D49844E262}" type="datetime'''''''0''.''''3''''''''3'''''''''''''''''''''''''''">
              <a:rPr lang="en-US" sz="1200">
                <a:solidFill>
                  <a:schemeClr val="bg1"/>
                </a:solidFill>
                <a:latin typeface="Arial"/>
                <a:sym typeface="Arial"/>
              </a:rPr>
              <a:pPr marL="0" indent="0" algn="ctr">
                <a:spcBef>
                  <a:spcPct val="0"/>
                </a:spcBef>
                <a:spcAft>
                  <a:spcPct val="0"/>
                </a:spcAft>
                <a:buNone/>
              </a:pPr>
              <a:t>0.33</a:t>
            </a:fld>
            <a:endParaRPr lang="en-US" sz="1200" dirty="0">
              <a:solidFill>
                <a:schemeClr val="bg1"/>
              </a:solidFill>
              <a:latin typeface="Arial"/>
              <a:sym typeface="Arial"/>
            </a:endParaRPr>
          </a:p>
        </p:txBody>
      </p:sp>
      <p:sp>
        <p:nvSpPr>
          <p:cNvPr id="36" name="Text Placeholder 112"/>
          <p:cNvSpPr>
            <a:spLocks noGrp="1"/>
          </p:cNvSpPr>
          <p:nvPr>
            <p:custDataLst>
              <p:tags r:id="rId26"/>
            </p:custDataLst>
          </p:nvPr>
        </p:nvSpPr>
        <p:spPr bwMode="gray">
          <a:xfrm>
            <a:off x="2182813" y="386238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0.44</a:t>
            </a:r>
            <a:endParaRPr lang="en-US" sz="1200" dirty="0">
              <a:solidFill>
                <a:schemeClr val="accent1"/>
              </a:solidFill>
              <a:latin typeface="Arial"/>
              <a:sym typeface="Arial"/>
            </a:endParaRPr>
          </a:p>
        </p:txBody>
      </p:sp>
      <p:sp>
        <p:nvSpPr>
          <p:cNvPr id="38" name="Text Placeholder 113"/>
          <p:cNvSpPr>
            <a:spLocks noGrp="1"/>
          </p:cNvSpPr>
          <p:nvPr>
            <p:custDataLst>
              <p:tags r:id="rId27"/>
            </p:custDataLst>
          </p:nvPr>
        </p:nvSpPr>
        <p:spPr bwMode="gray">
          <a:xfrm>
            <a:off x="2182813" y="3367088"/>
            <a:ext cx="339725" cy="182563"/>
          </a:xfrm>
          <a:prstGeom prst="rect">
            <a:avLst/>
          </a:prstGeom>
          <a:noFill/>
          <a:extLst>
            <a:ext uri="{909E8E84-426E-40DD-AFC4-6F175D3DCCD1}">
              <a14:hiddenFill xmlns:a14="http://schemas.microsoft.com/office/drawing/2010/main">
                <a:solidFill>
                  <a:srgbClr val="FFFFFF"/>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66F8CE9-74F5-49D0-BA50-0CF550A688FA}" type="datetime'''''''''0''''''''''''''''''''''''''''''''''''''.''1''''''''2'">
              <a:rPr lang="en-US" sz="1200">
                <a:solidFill>
                  <a:schemeClr val="accent1"/>
                </a:solidFill>
                <a:latin typeface="Arial"/>
                <a:sym typeface="Arial"/>
              </a:rPr>
              <a:pPr marL="0" indent="0" algn="ctr">
                <a:spcBef>
                  <a:spcPct val="0"/>
                </a:spcBef>
                <a:spcAft>
                  <a:spcPct val="0"/>
                </a:spcAft>
                <a:buNone/>
              </a:pPr>
              <a:t>0.12</a:t>
            </a:fld>
            <a:endParaRPr lang="en-US" sz="1200" dirty="0">
              <a:solidFill>
                <a:schemeClr val="accent1"/>
              </a:solidFill>
              <a:latin typeface="Arial"/>
              <a:sym typeface="Arial"/>
            </a:endParaRPr>
          </a:p>
        </p:txBody>
      </p:sp>
      <p:sp>
        <p:nvSpPr>
          <p:cNvPr id="61" name="Text Placeholder 24"/>
          <p:cNvSpPr>
            <a:spLocks noGrp="1"/>
          </p:cNvSpPr>
          <p:nvPr>
            <p:custDataLst>
              <p:tags r:id="rId28"/>
            </p:custDataLst>
          </p:nvPr>
        </p:nvSpPr>
        <p:spPr bwMode="auto">
          <a:xfrm>
            <a:off x="692150" y="5321300"/>
            <a:ext cx="846138" cy="3651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34336BC-CCF3-4992-B3CA-4D206294B71E}" type="datetime'''E''t''''h''''iopi''''''''a&#10;''(&lt;1'' ''h''a ''''f''''a''rm)'">
              <a:rPr lang="en-US" sz="1200">
                <a:solidFill>
                  <a:schemeClr val="accent1"/>
                </a:solidFill>
              </a:rPr>
              <a:pPr/>
              <a:t>Ethiopia
(&lt;1 ha farm)</a:t>
            </a:fld>
            <a:endParaRPr lang="en-US" sz="1200" dirty="0">
              <a:solidFill>
                <a:schemeClr val="accent1"/>
              </a:solidFill>
              <a:latin typeface="Arial"/>
              <a:sym typeface="Arial"/>
            </a:endParaRPr>
          </a:p>
        </p:txBody>
      </p:sp>
      <p:sp>
        <p:nvSpPr>
          <p:cNvPr id="69" name="Text Placeholder 25"/>
          <p:cNvSpPr>
            <a:spLocks noGrp="1"/>
          </p:cNvSpPr>
          <p:nvPr>
            <p:custDataLst>
              <p:tags r:id="rId29"/>
            </p:custDataLst>
          </p:nvPr>
        </p:nvSpPr>
        <p:spPr bwMode="gray">
          <a:xfrm>
            <a:off x="944563" y="3649663"/>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E702908-8AC3-428D-8625-2DEDA8B15766}" type="datetime'''0''''''''''''''''.7''''''''''''5'''''''''''''''''''">
              <a:rPr lang="en-US" sz="1200" b="1">
                <a:solidFill>
                  <a:schemeClr val="accent1"/>
                </a:solidFill>
              </a:rPr>
              <a:pPr/>
              <a:t>0.75</a:t>
            </a:fld>
            <a:endParaRPr lang="en-US" sz="1200" b="1" dirty="0">
              <a:solidFill>
                <a:schemeClr val="accent1"/>
              </a:solidFill>
              <a:latin typeface="Arial"/>
              <a:sym typeface="Arial"/>
            </a:endParaRPr>
          </a:p>
        </p:txBody>
      </p:sp>
      <p:sp>
        <p:nvSpPr>
          <p:cNvPr id="31" name="Text Placeholder 108"/>
          <p:cNvSpPr>
            <a:spLocks noGrp="1"/>
          </p:cNvSpPr>
          <p:nvPr>
            <p:custDataLst>
              <p:tags r:id="rId30"/>
            </p:custDataLst>
          </p:nvPr>
        </p:nvSpPr>
        <p:spPr bwMode="gray">
          <a:xfrm>
            <a:off x="944563" y="4986338"/>
            <a:ext cx="339725" cy="182563"/>
          </a:xfrm>
          <a:prstGeom prst="rect">
            <a:avLst/>
          </a:prstGeom>
          <a:noFill/>
          <a:extLst>
            <a:ext uri="{909E8E84-426E-40DD-AFC4-6F175D3DCCD1}">
              <a14:hiddenFill xmlns:a14="http://schemas.microsoft.com/office/drawing/2010/main">
                <a:solidFill>
                  <a:srgbClr val="D52B1E"/>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67F991A-9B00-4176-9C94-FCB08E9E366C}" type="datetime'''0''''''''''''.''''''''''''1''''''''''''''''''''2'">
              <a:rPr lang="en-US" sz="1200">
                <a:solidFill>
                  <a:schemeClr val="bg1"/>
                </a:solidFill>
                <a:latin typeface="Arial"/>
                <a:sym typeface="Arial"/>
              </a:rPr>
              <a:pPr marL="0" indent="0" algn="ctr">
                <a:spcBef>
                  <a:spcPct val="0"/>
                </a:spcBef>
                <a:spcAft>
                  <a:spcPct val="0"/>
                </a:spcAft>
                <a:buNone/>
              </a:pPr>
              <a:t>0.12</a:t>
            </a:fld>
            <a:endParaRPr lang="en-US" sz="1200" dirty="0">
              <a:solidFill>
                <a:schemeClr val="bg1"/>
              </a:solidFill>
              <a:latin typeface="Arial"/>
              <a:sym typeface="Arial"/>
            </a:endParaRPr>
          </a:p>
        </p:txBody>
      </p:sp>
      <p:sp>
        <p:nvSpPr>
          <p:cNvPr id="88" name="Text Placeholder 34"/>
          <p:cNvSpPr>
            <a:spLocks noGrp="1"/>
          </p:cNvSpPr>
          <p:nvPr>
            <p:custDataLst>
              <p:tags r:id="rId31"/>
            </p:custDataLst>
          </p:nvPr>
        </p:nvSpPr>
        <p:spPr bwMode="gray">
          <a:xfrm>
            <a:off x="1476375" y="4862513"/>
            <a:ext cx="339725" cy="182563"/>
          </a:xfrm>
          <a:prstGeom prst="rect">
            <a:avLst/>
          </a:prstGeom>
          <a:noFill/>
          <a:extLst>
            <a:ext uri="{909E8E84-426E-40DD-AFC4-6F175D3DCCD1}">
              <a14:hiddenFill xmlns:a14="http://schemas.microsoft.com/office/drawing/2010/main">
                <a:solidFill>
                  <a:srgbClr val="212492"/>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9F7ED139-0FD7-4160-BEAB-2451789BED36}" type="datetime'0''''''''''''.''''''''''''0''''''2'''''''''''''''''''''''''">
              <a:rPr lang="en-US" sz="1200">
                <a:solidFill>
                  <a:schemeClr val="accent1"/>
                </a:solidFill>
                <a:latin typeface="Arial"/>
                <a:sym typeface="Arial"/>
              </a:rPr>
              <a:pPr marL="0" indent="0">
                <a:spcBef>
                  <a:spcPct val="0"/>
                </a:spcBef>
                <a:spcAft>
                  <a:spcPct val="0"/>
                </a:spcAft>
                <a:buNone/>
              </a:pPr>
              <a:t>0.02</a:t>
            </a:fld>
            <a:endParaRPr lang="en-US" sz="1200" dirty="0">
              <a:solidFill>
                <a:schemeClr val="accent1"/>
              </a:solidFill>
              <a:latin typeface="Arial"/>
              <a:sym typeface="Arial"/>
            </a:endParaRPr>
          </a:p>
        </p:txBody>
      </p:sp>
      <p:sp>
        <p:nvSpPr>
          <p:cNvPr id="33" name="Text Placeholder 109"/>
          <p:cNvSpPr>
            <a:spLocks noGrp="1"/>
          </p:cNvSpPr>
          <p:nvPr>
            <p:custDataLst>
              <p:tags r:id="rId32"/>
            </p:custDataLst>
          </p:nvPr>
        </p:nvSpPr>
        <p:spPr bwMode="gray">
          <a:xfrm>
            <a:off x="944563" y="4752975"/>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0.10</a:t>
            </a:r>
            <a:endParaRPr lang="en-US" sz="1200" dirty="0">
              <a:solidFill>
                <a:schemeClr val="accent1"/>
              </a:solidFill>
              <a:latin typeface="Arial"/>
              <a:sym typeface="Arial"/>
            </a:endParaRPr>
          </a:p>
        </p:txBody>
      </p:sp>
      <p:sp>
        <p:nvSpPr>
          <p:cNvPr id="30" name="Text Placeholder 107"/>
          <p:cNvSpPr>
            <a:spLocks noGrp="1"/>
          </p:cNvSpPr>
          <p:nvPr>
            <p:custDataLst>
              <p:tags r:id="rId33"/>
            </p:custDataLst>
          </p:nvPr>
        </p:nvSpPr>
        <p:spPr bwMode="gray">
          <a:xfrm>
            <a:off x="944563" y="4214813"/>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27A7397-D870-474C-8ABD-164C40B22698}" type="datetime'''''''0''''''''''''''''.''''''''''''''''5''''''1'">
              <a:rPr lang="en-US" sz="1200">
                <a:solidFill>
                  <a:schemeClr val="accent1"/>
                </a:solidFill>
                <a:latin typeface="Arial"/>
                <a:sym typeface="Arial"/>
              </a:rPr>
              <a:pPr marL="0" indent="0" algn="ctr">
                <a:spcBef>
                  <a:spcPct val="0"/>
                </a:spcBef>
                <a:spcAft>
                  <a:spcPct val="0"/>
                </a:spcAft>
                <a:buNone/>
              </a:pPr>
              <a:t>0.51</a:t>
            </a:fld>
            <a:endParaRPr lang="en-US" sz="1200" dirty="0">
              <a:solidFill>
                <a:schemeClr val="accent1"/>
              </a:solidFill>
              <a:latin typeface="Arial"/>
              <a:sym typeface="Arial"/>
            </a:endParaRPr>
          </a:p>
        </p:txBody>
      </p:sp>
      <p:sp>
        <p:nvSpPr>
          <p:cNvPr id="80" name="Rectangle 38"/>
          <p:cNvSpPr>
            <a:spLocks noChangeArrowheads="1"/>
          </p:cNvSpPr>
          <p:nvPr/>
        </p:nvSpPr>
        <p:spPr bwMode="auto">
          <a:xfrm>
            <a:off x="490089" y="1243837"/>
            <a:ext cx="8113980" cy="514349"/>
          </a:xfrm>
          <a:prstGeom prst="rect">
            <a:avLst/>
          </a:prstGeom>
          <a:noFill/>
          <a:ln w="9525">
            <a:noFill/>
            <a:miter lim="800000"/>
            <a:headEnd/>
            <a:tailEnd/>
          </a:ln>
        </p:spPr>
        <p:txBody>
          <a:bodyPr lIns="0" tIns="0" rIns="0" bIns="0" anchor="ctr">
            <a:noAutofit/>
          </a:bodyPr>
          <a:lstStyle/>
          <a:p>
            <a:r>
              <a:rPr lang="en-US" sz="1200" b="1" dirty="0" smtClean="0">
                <a:solidFill>
                  <a:schemeClr val="accent1"/>
                </a:solidFill>
              </a:rPr>
              <a:t>Cash cost of production breakdown</a:t>
            </a:r>
            <a:endParaRPr lang="en-US" sz="1200" b="1" dirty="0">
              <a:solidFill>
                <a:schemeClr val="accent1"/>
              </a:solidFill>
            </a:endParaRPr>
          </a:p>
          <a:p>
            <a:r>
              <a:rPr lang="en-US" sz="1200" dirty="0" smtClean="0">
                <a:solidFill>
                  <a:schemeClr val="accent1"/>
                </a:solidFill>
              </a:rPr>
              <a:t>US$ cent per </a:t>
            </a:r>
            <a:r>
              <a:rPr lang="en-US" sz="1200" dirty="0" err="1" smtClean="0">
                <a:solidFill>
                  <a:schemeClr val="accent1"/>
                </a:solidFill>
              </a:rPr>
              <a:t>lb</a:t>
            </a:r>
            <a:r>
              <a:rPr lang="en-US" sz="1200" dirty="0" smtClean="0">
                <a:solidFill>
                  <a:schemeClr val="accent1"/>
                </a:solidFill>
              </a:rPr>
              <a:t> green</a:t>
            </a:r>
            <a:endParaRPr lang="en-US" sz="1200" dirty="0">
              <a:solidFill>
                <a:schemeClr val="accent1"/>
              </a:solidFill>
            </a:endParaRPr>
          </a:p>
        </p:txBody>
      </p:sp>
      <p:cxnSp>
        <p:nvCxnSpPr>
          <p:cNvPr id="29" name="Straight Connector 28"/>
          <p:cNvCxnSpPr/>
          <p:nvPr/>
        </p:nvCxnSpPr>
        <p:spPr>
          <a:xfrm flipV="1">
            <a:off x="4427104" y="2153265"/>
            <a:ext cx="720000" cy="0"/>
          </a:xfrm>
          <a:prstGeom prst="line">
            <a:avLst/>
          </a:prstGeom>
          <a:ln w="19050">
            <a:solidFill>
              <a:schemeClr val="tx2">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flipV="1">
            <a:off x="2009124" y="2771314"/>
            <a:ext cx="1980000" cy="0"/>
          </a:xfrm>
          <a:prstGeom prst="line">
            <a:avLst/>
          </a:prstGeom>
          <a:ln w="19050">
            <a:solidFill>
              <a:schemeClr val="tx2">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V="1">
            <a:off x="794501" y="2547016"/>
            <a:ext cx="720000" cy="0"/>
          </a:xfrm>
          <a:prstGeom prst="line">
            <a:avLst/>
          </a:prstGeom>
          <a:ln w="19050">
            <a:solidFill>
              <a:schemeClr val="tx2">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247850" y="2046814"/>
            <a:ext cx="1409700" cy="184666"/>
          </a:xfrm>
          <a:prstGeom prst="rect">
            <a:avLst/>
          </a:prstGeom>
          <a:noFill/>
        </p:spPr>
        <p:txBody>
          <a:bodyPr wrap="square" lIns="0" tIns="0" rIns="0" bIns="0" rtlCol="0">
            <a:spAutoFit/>
          </a:bodyPr>
          <a:lstStyle/>
          <a:p>
            <a:r>
              <a:rPr lang="en-US" sz="1200" b="1" i="1" dirty="0" smtClean="0">
                <a:solidFill>
                  <a:schemeClr val="tx2">
                    <a:lumMod val="75000"/>
                    <a:lumOff val="25000"/>
                  </a:schemeClr>
                </a:solidFill>
              </a:rPr>
              <a:t>Export price</a:t>
            </a:r>
            <a:endParaRPr lang="en-US" sz="1200" b="1" i="1" dirty="0">
              <a:solidFill>
                <a:schemeClr val="tx2">
                  <a:lumMod val="75000"/>
                  <a:lumOff val="25000"/>
                </a:schemeClr>
              </a:solidFill>
            </a:endParaRPr>
          </a:p>
        </p:txBody>
      </p:sp>
      <p:sp>
        <p:nvSpPr>
          <p:cNvPr id="94" name="TextBox 93"/>
          <p:cNvSpPr txBox="1"/>
          <p:nvPr/>
        </p:nvSpPr>
        <p:spPr>
          <a:xfrm>
            <a:off x="5232084" y="2482039"/>
            <a:ext cx="1409700" cy="184666"/>
          </a:xfrm>
          <a:prstGeom prst="rect">
            <a:avLst/>
          </a:prstGeom>
          <a:noFill/>
        </p:spPr>
        <p:txBody>
          <a:bodyPr wrap="square" lIns="0" tIns="0" rIns="0" bIns="0" rtlCol="0">
            <a:spAutoFit/>
          </a:bodyPr>
          <a:lstStyle/>
          <a:p>
            <a:r>
              <a:rPr lang="en-US" sz="1200" b="1" dirty="0" smtClean="0">
                <a:solidFill>
                  <a:schemeClr val="accent1"/>
                </a:solidFill>
              </a:rPr>
              <a:t>Total cost</a:t>
            </a:r>
            <a:endParaRPr lang="en-US" sz="1200" b="1" dirty="0">
              <a:solidFill>
                <a:schemeClr val="accent1"/>
              </a:solidFill>
            </a:endParaRPr>
          </a:p>
        </p:txBody>
      </p:sp>
      <p:sp>
        <p:nvSpPr>
          <p:cNvPr id="2" name="TextBox 1"/>
          <p:cNvSpPr txBox="1"/>
          <p:nvPr/>
        </p:nvSpPr>
        <p:spPr>
          <a:xfrm>
            <a:off x="6765304" y="4891881"/>
            <a:ext cx="2104842" cy="738664"/>
          </a:xfrm>
          <a:prstGeom prst="rect">
            <a:avLst/>
          </a:prstGeom>
          <a:noFill/>
        </p:spPr>
        <p:txBody>
          <a:bodyPr wrap="square" lIns="0" tIns="0" rIns="0" bIns="0" rtlCol="0">
            <a:spAutoFit/>
          </a:bodyPr>
          <a:lstStyle/>
          <a:p>
            <a:pPr marL="0" lvl="1"/>
            <a:r>
              <a:rPr lang="en-US" sz="1200" b="1" dirty="0" smtClean="0">
                <a:solidFill>
                  <a:schemeClr val="accent1"/>
                </a:solidFill>
              </a:rPr>
              <a:t>Higher </a:t>
            </a:r>
            <a:r>
              <a:rPr lang="en-US" sz="1200" b="1" dirty="0">
                <a:solidFill>
                  <a:schemeClr val="accent1"/>
                </a:solidFill>
              </a:rPr>
              <a:t>labor </a:t>
            </a:r>
            <a:r>
              <a:rPr lang="en-US" sz="1200" b="1" dirty="0" smtClean="0">
                <a:solidFill>
                  <a:schemeClr val="accent1"/>
                </a:solidFill>
              </a:rPr>
              <a:t>costs (compared to Brazil)</a:t>
            </a:r>
          </a:p>
          <a:p>
            <a:pPr marL="171450" lvl="1" indent="-171450">
              <a:buFont typeface="Arial" panose="020B0604020202020204" pitchFamily="34" charset="0"/>
              <a:buChar char="•"/>
            </a:pPr>
            <a:r>
              <a:rPr lang="en-US" sz="1200" dirty="0" smtClean="0">
                <a:solidFill>
                  <a:schemeClr val="accent1"/>
                </a:solidFill>
              </a:rPr>
              <a:t>Lower yields</a:t>
            </a:r>
          </a:p>
          <a:p>
            <a:pPr marL="171450" lvl="1" indent="-171450">
              <a:buFont typeface="Arial" panose="020B0604020202020204" pitchFamily="34" charset="0"/>
              <a:buChar char="•"/>
            </a:pPr>
            <a:r>
              <a:rPr lang="en-US" sz="1200" dirty="0">
                <a:solidFill>
                  <a:schemeClr val="accent1"/>
                </a:solidFill>
              </a:rPr>
              <a:t>L</a:t>
            </a:r>
            <a:r>
              <a:rPr lang="en-US" sz="1200" dirty="0" smtClean="0">
                <a:solidFill>
                  <a:schemeClr val="accent1"/>
                </a:solidFill>
              </a:rPr>
              <a:t>ower  labor efficiency </a:t>
            </a:r>
            <a:endParaRPr lang="en-US" sz="1200" dirty="0">
              <a:solidFill>
                <a:schemeClr val="accent1"/>
              </a:solidFill>
            </a:endParaRPr>
          </a:p>
        </p:txBody>
      </p:sp>
      <p:sp>
        <p:nvSpPr>
          <p:cNvPr id="8" name="Rectangular Callout 7"/>
          <p:cNvSpPr/>
          <p:nvPr/>
        </p:nvSpPr>
        <p:spPr>
          <a:xfrm>
            <a:off x="6657551" y="2547017"/>
            <a:ext cx="2369218" cy="1869410"/>
          </a:xfrm>
          <a:prstGeom prst="wedgeRectCallout">
            <a:avLst>
              <a:gd name="adj1" fmla="val -71787"/>
              <a:gd name="adj2" fmla="val 25591"/>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6775939" y="2652728"/>
            <a:ext cx="2168769" cy="1846659"/>
          </a:xfrm>
          <a:prstGeom prst="rect">
            <a:avLst/>
          </a:prstGeom>
          <a:noFill/>
        </p:spPr>
        <p:txBody>
          <a:bodyPr wrap="square" lIns="0" tIns="0" rIns="0" bIns="0" rtlCol="0">
            <a:spAutoFit/>
          </a:bodyPr>
          <a:lstStyle/>
          <a:p>
            <a:r>
              <a:rPr lang="en-US" sz="1200" b="1" dirty="0" smtClean="0"/>
              <a:t>Higher agro-input costs  (compared to Brazil)</a:t>
            </a:r>
          </a:p>
          <a:p>
            <a:pPr marL="171450" indent="-171450">
              <a:buFont typeface="Arial" panose="020B0604020202020204" pitchFamily="34" charset="0"/>
              <a:buChar char="•"/>
            </a:pPr>
            <a:r>
              <a:rPr lang="en-US" sz="1200" dirty="0" smtClean="0"/>
              <a:t>Less competitive market for agro-inputs</a:t>
            </a:r>
            <a:endParaRPr lang="en-US" sz="1200" dirty="0"/>
          </a:p>
          <a:p>
            <a:pPr marL="171450" indent="-171450">
              <a:buFont typeface="Arial" panose="020B0604020202020204" pitchFamily="34" charset="0"/>
              <a:buChar char="•"/>
            </a:pPr>
            <a:r>
              <a:rPr lang="en-US" sz="1200" dirty="0" smtClean="0"/>
              <a:t>Prices are 30+% higher than international prices</a:t>
            </a:r>
          </a:p>
          <a:p>
            <a:pPr marL="171450" indent="-171450">
              <a:buFont typeface="Arial" panose="020B0604020202020204" pitchFamily="34" charset="0"/>
              <a:buChar char="•"/>
            </a:pPr>
            <a:r>
              <a:rPr lang="en-US" sz="1200" dirty="0" smtClean="0"/>
              <a:t>No local production</a:t>
            </a:r>
          </a:p>
          <a:p>
            <a:pPr marL="171450" indent="-171450">
              <a:buFont typeface="Arial" panose="020B0604020202020204" pitchFamily="34" charset="0"/>
              <a:buChar char="•"/>
            </a:pPr>
            <a:r>
              <a:rPr lang="en-US" sz="1200" dirty="0" smtClean="0"/>
              <a:t>Lower yields</a:t>
            </a:r>
          </a:p>
          <a:p>
            <a:pPr marL="171450" indent="-171450">
              <a:buFont typeface="Arial" panose="020B0604020202020204" pitchFamily="34" charset="0"/>
              <a:buChar char="•"/>
            </a:pPr>
            <a:r>
              <a:rPr lang="en-US" sz="1200" dirty="0" smtClean="0"/>
              <a:t>Less efficient fertilizer usage</a:t>
            </a:r>
          </a:p>
          <a:p>
            <a:pPr marL="628650" lvl="1" indent="-171450">
              <a:buFont typeface="Arial" panose="020B0604020202020204" pitchFamily="34" charset="0"/>
              <a:buChar char="•"/>
            </a:pPr>
            <a:endParaRPr lang="en-US" sz="1200" dirty="0"/>
          </a:p>
        </p:txBody>
      </p:sp>
      <p:sp>
        <p:nvSpPr>
          <p:cNvPr id="64" name="Rectangular Callout 63"/>
          <p:cNvSpPr/>
          <p:nvPr/>
        </p:nvSpPr>
        <p:spPr>
          <a:xfrm>
            <a:off x="6641784" y="4816475"/>
            <a:ext cx="2369218" cy="869950"/>
          </a:xfrm>
          <a:prstGeom prst="wedgeRectCallout">
            <a:avLst>
              <a:gd name="adj1" fmla="val -65355"/>
              <a:gd name="adj2" fmla="val -50233"/>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1791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Object 59" hidden="1"/>
          <p:cNvGraphicFramePr>
            <a:graphicFrameLocks noChangeAspect="1"/>
          </p:cNvGraphicFramePr>
          <p:nvPr>
            <p:custDataLst>
              <p:tags r:id="rId2"/>
            </p:custDataLst>
            <p:extLst>
              <p:ext uri="{D42A27DB-BD31-4B8C-83A1-F6EECF244321}">
                <p14:modId xmlns:p14="http://schemas.microsoft.com/office/powerpoint/2010/main" val="289247414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36034" name="think-cell Slide" r:id="rId54" imgW="270" imgH="270" progId="TCLayout.ActiveDocument.1">
                  <p:embed/>
                </p:oleObj>
              </mc:Choice>
              <mc:Fallback>
                <p:oleObj name="think-cell Slide" r:id="rId54" imgW="270" imgH="270" progId="TCLayout.ActiveDocument.1">
                  <p:embed/>
                  <p:pic>
                    <p:nvPicPr>
                      <p:cNvPr id="0" name=""/>
                      <p:cNvPicPr/>
                      <p:nvPr/>
                    </p:nvPicPr>
                    <p:blipFill>
                      <a:blip r:embed="rId55"/>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200" u="none" strike="noStrike" cap="none" normalizeH="0" smtClean="0">
              <a:ln>
                <a:noFill/>
              </a:ln>
              <a:solidFill>
                <a:schemeClr val="tx1"/>
              </a:solidFill>
              <a:effectLst/>
              <a:latin typeface="Arial"/>
              <a:sym typeface="Arial"/>
            </a:endParaRPr>
          </a:p>
        </p:txBody>
      </p:sp>
      <p:sp>
        <p:nvSpPr>
          <p:cNvPr id="61" name="McK Footnote"/>
          <p:cNvSpPr txBox="1">
            <a:spLocks noChangeArrowheads="1"/>
          </p:cNvSpPr>
          <p:nvPr/>
        </p:nvSpPr>
        <p:spPr bwMode="auto">
          <a:xfrm>
            <a:off x="729284" y="6239104"/>
            <a:ext cx="7421642" cy="415498"/>
          </a:xfrm>
          <a:prstGeom prst="rect">
            <a:avLst/>
          </a:prstGeom>
          <a:noFill/>
          <a:ln w="9525">
            <a:noFill/>
            <a:miter lim="800000"/>
            <a:headEnd/>
            <a:tailEnd/>
          </a:ln>
        </p:spPr>
        <p:txBody>
          <a:bodyPr wrap="square" lIns="0" tIns="0" rIns="0" bIns="0" anchor="b">
            <a:spAutoFit/>
          </a:bodyPr>
          <a:lstStyle/>
          <a:p>
            <a:pPr defTabSz="895350">
              <a:tabLst>
                <a:tab pos="517525" algn="r"/>
              </a:tabLst>
            </a:pPr>
            <a:r>
              <a:rPr lang="en-US" sz="900" dirty="0" smtClean="0">
                <a:solidFill>
                  <a:schemeClr val="tx1">
                    <a:lumMod val="65000"/>
                    <a:lumOff val="35000"/>
                  </a:schemeClr>
                </a:solidFill>
              </a:rPr>
              <a:t>* Average sales price of key importers; import taxes on fertilizers higher in Colombia than in other coffee producing countries</a:t>
            </a:r>
          </a:p>
          <a:p>
            <a:pPr defTabSz="895350">
              <a:tabLst>
                <a:tab pos="517525" algn="r"/>
              </a:tabLst>
            </a:pPr>
            <a:r>
              <a:rPr lang="en-US" sz="900" dirty="0" smtClean="0">
                <a:solidFill>
                  <a:schemeClr val="tx1">
                    <a:lumMod val="65000"/>
                    <a:lumOff val="35000"/>
                  </a:schemeClr>
                </a:solidFill>
              </a:rPr>
              <a:t>** Rise is appreciation of the Colombian peso relative to the US dollar</a:t>
            </a:r>
          </a:p>
          <a:p>
            <a:pPr defTabSz="895350">
              <a:tabLst>
                <a:tab pos="517525" algn="r"/>
              </a:tabLst>
            </a:pPr>
            <a:r>
              <a:rPr lang="en-US" sz="900" dirty="0" smtClean="0">
                <a:solidFill>
                  <a:schemeClr val="tx1">
                    <a:lumMod val="65000"/>
                    <a:lumOff val="35000"/>
                  </a:schemeClr>
                </a:solidFill>
              </a:rPr>
              <a:t>Source</a:t>
            </a:r>
            <a:r>
              <a:rPr lang="en-US" sz="900" dirty="0">
                <a:solidFill>
                  <a:schemeClr val="tx1">
                    <a:lumMod val="65000"/>
                    <a:lumOff val="35000"/>
                  </a:schemeClr>
                </a:solidFill>
              </a:rPr>
              <a:t>: </a:t>
            </a:r>
            <a:r>
              <a:rPr lang="es-ES" sz="900" dirty="0">
                <a:solidFill>
                  <a:schemeClr val="tx1">
                    <a:lumMod val="65000"/>
                    <a:lumOff val="35000"/>
                  </a:schemeClr>
                </a:solidFill>
              </a:rPr>
              <a:t>Ministerio de la Protección Social (</a:t>
            </a:r>
            <a:r>
              <a:rPr lang="es-ES" sz="900" dirty="0" err="1" smtClean="0">
                <a:solidFill>
                  <a:schemeClr val="tx1">
                    <a:lumMod val="65000"/>
                    <a:lumOff val="35000"/>
                  </a:schemeClr>
                </a:solidFill>
              </a:rPr>
              <a:t>minimum</a:t>
            </a:r>
            <a:r>
              <a:rPr lang="es-ES" sz="900" dirty="0" smtClean="0">
                <a:solidFill>
                  <a:schemeClr val="tx1">
                    <a:lumMod val="65000"/>
                    <a:lumOff val="35000"/>
                  </a:schemeClr>
                </a:solidFill>
              </a:rPr>
              <a:t>  </a:t>
            </a:r>
            <a:r>
              <a:rPr lang="es-ES" sz="900" dirty="0" err="1" smtClean="0">
                <a:solidFill>
                  <a:schemeClr val="tx1">
                    <a:lumMod val="65000"/>
                    <a:lumOff val="35000"/>
                  </a:schemeClr>
                </a:solidFill>
              </a:rPr>
              <a:t>wage</a:t>
            </a:r>
            <a:r>
              <a:rPr lang="es-ES" sz="900" dirty="0" smtClean="0">
                <a:solidFill>
                  <a:schemeClr val="tx1">
                    <a:lumMod val="65000"/>
                    <a:lumOff val="35000"/>
                  </a:schemeClr>
                </a:solidFill>
              </a:rPr>
              <a:t>); indexmundi.com (urea </a:t>
            </a:r>
            <a:r>
              <a:rPr lang="es-ES" sz="900" dirty="0" err="1" smtClean="0">
                <a:solidFill>
                  <a:schemeClr val="tx1">
                    <a:lumMod val="65000"/>
                    <a:lumOff val="35000"/>
                  </a:schemeClr>
                </a:solidFill>
              </a:rPr>
              <a:t>price</a:t>
            </a:r>
            <a:r>
              <a:rPr lang="es-ES" sz="900" dirty="0" smtClean="0">
                <a:solidFill>
                  <a:schemeClr val="tx1">
                    <a:lumMod val="65000"/>
                    <a:lumOff val="35000"/>
                  </a:schemeClr>
                </a:solidFill>
              </a:rPr>
              <a:t>); xe.com (</a:t>
            </a:r>
            <a:r>
              <a:rPr lang="es-ES" sz="900" dirty="0" err="1" smtClean="0">
                <a:solidFill>
                  <a:schemeClr val="tx1">
                    <a:lumMod val="65000"/>
                    <a:lumOff val="35000"/>
                  </a:schemeClr>
                </a:solidFill>
              </a:rPr>
              <a:t>exchange</a:t>
            </a:r>
            <a:r>
              <a:rPr lang="es-ES" sz="900" dirty="0" smtClean="0">
                <a:solidFill>
                  <a:schemeClr val="tx1">
                    <a:lumMod val="65000"/>
                    <a:lumOff val="35000"/>
                  </a:schemeClr>
                </a:solidFill>
              </a:rPr>
              <a:t> </a:t>
            </a:r>
            <a:r>
              <a:rPr lang="es-ES" sz="900" dirty="0" err="1" smtClean="0">
                <a:solidFill>
                  <a:schemeClr val="tx1">
                    <a:lumMod val="65000"/>
                    <a:lumOff val="35000"/>
                  </a:schemeClr>
                </a:solidFill>
              </a:rPr>
              <a:t>rate</a:t>
            </a:r>
            <a:r>
              <a:rPr lang="es-ES" sz="900" dirty="0" smtClean="0">
                <a:solidFill>
                  <a:schemeClr val="tx1">
                    <a:lumMod val="65000"/>
                    <a:lumOff val="35000"/>
                  </a:schemeClr>
                </a:solidFill>
              </a:rPr>
              <a:t>)</a:t>
            </a:r>
            <a:endParaRPr lang="en-US" sz="900" dirty="0">
              <a:solidFill>
                <a:schemeClr val="tx1">
                  <a:lumMod val="65000"/>
                  <a:lumOff val="35000"/>
                </a:schemeClr>
              </a:solidFill>
            </a:endParaRPr>
          </a:p>
        </p:txBody>
      </p:sp>
      <p:sp>
        <p:nvSpPr>
          <p:cNvPr id="52" name="Title 51"/>
          <p:cNvSpPr>
            <a:spLocks noGrp="1"/>
          </p:cNvSpPr>
          <p:nvPr>
            <p:ph type="title"/>
          </p:nvPr>
        </p:nvSpPr>
        <p:spPr/>
        <p:txBody>
          <a:bodyPr/>
          <a:lstStyle/>
          <a:p>
            <a:r>
              <a:rPr lang="en-US" b="0" dirty="0" smtClean="0"/>
              <a:t>Colombia’s farming costs have risen over the past decade</a:t>
            </a:r>
            <a:endParaRPr lang="en-US" b="0" dirty="0"/>
          </a:p>
        </p:txBody>
      </p:sp>
      <p:graphicFrame>
        <p:nvGraphicFramePr>
          <p:cNvPr id="2" name="Object 1"/>
          <p:cNvGraphicFramePr>
            <a:graphicFrameLocks/>
          </p:cNvGraphicFramePr>
          <p:nvPr>
            <p:custDataLst>
              <p:tags r:id="rId4"/>
            </p:custDataLst>
            <p:extLst>
              <p:ext uri="{D42A27DB-BD31-4B8C-83A1-F6EECF244321}">
                <p14:modId xmlns:p14="http://schemas.microsoft.com/office/powerpoint/2010/main" val="2764613941"/>
              </p:ext>
            </p:extLst>
          </p:nvPr>
        </p:nvGraphicFramePr>
        <p:xfrm>
          <a:off x="2819400" y="1752600"/>
          <a:ext cx="5696085" cy="914400"/>
        </p:xfrm>
        <a:graphic>
          <a:graphicData uri="http://schemas.openxmlformats.org/presentationml/2006/ole">
            <mc:AlternateContent xmlns:mc="http://schemas.openxmlformats.org/markup-compatibility/2006">
              <mc:Choice xmlns:v="urn:schemas-microsoft-com:vml" Requires="v">
                <p:oleObj spid="_x0000_s236035" name="Chart" r:id="rId56" imgW="5696085" imgH="914400" progId="MSGraph.Chart.8">
                  <p:embed followColorScheme="full"/>
                </p:oleObj>
              </mc:Choice>
              <mc:Fallback>
                <p:oleObj name="Chart" r:id="rId56" imgW="5696085" imgH="914400" progId="MSGraph.Chart.8">
                  <p:embed followColorScheme="full"/>
                  <p:pic>
                    <p:nvPicPr>
                      <p:cNvPr id="0" name=""/>
                      <p:cNvPicPr/>
                      <p:nvPr/>
                    </p:nvPicPr>
                    <p:blipFill>
                      <a:blip r:embed="rId57"/>
                      <a:stretch>
                        <a:fillRect/>
                      </a:stretch>
                    </p:blipFill>
                    <p:spPr>
                      <a:xfrm>
                        <a:off x="2819400" y="1752600"/>
                        <a:ext cx="5696085" cy="914400"/>
                      </a:xfrm>
                      <a:prstGeom prst="rect">
                        <a:avLst/>
                      </a:prstGeom>
                    </p:spPr>
                  </p:pic>
                </p:oleObj>
              </mc:Fallback>
            </mc:AlternateContent>
          </a:graphicData>
        </a:graphic>
      </p:graphicFrame>
      <p:cxnSp>
        <p:nvCxnSpPr>
          <p:cNvPr id="6" name="Straight Connector 5"/>
          <p:cNvCxnSpPr/>
          <p:nvPr>
            <p:custDataLst>
              <p:tags r:id="rId5"/>
            </p:custDataLst>
          </p:nvPr>
        </p:nvCxnSpPr>
        <p:spPr bwMode="gray">
          <a:xfrm flipV="1">
            <a:off x="3214688" y="1401763"/>
            <a:ext cx="4929187" cy="228600"/>
          </a:xfrm>
          <a:prstGeom prst="line">
            <a:avLst/>
          </a:prstGeom>
          <a:ln w="25400">
            <a:solidFill>
              <a:srgbClr val="808080"/>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2" name="Text Placeholder 191"/>
          <p:cNvSpPr>
            <a:spLocks noGrp="1"/>
          </p:cNvSpPr>
          <p:nvPr>
            <p:custDataLst>
              <p:tags r:id="rId6"/>
            </p:custDataLst>
          </p:nvPr>
        </p:nvSpPr>
        <p:spPr bwMode="auto">
          <a:xfrm>
            <a:off x="5340350" y="1398588"/>
            <a:ext cx="676275" cy="234950"/>
          </a:xfrm>
          <a:prstGeom prst="ellipse">
            <a:avLst/>
          </a:prstGeom>
          <a:solidFill>
            <a:srgbClr val="FFFFFF"/>
          </a:solidFill>
          <a:ln w="9525">
            <a:solidFill>
              <a:srgbClr val="808080"/>
            </a:solidFill>
          </a:ln>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lnSpc>
                <a:spcPct val="90000"/>
              </a:lnSpc>
              <a:spcBef>
                <a:spcPct val="0"/>
              </a:spcBef>
              <a:spcAft>
                <a:spcPct val="0"/>
              </a:spcAft>
              <a:buNone/>
            </a:pPr>
            <a:r>
              <a:rPr lang="en-US" sz="1200" b="1" dirty="0" smtClean="0">
                <a:latin typeface="Arial"/>
                <a:sym typeface="Arial"/>
              </a:rPr>
              <a:t> </a:t>
            </a:r>
            <a:r>
              <a:rPr lang="en-US" sz="1200" b="1" dirty="0" smtClean="0">
                <a:solidFill>
                  <a:schemeClr val="tx1">
                    <a:lumMod val="65000"/>
                    <a:lumOff val="35000"/>
                  </a:schemeClr>
                </a:solidFill>
                <a:latin typeface="Arial"/>
                <a:sym typeface="Arial"/>
              </a:rPr>
              <a:t>+97% </a:t>
            </a:r>
            <a:endParaRPr lang="en-US" sz="1200" b="1" dirty="0">
              <a:solidFill>
                <a:schemeClr val="tx1">
                  <a:lumMod val="65000"/>
                  <a:lumOff val="35000"/>
                </a:schemeClr>
              </a:solidFill>
              <a:latin typeface="Arial"/>
              <a:sym typeface="Arial"/>
            </a:endParaRPr>
          </a:p>
        </p:txBody>
      </p:sp>
      <p:sp>
        <p:nvSpPr>
          <p:cNvPr id="57" name="Text Placeholder 37"/>
          <p:cNvSpPr>
            <a:spLocks noGrp="1"/>
          </p:cNvSpPr>
          <p:nvPr>
            <p:custDataLst>
              <p:tags r:id="rId7"/>
            </p:custDataLst>
          </p:nvPr>
        </p:nvSpPr>
        <p:spPr bwMode="gray">
          <a:xfrm>
            <a:off x="7996238" y="165893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324</a:t>
            </a:r>
            <a:endParaRPr lang="en-US" sz="1200" dirty="0">
              <a:solidFill>
                <a:schemeClr val="accent1"/>
              </a:solidFill>
              <a:latin typeface="Arial"/>
              <a:sym typeface="Arial"/>
            </a:endParaRPr>
          </a:p>
        </p:txBody>
      </p:sp>
      <p:sp>
        <p:nvSpPr>
          <p:cNvPr id="56" name="Text Placeholder 36"/>
          <p:cNvSpPr>
            <a:spLocks noGrp="1"/>
          </p:cNvSpPr>
          <p:nvPr>
            <p:custDataLst>
              <p:tags r:id="rId8"/>
            </p:custDataLst>
          </p:nvPr>
        </p:nvSpPr>
        <p:spPr bwMode="gray">
          <a:xfrm>
            <a:off x="7448550" y="166846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315</a:t>
            </a:r>
            <a:endParaRPr lang="en-US" sz="1200" dirty="0">
              <a:solidFill>
                <a:schemeClr val="accent1"/>
              </a:solidFill>
              <a:latin typeface="Arial"/>
              <a:sym typeface="Arial"/>
            </a:endParaRPr>
          </a:p>
        </p:txBody>
      </p:sp>
      <p:sp>
        <p:nvSpPr>
          <p:cNvPr id="55" name="Text Placeholder 35"/>
          <p:cNvSpPr>
            <a:spLocks noGrp="1"/>
          </p:cNvSpPr>
          <p:nvPr>
            <p:custDataLst>
              <p:tags r:id="rId9"/>
            </p:custDataLst>
          </p:nvPr>
        </p:nvSpPr>
        <p:spPr bwMode="gray">
          <a:xfrm>
            <a:off x="6900863" y="166846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315</a:t>
            </a:r>
            <a:endParaRPr lang="en-US" sz="1200" dirty="0">
              <a:solidFill>
                <a:schemeClr val="accent1"/>
              </a:solidFill>
              <a:latin typeface="Arial"/>
              <a:sym typeface="Arial"/>
            </a:endParaRPr>
          </a:p>
        </p:txBody>
      </p:sp>
      <p:sp>
        <p:nvSpPr>
          <p:cNvPr id="54" name="Text Placeholder 34"/>
          <p:cNvSpPr>
            <a:spLocks noGrp="1"/>
          </p:cNvSpPr>
          <p:nvPr>
            <p:custDataLst>
              <p:tags r:id="rId10"/>
            </p:custDataLst>
          </p:nvPr>
        </p:nvSpPr>
        <p:spPr bwMode="gray">
          <a:xfrm>
            <a:off x="6353175" y="170656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290</a:t>
            </a:r>
            <a:endParaRPr lang="en-US" sz="1200" dirty="0">
              <a:solidFill>
                <a:schemeClr val="accent1"/>
              </a:solidFill>
              <a:latin typeface="Arial"/>
              <a:sym typeface="Arial"/>
            </a:endParaRPr>
          </a:p>
        </p:txBody>
      </p:sp>
      <p:sp>
        <p:nvSpPr>
          <p:cNvPr id="53" name="Text Placeholder 33"/>
          <p:cNvSpPr>
            <a:spLocks noGrp="1"/>
          </p:cNvSpPr>
          <p:nvPr>
            <p:custDataLst>
              <p:tags r:id="rId11"/>
            </p:custDataLst>
          </p:nvPr>
        </p:nvSpPr>
        <p:spPr bwMode="gray">
          <a:xfrm>
            <a:off x="5805488" y="173513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271</a:t>
            </a:r>
            <a:endParaRPr lang="en-US" sz="1200" dirty="0">
              <a:solidFill>
                <a:schemeClr val="accent1"/>
              </a:solidFill>
              <a:latin typeface="Arial"/>
              <a:sym typeface="Arial"/>
            </a:endParaRPr>
          </a:p>
        </p:txBody>
      </p:sp>
      <p:sp>
        <p:nvSpPr>
          <p:cNvPr id="50" name="Text Placeholder 32"/>
          <p:cNvSpPr>
            <a:spLocks noGrp="1"/>
          </p:cNvSpPr>
          <p:nvPr>
            <p:custDataLst>
              <p:tags r:id="rId12"/>
            </p:custDataLst>
          </p:nvPr>
        </p:nvSpPr>
        <p:spPr bwMode="gray">
          <a:xfrm>
            <a:off x="5257800" y="179228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231</a:t>
            </a:r>
            <a:endParaRPr lang="en-US" sz="1200" dirty="0">
              <a:solidFill>
                <a:schemeClr val="accent1"/>
              </a:solidFill>
              <a:latin typeface="Arial"/>
              <a:sym typeface="Arial"/>
            </a:endParaRPr>
          </a:p>
        </p:txBody>
      </p:sp>
      <p:sp>
        <p:nvSpPr>
          <p:cNvPr id="49" name="Text Placeholder 31"/>
          <p:cNvSpPr>
            <a:spLocks noGrp="1"/>
          </p:cNvSpPr>
          <p:nvPr>
            <p:custDataLst>
              <p:tags r:id="rId13"/>
            </p:custDataLst>
          </p:nvPr>
        </p:nvSpPr>
        <p:spPr bwMode="gray">
          <a:xfrm>
            <a:off x="4710113" y="178276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235</a:t>
            </a:r>
            <a:endParaRPr lang="en-US" sz="1200" dirty="0">
              <a:solidFill>
                <a:schemeClr val="accent1"/>
              </a:solidFill>
              <a:latin typeface="Arial"/>
              <a:sym typeface="Arial"/>
            </a:endParaRPr>
          </a:p>
        </p:txBody>
      </p:sp>
      <p:sp>
        <p:nvSpPr>
          <p:cNvPr id="48" name="Text Placeholder 30"/>
          <p:cNvSpPr>
            <a:spLocks noGrp="1"/>
          </p:cNvSpPr>
          <p:nvPr>
            <p:custDataLst>
              <p:tags r:id="rId14"/>
            </p:custDataLst>
          </p:nvPr>
        </p:nvSpPr>
        <p:spPr bwMode="gray">
          <a:xfrm>
            <a:off x="4162425" y="182086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209</a:t>
            </a:r>
            <a:endParaRPr lang="en-US" sz="1200" dirty="0">
              <a:solidFill>
                <a:schemeClr val="accent1"/>
              </a:solidFill>
              <a:latin typeface="Arial"/>
              <a:sym typeface="Arial"/>
            </a:endParaRPr>
          </a:p>
        </p:txBody>
      </p:sp>
      <p:sp>
        <p:nvSpPr>
          <p:cNvPr id="45" name="Text Placeholder 29"/>
          <p:cNvSpPr>
            <a:spLocks noGrp="1"/>
          </p:cNvSpPr>
          <p:nvPr>
            <p:custDataLst>
              <p:tags r:id="rId15"/>
            </p:custDataLst>
          </p:nvPr>
        </p:nvSpPr>
        <p:spPr bwMode="gray">
          <a:xfrm>
            <a:off x="3614738" y="186848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173</a:t>
            </a:r>
            <a:endParaRPr lang="en-US" sz="1200" dirty="0">
              <a:solidFill>
                <a:schemeClr val="accent1"/>
              </a:solidFill>
              <a:latin typeface="Arial"/>
              <a:sym typeface="Arial"/>
            </a:endParaRPr>
          </a:p>
        </p:txBody>
      </p:sp>
      <p:sp>
        <p:nvSpPr>
          <p:cNvPr id="44" name="Text Placeholder 28"/>
          <p:cNvSpPr>
            <a:spLocks noGrp="1"/>
          </p:cNvSpPr>
          <p:nvPr>
            <p:custDataLst>
              <p:tags r:id="rId16"/>
            </p:custDataLst>
          </p:nvPr>
        </p:nvSpPr>
        <p:spPr bwMode="gray">
          <a:xfrm>
            <a:off x="3067050" y="188753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164</a:t>
            </a:r>
            <a:endParaRPr lang="en-US" sz="1200" dirty="0">
              <a:solidFill>
                <a:schemeClr val="accent1"/>
              </a:solidFill>
              <a:latin typeface="Arial"/>
              <a:sym typeface="Arial"/>
            </a:endParaRPr>
          </a:p>
        </p:txBody>
      </p:sp>
      <p:sp>
        <p:nvSpPr>
          <p:cNvPr id="7" name="TextBox 6"/>
          <p:cNvSpPr txBox="1"/>
          <p:nvPr/>
        </p:nvSpPr>
        <p:spPr>
          <a:xfrm>
            <a:off x="3011487" y="1138238"/>
            <a:ext cx="3489325" cy="184666"/>
          </a:xfrm>
          <a:prstGeom prst="rect">
            <a:avLst/>
          </a:prstGeom>
          <a:noFill/>
        </p:spPr>
        <p:txBody>
          <a:bodyPr wrap="square" lIns="0" tIns="0" rIns="0" bIns="0" rtlCol="0">
            <a:spAutoFit/>
          </a:bodyPr>
          <a:lstStyle/>
          <a:p>
            <a:r>
              <a:rPr lang="en-US" sz="1200" b="1" dirty="0" smtClean="0">
                <a:solidFill>
                  <a:schemeClr val="accent1"/>
                </a:solidFill>
              </a:rPr>
              <a:t>Minimum wage</a:t>
            </a:r>
            <a:r>
              <a:rPr lang="en-US" sz="1200" dirty="0" smtClean="0">
                <a:solidFill>
                  <a:schemeClr val="accent1"/>
                </a:solidFill>
              </a:rPr>
              <a:t> (US$ per month)</a:t>
            </a:r>
            <a:endParaRPr lang="en-US" sz="1200" dirty="0">
              <a:solidFill>
                <a:schemeClr val="accent1"/>
              </a:solidFill>
            </a:endParaRPr>
          </a:p>
        </p:txBody>
      </p:sp>
      <p:graphicFrame>
        <p:nvGraphicFramePr>
          <p:cNvPr id="46" name="Object 45"/>
          <p:cNvGraphicFramePr>
            <a:graphicFrameLocks/>
          </p:cNvGraphicFramePr>
          <p:nvPr>
            <p:custDataLst>
              <p:tags r:id="rId17"/>
            </p:custDataLst>
            <p:extLst>
              <p:ext uri="{D42A27DB-BD31-4B8C-83A1-F6EECF244321}">
                <p14:modId xmlns:p14="http://schemas.microsoft.com/office/powerpoint/2010/main" val="1711900560"/>
              </p:ext>
            </p:extLst>
          </p:nvPr>
        </p:nvGraphicFramePr>
        <p:xfrm>
          <a:off x="2819400" y="3467100"/>
          <a:ext cx="5696085" cy="914400"/>
        </p:xfrm>
        <a:graphic>
          <a:graphicData uri="http://schemas.openxmlformats.org/presentationml/2006/ole">
            <mc:AlternateContent xmlns:mc="http://schemas.openxmlformats.org/markup-compatibility/2006">
              <mc:Choice xmlns:v="urn:schemas-microsoft-com:vml" Requires="v">
                <p:oleObj spid="_x0000_s236036" name="Chart" r:id="rId58" imgW="5696085" imgH="914400" progId="MSGraph.Chart.8">
                  <p:embed followColorScheme="full"/>
                </p:oleObj>
              </mc:Choice>
              <mc:Fallback>
                <p:oleObj name="Chart" r:id="rId58" imgW="5696085" imgH="914400" progId="MSGraph.Chart.8">
                  <p:embed followColorScheme="full"/>
                  <p:pic>
                    <p:nvPicPr>
                      <p:cNvPr id="0" name=""/>
                      <p:cNvPicPr/>
                      <p:nvPr/>
                    </p:nvPicPr>
                    <p:blipFill>
                      <a:blip r:embed="rId59"/>
                      <a:stretch>
                        <a:fillRect/>
                      </a:stretch>
                    </p:blipFill>
                    <p:spPr>
                      <a:xfrm>
                        <a:off x="2819400" y="3467100"/>
                        <a:ext cx="5696085" cy="914400"/>
                      </a:xfrm>
                      <a:prstGeom prst="rect">
                        <a:avLst/>
                      </a:prstGeom>
                    </p:spPr>
                  </p:pic>
                </p:oleObj>
              </mc:Fallback>
            </mc:AlternateContent>
          </a:graphicData>
        </a:graphic>
      </p:graphicFrame>
      <p:cxnSp>
        <p:nvCxnSpPr>
          <p:cNvPr id="47" name="Straight Connector 46"/>
          <p:cNvCxnSpPr/>
          <p:nvPr>
            <p:custDataLst>
              <p:tags r:id="rId18"/>
            </p:custDataLst>
          </p:nvPr>
        </p:nvCxnSpPr>
        <p:spPr bwMode="gray">
          <a:xfrm flipV="1">
            <a:off x="3214688" y="3208338"/>
            <a:ext cx="4929187" cy="104775"/>
          </a:xfrm>
          <a:prstGeom prst="line">
            <a:avLst/>
          </a:prstGeom>
          <a:ln w="25400">
            <a:solidFill>
              <a:srgbClr val="808080"/>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51" name="Text Placeholder 191"/>
          <p:cNvSpPr>
            <a:spLocks noGrp="1"/>
          </p:cNvSpPr>
          <p:nvPr>
            <p:custDataLst>
              <p:tags r:id="rId19"/>
            </p:custDataLst>
          </p:nvPr>
        </p:nvSpPr>
        <p:spPr bwMode="auto">
          <a:xfrm>
            <a:off x="5310188" y="3143250"/>
            <a:ext cx="736600" cy="234950"/>
          </a:xfrm>
          <a:prstGeom prst="ellipse">
            <a:avLst/>
          </a:prstGeom>
          <a:solidFill>
            <a:srgbClr val="FFFFFF"/>
          </a:solidFill>
          <a:ln w="9525">
            <a:solidFill>
              <a:srgbClr val="808080"/>
            </a:solidFill>
          </a:ln>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lnSpc>
                <a:spcPct val="90000"/>
              </a:lnSpc>
              <a:spcBef>
                <a:spcPct val="0"/>
              </a:spcBef>
              <a:spcAft>
                <a:spcPct val="0"/>
              </a:spcAft>
              <a:buNone/>
            </a:pPr>
            <a:r>
              <a:rPr lang="en-US" sz="1200" b="1" dirty="0" smtClean="0"/>
              <a:t> </a:t>
            </a:r>
            <a:r>
              <a:rPr lang="en-US" sz="1200" b="1" dirty="0" smtClean="0">
                <a:solidFill>
                  <a:schemeClr val="tx1">
                    <a:lumMod val="65000"/>
                    <a:lumOff val="35000"/>
                  </a:schemeClr>
                </a:solidFill>
              </a:rPr>
              <a:t>+ 49% </a:t>
            </a:r>
            <a:endParaRPr lang="en-US" sz="1200" b="1" dirty="0">
              <a:solidFill>
                <a:schemeClr val="tx1">
                  <a:lumMod val="65000"/>
                  <a:lumOff val="35000"/>
                </a:schemeClr>
              </a:solidFill>
              <a:latin typeface="Arial"/>
              <a:sym typeface="Arial"/>
            </a:endParaRPr>
          </a:p>
        </p:txBody>
      </p:sp>
      <p:sp>
        <p:nvSpPr>
          <p:cNvPr id="96" name="Text Placeholder 47"/>
          <p:cNvSpPr>
            <a:spLocks noGrp="1"/>
          </p:cNvSpPr>
          <p:nvPr>
            <p:custDataLst>
              <p:tags r:id="rId20"/>
            </p:custDataLst>
          </p:nvPr>
        </p:nvSpPr>
        <p:spPr bwMode="gray">
          <a:xfrm>
            <a:off x="7996238" y="353536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326</a:t>
            </a:r>
            <a:endParaRPr lang="en-US" sz="1200" dirty="0">
              <a:solidFill>
                <a:schemeClr val="accent1"/>
              </a:solidFill>
              <a:latin typeface="Arial"/>
              <a:sym typeface="Arial"/>
            </a:endParaRPr>
          </a:p>
        </p:txBody>
      </p:sp>
      <p:sp>
        <p:nvSpPr>
          <p:cNvPr id="93" name="Text Placeholder 46"/>
          <p:cNvSpPr>
            <a:spLocks noGrp="1"/>
          </p:cNvSpPr>
          <p:nvPr>
            <p:custDataLst>
              <p:tags r:id="rId21"/>
            </p:custDataLst>
          </p:nvPr>
        </p:nvSpPr>
        <p:spPr bwMode="gray">
          <a:xfrm>
            <a:off x="7448550" y="352583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340</a:t>
            </a:r>
            <a:endParaRPr lang="en-US" sz="1200" dirty="0">
              <a:solidFill>
                <a:schemeClr val="accent1"/>
              </a:solidFill>
              <a:latin typeface="Arial"/>
              <a:sym typeface="Arial"/>
            </a:endParaRPr>
          </a:p>
        </p:txBody>
      </p:sp>
      <p:sp>
        <p:nvSpPr>
          <p:cNvPr id="92" name="Text Placeholder 45"/>
          <p:cNvSpPr>
            <a:spLocks noGrp="1"/>
          </p:cNvSpPr>
          <p:nvPr>
            <p:custDataLst>
              <p:tags r:id="rId22"/>
            </p:custDataLst>
          </p:nvPr>
        </p:nvSpPr>
        <p:spPr bwMode="gray">
          <a:xfrm>
            <a:off x="6900863" y="346868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405</a:t>
            </a:r>
            <a:endParaRPr lang="en-US" sz="1200" dirty="0">
              <a:solidFill>
                <a:schemeClr val="accent1"/>
              </a:solidFill>
              <a:latin typeface="Arial"/>
              <a:sym typeface="Arial"/>
            </a:endParaRPr>
          </a:p>
        </p:txBody>
      </p:sp>
      <p:sp>
        <p:nvSpPr>
          <p:cNvPr id="91" name="Text Placeholder 44"/>
          <p:cNvSpPr>
            <a:spLocks noGrp="1"/>
          </p:cNvSpPr>
          <p:nvPr>
            <p:custDataLst>
              <p:tags r:id="rId23"/>
            </p:custDataLst>
          </p:nvPr>
        </p:nvSpPr>
        <p:spPr bwMode="gray">
          <a:xfrm>
            <a:off x="6353175" y="344963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421</a:t>
            </a:r>
            <a:endParaRPr lang="en-US" sz="1200" dirty="0">
              <a:solidFill>
                <a:schemeClr val="accent1"/>
              </a:solidFill>
              <a:latin typeface="Arial"/>
              <a:sym typeface="Arial"/>
            </a:endParaRPr>
          </a:p>
        </p:txBody>
      </p:sp>
      <p:sp>
        <p:nvSpPr>
          <p:cNvPr id="90" name="Text Placeholder 43"/>
          <p:cNvSpPr>
            <a:spLocks noGrp="1"/>
          </p:cNvSpPr>
          <p:nvPr>
            <p:custDataLst>
              <p:tags r:id="rId24"/>
            </p:custDataLst>
          </p:nvPr>
        </p:nvSpPr>
        <p:spPr bwMode="gray">
          <a:xfrm>
            <a:off x="5805488" y="357346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289</a:t>
            </a:r>
            <a:endParaRPr lang="en-US" sz="1200" dirty="0">
              <a:solidFill>
                <a:schemeClr val="accent1"/>
              </a:solidFill>
              <a:latin typeface="Arial"/>
              <a:sym typeface="Arial"/>
            </a:endParaRPr>
          </a:p>
        </p:txBody>
      </p:sp>
      <p:sp>
        <p:nvSpPr>
          <p:cNvPr id="89" name="Text Placeholder 42"/>
          <p:cNvSpPr>
            <a:spLocks noGrp="1"/>
          </p:cNvSpPr>
          <p:nvPr>
            <p:custDataLst>
              <p:tags r:id="rId25"/>
            </p:custDataLst>
          </p:nvPr>
        </p:nvSpPr>
        <p:spPr bwMode="gray">
          <a:xfrm>
            <a:off x="5257800" y="361156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250</a:t>
            </a:r>
            <a:endParaRPr lang="en-US" sz="1200" dirty="0">
              <a:solidFill>
                <a:schemeClr val="accent1"/>
              </a:solidFill>
              <a:latin typeface="Arial"/>
              <a:sym typeface="Arial"/>
            </a:endParaRPr>
          </a:p>
        </p:txBody>
      </p:sp>
      <p:sp>
        <p:nvSpPr>
          <p:cNvPr id="88" name="Text Placeholder 41"/>
          <p:cNvSpPr>
            <a:spLocks noGrp="1"/>
          </p:cNvSpPr>
          <p:nvPr>
            <p:custDataLst>
              <p:tags r:id="rId26"/>
            </p:custDataLst>
          </p:nvPr>
        </p:nvSpPr>
        <p:spPr bwMode="gray">
          <a:xfrm>
            <a:off x="4710113" y="338296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493</a:t>
            </a:r>
            <a:endParaRPr lang="en-US" sz="1200" dirty="0">
              <a:solidFill>
                <a:schemeClr val="accent1"/>
              </a:solidFill>
              <a:latin typeface="Arial"/>
              <a:sym typeface="Arial"/>
            </a:endParaRPr>
          </a:p>
        </p:txBody>
      </p:sp>
      <p:sp>
        <p:nvSpPr>
          <p:cNvPr id="63" name="Text Placeholder 40"/>
          <p:cNvSpPr>
            <a:spLocks noGrp="1"/>
          </p:cNvSpPr>
          <p:nvPr>
            <p:custDataLst>
              <p:tags r:id="rId27"/>
            </p:custDataLst>
          </p:nvPr>
        </p:nvSpPr>
        <p:spPr bwMode="gray">
          <a:xfrm>
            <a:off x="4162425" y="355441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309</a:t>
            </a:r>
            <a:endParaRPr lang="en-US" sz="1200" dirty="0">
              <a:solidFill>
                <a:schemeClr val="accent1"/>
              </a:solidFill>
              <a:latin typeface="Arial"/>
              <a:sym typeface="Arial"/>
            </a:endParaRPr>
          </a:p>
        </p:txBody>
      </p:sp>
      <p:sp>
        <p:nvSpPr>
          <p:cNvPr id="59" name="Text Placeholder 39"/>
          <p:cNvSpPr>
            <a:spLocks noGrp="1"/>
          </p:cNvSpPr>
          <p:nvPr>
            <p:custDataLst>
              <p:tags r:id="rId28"/>
            </p:custDataLst>
          </p:nvPr>
        </p:nvSpPr>
        <p:spPr bwMode="gray">
          <a:xfrm>
            <a:off x="3614738" y="363061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223</a:t>
            </a:r>
            <a:endParaRPr lang="en-US" sz="1200" dirty="0">
              <a:solidFill>
                <a:schemeClr val="accent1"/>
              </a:solidFill>
              <a:latin typeface="Arial"/>
              <a:sym typeface="Arial"/>
            </a:endParaRPr>
          </a:p>
        </p:txBody>
      </p:sp>
      <p:sp>
        <p:nvSpPr>
          <p:cNvPr id="58" name="Text Placeholder 38"/>
          <p:cNvSpPr>
            <a:spLocks noGrp="1"/>
          </p:cNvSpPr>
          <p:nvPr>
            <p:custDataLst>
              <p:tags r:id="rId29"/>
            </p:custDataLst>
          </p:nvPr>
        </p:nvSpPr>
        <p:spPr bwMode="gray">
          <a:xfrm>
            <a:off x="3067050" y="364013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219</a:t>
            </a:r>
            <a:endParaRPr lang="en-US" sz="1200" dirty="0">
              <a:solidFill>
                <a:schemeClr val="accent1"/>
              </a:solidFill>
              <a:latin typeface="Arial"/>
              <a:sym typeface="Arial"/>
            </a:endParaRPr>
          </a:p>
        </p:txBody>
      </p:sp>
      <p:sp>
        <p:nvSpPr>
          <p:cNvPr id="62" name="TextBox 61"/>
          <p:cNvSpPr txBox="1"/>
          <p:nvPr/>
        </p:nvSpPr>
        <p:spPr>
          <a:xfrm>
            <a:off x="3011488" y="2860675"/>
            <a:ext cx="3489325" cy="184666"/>
          </a:xfrm>
          <a:prstGeom prst="rect">
            <a:avLst/>
          </a:prstGeom>
          <a:noFill/>
        </p:spPr>
        <p:txBody>
          <a:bodyPr wrap="square" lIns="0" tIns="0" rIns="0" bIns="0" rtlCol="0">
            <a:spAutoFit/>
          </a:bodyPr>
          <a:lstStyle/>
          <a:p>
            <a:r>
              <a:rPr lang="en-US" sz="1200" b="1" dirty="0" smtClean="0">
                <a:solidFill>
                  <a:schemeClr val="accent1"/>
                </a:solidFill>
              </a:rPr>
              <a:t>Price of urea</a:t>
            </a:r>
            <a:r>
              <a:rPr lang="en-US" sz="1200" dirty="0" smtClean="0">
                <a:solidFill>
                  <a:schemeClr val="accent1"/>
                </a:solidFill>
              </a:rPr>
              <a:t> (US$ per ton)*</a:t>
            </a:r>
            <a:endParaRPr lang="en-US" sz="1200" dirty="0">
              <a:solidFill>
                <a:schemeClr val="accent1"/>
              </a:solidFill>
            </a:endParaRPr>
          </a:p>
        </p:txBody>
      </p:sp>
      <p:graphicFrame>
        <p:nvGraphicFramePr>
          <p:cNvPr id="64" name="Object 63"/>
          <p:cNvGraphicFramePr>
            <a:graphicFrameLocks/>
          </p:cNvGraphicFramePr>
          <p:nvPr>
            <p:custDataLst>
              <p:tags r:id="rId30"/>
            </p:custDataLst>
            <p:extLst>
              <p:ext uri="{D42A27DB-BD31-4B8C-83A1-F6EECF244321}">
                <p14:modId xmlns:p14="http://schemas.microsoft.com/office/powerpoint/2010/main" val="3290426879"/>
              </p:ext>
            </p:extLst>
          </p:nvPr>
        </p:nvGraphicFramePr>
        <p:xfrm>
          <a:off x="2819400" y="5181600"/>
          <a:ext cx="5696085" cy="914400"/>
        </p:xfrm>
        <a:graphic>
          <a:graphicData uri="http://schemas.openxmlformats.org/presentationml/2006/ole">
            <mc:AlternateContent xmlns:mc="http://schemas.openxmlformats.org/markup-compatibility/2006">
              <mc:Choice xmlns:v="urn:schemas-microsoft-com:vml" Requires="v">
                <p:oleObj spid="_x0000_s236037" name="Chart" r:id="rId60" imgW="5696085" imgH="914400" progId="MSGraph.Chart.8">
                  <p:embed followColorScheme="full"/>
                </p:oleObj>
              </mc:Choice>
              <mc:Fallback>
                <p:oleObj name="Chart" r:id="rId60" imgW="5696085" imgH="914400" progId="MSGraph.Chart.8">
                  <p:embed followColorScheme="full"/>
                  <p:pic>
                    <p:nvPicPr>
                      <p:cNvPr id="0" name=""/>
                      <p:cNvPicPr/>
                      <p:nvPr/>
                    </p:nvPicPr>
                    <p:blipFill>
                      <a:blip r:embed="rId61"/>
                      <a:stretch>
                        <a:fillRect/>
                      </a:stretch>
                    </p:blipFill>
                    <p:spPr>
                      <a:xfrm>
                        <a:off x="2819400" y="5181600"/>
                        <a:ext cx="5696085" cy="914400"/>
                      </a:xfrm>
                      <a:prstGeom prst="rect">
                        <a:avLst/>
                      </a:prstGeom>
                    </p:spPr>
                  </p:pic>
                </p:oleObj>
              </mc:Fallback>
            </mc:AlternateContent>
          </a:graphicData>
        </a:graphic>
      </p:graphicFrame>
      <p:cxnSp>
        <p:nvCxnSpPr>
          <p:cNvPr id="65" name="Straight Connector 64"/>
          <p:cNvCxnSpPr/>
          <p:nvPr>
            <p:custDataLst>
              <p:tags r:id="rId31"/>
            </p:custDataLst>
          </p:nvPr>
        </p:nvCxnSpPr>
        <p:spPr bwMode="gray">
          <a:xfrm flipV="1">
            <a:off x="3214688" y="4840288"/>
            <a:ext cx="4929188" cy="76200"/>
          </a:xfrm>
          <a:prstGeom prst="line">
            <a:avLst/>
          </a:prstGeom>
          <a:ln w="25400">
            <a:solidFill>
              <a:srgbClr val="808080"/>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70" name="Text Placeholder 191"/>
          <p:cNvSpPr>
            <a:spLocks noGrp="1"/>
          </p:cNvSpPr>
          <p:nvPr>
            <p:custDataLst>
              <p:tags r:id="rId32"/>
            </p:custDataLst>
          </p:nvPr>
        </p:nvSpPr>
        <p:spPr bwMode="auto">
          <a:xfrm>
            <a:off x="5310188" y="4760913"/>
            <a:ext cx="736600" cy="234950"/>
          </a:xfrm>
          <a:prstGeom prst="ellipse">
            <a:avLst/>
          </a:prstGeom>
          <a:solidFill>
            <a:srgbClr val="FFFFFF"/>
          </a:solidFill>
          <a:ln w="9525">
            <a:solidFill>
              <a:srgbClr val="808080"/>
            </a:solidFill>
          </a:ln>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lnSpc>
                <a:spcPct val="90000"/>
              </a:lnSpc>
              <a:spcBef>
                <a:spcPct val="0"/>
              </a:spcBef>
              <a:spcAft>
                <a:spcPct val="0"/>
              </a:spcAft>
              <a:buNone/>
            </a:pPr>
            <a:r>
              <a:rPr lang="en-US" sz="1200" b="1" dirty="0" smtClean="0"/>
              <a:t> </a:t>
            </a:r>
            <a:r>
              <a:rPr lang="en-US" sz="1200" b="1" dirty="0" smtClean="0">
                <a:solidFill>
                  <a:schemeClr val="tx1">
                    <a:lumMod val="65000"/>
                    <a:lumOff val="35000"/>
                  </a:schemeClr>
                </a:solidFill>
              </a:rPr>
              <a:t>+ 22% </a:t>
            </a:r>
            <a:endParaRPr lang="en-US" sz="1200" b="1" dirty="0">
              <a:solidFill>
                <a:schemeClr val="tx1">
                  <a:lumMod val="65000"/>
                  <a:lumOff val="35000"/>
                </a:schemeClr>
              </a:solidFill>
              <a:latin typeface="Arial"/>
              <a:sym typeface="Arial"/>
            </a:endParaRPr>
          </a:p>
        </p:txBody>
      </p:sp>
      <p:sp>
        <p:nvSpPr>
          <p:cNvPr id="79" name="Text Placeholder 184"/>
          <p:cNvSpPr>
            <a:spLocks noGrp="1"/>
          </p:cNvSpPr>
          <p:nvPr>
            <p:custDataLst>
              <p:tags r:id="rId33"/>
            </p:custDataLst>
          </p:nvPr>
        </p:nvSpPr>
        <p:spPr bwMode="auto">
          <a:xfrm>
            <a:off x="7969250" y="5892800"/>
            <a:ext cx="349250" cy="182563"/>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8CFD7E1-1FAB-40FC-B5CE-C304F72ABCFC}" type="datetime'''''''2''0''''''''''''''''''''''1''4'''''">
              <a:rPr lang="en-US" sz="1200">
                <a:solidFill>
                  <a:schemeClr val="accent1"/>
                </a:solidFill>
              </a:rPr>
              <a:pPr/>
              <a:t>2014</a:t>
            </a:fld>
            <a:endParaRPr lang="en-US" sz="1200" dirty="0">
              <a:solidFill>
                <a:schemeClr val="accent1"/>
              </a:solidFill>
              <a:latin typeface="Arial"/>
              <a:sym typeface="Arial"/>
            </a:endParaRPr>
          </a:p>
        </p:txBody>
      </p:sp>
      <p:sp>
        <p:nvSpPr>
          <p:cNvPr id="87" name="Text Placeholder 27"/>
          <p:cNvSpPr>
            <a:spLocks noGrp="1"/>
          </p:cNvSpPr>
          <p:nvPr>
            <p:custDataLst>
              <p:tags r:id="rId34"/>
            </p:custDataLst>
          </p:nvPr>
        </p:nvSpPr>
        <p:spPr bwMode="gray">
          <a:xfrm>
            <a:off x="7974013" y="510698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4652524-DCAC-46E5-868E-504BD3B67158}" type="datetime'''''''1''''''''''''''''.''''''2''''''''''''''''''''2'''''''''">
              <a:rPr lang="en-US" sz="1200">
                <a:solidFill>
                  <a:schemeClr val="accent1"/>
                </a:solidFill>
                <a:latin typeface="Arial"/>
                <a:sym typeface="Arial"/>
              </a:rPr>
              <a:pPr marL="0" indent="0" algn="ctr">
                <a:spcBef>
                  <a:spcPct val="0"/>
                </a:spcBef>
                <a:spcAft>
                  <a:spcPct val="0"/>
                </a:spcAft>
                <a:buNone/>
              </a:pPr>
              <a:t>1.22</a:t>
            </a:fld>
            <a:endParaRPr lang="en-US" sz="1200" dirty="0">
              <a:solidFill>
                <a:schemeClr val="accent1"/>
              </a:solidFill>
              <a:latin typeface="Arial"/>
              <a:sym typeface="Arial"/>
            </a:endParaRPr>
          </a:p>
        </p:txBody>
      </p:sp>
      <p:sp>
        <p:nvSpPr>
          <p:cNvPr id="78" name="Text Placeholder 183"/>
          <p:cNvSpPr>
            <a:spLocks noGrp="1"/>
          </p:cNvSpPr>
          <p:nvPr>
            <p:custDataLst>
              <p:tags r:id="rId35"/>
            </p:custDataLst>
          </p:nvPr>
        </p:nvSpPr>
        <p:spPr bwMode="auto">
          <a:xfrm>
            <a:off x="7421563" y="5892800"/>
            <a:ext cx="349250" cy="182563"/>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06D33BD5-B4F8-4B28-8271-D1782133354E}" type="datetime'''2''''''0''''''''''''''''1''''''3'''''''''''''''''''''''''''">
              <a:rPr lang="en-US" sz="1200">
                <a:solidFill>
                  <a:schemeClr val="accent1"/>
                </a:solidFill>
              </a:rPr>
              <a:pPr/>
              <a:t>2013</a:t>
            </a:fld>
            <a:endParaRPr lang="en-US" sz="1200" dirty="0">
              <a:solidFill>
                <a:schemeClr val="accent1"/>
              </a:solidFill>
              <a:latin typeface="Arial"/>
              <a:sym typeface="Arial"/>
            </a:endParaRPr>
          </a:p>
        </p:txBody>
      </p:sp>
      <p:sp>
        <p:nvSpPr>
          <p:cNvPr id="86" name="Text Placeholder 26"/>
          <p:cNvSpPr>
            <a:spLocks noGrp="1"/>
          </p:cNvSpPr>
          <p:nvPr>
            <p:custDataLst>
              <p:tags r:id="rId36"/>
            </p:custDataLst>
          </p:nvPr>
        </p:nvSpPr>
        <p:spPr bwMode="gray">
          <a:xfrm>
            <a:off x="7426325" y="510698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4456416-06CA-473B-B2EB-7212884EB769}" type="datetime'1''''''''''''.''''''''''''23'''''''''''''''''''">
              <a:rPr lang="en-US" sz="1200">
                <a:solidFill>
                  <a:schemeClr val="accent1"/>
                </a:solidFill>
                <a:latin typeface="Arial"/>
                <a:sym typeface="Arial"/>
              </a:rPr>
              <a:pPr marL="0" indent="0" algn="ctr">
                <a:spcBef>
                  <a:spcPct val="0"/>
                </a:spcBef>
                <a:spcAft>
                  <a:spcPct val="0"/>
                </a:spcAft>
                <a:buNone/>
              </a:pPr>
              <a:t>1.23</a:t>
            </a:fld>
            <a:endParaRPr lang="en-US" sz="1200" dirty="0">
              <a:solidFill>
                <a:schemeClr val="accent1"/>
              </a:solidFill>
              <a:latin typeface="Arial"/>
              <a:sym typeface="Arial"/>
            </a:endParaRPr>
          </a:p>
        </p:txBody>
      </p:sp>
      <p:sp>
        <p:nvSpPr>
          <p:cNvPr id="77" name="Text Placeholder 182"/>
          <p:cNvSpPr>
            <a:spLocks noGrp="1"/>
          </p:cNvSpPr>
          <p:nvPr>
            <p:custDataLst>
              <p:tags r:id="rId37"/>
            </p:custDataLst>
          </p:nvPr>
        </p:nvSpPr>
        <p:spPr bwMode="auto">
          <a:xfrm>
            <a:off x="6873875" y="5892800"/>
            <a:ext cx="349250" cy="182563"/>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F678556-A556-407F-8651-38494E9566BB}" type="datetime'''''''''''''''''''''''''''''2''''01''''2'">
              <a:rPr lang="en-US" sz="1200">
                <a:solidFill>
                  <a:schemeClr val="accent1"/>
                </a:solidFill>
              </a:rPr>
              <a:pPr/>
              <a:t>2012</a:t>
            </a:fld>
            <a:endParaRPr lang="en-US" sz="1200" dirty="0">
              <a:solidFill>
                <a:schemeClr val="accent1"/>
              </a:solidFill>
              <a:latin typeface="Arial"/>
              <a:sym typeface="Arial"/>
            </a:endParaRPr>
          </a:p>
        </p:txBody>
      </p:sp>
      <p:sp>
        <p:nvSpPr>
          <p:cNvPr id="85" name="Text Placeholder 25"/>
          <p:cNvSpPr>
            <a:spLocks noGrp="1"/>
          </p:cNvSpPr>
          <p:nvPr>
            <p:custDataLst>
              <p:tags r:id="rId38"/>
            </p:custDataLst>
          </p:nvPr>
        </p:nvSpPr>
        <p:spPr bwMode="gray">
          <a:xfrm>
            <a:off x="6878638" y="508793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333E199-1C57-4EC6-B2E9-C1D6E18AD1F4}" type="datetime'''''''''''''''''''''''''''''''''1''.''''2''''''''8'''''''">
              <a:rPr lang="en-US" sz="1200">
                <a:solidFill>
                  <a:schemeClr val="accent1"/>
                </a:solidFill>
                <a:latin typeface="Arial"/>
                <a:sym typeface="Arial"/>
              </a:rPr>
              <a:pPr marL="0" indent="0" algn="ctr">
                <a:spcBef>
                  <a:spcPct val="0"/>
                </a:spcBef>
                <a:spcAft>
                  <a:spcPct val="0"/>
                </a:spcAft>
                <a:buNone/>
              </a:pPr>
              <a:t>1.28</a:t>
            </a:fld>
            <a:endParaRPr lang="en-US" sz="1200" dirty="0">
              <a:solidFill>
                <a:schemeClr val="accent1"/>
              </a:solidFill>
              <a:latin typeface="Arial"/>
              <a:sym typeface="Arial"/>
            </a:endParaRPr>
          </a:p>
        </p:txBody>
      </p:sp>
      <p:sp>
        <p:nvSpPr>
          <p:cNvPr id="76" name="Text Placeholder 181"/>
          <p:cNvSpPr>
            <a:spLocks noGrp="1"/>
          </p:cNvSpPr>
          <p:nvPr>
            <p:custDataLst>
              <p:tags r:id="rId39"/>
            </p:custDataLst>
          </p:nvPr>
        </p:nvSpPr>
        <p:spPr bwMode="auto">
          <a:xfrm>
            <a:off x="6332538" y="5892800"/>
            <a:ext cx="338138" cy="182563"/>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FE72041-5011-4C6D-A9EE-35D799273B23}" type="datetime'''''''''''''''''''''''''''''''2''''''''''''01''''''''''1'''''">
              <a:rPr lang="en-US" sz="1200">
                <a:solidFill>
                  <a:schemeClr val="accent1"/>
                </a:solidFill>
              </a:rPr>
              <a:pPr/>
              <a:t>2011</a:t>
            </a:fld>
            <a:endParaRPr lang="en-US" sz="1200" dirty="0">
              <a:solidFill>
                <a:schemeClr val="accent1"/>
              </a:solidFill>
              <a:latin typeface="Arial"/>
              <a:sym typeface="Arial"/>
            </a:endParaRPr>
          </a:p>
        </p:txBody>
      </p:sp>
      <p:sp>
        <p:nvSpPr>
          <p:cNvPr id="84" name="Text Placeholder 24"/>
          <p:cNvSpPr>
            <a:spLocks noGrp="1"/>
          </p:cNvSpPr>
          <p:nvPr>
            <p:custDataLst>
              <p:tags r:id="rId40"/>
            </p:custDataLst>
          </p:nvPr>
        </p:nvSpPr>
        <p:spPr bwMode="gray">
          <a:xfrm>
            <a:off x="6330950" y="510698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311276F-6195-473B-8DDD-FD2E5AF59057}" type="datetime'''''1''''''.''2''''''''''''''''''''''''1'''''''''''''''''">
              <a:rPr lang="en-US" sz="1200">
                <a:solidFill>
                  <a:schemeClr val="accent1"/>
                </a:solidFill>
                <a:latin typeface="Arial"/>
                <a:sym typeface="Arial"/>
              </a:rPr>
              <a:pPr marL="0" indent="0" algn="ctr">
                <a:spcBef>
                  <a:spcPct val="0"/>
                </a:spcBef>
                <a:spcAft>
                  <a:spcPct val="0"/>
                </a:spcAft>
                <a:buNone/>
              </a:pPr>
              <a:t>1.21</a:t>
            </a:fld>
            <a:endParaRPr lang="en-US" sz="1200" dirty="0">
              <a:solidFill>
                <a:schemeClr val="accent1"/>
              </a:solidFill>
              <a:latin typeface="Arial"/>
              <a:sym typeface="Arial"/>
            </a:endParaRPr>
          </a:p>
        </p:txBody>
      </p:sp>
      <p:sp>
        <p:nvSpPr>
          <p:cNvPr id="75" name="Text Placeholder 180"/>
          <p:cNvSpPr>
            <a:spLocks noGrp="1"/>
          </p:cNvSpPr>
          <p:nvPr>
            <p:custDataLst>
              <p:tags r:id="rId41"/>
            </p:custDataLst>
          </p:nvPr>
        </p:nvSpPr>
        <p:spPr bwMode="auto">
          <a:xfrm>
            <a:off x="5778500" y="5892800"/>
            <a:ext cx="349250" cy="182563"/>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7AE5ED8-C8B7-40C3-8F9F-562CFBEA378F}" type="datetime'20''''''''''''''''10'''''">
              <a:rPr lang="en-US" sz="1200">
                <a:solidFill>
                  <a:schemeClr val="accent1"/>
                </a:solidFill>
              </a:rPr>
              <a:pPr/>
              <a:t>2010</a:t>
            </a:fld>
            <a:endParaRPr lang="en-US" sz="1200" dirty="0">
              <a:solidFill>
                <a:schemeClr val="accent1"/>
              </a:solidFill>
              <a:latin typeface="Arial"/>
              <a:sym typeface="Arial"/>
            </a:endParaRPr>
          </a:p>
        </p:txBody>
      </p:sp>
      <p:sp>
        <p:nvSpPr>
          <p:cNvPr id="83" name="Text Placeholder 21"/>
          <p:cNvSpPr>
            <a:spLocks noGrp="1"/>
          </p:cNvSpPr>
          <p:nvPr>
            <p:custDataLst>
              <p:tags r:id="rId42"/>
            </p:custDataLst>
          </p:nvPr>
        </p:nvSpPr>
        <p:spPr bwMode="gray">
          <a:xfrm>
            <a:off x="5783263" y="5097463"/>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C0B4F7CF-32A7-458B-AA56-36FA74F40CC6}" type="datetime'1''''''''''''''.''''''''''24'''''''''''''''''">
              <a:rPr lang="en-US" sz="1200">
                <a:solidFill>
                  <a:schemeClr val="accent1"/>
                </a:solidFill>
                <a:latin typeface="Arial"/>
                <a:sym typeface="Arial"/>
              </a:rPr>
              <a:pPr marL="0" indent="0" algn="ctr">
                <a:spcBef>
                  <a:spcPct val="0"/>
                </a:spcBef>
                <a:spcAft>
                  <a:spcPct val="0"/>
                </a:spcAft>
                <a:buNone/>
              </a:pPr>
              <a:t>1.24</a:t>
            </a:fld>
            <a:endParaRPr lang="en-US" sz="1200" dirty="0">
              <a:solidFill>
                <a:schemeClr val="accent1"/>
              </a:solidFill>
              <a:latin typeface="Arial"/>
              <a:sym typeface="Arial"/>
            </a:endParaRPr>
          </a:p>
        </p:txBody>
      </p:sp>
      <p:sp>
        <p:nvSpPr>
          <p:cNvPr id="74" name="Text Placeholder 179"/>
          <p:cNvSpPr>
            <a:spLocks noGrp="1"/>
          </p:cNvSpPr>
          <p:nvPr>
            <p:custDataLst>
              <p:tags r:id="rId43"/>
            </p:custDataLst>
          </p:nvPr>
        </p:nvSpPr>
        <p:spPr bwMode="auto">
          <a:xfrm>
            <a:off x="5230813" y="5892800"/>
            <a:ext cx="349250" cy="182563"/>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D68DA44-2CCD-4821-B243-6D267E3F21C0}" type="datetime'''''''2''''''''''''''''''''0''''''''''''0''9'''''''''">
              <a:rPr lang="en-US" sz="1200">
                <a:solidFill>
                  <a:schemeClr val="accent1"/>
                </a:solidFill>
              </a:rPr>
              <a:pPr/>
              <a:t>2009</a:t>
            </a:fld>
            <a:endParaRPr lang="en-US" sz="1200" dirty="0">
              <a:solidFill>
                <a:schemeClr val="accent1"/>
              </a:solidFill>
              <a:latin typeface="Arial"/>
              <a:sym typeface="Arial"/>
            </a:endParaRPr>
          </a:p>
        </p:txBody>
      </p:sp>
      <p:sp>
        <p:nvSpPr>
          <p:cNvPr id="82" name="Text Placeholder 9"/>
          <p:cNvSpPr>
            <a:spLocks noGrp="1"/>
          </p:cNvSpPr>
          <p:nvPr>
            <p:custDataLst>
              <p:tags r:id="rId44"/>
            </p:custDataLst>
          </p:nvPr>
        </p:nvSpPr>
        <p:spPr bwMode="gray">
          <a:xfrm>
            <a:off x="5235575" y="5135563"/>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4377D48-F2DC-47D9-8D22-48F3651D3704}" type="datetime'''''''''''''''''''1''''''''.''''''''''''''''''''1''''''4'''''">
              <a:rPr lang="en-US" sz="1200">
                <a:solidFill>
                  <a:schemeClr val="accent1"/>
                </a:solidFill>
                <a:latin typeface="Arial"/>
                <a:sym typeface="Arial"/>
              </a:rPr>
              <a:pPr marL="0" indent="0" algn="ctr">
                <a:spcBef>
                  <a:spcPct val="0"/>
                </a:spcBef>
                <a:spcAft>
                  <a:spcPct val="0"/>
                </a:spcAft>
                <a:buNone/>
              </a:pPr>
              <a:t>1.14</a:t>
            </a:fld>
            <a:endParaRPr lang="en-US" sz="1200" dirty="0">
              <a:solidFill>
                <a:schemeClr val="accent1"/>
              </a:solidFill>
              <a:latin typeface="Arial"/>
              <a:sym typeface="Arial"/>
            </a:endParaRPr>
          </a:p>
        </p:txBody>
      </p:sp>
      <p:sp>
        <p:nvSpPr>
          <p:cNvPr id="73" name="Text Placeholder 178"/>
          <p:cNvSpPr>
            <a:spLocks noGrp="1"/>
          </p:cNvSpPr>
          <p:nvPr>
            <p:custDataLst>
              <p:tags r:id="rId45"/>
            </p:custDataLst>
          </p:nvPr>
        </p:nvSpPr>
        <p:spPr bwMode="auto">
          <a:xfrm>
            <a:off x="4683125" y="5892800"/>
            <a:ext cx="349250" cy="182563"/>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E8572EA-2757-4C82-89FA-A7FCE54DA88F}" type="datetime'''2''''0''0''''''8'''''''''''''''''''''''''''''''''''''">
              <a:rPr lang="en-US" sz="1200">
                <a:solidFill>
                  <a:schemeClr val="accent1"/>
                </a:solidFill>
              </a:rPr>
              <a:pPr/>
              <a:t>2008</a:t>
            </a:fld>
            <a:endParaRPr lang="en-US" sz="1200" dirty="0">
              <a:solidFill>
                <a:schemeClr val="accent1"/>
              </a:solidFill>
              <a:latin typeface="Arial"/>
              <a:sym typeface="Arial"/>
            </a:endParaRPr>
          </a:p>
        </p:txBody>
      </p:sp>
      <p:sp>
        <p:nvSpPr>
          <p:cNvPr id="81" name="Text Placeholder 8"/>
          <p:cNvSpPr>
            <a:spLocks noGrp="1"/>
          </p:cNvSpPr>
          <p:nvPr>
            <p:custDataLst>
              <p:tags r:id="rId46"/>
            </p:custDataLst>
          </p:nvPr>
        </p:nvSpPr>
        <p:spPr bwMode="gray">
          <a:xfrm>
            <a:off x="4687888" y="5097463"/>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A35EB8D-973B-42F1-AB3B-FAE9C67EE9F9}" type="datetime'''''''''''''''''''1''''''''''''.''''''26'">
              <a:rPr lang="en-US" sz="1200">
                <a:solidFill>
                  <a:schemeClr val="accent1"/>
                </a:solidFill>
                <a:latin typeface="Arial"/>
                <a:sym typeface="Arial"/>
              </a:rPr>
              <a:pPr marL="0" indent="0" algn="ctr">
                <a:spcBef>
                  <a:spcPct val="0"/>
                </a:spcBef>
                <a:spcAft>
                  <a:spcPct val="0"/>
                </a:spcAft>
                <a:buNone/>
              </a:pPr>
              <a:t>1.26</a:t>
            </a:fld>
            <a:endParaRPr lang="en-US" sz="1200" dirty="0">
              <a:solidFill>
                <a:schemeClr val="accent1"/>
              </a:solidFill>
              <a:latin typeface="Arial"/>
              <a:sym typeface="Arial"/>
            </a:endParaRPr>
          </a:p>
        </p:txBody>
      </p:sp>
      <p:sp>
        <p:nvSpPr>
          <p:cNvPr id="68" name="Text Placeholder 171"/>
          <p:cNvSpPr>
            <a:spLocks noGrp="1"/>
          </p:cNvSpPr>
          <p:nvPr>
            <p:custDataLst>
              <p:tags r:id="rId47"/>
            </p:custDataLst>
          </p:nvPr>
        </p:nvSpPr>
        <p:spPr bwMode="auto">
          <a:xfrm>
            <a:off x="4135438" y="5892800"/>
            <a:ext cx="349250" cy="182563"/>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3919071-2135-4BB6-AFD5-996389B074CE}" type="datetime'''''''''20''''''''''''0''7'''''''''''''''''''''''">
              <a:rPr lang="en-US" sz="1200">
                <a:solidFill>
                  <a:schemeClr val="accent1"/>
                </a:solidFill>
              </a:rPr>
              <a:pPr/>
              <a:t>2007</a:t>
            </a:fld>
            <a:endParaRPr lang="en-US" sz="1200" dirty="0">
              <a:solidFill>
                <a:schemeClr val="accent1"/>
              </a:solidFill>
              <a:latin typeface="Arial"/>
              <a:sym typeface="Arial"/>
            </a:endParaRPr>
          </a:p>
        </p:txBody>
      </p:sp>
      <p:sp>
        <p:nvSpPr>
          <p:cNvPr id="72" name="Text Placeholder 7"/>
          <p:cNvSpPr>
            <a:spLocks noGrp="1"/>
          </p:cNvSpPr>
          <p:nvPr>
            <p:custDataLst>
              <p:tags r:id="rId48"/>
            </p:custDataLst>
          </p:nvPr>
        </p:nvSpPr>
        <p:spPr bwMode="gray">
          <a:xfrm>
            <a:off x="4140200" y="5135563"/>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9014CA2-073C-424F-A9BE-84E1B4FDFA2E}" type="datetime'''''''1''''''''''.''''''''1''''''5'''''''''''''''''''''''">
              <a:rPr lang="en-US" sz="1200">
                <a:solidFill>
                  <a:schemeClr val="accent1"/>
                </a:solidFill>
                <a:latin typeface="Arial"/>
                <a:sym typeface="Arial"/>
              </a:rPr>
              <a:pPr marL="0" indent="0" algn="ctr">
                <a:spcBef>
                  <a:spcPct val="0"/>
                </a:spcBef>
                <a:spcAft>
                  <a:spcPct val="0"/>
                </a:spcAft>
                <a:buNone/>
              </a:pPr>
              <a:t>1.15</a:t>
            </a:fld>
            <a:endParaRPr lang="en-US" sz="1200" dirty="0">
              <a:solidFill>
                <a:schemeClr val="accent1"/>
              </a:solidFill>
              <a:latin typeface="Arial"/>
              <a:sym typeface="Arial"/>
            </a:endParaRPr>
          </a:p>
        </p:txBody>
      </p:sp>
      <p:sp>
        <p:nvSpPr>
          <p:cNvPr id="67" name="Text Placeholder 170"/>
          <p:cNvSpPr>
            <a:spLocks noGrp="1"/>
          </p:cNvSpPr>
          <p:nvPr>
            <p:custDataLst>
              <p:tags r:id="rId49"/>
            </p:custDataLst>
          </p:nvPr>
        </p:nvSpPr>
        <p:spPr bwMode="auto">
          <a:xfrm>
            <a:off x="3587750" y="5892800"/>
            <a:ext cx="349250" cy="182563"/>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81C4741-63B5-47FF-AB2A-2018DA6275A0}" type="datetime'''''''''''''''''''2''''''''0''0''''''''''''''''''''''''6'">
              <a:rPr lang="en-US" sz="1200">
                <a:solidFill>
                  <a:schemeClr val="accent1"/>
                </a:solidFill>
              </a:rPr>
              <a:pPr/>
              <a:t>2006</a:t>
            </a:fld>
            <a:endParaRPr lang="en-US" sz="1200" dirty="0">
              <a:solidFill>
                <a:schemeClr val="accent1"/>
              </a:solidFill>
              <a:latin typeface="Arial"/>
              <a:sym typeface="Arial"/>
            </a:endParaRPr>
          </a:p>
        </p:txBody>
      </p:sp>
      <p:sp>
        <p:nvSpPr>
          <p:cNvPr id="71" name="Text Placeholder 6"/>
          <p:cNvSpPr>
            <a:spLocks noGrp="1"/>
          </p:cNvSpPr>
          <p:nvPr>
            <p:custDataLst>
              <p:tags r:id="rId50"/>
            </p:custDataLst>
          </p:nvPr>
        </p:nvSpPr>
        <p:spPr bwMode="gray">
          <a:xfrm>
            <a:off x="3592513" y="5211763"/>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B4C56C0-D682-4447-9E4E-454D5D2E1DD5}" type="datetime'''''''''''0''''''''''''''''''''.''''9''''''''4'''''">
              <a:rPr lang="en-US" sz="1200">
                <a:solidFill>
                  <a:schemeClr val="accent1"/>
                </a:solidFill>
                <a:latin typeface="Arial"/>
                <a:sym typeface="Arial"/>
              </a:rPr>
              <a:pPr marL="0" indent="0" algn="ctr">
                <a:spcBef>
                  <a:spcPct val="0"/>
                </a:spcBef>
                <a:spcAft>
                  <a:spcPct val="0"/>
                </a:spcAft>
                <a:buNone/>
              </a:pPr>
              <a:t>0.94</a:t>
            </a:fld>
            <a:endParaRPr lang="en-US" sz="1200" dirty="0">
              <a:solidFill>
                <a:schemeClr val="accent1"/>
              </a:solidFill>
              <a:latin typeface="Arial"/>
              <a:sym typeface="Arial"/>
            </a:endParaRPr>
          </a:p>
        </p:txBody>
      </p:sp>
      <p:sp>
        <p:nvSpPr>
          <p:cNvPr id="66" name="Text Placeholder 169"/>
          <p:cNvSpPr>
            <a:spLocks noGrp="1"/>
          </p:cNvSpPr>
          <p:nvPr>
            <p:custDataLst>
              <p:tags r:id="rId51"/>
            </p:custDataLst>
          </p:nvPr>
        </p:nvSpPr>
        <p:spPr bwMode="auto">
          <a:xfrm>
            <a:off x="3040063" y="5892800"/>
            <a:ext cx="349250" cy="182563"/>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08FCDE8-29EC-41DA-ADB2-F1F3F3472DBC}" type="datetime'''''''''''''''''''''''2''''''''''0''''''''''0''5'''">
              <a:rPr lang="en-US" sz="1200">
                <a:solidFill>
                  <a:schemeClr val="accent1"/>
                </a:solidFill>
              </a:rPr>
              <a:pPr/>
              <a:t>2005</a:t>
            </a:fld>
            <a:endParaRPr lang="en-US" sz="1200" dirty="0">
              <a:solidFill>
                <a:schemeClr val="accent1"/>
              </a:solidFill>
              <a:latin typeface="Arial"/>
              <a:sym typeface="Arial"/>
            </a:endParaRPr>
          </a:p>
        </p:txBody>
      </p:sp>
      <p:sp>
        <p:nvSpPr>
          <p:cNvPr id="69" name="Text Placeholder 5"/>
          <p:cNvSpPr>
            <a:spLocks noGrp="1"/>
          </p:cNvSpPr>
          <p:nvPr>
            <p:custDataLst>
              <p:tags r:id="rId52"/>
            </p:custDataLst>
          </p:nvPr>
        </p:nvSpPr>
        <p:spPr bwMode="gray">
          <a:xfrm>
            <a:off x="3044825" y="5183188"/>
            <a:ext cx="339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60E799A-B95F-4F46-A975-A740CE4F39AF}" type="datetime'''''''''''1''''''''''''.''''''0''''''''''0'''''''''''''''''">
              <a:rPr lang="en-US" sz="1200">
                <a:solidFill>
                  <a:schemeClr val="accent1"/>
                </a:solidFill>
                <a:latin typeface="Arial"/>
                <a:sym typeface="Arial"/>
              </a:rPr>
              <a:pPr marL="0" indent="0" algn="ctr">
                <a:spcBef>
                  <a:spcPct val="0"/>
                </a:spcBef>
                <a:spcAft>
                  <a:spcPct val="0"/>
                </a:spcAft>
                <a:buNone/>
              </a:pPr>
              <a:t>1.00</a:t>
            </a:fld>
            <a:endParaRPr lang="en-US" sz="1200" dirty="0">
              <a:solidFill>
                <a:schemeClr val="accent1"/>
              </a:solidFill>
              <a:latin typeface="Arial"/>
              <a:sym typeface="Arial"/>
            </a:endParaRPr>
          </a:p>
        </p:txBody>
      </p:sp>
      <p:sp>
        <p:nvSpPr>
          <p:cNvPr id="80" name="TextBox 79"/>
          <p:cNvSpPr txBox="1"/>
          <p:nvPr/>
        </p:nvSpPr>
        <p:spPr>
          <a:xfrm>
            <a:off x="3011488" y="4562475"/>
            <a:ext cx="5139438" cy="184666"/>
          </a:xfrm>
          <a:prstGeom prst="rect">
            <a:avLst/>
          </a:prstGeom>
          <a:noFill/>
        </p:spPr>
        <p:txBody>
          <a:bodyPr wrap="square" lIns="0" tIns="0" rIns="0" bIns="0" rtlCol="0">
            <a:spAutoFit/>
          </a:bodyPr>
          <a:lstStyle/>
          <a:p>
            <a:r>
              <a:rPr lang="en-US" sz="1200" b="1" dirty="0" smtClean="0">
                <a:solidFill>
                  <a:schemeClr val="accent1"/>
                </a:solidFill>
              </a:rPr>
              <a:t>Colombian peso relative to US dollar, indexed</a:t>
            </a:r>
            <a:r>
              <a:rPr lang="en-US" sz="1200" dirty="0" smtClean="0">
                <a:solidFill>
                  <a:schemeClr val="accent1"/>
                </a:solidFill>
              </a:rPr>
              <a:t> (2005=100)**</a:t>
            </a:r>
            <a:endParaRPr lang="en-US" sz="1200" dirty="0">
              <a:solidFill>
                <a:schemeClr val="accent1"/>
              </a:solidFill>
            </a:endParaRPr>
          </a:p>
        </p:txBody>
      </p:sp>
      <p:sp>
        <p:nvSpPr>
          <p:cNvPr id="40" name="Oval 39"/>
          <p:cNvSpPr/>
          <p:nvPr/>
        </p:nvSpPr>
        <p:spPr>
          <a:xfrm>
            <a:off x="498722" y="1183180"/>
            <a:ext cx="2092325" cy="1385194"/>
          </a:xfrm>
          <a:prstGeom prst="ellipse">
            <a:avLst/>
          </a:prstGeom>
          <a:solidFill>
            <a:schemeClr val="bg1"/>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Labor</a:t>
            </a:r>
          </a:p>
          <a:p>
            <a:pPr algn="ctr"/>
            <a:r>
              <a:rPr lang="en-US" sz="1400" dirty="0" smtClean="0">
                <a:solidFill>
                  <a:schemeClr val="accent1"/>
                </a:solidFill>
              </a:rPr>
              <a:t>+97%</a:t>
            </a:r>
            <a:endParaRPr lang="en-US" sz="1400" dirty="0">
              <a:solidFill>
                <a:schemeClr val="accent1"/>
              </a:solidFill>
            </a:endParaRPr>
          </a:p>
        </p:txBody>
      </p:sp>
      <p:sp>
        <p:nvSpPr>
          <p:cNvPr id="94" name="Oval 93"/>
          <p:cNvSpPr/>
          <p:nvPr/>
        </p:nvSpPr>
        <p:spPr>
          <a:xfrm>
            <a:off x="498722" y="2905618"/>
            <a:ext cx="2092325" cy="1385194"/>
          </a:xfrm>
          <a:prstGeom prst="ellipse">
            <a:avLst/>
          </a:prstGeom>
          <a:solidFill>
            <a:schemeClr val="bg1"/>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Fertilizer</a:t>
            </a:r>
          </a:p>
          <a:p>
            <a:pPr algn="ctr"/>
            <a:r>
              <a:rPr lang="en-US" sz="1400" dirty="0" smtClean="0">
                <a:solidFill>
                  <a:schemeClr val="accent1"/>
                </a:solidFill>
              </a:rPr>
              <a:t>+49%</a:t>
            </a:r>
            <a:endParaRPr lang="en-US" sz="1400" dirty="0">
              <a:solidFill>
                <a:schemeClr val="accent1"/>
              </a:solidFill>
            </a:endParaRPr>
          </a:p>
        </p:txBody>
      </p:sp>
      <p:sp>
        <p:nvSpPr>
          <p:cNvPr id="95" name="Oval 94"/>
          <p:cNvSpPr/>
          <p:nvPr/>
        </p:nvSpPr>
        <p:spPr>
          <a:xfrm>
            <a:off x="498722" y="4593259"/>
            <a:ext cx="2092325" cy="1385194"/>
          </a:xfrm>
          <a:prstGeom prst="ellipse">
            <a:avLst/>
          </a:prstGeom>
          <a:solidFill>
            <a:schemeClr val="bg1"/>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Currency</a:t>
            </a:r>
          </a:p>
          <a:p>
            <a:pPr algn="ctr"/>
            <a:r>
              <a:rPr lang="en-US" sz="1400" dirty="0" smtClean="0">
                <a:solidFill>
                  <a:schemeClr val="accent1"/>
                </a:solidFill>
              </a:rPr>
              <a:t>+22%</a:t>
            </a:r>
            <a:endParaRPr lang="en-US" sz="1400" dirty="0">
              <a:solidFill>
                <a:schemeClr val="accent1"/>
              </a:solidFill>
            </a:endParaRPr>
          </a:p>
        </p:txBody>
      </p:sp>
      <p:sp>
        <p:nvSpPr>
          <p:cNvPr id="4" name="Oval 3"/>
          <p:cNvSpPr/>
          <p:nvPr/>
        </p:nvSpPr>
        <p:spPr>
          <a:xfrm>
            <a:off x="7596187" y="729343"/>
            <a:ext cx="319082" cy="182562"/>
          </a:xfrm>
          <a:prstGeom prst="ellipse">
            <a:avLst/>
          </a:prstGeom>
          <a:solidFill>
            <a:schemeClr val="bg1"/>
          </a:solidFill>
          <a:ln w="9525">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lumMod val="65000"/>
                  <a:lumOff val="35000"/>
                </a:schemeClr>
              </a:solidFill>
            </a:endParaRPr>
          </a:p>
        </p:txBody>
      </p:sp>
      <p:sp>
        <p:nvSpPr>
          <p:cNvPr id="5" name="TextBox 4"/>
          <p:cNvSpPr txBox="1"/>
          <p:nvPr/>
        </p:nvSpPr>
        <p:spPr>
          <a:xfrm>
            <a:off x="8002806" y="773406"/>
            <a:ext cx="1317171" cy="138499"/>
          </a:xfrm>
          <a:prstGeom prst="rect">
            <a:avLst/>
          </a:prstGeom>
          <a:noFill/>
        </p:spPr>
        <p:txBody>
          <a:bodyPr wrap="square" lIns="0" tIns="0" rIns="0" bIns="0" rtlCol="0">
            <a:spAutoFit/>
          </a:bodyPr>
          <a:lstStyle/>
          <a:p>
            <a:r>
              <a:rPr lang="en-US" sz="900" dirty="0" smtClean="0">
                <a:solidFill>
                  <a:schemeClr val="accent1"/>
                </a:solidFill>
              </a:rPr>
              <a:t>2005-14 growth rate</a:t>
            </a:r>
            <a:endParaRPr lang="en-US" sz="900" dirty="0">
              <a:solidFill>
                <a:schemeClr val="accent1"/>
              </a:solidFill>
            </a:endParaRPr>
          </a:p>
        </p:txBody>
      </p:sp>
      <p:sp>
        <p:nvSpPr>
          <p:cNvPr id="8" name="TextBox 7"/>
          <p:cNvSpPr txBox="1"/>
          <p:nvPr/>
        </p:nvSpPr>
        <p:spPr>
          <a:xfrm>
            <a:off x="7676236" y="751374"/>
            <a:ext cx="370114" cy="138499"/>
          </a:xfrm>
          <a:prstGeom prst="rect">
            <a:avLst/>
          </a:prstGeom>
          <a:noFill/>
        </p:spPr>
        <p:txBody>
          <a:bodyPr wrap="square" lIns="0" tIns="0" rIns="0" bIns="0" rtlCol="0">
            <a:spAutoFit/>
          </a:bodyPr>
          <a:lstStyle/>
          <a:p>
            <a:r>
              <a:rPr lang="en-US" sz="900" dirty="0">
                <a:solidFill>
                  <a:schemeClr val="tx1">
                    <a:lumMod val="65000"/>
                    <a:lumOff val="35000"/>
                  </a:schemeClr>
                </a:solidFill>
              </a:rPr>
              <a:t>x</a:t>
            </a:r>
            <a:r>
              <a:rPr lang="en-US" sz="900" dirty="0" smtClean="0">
                <a:solidFill>
                  <a:schemeClr val="tx1">
                    <a:lumMod val="65000"/>
                    <a:lumOff val="35000"/>
                  </a:schemeClr>
                </a:solidFill>
              </a:rPr>
              <a:t>%</a:t>
            </a:r>
            <a:endParaRPr lang="en-US" sz="900" dirty="0">
              <a:solidFill>
                <a:schemeClr val="tx1">
                  <a:lumMod val="65000"/>
                  <a:lumOff val="35000"/>
                </a:schemeClr>
              </a:solidFill>
            </a:endParaRPr>
          </a:p>
        </p:txBody>
      </p:sp>
    </p:spTree>
    <p:extLst>
      <p:ext uri="{BB962C8B-B14F-4D97-AF65-F5344CB8AC3E}">
        <p14:creationId xmlns:p14="http://schemas.microsoft.com/office/powerpoint/2010/main" val="5048113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Object 59" hidden="1"/>
          <p:cNvGraphicFramePr>
            <a:graphicFrameLocks noChangeAspect="1"/>
          </p:cNvGraphicFramePr>
          <p:nvPr>
            <p:custDataLst>
              <p:tags r:id="rId2"/>
            </p:custDataLst>
            <p:extLst>
              <p:ext uri="{D42A27DB-BD31-4B8C-83A1-F6EECF244321}">
                <p14:modId xmlns:p14="http://schemas.microsoft.com/office/powerpoint/2010/main" val="14134992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7241"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61" name="McK Footnote"/>
          <p:cNvSpPr txBox="1">
            <a:spLocks noChangeArrowheads="1"/>
          </p:cNvSpPr>
          <p:nvPr/>
        </p:nvSpPr>
        <p:spPr bwMode="auto">
          <a:xfrm>
            <a:off x="649274" y="6236385"/>
            <a:ext cx="7421642" cy="276999"/>
          </a:xfrm>
          <a:prstGeom prst="rect">
            <a:avLst/>
          </a:prstGeom>
          <a:noFill/>
          <a:ln w="9525">
            <a:noFill/>
            <a:miter lim="800000"/>
            <a:headEnd/>
            <a:tailEnd/>
          </a:ln>
        </p:spPr>
        <p:txBody>
          <a:bodyPr wrap="square" lIns="0" tIns="0" rIns="0" bIns="0" anchor="b">
            <a:spAutoFit/>
          </a:bodyPr>
          <a:lstStyle/>
          <a:p>
            <a:pPr defTabSz="895350">
              <a:tabLst>
                <a:tab pos="517525" algn="r"/>
              </a:tabLst>
            </a:pPr>
            <a:r>
              <a:rPr lang="en-US" sz="900" dirty="0" smtClean="0">
                <a:solidFill>
                  <a:schemeClr val="tx1">
                    <a:lumMod val="65000"/>
                    <a:lumOff val="35000"/>
                  </a:schemeClr>
                </a:solidFill>
              </a:rPr>
              <a:t>* Cash production costs</a:t>
            </a:r>
          </a:p>
          <a:p>
            <a:pPr defTabSz="895350">
              <a:tabLst>
                <a:tab pos="517525" algn="r"/>
              </a:tabLst>
            </a:pPr>
            <a:r>
              <a:rPr lang="en-US" sz="900" dirty="0" smtClean="0">
                <a:solidFill>
                  <a:schemeClr val="tx1">
                    <a:lumMod val="65000"/>
                    <a:lumOff val="35000"/>
                  </a:schemeClr>
                </a:solidFill>
              </a:rPr>
              <a:t>Source</a:t>
            </a:r>
            <a:r>
              <a:rPr lang="en-US" sz="900" dirty="0">
                <a:solidFill>
                  <a:schemeClr val="tx1">
                    <a:lumMod val="65000"/>
                    <a:lumOff val="35000"/>
                  </a:schemeClr>
                </a:solidFill>
              </a:rPr>
              <a:t>: </a:t>
            </a:r>
            <a:r>
              <a:rPr lang="en-US" sz="900" dirty="0" smtClean="0">
                <a:solidFill>
                  <a:schemeClr val="tx1">
                    <a:lumMod val="65000"/>
                    <a:lumOff val="35000"/>
                  </a:schemeClr>
                </a:solidFill>
              </a:rPr>
              <a:t>ICO, FNC, TechnoServe analysis</a:t>
            </a:r>
            <a:endParaRPr lang="en-US" sz="900" dirty="0">
              <a:solidFill>
                <a:schemeClr val="tx1">
                  <a:lumMod val="65000"/>
                  <a:lumOff val="35000"/>
                </a:schemeClr>
              </a:solidFill>
            </a:endParaRPr>
          </a:p>
        </p:txBody>
      </p:sp>
      <p:sp>
        <p:nvSpPr>
          <p:cNvPr id="52" name="Title 51"/>
          <p:cNvSpPr>
            <a:spLocks noGrp="1"/>
          </p:cNvSpPr>
          <p:nvPr>
            <p:ph type="title"/>
          </p:nvPr>
        </p:nvSpPr>
        <p:spPr/>
        <p:txBody>
          <a:bodyPr/>
          <a:lstStyle/>
          <a:p>
            <a:r>
              <a:rPr lang="en-US" b="0" dirty="0" smtClean="0"/>
              <a:t>As prices have fallen, the farmer’s margin has been eroded</a:t>
            </a:r>
            <a:endParaRPr lang="en-US" b="0" dirty="0"/>
          </a:p>
        </p:txBody>
      </p:sp>
      <p:sp>
        <p:nvSpPr>
          <p:cNvPr id="2" name="TextBox 1"/>
          <p:cNvSpPr txBox="1"/>
          <p:nvPr/>
        </p:nvSpPr>
        <p:spPr>
          <a:xfrm>
            <a:off x="443400" y="1396797"/>
            <a:ext cx="3340911" cy="430887"/>
          </a:xfrm>
          <a:prstGeom prst="rect">
            <a:avLst/>
          </a:prstGeom>
          <a:noFill/>
        </p:spPr>
        <p:txBody>
          <a:bodyPr wrap="square" lIns="0" tIns="0" rIns="0" bIns="0" rtlCol="0">
            <a:spAutoFit/>
          </a:bodyPr>
          <a:lstStyle/>
          <a:p>
            <a:r>
              <a:rPr lang="en-US" sz="1400" b="1" dirty="0" smtClean="0">
                <a:solidFill>
                  <a:schemeClr val="accent1"/>
                </a:solidFill>
              </a:rPr>
              <a:t>Colombia prices and production costs*</a:t>
            </a:r>
          </a:p>
          <a:p>
            <a:r>
              <a:rPr lang="en-US" sz="1400" dirty="0" smtClean="0">
                <a:solidFill>
                  <a:schemeClr val="accent1"/>
                </a:solidFill>
              </a:rPr>
              <a:t>US</a:t>
            </a:r>
            <a:r>
              <a:rPr lang="en-US" sz="1400" dirty="0">
                <a:solidFill>
                  <a:schemeClr val="accent1"/>
                </a:solidFill>
              </a:rPr>
              <a:t> </a:t>
            </a:r>
            <a:r>
              <a:rPr lang="en-US" sz="1400" dirty="0" smtClean="0">
                <a:solidFill>
                  <a:schemeClr val="accent1"/>
                </a:solidFill>
              </a:rPr>
              <a:t>cents per lb green</a:t>
            </a:r>
            <a:endParaRPr lang="en-US" sz="1400" dirty="0">
              <a:solidFill>
                <a:schemeClr val="accent1"/>
              </a:solidFill>
            </a:endParaRPr>
          </a:p>
        </p:txBody>
      </p:sp>
      <p:graphicFrame>
        <p:nvGraphicFramePr>
          <p:cNvPr id="20" name="Object 19"/>
          <p:cNvGraphicFramePr>
            <a:graphicFrameLocks/>
          </p:cNvGraphicFramePr>
          <p:nvPr>
            <p:custDataLst>
              <p:tags r:id="rId4"/>
            </p:custDataLst>
            <p:extLst>
              <p:ext uri="{D42A27DB-BD31-4B8C-83A1-F6EECF244321}">
                <p14:modId xmlns:p14="http://schemas.microsoft.com/office/powerpoint/2010/main" val="3158080042"/>
              </p:ext>
            </p:extLst>
          </p:nvPr>
        </p:nvGraphicFramePr>
        <p:xfrm>
          <a:off x="762000" y="2057400"/>
          <a:ext cx="6658043" cy="3533865"/>
        </p:xfrm>
        <a:graphic>
          <a:graphicData uri="http://schemas.openxmlformats.org/presentationml/2006/ole">
            <mc:AlternateContent xmlns:mc="http://schemas.openxmlformats.org/markup-compatibility/2006">
              <mc:Choice xmlns:v="urn:schemas-microsoft-com:vml" Requires="v">
                <p:oleObj spid="_x0000_s107242" name="Chart" r:id="rId30" imgW="6658043" imgH="3533865" progId="MSGraph.Chart.8">
                  <p:embed followColorScheme="full"/>
                </p:oleObj>
              </mc:Choice>
              <mc:Fallback>
                <p:oleObj name="Chart" r:id="rId30" imgW="6658043" imgH="3533865" progId="MSGraph.Chart.8">
                  <p:embed followColorScheme="full"/>
                  <p:pic>
                    <p:nvPicPr>
                      <p:cNvPr id="0" name=""/>
                      <p:cNvPicPr/>
                      <p:nvPr/>
                    </p:nvPicPr>
                    <p:blipFill>
                      <a:blip r:embed="rId31"/>
                      <a:stretch>
                        <a:fillRect/>
                      </a:stretch>
                    </p:blipFill>
                    <p:spPr>
                      <a:xfrm>
                        <a:off x="762000" y="2057400"/>
                        <a:ext cx="6658043" cy="3533865"/>
                      </a:xfrm>
                      <a:prstGeom prst="rect">
                        <a:avLst/>
                      </a:prstGeom>
                    </p:spPr>
                  </p:pic>
                </p:oleObj>
              </mc:Fallback>
            </mc:AlternateContent>
          </a:graphicData>
        </a:graphic>
      </p:graphicFrame>
      <p:sp>
        <p:nvSpPr>
          <p:cNvPr id="51" name="Text Placeholder 36"/>
          <p:cNvSpPr>
            <a:spLocks noGrp="1"/>
          </p:cNvSpPr>
          <p:nvPr>
            <p:custDataLst>
              <p:tags r:id="rId5"/>
            </p:custDataLst>
          </p:nvPr>
        </p:nvSpPr>
        <p:spPr bwMode="gray">
          <a:xfrm>
            <a:off x="517525" y="3160713"/>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200</a:t>
            </a:r>
            <a:endParaRPr lang="en-US" sz="1400" dirty="0">
              <a:solidFill>
                <a:schemeClr val="accent1"/>
              </a:solidFill>
              <a:latin typeface="Arial"/>
              <a:sym typeface="Arial"/>
            </a:endParaRPr>
          </a:p>
        </p:txBody>
      </p:sp>
      <p:sp>
        <p:nvSpPr>
          <p:cNvPr id="46" name="Text Placeholder 31"/>
          <p:cNvSpPr>
            <a:spLocks noGrp="1"/>
          </p:cNvSpPr>
          <p:nvPr>
            <p:custDataLst>
              <p:tags r:id="rId6"/>
            </p:custDataLst>
          </p:nvPr>
        </p:nvSpPr>
        <p:spPr bwMode="gray">
          <a:xfrm>
            <a:off x="517525" y="2074863"/>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300</a:t>
            </a:r>
            <a:endParaRPr lang="en-US" sz="1400" dirty="0">
              <a:solidFill>
                <a:schemeClr val="accent1"/>
              </a:solidFill>
              <a:latin typeface="Arial"/>
              <a:sym typeface="Arial"/>
            </a:endParaRPr>
          </a:p>
        </p:txBody>
      </p:sp>
      <p:sp>
        <p:nvSpPr>
          <p:cNvPr id="53" name="Text Placeholder 37"/>
          <p:cNvSpPr>
            <a:spLocks noGrp="1"/>
          </p:cNvSpPr>
          <p:nvPr>
            <p:custDataLst>
              <p:tags r:id="rId7"/>
            </p:custDataLst>
          </p:nvPr>
        </p:nvSpPr>
        <p:spPr bwMode="gray">
          <a:xfrm>
            <a:off x="517525" y="2617788"/>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250</a:t>
            </a:r>
            <a:endParaRPr lang="en-US" sz="1400" dirty="0">
              <a:solidFill>
                <a:schemeClr val="accent1"/>
              </a:solidFill>
              <a:latin typeface="Arial"/>
              <a:sym typeface="Arial"/>
            </a:endParaRPr>
          </a:p>
        </p:txBody>
      </p:sp>
      <p:sp>
        <p:nvSpPr>
          <p:cNvPr id="50" name="Text Placeholder 35"/>
          <p:cNvSpPr>
            <a:spLocks noGrp="1"/>
          </p:cNvSpPr>
          <p:nvPr>
            <p:custDataLst>
              <p:tags r:id="rId8"/>
            </p:custDataLst>
          </p:nvPr>
        </p:nvSpPr>
        <p:spPr bwMode="gray">
          <a:xfrm>
            <a:off x="517525" y="3703638"/>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150</a:t>
            </a:r>
            <a:endParaRPr lang="en-US" sz="1400" dirty="0">
              <a:solidFill>
                <a:schemeClr val="accent1"/>
              </a:solidFill>
              <a:latin typeface="Arial"/>
              <a:sym typeface="Arial"/>
            </a:endParaRPr>
          </a:p>
        </p:txBody>
      </p:sp>
      <p:sp>
        <p:nvSpPr>
          <p:cNvPr id="49" name="Text Placeholder 34"/>
          <p:cNvSpPr>
            <a:spLocks noGrp="1"/>
          </p:cNvSpPr>
          <p:nvPr>
            <p:custDataLst>
              <p:tags r:id="rId9"/>
            </p:custDataLst>
          </p:nvPr>
        </p:nvSpPr>
        <p:spPr bwMode="gray">
          <a:xfrm>
            <a:off x="517525" y="4237038"/>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100</a:t>
            </a:r>
            <a:endParaRPr lang="en-US" sz="1400" dirty="0">
              <a:solidFill>
                <a:schemeClr val="accent1"/>
              </a:solidFill>
              <a:latin typeface="Arial"/>
              <a:sym typeface="Arial"/>
            </a:endParaRPr>
          </a:p>
        </p:txBody>
      </p:sp>
      <p:sp>
        <p:nvSpPr>
          <p:cNvPr id="48" name="Text Placeholder 33"/>
          <p:cNvSpPr>
            <a:spLocks noGrp="1"/>
          </p:cNvSpPr>
          <p:nvPr>
            <p:custDataLst>
              <p:tags r:id="rId10"/>
            </p:custDataLst>
          </p:nvPr>
        </p:nvSpPr>
        <p:spPr bwMode="gray">
          <a:xfrm>
            <a:off x="615950" y="477996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50</a:t>
            </a:r>
            <a:endParaRPr lang="en-US" sz="1400" dirty="0">
              <a:solidFill>
                <a:schemeClr val="accent1"/>
              </a:solidFill>
              <a:latin typeface="Arial"/>
              <a:sym typeface="Arial"/>
            </a:endParaRPr>
          </a:p>
        </p:txBody>
      </p:sp>
      <p:sp>
        <p:nvSpPr>
          <p:cNvPr id="47" name="Text Placeholder 32"/>
          <p:cNvSpPr>
            <a:spLocks noGrp="1"/>
          </p:cNvSpPr>
          <p:nvPr>
            <p:custDataLst>
              <p:tags r:id="rId11"/>
            </p:custDataLst>
          </p:nvPr>
        </p:nvSpPr>
        <p:spPr bwMode="gray">
          <a:xfrm>
            <a:off x="714375" y="5322888"/>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0</a:t>
            </a:r>
            <a:endParaRPr lang="en-US" sz="1400" dirty="0">
              <a:solidFill>
                <a:schemeClr val="accent1"/>
              </a:solidFill>
              <a:latin typeface="Arial"/>
              <a:sym typeface="Arial"/>
            </a:endParaRPr>
          </a:p>
        </p:txBody>
      </p:sp>
      <p:sp>
        <p:nvSpPr>
          <p:cNvPr id="118" name="Text Placeholder 107"/>
          <p:cNvSpPr>
            <a:spLocks noGrp="1"/>
          </p:cNvSpPr>
          <p:nvPr>
            <p:custDataLst>
              <p:tags r:id="rId12"/>
            </p:custDataLst>
          </p:nvPr>
        </p:nvSpPr>
        <p:spPr bwMode="auto">
          <a:xfrm>
            <a:off x="7323139" y="4727575"/>
            <a:ext cx="1438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B29CA1EC-1E7C-4388-AB1E-86D484D9149A}" type="datetime'C''''o''''''s''''t'''''' ''of'' p''''rod''uc''t''io''''n'''''">
              <a:rPr lang="en-US" sz="1400"/>
              <a:pPr/>
              <a:t>Cost of production</a:t>
            </a:fld>
            <a:endParaRPr lang="en-US" sz="1400" dirty="0">
              <a:latin typeface="Arial"/>
              <a:sym typeface="Arial"/>
            </a:endParaRPr>
          </a:p>
        </p:txBody>
      </p:sp>
      <p:sp>
        <p:nvSpPr>
          <p:cNvPr id="139" name="Text Placeholder 110"/>
          <p:cNvSpPr>
            <a:spLocks noGrp="1"/>
          </p:cNvSpPr>
          <p:nvPr>
            <p:custDataLst>
              <p:tags r:id="rId13"/>
            </p:custDataLst>
          </p:nvPr>
        </p:nvSpPr>
        <p:spPr bwMode="auto">
          <a:xfrm>
            <a:off x="7323138" y="4108450"/>
            <a:ext cx="1292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76DC09CA-6F81-46A5-BC69-DDF275E85F12}" type="datetime'F''''''''''''a''''r''''me''r’''''''''''s'' m''''arg''''i''''n'">
              <a:rPr lang="en-US" sz="1400">
                <a:latin typeface="Arial"/>
                <a:sym typeface="Arial"/>
              </a:rPr>
              <a:pPr/>
              <a:t>Farmer’s margin</a:t>
            </a:fld>
            <a:endParaRPr lang="en-US" sz="1400" dirty="0">
              <a:latin typeface="Arial"/>
              <a:sym typeface="Arial"/>
            </a:endParaRPr>
          </a:p>
        </p:txBody>
      </p:sp>
      <p:sp>
        <p:nvSpPr>
          <p:cNvPr id="73" name="Text Placeholder 63"/>
          <p:cNvSpPr>
            <a:spLocks noGrp="1"/>
          </p:cNvSpPr>
          <p:nvPr>
            <p:custDataLst>
              <p:tags r:id="rId14"/>
            </p:custDataLst>
          </p:nvPr>
        </p:nvSpPr>
        <p:spPr bwMode="auto">
          <a:xfrm>
            <a:off x="6816725" y="5591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C22524E-A0E6-4023-8880-66529156D366}" type="datetime'''''2''''''''''''''''0''''13'''''''''">
              <a:rPr lang="en-US" sz="1400">
                <a:solidFill>
                  <a:schemeClr val="accent1"/>
                </a:solidFill>
              </a:rPr>
              <a:pPr/>
              <a:t>2013</a:t>
            </a:fld>
            <a:endParaRPr lang="en-US" sz="1400" dirty="0">
              <a:solidFill>
                <a:schemeClr val="accent1"/>
              </a:solidFill>
              <a:latin typeface="Arial"/>
              <a:sym typeface="Arial"/>
            </a:endParaRPr>
          </a:p>
        </p:txBody>
      </p:sp>
      <p:sp>
        <p:nvSpPr>
          <p:cNvPr id="70" name="Text Placeholder 62"/>
          <p:cNvSpPr>
            <a:spLocks noGrp="1"/>
          </p:cNvSpPr>
          <p:nvPr>
            <p:custDataLst>
              <p:tags r:id="rId15"/>
            </p:custDataLst>
          </p:nvPr>
        </p:nvSpPr>
        <p:spPr bwMode="auto">
          <a:xfrm>
            <a:off x="6240463" y="5591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D8879F2-75CB-4EDA-8F2B-0B1C483C8F5A}" type="datetime'''''''''''''''''''''''''2''''''''''0''1''''''''''''''''''2'''">
              <a:rPr lang="en-US" sz="1400">
                <a:solidFill>
                  <a:schemeClr val="accent1"/>
                </a:solidFill>
              </a:rPr>
              <a:pPr/>
              <a:t>2012</a:t>
            </a:fld>
            <a:endParaRPr lang="en-US" sz="1400" dirty="0">
              <a:solidFill>
                <a:schemeClr val="accent1"/>
              </a:solidFill>
              <a:latin typeface="Arial"/>
              <a:sym typeface="Arial"/>
            </a:endParaRPr>
          </a:p>
        </p:txBody>
      </p:sp>
      <p:sp>
        <p:nvSpPr>
          <p:cNvPr id="68" name="Text Placeholder 61"/>
          <p:cNvSpPr>
            <a:spLocks noGrp="1"/>
          </p:cNvSpPr>
          <p:nvPr>
            <p:custDataLst>
              <p:tags r:id="rId16"/>
            </p:custDataLst>
          </p:nvPr>
        </p:nvSpPr>
        <p:spPr bwMode="auto">
          <a:xfrm>
            <a:off x="5670550" y="5591175"/>
            <a:ext cx="3937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21DB233-F0AE-48C0-9476-9CE1CDB5998A}" type="datetime'''2''''''0''''''1''''''''1'''''''''''''''''''''''''''''''''''">
              <a:rPr lang="en-US" sz="1400">
                <a:solidFill>
                  <a:schemeClr val="accent1"/>
                </a:solidFill>
              </a:rPr>
              <a:pPr/>
              <a:t>2011</a:t>
            </a:fld>
            <a:endParaRPr lang="en-US" sz="1400" dirty="0">
              <a:solidFill>
                <a:schemeClr val="accent1"/>
              </a:solidFill>
              <a:latin typeface="Arial"/>
              <a:sym typeface="Arial"/>
            </a:endParaRPr>
          </a:p>
        </p:txBody>
      </p:sp>
      <p:sp>
        <p:nvSpPr>
          <p:cNvPr id="66" name="Text Placeholder 60"/>
          <p:cNvSpPr>
            <a:spLocks noGrp="1"/>
          </p:cNvSpPr>
          <p:nvPr>
            <p:custDataLst>
              <p:tags r:id="rId17"/>
            </p:custDataLst>
          </p:nvPr>
        </p:nvSpPr>
        <p:spPr bwMode="auto">
          <a:xfrm>
            <a:off x="5083175" y="5591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E34990D-1ACA-4309-BF43-C663FB7D78C4}" type="datetime'''2''''''''0''''''''''''''''''1''''''''''''''''''''0'''''">
              <a:rPr lang="en-US" sz="1400">
                <a:solidFill>
                  <a:schemeClr val="accent1"/>
                </a:solidFill>
              </a:rPr>
              <a:pPr/>
              <a:t>2010</a:t>
            </a:fld>
            <a:endParaRPr lang="en-US" sz="1400" dirty="0">
              <a:solidFill>
                <a:schemeClr val="accent1"/>
              </a:solidFill>
              <a:latin typeface="Arial"/>
              <a:sym typeface="Arial"/>
            </a:endParaRPr>
          </a:p>
        </p:txBody>
      </p:sp>
      <p:sp>
        <p:nvSpPr>
          <p:cNvPr id="65" name="Text Placeholder 59"/>
          <p:cNvSpPr>
            <a:spLocks noGrp="1"/>
          </p:cNvSpPr>
          <p:nvPr>
            <p:custDataLst>
              <p:tags r:id="rId18"/>
            </p:custDataLst>
          </p:nvPr>
        </p:nvSpPr>
        <p:spPr bwMode="auto">
          <a:xfrm>
            <a:off x="4502150" y="5591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ADBD97D-16F6-4014-934A-039E818C45DD}" type="datetime'''''''''''''''2''''''''''''''0''''''0''9'''''''''''''''''">
              <a:rPr lang="en-US" sz="1400">
                <a:solidFill>
                  <a:schemeClr val="accent1"/>
                </a:solidFill>
              </a:rPr>
              <a:pPr/>
              <a:t>2009</a:t>
            </a:fld>
            <a:endParaRPr lang="en-US" sz="1400" dirty="0">
              <a:solidFill>
                <a:schemeClr val="accent1"/>
              </a:solidFill>
              <a:latin typeface="Arial"/>
              <a:sym typeface="Arial"/>
            </a:endParaRPr>
          </a:p>
        </p:txBody>
      </p:sp>
      <p:sp>
        <p:nvSpPr>
          <p:cNvPr id="64" name="Text Placeholder 58"/>
          <p:cNvSpPr>
            <a:spLocks noGrp="1"/>
          </p:cNvSpPr>
          <p:nvPr>
            <p:custDataLst>
              <p:tags r:id="rId19"/>
            </p:custDataLst>
          </p:nvPr>
        </p:nvSpPr>
        <p:spPr bwMode="auto">
          <a:xfrm>
            <a:off x="3925888" y="5591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3038DD6-B0C9-459B-AE1C-491006002055}" type="datetime'''''2''''''''''''''0''''''''''''''''''''''0''8'''''">
              <a:rPr lang="en-US" sz="1400">
                <a:solidFill>
                  <a:schemeClr val="accent1"/>
                </a:solidFill>
              </a:rPr>
              <a:pPr/>
              <a:t>2008</a:t>
            </a:fld>
            <a:endParaRPr lang="en-US" sz="1400" dirty="0">
              <a:solidFill>
                <a:schemeClr val="accent1"/>
              </a:solidFill>
              <a:latin typeface="Arial"/>
              <a:sym typeface="Arial"/>
            </a:endParaRPr>
          </a:p>
        </p:txBody>
      </p:sp>
      <p:sp>
        <p:nvSpPr>
          <p:cNvPr id="63" name="Text Placeholder 57"/>
          <p:cNvSpPr>
            <a:spLocks noGrp="1"/>
          </p:cNvSpPr>
          <p:nvPr>
            <p:custDataLst>
              <p:tags r:id="rId20"/>
            </p:custDataLst>
          </p:nvPr>
        </p:nvSpPr>
        <p:spPr bwMode="auto">
          <a:xfrm>
            <a:off x="3349625" y="5591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A7EEDF1-5BC8-408E-A1A0-FF2645D9F234}" type="datetime'''''''''''''''''20''''0''''''''''''''''''''''''''''7'''''">
              <a:rPr lang="en-US" sz="1400">
                <a:solidFill>
                  <a:schemeClr val="accent1"/>
                </a:solidFill>
              </a:rPr>
              <a:pPr/>
              <a:t>2007</a:t>
            </a:fld>
            <a:endParaRPr lang="en-US" sz="1400" dirty="0">
              <a:solidFill>
                <a:schemeClr val="accent1"/>
              </a:solidFill>
              <a:latin typeface="Arial"/>
              <a:sym typeface="Arial"/>
            </a:endParaRPr>
          </a:p>
        </p:txBody>
      </p:sp>
      <p:sp>
        <p:nvSpPr>
          <p:cNvPr id="62" name="Text Placeholder 56"/>
          <p:cNvSpPr>
            <a:spLocks noGrp="1"/>
          </p:cNvSpPr>
          <p:nvPr>
            <p:custDataLst>
              <p:tags r:id="rId21"/>
            </p:custDataLst>
          </p:nvPr>
        </p:nvSpPr>
        <p:spPr bwMode="auto">
          <a:xfrm>
            <a:off x="2768600" y="5591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D8F9E8D-D7B8-45A2-B03A-3534515F2674}" type="datetime'''''''''''''20''''''''''''''''''0''''6'''''''''''''">
              <a:rPr lang="en-US" sz="1400">
                <a:solidFill>
                  <a:schemeClr val="accent1"/>
                </a:solidFill>
              </a:rPr>
              <a:pPr/>
              <a:t>2006</a:t>
            </a:fld>
            <a:endParaRPr lang="en-US" sz="1400" dirty="0">
              <a:solidFill>
                <a:schemeClr val="accent1"/>
              </a:solidFill>
              <a:latin typeface="Arial"/>
              <a:sym typeface="Arial"/>
            </a:endParaRPr>
          </a:p>
        </p:txBody>
      </p:sp>
      <p:sp>
        <p:nvSpPr>
          <p:cNvPr id="56" name="Text Placeholder 52"/>
          <p:cNvSpPr>
            <a:spLocks noGrp="1"/>
          </p:cNvSpPr>
          <p:nvPr>
            <p:custDataLst>
              <p:tags r:id="rId22"/>
            </p:custDataLst>
          </p:nvPr>
        </p:nvSpPr>
        <p:spPr bwMode="auto">
          <a:xfrm>
            <a:off x="2187575" y="5591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B116099-63CB-4483-92B0-C0F2C8B40CF6}" type="datetime'''''''200''''''''''''''''''5'''''''''''''''''''''''''''">
              <a:rPr lang="en-US" sz="1400">
                <a:solidFill>
                  <a:schemeClr val="accent1"/>
                </a:solidFill>
              </a:rPr>
              <a:pPr/>
              <a:t>2005</a:t>
            </a:fld>
            <a:endParaRPr lang="en-US" sz="1400" dirty="0">
              <a:solidFill>
                <a:schemeClr val="accent1"/>
              </a:solidFill>
              <a:latin typeface="Arial"/>
              <a:sym typeface="Arial"/>
            </a:endParaRPr>
          </a:p>
        </p:txBody>
      </p:sp>
      <p:sp>
        <p:nvSpPr>
          <p:cNvPr id="55" name="Text Placeholder 51"/>
          <p:cNvSpPr>
            <a:spLocks noGrp="1"/>
          </p:cNvSpPr>
          <p:nvPr>
            <p:custDataLst>
              <p:tags r:id="rId23"/>
            </p:custDataLst>
          </p:nvPr>
        </p:nvSpPr>
        <p:spPr bwMode="auto">
          <a:xfrm>
            <a:off x="1611313" y="5591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EFE55F3-3E72-4DC2-A8D6-167FA8B14BC3}" type="datetime'''''''''''''2''''''''''''''''''''''''''0''''''''0''4'''">
              <a:rPr lang="en-US" sz="1400">
                <a:solidFill>
                  <a:schemeClr val="accent1"/>
                </a:solidFill>
              </a:rPr>
              <a:pPr/>
              <a:t>2004</a:t>
            </a:fld>
            <a:endParaRPr lang="en-US" sz="1400" dirty="0">
              <a:solidFill>
                <a:schemeClr val="accent1"/>
              </a:solidFill>
              <a:latin typeface="Arial"/>
              <a:sym typeface="Arial"/>
            </a:endParaRPr>
          </a:p>
        </p:txBody>
      </p:sp>
      <p:sp>
        <p:nvSpPr>
          <p:cNvPr id="54" name="Text Placeholder 50"/>
          <p:cNvSpPr>
            <a:spLocks noGrp="1"/>
          </p:cNvSpPr>
          <p:nvPr>
            <p:custDataLst>
              <p:tags r:id="rId24"/>
            </p:custDataLst>
          </p:nvPr>
        </p:nvSpPr>
        <p:spPr bwMode="auto">
          <a:xfrm>
            <a:off x="1035050" y="55911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214E87C-A69C-4263-ADEA-B62947B9F581}" type="datetime'''''''''2''''''0''''''''''0''''''''''''''''3'''''''''">
              <a:rPr lang="en-US" sz="1400">
                <a:solidFill>
                  <a:schemeClr val="accent1"/>
                </a:solidFill>
              </a:rPr>
              <a:pPr/>
              <a:t>2003</a:t>
            </a:fld>
            <a:endParaRPr lang="en-US" sz="1400" dirty="0">
              <a:solidFill>
                <a:schemeClr val="accent1"/>
              </a:solidFill>
              <a:latin typeface="Arial"/>
              <a:sym typeface="Arial"/>
            </a:endParaRPr>
          </a:p>
        </p:txBody>
      </p:sp>
      <p:cxnSp>
        <p:nvCxnSpPr>
          <p:cNvPr id="4" name="Straight Connector 3"/>
          <p:cNvCxnSpPr/>
          <p:nvPr>
            <p:custDataLst>
              <p:tags r:id="rId25"/>
            </p:custDataLst>
          </p:nvPr>
        </p:nvCxnSpPr>
        <p:spPr bwMode="gray">
          <a:xfrm>
            <a:off x="7064375" y="1662113"/>
            <a:ext cx="328613" cy="0"/>
          </a:xfrm>
          <a:prstGeom prst="line">
            <a:avLst/>
          </a:prstGeom>
          <a:ln w="28575">
            <a:solidFill>
              <a:srgbClr val="21249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7" name="Text Placeholder 237"/>
          <p:cNvSpPr>
            <a:spLocks noGrp="1"/>
          </p:cNvSpPr>
          <p:nvPr>
            <p:custDataLst>
              <p:tags r:id="rId26"/>
            </p:custDataLst>
          </p:nvPr>
        </p:nvSpPr>
        <p:spPr bwMode="auto">
          <a:xfrm>
            <a:off x="7443788" y="1563688"/>
            <a:ext cx="123983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latin typeface="Arial"/>
                <a:sym typeface="Arial"/>
              </a:rPr>
              <a:t>Farm gate price</a:t>
            </a:r>
            <a:endParaRPr lang="en-US" sz="1400" dirty="0">
              <a:latin typeface="Arial"/>
              <a:sym typeface="Arial"/>
            </a:endParaRPr>
          </a:p>
        </p:txBody>
      </p:sp>
      <p:sp>
        <p:nvSpPr>
          <p:cNvPr id="6" name="Rectangular Callout 5"/>
          <p:cNvSpPr/>
          <p:nvPr/>
        </p:nvSpPr>
        <p:spPr>
          <a:xfrm>
            <a:off x="1203324" y="3086100"/>
            <a:ext cx="2349501" cy="933807"/>
          </a:xfrm>
          <a:prstGeom prst="wedgeRectCallout">
            <a:avLst>
              <a:gd name="adj1" fmla="val -37615"/>
              <a:gd name="adj2" fmla="val 134122"/>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p:cNvSpPr txBox="1"/>
          <p:nvPr/>
        </p:nvSpPr>
        <p:spPr>
          <a:xfrm>
            <a:off x="1264920" y="3148548"/>
            <a:ext cx="2287905" cy="861774"/>
          </a:xfrm>
          <a:prstGeom prst="rect">
            <a:avLst/>
          </a:prstGeom>
          <a:noFill/>
        </p:spPr>
        <p:txBody>
          <a:bodyPr wrap="square" lIns="0" tIns="0" rIns="0" bIns="0" rtlCol="0">
            <a:spAutoFit/>
          </a:bodyPr>
          <a:lstStyle/>
          <a:p>
            <a:r>
              <a:rPr lang="en-US" sz="1400" dirty="0" smtClean="0"/>
              <a:t>Drop in number of coffee farmers as many looked for better income opportunities, including coca</a:t>
            </a:r>
            <a:endParaRPr lang="en-US" sz="1400" dirty="0"/>
          </a:p>
        </p:txBody>
      </p:sp>
      <p:sp>
        <p:nvSpPr>
          <p:cNvPr id="30" name="Rectangular Callout 29"/>
          <p:cNvSpPr/>
          <p:nvPr/>
        </p:nvSpPr>
        <p:spPr>
          <a:xfrm>
            <a:off x="6774497" y="2297430"/>
            <a:ext cx="1717994" cy="984586"/>
          </a:xfrm>
          <a:prstGeom prst="wedgeRectCallout">
            <a:avLst>
              <a:gd name="adj1" fmla="val -36853"/>
              <a:gd name="adj2" fmla="val 147636"/>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extBox 30"/>
          <p:cNvSpPr txBox="1"/>
          <p:nvPr/>
        </p:nvSpPr>
        <p:spPr>
          <a:xfrm>
            <a:off x="6864350" y="2363092"/>
            <a:ext cx="1628140" cy="861774"/>
          </a:xfrm>
          <a:prstGeom prst="rect">
            <a:avLst/>
          </a:prstGeom>
          <a:noFill/>
        </p:spPr>
        <p:txBody>
          <a:bodyPr wrap="square" lIns="0" tIns="0" rIns="0" bIns="0" rtlCol="0">
            <a:spAutoFit/>
          </a:bodyPr>
          <a:lstStyle/>
          <a:p>
            <a:r>
              <a:rPr lang="en-US" sz="1400" dirty="0" smtClean="0"/>
              <a:t>Government supported coffee farmers with direct subsidy payments</a:t>
            </a:r>
            <a:endParaRPr lang="en-US" sz="1400" dirty="0"/>
          </a:p>
        </p:txBody>
      </p:sp>
    </p:spTree>
    <p:extLst>
      <p:ext uri="{BB962C8B-B14F-4D97-AF65-F5344CB8AC3E}">
        <p14:creationId xmlns:p14="http://schemas.microsoft.com/office/powerpoint/2010/main" val="3615096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p:cNvGraphicFramePr>
            <a:graphicFrameLocks noChangeAspect="1"/>
          </p:cNvGraphicFramePr>
          <p:nvPr>
            <p:custDataLst>
              <p:tags r:id="rId2"/>
            </p:custDataLst>
            <p:extLst>
              <p:ext uri="{D42A27DB-BD31-4B8C-83A1-F6EECF244321}">
                <p14:modId xmlns:p14="http://schemas.microsoft.com/office/powerpoint/2010/main" val="19019943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5199" name="think-cell Slide" r:id="rId36" imgW="270" imgH="270" progId="TCLayout.ActiveDocument.1">
                  <p:embed/>
                </p:oleObj>
              </mc:Choice>
              <mc:Fallback>
                <p:oleObj name="think-cell Slide" r:id="rId36" imgW="270" imgH="270" progId="TCLayout.ActiveDocument.1">
                  <p:embed/>
                  <p:pic>
                    <p:nvPicPr>
                      <p:cNvPr id="0" name=""/>
                      <p:cNvPicPr/>
                      <p:nvPr/>
                    </p:nvPicPr>
                    <p:blipFill>
                      <a:blip r:embed="rId37"/>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graphicFrame>
        <p:nvGraphicFramePr>
          <p:cNvPr id="6" name="Object 5"/>
          <p:cNvGraphicFramePr>
            <a:graphicFrameLocks/>
          </p:cNvGraphicFramePr>
          <p:nvPr>
            <p:custDataLst>
              <p:tags r:id="rId4"/>
            </p:custDataLst>
            <p:extLst>
              <p:ext uri="{D42A27DB-BD31-4B8C-83A1-F6EECF244321}">
                <p14:modId xmlns:p14="http://schemas.microsoft.com/office/powerpoint/2010/main" val="2367999037"/>
              </p:ext>
            </p:extLst>
          </p:nvPr>
        </p:nvGraphicFramePr>
        <p:xfrm>
          <a:off x="723900" y="1828800"/>
          <a:ext cx="8010495" cy="3524253"/>
        </p:xfrm>
        <a:graphic>
          <a:graphicData uri="http://schemas.openxmlformats.org/presentationml/2006/ole">
            <mc:AlternateContent xmlns:mc="http://schemas.openxmlformats.org/markup-compatibility/2006">
              <mc:Choice xmlns:v="urn:schemas-microsoft-com:vml" Requires="v">
                <p:oleObj spid="_x0000_s105200" name="Chart" r:id="rId38" imgW="8010495" imgH="3524253" progId="MSGraph.Chart.8">
                  <p:embed followColorScheme="full"/>
                </p:oleObj>
              </mc:Choice>
              <mc:Fallback>
                <p:oleObj name="Chart" r:id="rId38" imgW="8010495" imgH="3524253" progId="MSGraph.Chart.8">
                  <p:embed followColorScheme="full"/>
                  <p:pic>
                    <p:nvPicPr>
                      <p:cNvPr id="0" name=""/>
                      <p:cNvPicPr/>
                      <p:nvPr/>
                    </p:nvPicPr>
                    <p:blipFill>
                      <a:blip r:embed="rId39"/>
                      <a:stretch>
                        <a:fillRect/>
                      </a:stretch>
                    </p:blipFill>
                    <p:spPr>
                      <a:xfrm>
                        <a:off x="723900" y="1828800"/>
                        <a:ext cx="8010495" cy="3524253"/>
                      </a:xfrm>
                      <a:prstGeom prst="rect">
                        <a:avLst/>
                      </a:prstGeom>
                    </p:spPr>
                  </p:pic>
                </p:oleObj>
              </mc:Fallback>
            </mc:AlternateContent>
          </a:graphicData>
        </a:graphic>
      </p:graphicFrame>
      <p:sp>
        <p:nvSpPr>
          <p:cNvPr id="63" name="Text Placeholder 31"/>
          <p:cNvSpPr>
            <a:spLocks noGrp="1"/>
          </p:cNvSpPr>
          <p:nvPr>
            <p:custDataLst>
              <p:tags r:id="rId5"/>
            </p:custDataLst>
          </p:nvPr>
        </p:nvSpPr>
        <p:spPr bwMode="gray">
          <a:xfrm>
            <a:off x="430213" y="1836738"/>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BFDA1018-C0D1-48BB-8A6F-361C75BAE82F}" type="datetime'''''3.''''''''''''''''''''''''''0''''''''''''''0'''''''''''''">
              <a:rPr lang="en-US" sz="1400">
                <a:solidFill>
                  <a:schemeClr val="accent1"/>
                </a:solidFill>
                <a:latin typeface="Arial"/>
                <a:sym typeface="Arial"/>
              </a:rPr>
              <a:pPr marL="0" indent="0" algn="r">
                <a:spcBef>
                  <a:spcPct val="0"/>
                </a:spcBef>
                <a:spcAft>
                  <a:spcPct val="0"/>
                </a:spcAft>
                <a:buNone/>
              </a:pPr>
              <a:t>3.00</a:t>
            </a:fld>
            <a:endParaRPr lang="en-US" sz="1400" dirty="0">
              <a:solidFill>
                <a:schemeClr val="accent1"/>
              </a:solidFill>
              <a:latin typeface="Arial"/>
              <a:sym typeface="Arial"/>
            </a:endParaRPr>
          </a:p>
        </p:txBody>
      </p:sp>
      <p:sp>
        <p:nvSpPr>
          <p:cNvPr id="72" name="Text Placeholder 37"/>
          <p:cNvSpPr>
            <a:spLocks noGrp="1"/>
          </p:cNvSpPr>
          <p:nvPr>
            <p:custDataLst>
              <p:tags r:id="rId6"/>
            </p:custDataLst>
          </p:nvPr>
        </p:nvSpPr>
        <p:spPr bwMode="gray">
          <a:xfrm>
            <a:off x="430213" y="2379663"/>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4EEB01BB-2FA1-4BF7-97B0-2789EA587AF0}" type="datetime'''2''''''.''''''5''0'''''''''''''''''''''''''''''''''''''''">
              <a:rPr lang="en-US" sz="1400">
                <a:solidFill>
                  <a:schemeClr val="accent1"/>
                </a:solidFill>
                <a:latin typeface="Arial"/>
                <a:sym typeface="Arial"/>
              </a:rPr>
              <a:pPr marL="0" indent="0" algn="r">
                <a:spcBef>
                  <a:spcPct val="0"/>
                </a:spcBef>
                <a:spcAft>
                  <a:spcPct val="0"/>
                </a:spcAft>
                <a:buNone/>
              </a:pPr>
              <a:t>2.50</a:t>
            </a:fld>
            <a:endParaRPr lang="en-US" sz="1400" dirty="0">
              <a:solidFill>
                <a:schemeClr val="accent1"/>
              </a:solidFill>
              <a:latin typeface="Arial"/>
              <a:sym typeface="Arial"/>
            </a:endParaRPr>
          </a:p>
        </p:txBody>
      </p:sp>
      <p:sp>
        <p:nvSpPr>
          <p:cNvPr id="71" name="Text Placeholder 36"/>
          <p:cNvSpPr>
            <a:spLocks noGrp="1"/>
          </p:cNvSpPr>
          <p:nvPr>
            <p:custDataLst>
              <p:tags r:id="rId7"/>
            </p:custDataLst>
          </p:nvPr>
        </p:nvSpPr>
        <p:spPr bwMode="gray">
          <a:xfrm>
            <a:off x="430213" y="2922588"/>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A1912609-97C7-4D26-9CA6-02DDB5224312}" type="datetime'''''2''''''''''''.''0''''''''''''''''''''''''''''''''''0'''''">
              <a:rPr lang="en-US" sz="1400">
                <a:solidFill>
                  <a:schemeClr val="accent1"/>
                </a:solidFill>
                <a:latin typeface="Arial"/>
                <a:sym typeface="Arial"/>
              </a:rPr>
              <a:pPr marL="0" indent="0" algn="r">
                <a:spcBef>
                  <a:spcPct val="0"/>
                </a:spcBef>
                <a:spcAft>
                  <a:spcPct val="0"/>
                </a:spcAft>
                <a:buNone/>
              </a:pPr>
              <a:t>2.00</a:t>
            </a:fld>
            <a:endParaRPr lang="en-US" sz="1400" dirty="0">
              <a:solidFill>
                <a:schemeClr val="accent1"/>
              </a:solidFill>
              <a:latin typeface="Arial"/>
              <a:sym typeface="Arial"/>
            </a:endParaRPr>
          </a:p>
        </p:txBody>
      </p:sp>
      <p:sp>
        <p:nvSpPr>
          <p:cNvPr id="67" name="Text Placeholder 35"/>
          <p:cNvSpPr>
            <a:spLocks noGrp="1"/>
          </p:cNvSpPr>
          <p:nvPr>
            <p:custDataLst>
              <p:tags r:id="rId8"/>
            </p:custDataLst>
          </p:nvPr>
        </p:nvSpPr>
        <p:spPr bwMode="gray">
          <a:xfrm>
            <a:off x="430213" y="3465513"/>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AAEFEA8B-37DA-49C9-8964-186F6450CB9C}" type="datetime'''''''''''''''''''''1''''.''''''''''50'''''''''''''''''''">
              <a:rPr lang="en-US" sz="1400">
                <a:solidFill>
                  <a:schemeClr val="accent1"/>
                </a:solidFill>
                <a:latin typeface="Arial"/>
                <a:sym typeface="Arial"/>
              </a:rPr>
              <a:pPr marL="0" indent="0" algn="r">
                <a:spcBef>
                  <a:spcPct val="0"/>
                </a:spcBef>
                <a:spcAft>
                  <a:spcPct val="0"/>
                </a:spcAft>
                <a:buNone/>
              </a:pPr>
              <a:t>1.50</a:t>
            </a:fld>
            <a:endParaRPr lang="en-US" sz="1400" dirty="0">
              <a:solidFill>
                <a:schemeClr val="accent1"/>
              </a:solidFill>
              <a:latin typeface="Arial"/>
              <a:sym typeface="Arial"/>
            </a:endParaRPr>
          </a:p>
        </p:txBody>
      </p:sp>
      <p:sp>
        <p:nvSpPr>
          <p:cNvPr id="66" name="Text Placeholder 34"/>
          <p:cNvSpPr>
            <a:spLocks noGrp="1"/>
          </p:cNvSpPr>
          <p:nvPr>
            <p:custDataLst>
              <p:tags r:id="rId9"/>
            </p:custDataLst>
          </p:nvPr>
        </p:nvSpPr>
        <p:spPr bwMode="gray">
          <a:xfrm>
            <a:off x="430213" y="3998913"/>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E7C1ADAA-A54D-42CE-9F35-B1EB586FC001}" type="datetime'''''''''''1''''''''''''''.''''''''''0''''''''''''''''''0'">
              <a:rPr lang="en-US" sz="1400">
                <a:solidFill>
                  <a:schemeClr val="accent1"/>
                </a:solidFill>
                <a:latin typeface="Arial"/>
                <a:sym typeface="Arial"/>
              </a:rPr>
              <a:pPr marL="0" indent="0" algn="r">
                <a:spcBef>
                  <a:spcPct val="0"/>
                </a:spcBef>
                <a:spcAft>
                  <a:spcPct val="0"/>
                </a:spcAft>
                <a:buNone/>
              </a:pPr>
              <a:t>1.00</a:t>
            </a:fld>
            <a:endParaRPr lang="en-US" sz="1400" dirty="0">
              <a:solidFill>
                <a:schemeClr val="accent1"/>
              </a:solidFill>
              <a:latin typeface="Arial"/>
              <a:sym typeface="Arial"/>
            </a:endParaRPr>
          </a:p>
        </p:txBody>
      </p:sp>
      <p:sp>
        <p:nvSpPr>
          <p:cNvPr id="65" name="Text Placeholder 33"/>
          <p:cNvSpPr>
            <a:spLocks noGrp="1"/>
          </p:cNvSpPr>
          <p:nvPr>
            <p:custDataLst>
              <p:tags r:id="rId10"/>
            </p:custDataLst>
          </p:nvPr>
        </p:nvSpPr>
        <p:spPr bwMode="gray">
          <a:xfrm>
            <a:off x="430213" y="4541838"/>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C93AA7A2-34C4-4034-8FC9-3A8041584839}" type="datetime'''''''''''0''''''''''''''''''.5''''''''''''''0'">
              <a:rPr lang="en-US" sz="1400">
                <a:solidFill>
                  <a:schemeClr val="accent1"/>
                </a:solidFill>
                <a:latin typeface="Arial"/>
                <a:sym typeface="Arial"/>
              </a:rPr>
              <a:pPr marL="0" indent="0" algn="r">
                <a:spcBef>
                  <a:spcPct val="0"/>
                </a:spcBef>
                <a:spcAft>
                  <a:spcPct val="0"/>
                </a:spcAft>
                <a:buNone/>
              </a:pPr>
              <a:t>0.50</a:t>
            </a:fld>
            <a:endParaRPr lang="en-US" sz="1400" dirty="0">
              <a:solidFill>
                <a:schemeClr val="accent1"/>
              </a:solidFill>
              <a:latin typeface="Arial"/>
              <a:sym typeface="Arial"/>
            </a:endParaRPr>
          </a:p>
        </p:txBody>
      </p:sp>
      <p:sp>
        <p:nvSpPr>
          <p:cNvPr id="97" name="Text Placeholder 142"/>
          <p:cNvSpPr>
            <a:spLocks noGrp="1"/>
          </p:cNvSpPr>
          <p:nvPr>
            <p:custDataLst>
              <p:tags r:id="rId11"/>
            </p:custDataLst>
          </p:nvPr>
        </p:nvSpPr>
        <p:spPr bwMode="auto">
          <a:xfrm flipV="1">
            <a:off x="8532813" y="5353050"/>
            <a:ext cx="212725" cy="57150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3A62DB95-957C-4D31-A739-6EC5D03595B6}" type="datetime'''''D''''''''''''e''''''''''''''''''''c-''''''''''1''''3'">
              <a:rPr lang="en-US" sz="1400">
                <a:solidFill>
                  <a:schemeClr val="accent1"/>
                </a:solidFill>
                <a:latin typeface="Arial"/>
                <a:sym typeface="Arial"/>
              </a:rPr>
              <a:pPr marL="0" indent="0" algn="r">
                <a:buNone/>
              </a:pPr>
              <a:t>Dec-13</a:t>
            </a:fld>
            <a:endParaRPr lang="en-US" sz="1400" dirty="0">
              <a:solidFill>
                <a:schemeClr val="accent1"/>
              </a:solidFill>
              <a:latin typeface="Arial"/>
              <a:sym typeface="Arial"/>
            </a:endParaRPr>
          </a:p>
        </p:txBody>
      </p:sp>
      <p:sp>
        <p:nvSpPr>
          <p:cNvPr id="96" name="Text Placeholder 141"/>
          <p:cNvSpPr>
            <a:spLocks noGrp="1"/>
          </p:cNvSpPr>
          <p:nvPr>
            <p:custDataLst>
              <p:tags r:id="rId12"/>
            </p:custDataLst>
          </p:nvPr>
        </p:nvSpPr>
        <p:spPr bwMode="auto">
          <a:xfrm flipV="1">
            <a:off x="8199438" y="5353050"/>
            <a:ext cx="212725" cy="57150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3328A3E6-BF83-4C08-BCD1-93B06FC67767}" type="datetime'''''''''N''''''''''''''''''''''''''ov''''-''1''3'''">
              <a:rPr lang="en-US" sz="1400">
                <a:solidFill>
                  <a:schemeClr val="accent1"/>
                </a:solidFill>
                <a:latin typeface="Arial"/>
                <a:sym typeface="Arial"/>
              </a:rPr>
              <a:pPr marL="0" indent="0" algn="r">
                <a:buNone/>
              </a:pPr>
              <a:t>Nov-13</a:t>
            </a:fld>
            <a:endParaRPr lang="en-US" sz="1400" dirty="0">
              <a:solidFill>
                <a:schemeClr val="accent1"/>
              </a:solidFill>
              <a:latin typeface="Arial"/>
              <a:sym typeface="Arial"/>
            </a:endParaRPr>
          </a:p>
        </p:txBody>
      </p:sp>
      <p:sp>
        <p:nvSpPr>
          <p:cNvPr id="95" name="Text Placeholder 140"/>
          <p:cNvSpPr>
            <a:spLocks noGrp="1"/>
          </p:cNvSpPr>
          <p:nvPr>
            <p:custDataLst>
              <p:tags r:id="rId13"/>
            </p:custDataLst>
          </p:nvPr>
        </p:nvSpPr>
        <p:spPr bwMode="auto">
          <a:xfrm flipV="1">
            <a:off x="7856538" y="5353050"/>
            <a:ext cx="212725" cy="531813"/>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B0C9F532-988E-41F8-8CEA-37E4D0061BF9}" type="datetime'''''''''''''''''''''''Oc''''''''t''''''-1''3'''''''''">
              <a:rPr lang="en-US" sz="1400">
                <a:solidFill>
                  <a:schemeClr val="accent1"/>
                </a:solidFill>
                <a:latin typeface="Arial"/>
                <a:sym typeface="Arial"/>
              </a:rPr>
              <a:pPr marL="0" indent="0" algn="r">
                <a:buNone/>
              </a:pPr>
              <a:t>Oct-13</a:t>
            </a:fld>
            <a:endParaRPr lang="en-US" sz="1400" dirty="0">
              <a:solidFill>
                <a:schemeClr val="accent1"/>
              </a:solidFill>
              <a:latin typeface="Arial"/>
              <a:sym typeface="Arial"/>
            </a:endParaRPr>
          </a:p>
        </p:txBody>
      </p:sp>
      <p:sp>
        <p:nvSpPr>
          <p:cNvPr id="94" name="Text Placeholder 139"/>
          <p:cNvSpPr>
            <a:spLocks noGrp="1"/>
          </p:cNvSpPr>
          <p:nvPr>
            <p:custDataLst>
              <p:tags r:id="rId14"/>
            </p:custDataLst>
          </p:nvPr>
        </p:nvSpPr>
        <p:spPr bwMode="auto">
          <a:xfrm flipV="1">
            <a:off x="7523163" y="5353050"/>
            <a:ext cx="212725" cy="57150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57A03659-9128-46AE-A325-7699627698BC}" type="datetime'''''S''e''''''''''''''p''''''''''''''''''''-''''''''1''''''3'">
              <a:rPr lang="en-US" sz="1400">
                <a:solidFill>
                  <a:schemeClr val="accent1"/>
                </a:solidFill>
                <a:latin typeface="Arial"/>
                <a:sym typeface="Arial"/>
              </a:rPr>
              <a:pPr marL="0" indent="0" algn="r">
                <a:buNone/>
              </a:pPr>
              <a:t>Sep-13</a:t>
            </a:fld>
            <a:endParaRPr lang="en-US" sz="1400" dirty="0">
              <a:solidFill>
                <a:schemeClr val="accent1"/>
              </a:solidFill>
              <a:latin typeface="Arial"/>
              <a:sym typeface="Arial"/>
            </a:endParaRPr>
          </a:p>
        </p:txBody>
      </p:sp>
      <p:sp>
        <p:nvSpPr>
          <p:cNvPr id="93" name="Text Placeholder 138"/>
          <p:cNvSpPr>
            <a:spLocks noGrp="1"/>
          </p:cNvSpPr>
          <p:nvPr>
            <p:custDataLst>
              <p:tags r:id="rId15"/>
            </p:custDataLst>
          </p:nvPr>
        </p:nvSpPr>
        <p:spPr bwMode="auto">
          <a:xfrm flipV="1">
            <a:off x="7189788" y="5353050"/>
            <a:ext cx="212725" cy="57150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77E52D66-4BE2-4541-A925-9F5843DD0F8C}" type="datetime'''''''''''A''''''ug''-''''''''''1''''''''''''''''''''3'''''">
              <a:rPr lang="en-US" sz="1400">
                <a:solidFill>
                  <a:schemeClr val="accent1"/>
                </a:solidFill>
                <a:latin typeface="Arial"/>
                <a:sym typeface="Arial"/>
              </a:rPr>
              <a:pPr marL="0" indent="0" algn="r">
                <a:buNone/>
              </a:pPr>
              <a:t>Aug-13</a:t>
            </a:fld>
            <a:endParaRPr lang="en-US" sz="1400" dirty="0">
              <a:solidFill>
                <a:schemeClr val="accent1"/>
              </a:solidFill>
              <a:latin typeface="Arial"/>
              <a:sym typeface="Arial"/>
            </a:endParaRPr>
          </a:p>
        </p:txBody>
      </p:sp>
      <p:sp>
        <p:nvSpPr>
          <p:cNvPr id="92" name="Text Placeholder 137"/>
          <p:cNvSpPr>
            <a:spLocks noGrp="1"/>
          </p:cNvSpPr>
          <p:nvPr>
            <p:custDataLst>
              <p:tags r:id="rId16"/>
            </p:custDataLst>
          </p:nvPr>
        </p:nvSpPr>
        <p:spPr bwMode="auto">
          <a:xfrm flipV="1">
            <a:off x="6856413" y="5353050"/>
            <a:ext cx="212725" cy="48260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EF69C5E7-0DF3-4FBA-96D7-94BD66AF5CBA}" type="datetime'''J''''''''''''''''''u''''''''''l-''''''''1''3'''''''">
              <a:rPr lang="en-US" sz="1400">
                <a:solidFill>
                  <a:schemeClr val="accent1"/>
                </a:solidFill>
                <a:latin typeface="Arial"/>
                <a:sym typeface="Arial"/>
              </a:rPr>
              <a:pPr marL="0" indent="0" algn="r">
                <a:buNone/>
              </a:pPr>
              <a:t>Jul-13</a:t>
            </a:fld>
            <a:endParaRPr lang="en-US" sz="1400" dirty="0">
              <a:solidFill>
                <a:schemeClr val="accent1"/>
              </a:solidFill>
              <a:latin typeface="Arial"/>
              <a:sym typeface="Arial"/>
            </a:endParaRPr>
          </a:p>
        </p:txBody>
      </p:sp>
      <p:sp>
        <p:nvSpPr>
          <p:cNvPr id="91" name="Text Placeholder 136"/>
          <p:cNvSpPr>
            <a:spLocks noGrp="1"/>
          </p:cNvSpPr>
          <p:nvPr>
            <p:custDataLst>
              <p:tags r:id="rId17"/>
            </p:custDataLst>
          </p:nvPr>
        </p:nvSpPr>
        <p:spPr bwMode="auto">
          <a:xfrm flipV="1">
            <a:off x="6513513" y="5353050"/>
            <a:ext cx="212725" cy="541338"/>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C8F5A509-93BA-45BE-A29A-85007E678292}" type="datetime'''''''''''''''''''''''''''''Ju''''n''''-''''''1''''''3'">
              <a:rPr lang="en-US" sz="1400">
                <a:solidFill>
                  <a:schemeClr val="accent1"/>
                </a:solidFill>
                <a:latin typeface="Arial"/>
                <a:sym typeface="Arial"/>
              </a:rPr>
              <a:pPr marL="0" indent="0" algn="r">
                <a:buNone/>
              </a:pPr>
              <a:t>Jun-13</a:t>
            </a:fld>
            <a:endParaRPr lang="en-US" sz="1400" dirty="0">
              <a:solidFill>
                <a:schemeClr val="accent1"/>
              </a:solidFill>
              <a:latin typeface="Arial"/>
              <a:sym typeface="Arial"/>
            </a:endParaRPr>
          </a:p>
        </p:txBody>
      </p:sp>
      <p:sp>
        <p:nvSpPr>
          <p:cNvPr id="90" name="Text Placeholder 135"/>
          <p:cNvSpPr>
            <a:spLocks noGrp="1"/>
          </p:cNvSpPr>
          <p:nvPr>
            <p:custDataLst>
              <p:tags r:id="rId18"/>
            </p:custDataLst>
          </p:nvPr>
        </p:nvSpPr>
        <p:spPr bwMode="auto">
          <a:xfrm flipV="1">
            <a:off x="6180138" y="5353050"/>
            <a:ext cx="212725" cy="59055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8030CB0B-AF9F-4C0A-9936-77E529640441}" type="datetime'''''''''M''a''''y''''''''''''''''''-''''1''''3'''''''''">
              <a:rPr lang="en-US" sz="1400">
                <a:solidFill>
                  <a:schemeClr val="accent1"/>
                </a:solidFill>
                <a:latin typeface="Arial"/>
                <a:sym typeface="Arial"/>
              </a:rPr>
              <a:pPr marL="0" indent="0" algn="r">
                <a:buNone/>
              </a:pPr>
              <a:t>May-13</a:t>
            </a:fld>
            <a:endParaRPr lang="en-US" sz="1400" dirty="0">
              <a:solidFill>
                <a:schemeClr val="accent1"/>
              </a:solidFill>
              <a:latin typeface="Arial"/>
              <a:sym typeface="Arial"/>
            </a:endParaRPr>
          </a:p>
        </p:txBody>
      </p:sp>
      <p:sp>
        <p:nvSpPr>
          <p:cNvPr id="89" name="Text Placeholder 134"/>
          <p:cNvSpPr>
            <a:spLocks noGrp="1"/>
          </p:cNvSpPr>
          <p:nvPr>
            <p:custDataLst>
              <p:tags r:id="rId19"/>
            </p:custDataLst>
          </p:nvPr>
        </p:nvSpPr>
        <p:spPr bwMode="auto">
          <a:xfrm flipV="1">
            <a:off x="5846763" y="5353050"/>
            <a:ext cx="212725" cy="531813"/>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E323C2B9-44CC-488F-A885-16FB804ED62E}" type="datetime'''A''''p''''''''''''''''''''r''''-''''''''''''''''1''''''3'''">
              <a:rPr lang="en-US" sz="1400">
                <a:solidFill>
                  <a:schemeClr val="accent1"/>
                </a:solidFill>
                <a:latin typeface="Arial"/>
                <a:sym typeface="Arial"/>
              </a:rPr>
              <a:pPr marL="0" indent="0" algn="r">
                <a:buNone/>
              </a:pPr>
              <a:t>Apr-13</a:t>
            </a:fld>
            <a:endParaRPr lang="en-US" sz="1400" dirty="0">
              <a:solidFill>
                <a:schemeClr val="accent1"/>
              </a:solidFill>
              <a:latin typeface="Arial"/>
              <a:sym typeface="Arial"/>
            </a:endParaRPr>
          </a:p>
        </p:txBody>
      </p:sp>
      <p:sp>
        <p:nvSpPr>
          <p:cNvPr id="88" name="Text Placeholder 133"/>
          <p:cNvSpPr>
            <a:spLocks noGrp="1"/>
          </p:cNvSpPr>
          <p:nvPr>
            <p:custDataLst>
              <p:tags r:id="rId20"/>
            </p:custDataLst>
          </p:nvPr>
        </p:nvSpPr>
        <p:spPr bwMode="auto">
          <a:xfrm flipV="1">
            <a:off x="5513388" y="5353050"/>
            <a:ext cx="212725" cy="560388"/>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6B93D771-2CAC-40F9-AAB5-AA31C4F8F610}" type="datetime'''''''''''''''M''a''''''r''''-''1''''''''3'''''''''''''''''''">
              <a:rPr lang="en-US" sz="1400">
                <a:solidFill>
                  <a:schemeClr val="accent1"/>
                </a:solidFill>
                <a:latin typeface="Arial"/>
                <a:sym typeface="Arial"/>
              </a:rPr>
              <a:pPr marL="0" indent="0" algn="r">
                <a:buNone/>
              </a:pPr>
              <a:t>Mar-13</a:t>
            </a:fld>
            <a:endParaRPr lang="en-US" sz="1400" dirty="0">
              <a:solidFill>
                <a:schemeClr val="accent1"/>
              </a:solidFill>
              <a:latin typeface="Arial"/>
              <a:sym typeface="Arial"/>
            </a:endParaRPr>
          </a:p>
        </p:txBody>
      </p:sp>
      <p:sp>
        <p:nvSpPr>
          <p:cNvPr id="87" name="Text Placeholder 132"/>
          <p:cNvSpPr>
            <a:spLocks noGrp="1"/>
          </p:cNvSpPr>
          <p:nvPr>
            <p:custDataLst>
              <p:tags r:id="rId21"/>
            </p:custDataLst>
          </p:nvPr>
        </p:nvSpPr>
        <p:spPr bwMode="auto">
          <a:xfrm flipV="1">
            <a:off x="5170488" y="5353050"/>
            <a:ext cx="212725" cy="560388"/>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E20F4BB8-0E07-48FC-AF31-30329531B3A5}" type="datetime'''''''Fe''''''''b''-''''''''''''1''''''''''''''''3'''">
              <a:rPr lang="en-US" sz="1400">
                <a:solidFill>
                  <a:schemeClr val="accent1"/>
                </a:solidFill>
                <a:latin typeface="Arial"/>
                <a:sym typeface="Arial"/>
              </a:rPr>
              <a:pPr marL="0" indent="0" algn="r">
                <a:buNone/>
              </a:pPr>
              <a:t>Feb-13</a:t>
            </a:fld>
            <a:endParaRPr lang="en-US" sz="1400" dirty="0">
              <a:solidFill>
                <a:schemeClr val="accent1"/>
              </a:solidFill>
              <a:latin typeface="Arial"/>
              <a:sym typeface="Arial"/>
            </a:endParaRPr>
          </a:p>
        </p:txBody>
      </p:sp>
      <p:sp>
        <p:nvSpPr>
          <p:cNvPr id="86" name="Text Placeholder 131"/>
          <p:cNvSpPr>
            <a:spLocks noGrp="1"/>
          </p:cNvSpPr>
          <p:nvPr>
            <p:custDataLst>
              <p:tags r:id="rId22"/>
            </p:custDataLst>
          </p:nvPr>
        </p:nvSpPr>
        <p:spPr bwMode="auto">
          <a:xfrm flipV="1">
            <a:off x="4837113" y="5353050"/>
            <a:ext cx="212725" cy="541338"/>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75712B58-2B7E-4135-82CA-879E67427595}" type="datetime'''''Ja''''''''''''n''''''''''''''''-''''1''''''3'''''''">
              <a:rPr lang="en-US" sz="1400">
                <a:solidFill>
                  <a:schemeClr val="accent1"/>
                </a:solidFill>
                <a:latin typeface="Arial"/>
                <a:sym typeface="Arial"/>
              </a:rPr>
              <a:pPr marL="0" indent="0" algn="r">
                <a:buNone/>
              </a:pPr>
              <a:t>Jan-13</a:t>
            </a:fld>
            <a:endParaRPr lang="en-US" sz="1400" dirty="0">
              <a:solidFill>
                <a:schemeClr val="accent1"/>
              </a:solidFill>
              <a:latin typeface="Arial"/>
              <a:sym typeface="Arial"/>
            </a:endParaRPr>
          </a:p>
        </p:txBody>
      </p:sp>
      <p:sp>
        <p:nvSpPr>
          <p:cNvPr id="85" name="Text Placeholder 130"/>
          <p:cNvSpPr>
            <a:spLocks noGrp="1"/>
          </p:cNvSpPr>
          <p:nvPr>
            <p:custDataLst>
              <p:tags r:id="rId23"/>
            </p:custDataLst>
          </p:nvPr>
        </p:nvSpPr>
        <p:spPr bwMode="auto">
          <a:xfrm flipV="1">
            <a:off x="4503738" y="5353050"/>
            <a:ext cx="212725" cy="57150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A67AA2EA-4C23-4503-AE5C-D4BA65FCB60C}" type="datetime'''''''''D''''''''''''''e''''''''''''''''''c''-''''''''''12'">
              <a:rPr lang="en-US" sz="1400">
                <a:solidFill>
                  <a:schemeClr val="accent1"/>
                </a:solidFill>
              </a:rPr>
              <a:pPr marL="0" indent="0" algn="r">
                <a:buNone/>
              </a:pPr>
              <a:t>Dec-12</a:t>
            </a:fld>
            <a:endParaRPr lang="en-US" sz="1400" dirty="0">
              <a:solidFill>
                <a:schemeClr val="accent1"/>
              </a:solidFill>
              <a:latin typeface="Arial"/>
              <a:sym typeface="Arial"/>
            </a:endParaRPr>
          </a:p>
        </p:txBody>
      </p:sp>
      <p:sp>
        <p:nvSpPr>
          <p:cNvPr id="84" name="Text Placeholder 129"/>
          <p:cNvSpPr>
            <a:spLocks noGrp="1"/>
          </p:cNvSpPr>
          <p:nvPr>
            <p:custDataLst>
              <p:tags r:id="rId24"/>
            </p:custDataLst>
          </p:nvPr>
        </p:nvSpPr>
        <p:spPr bwMode="auto">
          <a:xfrm flipV="1">
            <a:off x="4170363" y="5353050"/>
            <a:ext cx="212725" cy="57150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12B9E58A-510A-48A8-8286-098CC6391A9E}" type="datetime'N''''''''''''o''''''''v''''''''-1''''''''''''''''''''''2'''">
              <a:rPr lang="en-US" sz="1400">
                <a:solidFill>
                  <a:schemeClr val="accent1"/>
                </a:solidFill>
              </a:rPr>
              <a:pPr marL="0" indent="0" algn="r">
                <a:buNone/>
              </a:pPr>
              <a:t>Nov-12</a:t>
            </a:fld>
            <a:endParaRPr lang="en-US" sz="1400" dirty="0">
              <a:solidFill>
                <a:schemeClr val="accent1"/>
              </a:solidFill>
              <a:latin typeface="Arial"/>
              <a:sym typeface="Arial"/>
            </a:endParaRPr>
          </a:p>
        </p:txBody>
      </p:sp>
      <p:sp>
        <p:nvSpPr>
          <p:cNvPr id="83" name="Text Placeholder 128"/>
          <p:cNvSpPr>
            <a:spLocks noGrp="1"/>
          </p:cNvSpPr>
          <p:nvPr>
            <p:custDataLst>
              <p:tags r:id="rId25"/>
            </p:custDataLst>
          </p:nvPr>
        </p:nvSpPr>
        <p:spPr bwMode="auto">
          <a:xfrm flipV="1">
            <a:off x="3827463" y="5353050"/>
            <a:ext cx="212725" cy="531813"/>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8D31EFA5-956F-455D-89C1-C0C48DAA1302}" type="datetime'''''O''''''c''''''''''''''''t''''''''-''''''''''''''1''''2'''">
              <a:rPr lang="en-US" sz="1400">
                <a:solidFill>
                  <a:schemeClr val="accent1"/>
                </a:solidFill>
              </a:rPr>
              <a:pPr marL="0" indent="0" algn="r">
                <a:buNone/>
              </a:pPr>
              <a:t>Oct-12</a:t>
            </a:fld>
            <a:endParaRPr lang="en-US" sz="1400" dirty="0">
              <a:solidFill>
                <a:schemeClr val="accent1"/>
              </a:solidFill>
              <a:latin typeface="Arial"/>
              <a:sym typeface="Arial"/>
            </a:endParaRPr>
          </a:p>
        </p:txBody>
      </p:sp>
      <p:sp>
        <p:nvSpPr>
          <p:cNvPr id="82" name="Text Placeholder 127"/>
          <p:cNvSpPr>
            <a:spLocks noGrp="1"/>
          </p:cNvSpPr>
          <p:nvPr>
            <p:custDataLst>
              <p:tags r:id="rId26"/>
            </p:custDataLst>
          </p:nvPr>
        </p:nvSpPr>
        <p:spPr bwMode="auto">
          <a:xfrm flipV="1">
            <a:off x="3494088" y="5353050"/>
            <a:ext cx="212725" cy="57150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74548C9C-6FC6-4C3D-867A-09DF67470696}" type="datetime'''''''S''''''''''''''ep''-''''''''12'''''''''''''''''">
              <a:rPr lang="en-US" sz="1400">
                <a:solidFill>
                  <a:schemeClr val="accent1"/>
                </a:solidFill>
              </a:rPr>
              <a:pPr marL="0" indent="0" algn="r">
                <a:buNone/>
              </a:pPr>
              <a:t>Sep-12</a:t>
            </a:fld>
            <a:endParaRPr lang="en-US" sz="1400" dirty="0">
              <a:solidFill>
                <a:schemeClr val="accent1"/>
              </a:solidFill>
              <a:latin typeface="Arial"/>
              <a:sym typeface="Arial"/>
            </a:endParaRPr>
          </a:p>
        </p:txBody>
      </p:sp>
      <p:sp>
        <p:nvSpPr>
          <p:cNvPr id="81" name="Text Placeholder 126"/>
          <p:cNvSpPr>
            <a:spLocks noGrp="1"/>
          </p:cNvSpPr>
          <p:nvPr>
            <p:custDataLst>
              <p:tags r:id="rId27"/>
            </p:custDataLst>
          </p:nvPr>
        </p:nvSpPr>
        <p:spPr bwMode="auto">
          <a:xfrm flipV="1">
            <a:off x="3160713" y="5353050"/>
            <a:ext cx="212725" cy="57150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39C7C528-F904-480D-91CA-23942B9CD26D}" type="datetime'''''''''Aug''''''''''-''''''''12'''''''''''''''''''''''''">
              <a:rPr lang="en-US" sz="1400">
                <a:solidFill>
                  <a:schemeClr val="accent1"/>
                </a:solidFill>
              </a:rPr>
              <a:pPr marL="0" indent="0" algn="r">
                <a:buNone/>
              </a:pPr>
              <a:t>Aug-12</a:t>
            </a:fld>
            <a:endParaRPr lang="en-US" sz="1400" dirty="0">
              <a:solidFill>
                <a:schemeClr val="accent1"/>
              </a:solidFill>
              <a:latin typeface="Arial"/>
              <a:sym typeface="Arial"/>
            </a:endParaRPr>
          </a:p>
        </p:txBody>
      </p:sp>
      <p:sp>
        <p:nvSpPr>
          <p:cNvPr id="80" name="Text Placeholder 125"/>
          <p:cNvSpPr>
            <a:spLocks noGrp="1"/>
          </p:cNvSpPr>
          <p:nvPr>
            <p:custDataLst>
              <p:tags r:id="rId28"/>
            </p:custDataLst>
          </p:nvPr>
        </p:nvSpPr>
        <p:spPr bwMode="auto">
          <a:xfrm flipV="1">
            <a:off x="2827338" y="5353050"/>
            <a:ext cx="212725" cy="48260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6007E404-A4C4-4002-AC38-B56273EDBCC5}" type="datetime'''''''''''''''''J''u''''''''''''''l-''''''''1''''''''2'''''">
              <a:rPr lang="en-US" sz="1400">
                <a:solidFill>
                  <a:schemeClr val="accent1"/>
                </a:solidFill>
              </a:rPr>
              <a:pPr marL="0" indent="0" algn="r">
                <a:buNone/>
              </a:pPr>
              <a:t>Jul-12</a:t>
            </a:fld>
            <a:endParaRPr lang="en-US" sz="1400" dirty="0">
              <a:solidFill>
                <a:schemeClr val="accent1"/>
              </a:solidFill>
              <a:latin typeface="Arial"/>
              <a:sym typeface="Arial"/>
            </a:endParaRPr>
          </a:p>
        </p:txBody>
      </p:sp>
      <p:sp>
        <p:nvSpPr>
          <p:cNvPr id="79" name="Text Placeholder 124"/>
          <p:cNvSpPr>
            <a:spLocks noGrp="1"/>
          </p:cNvSpPr>
          <p:nvPr>
            <p:custDataLst>
              <p:tags r:id="rId29"/>
            </p:custDataLst>
          </p:nvPr>
        </p:nvSpPr>
        <p:spPr bwMode="auto">
          <a:xfrm flipV="1">
            <a:off x="2484438" y="5353050"/>
            <a:ext cx="212725" cy="541338"/>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55A7EF4E-4A07-4D21-8B6D-077DEBC8DB9B}" type="datetime'''''''J''''u''''''''''''''''''n''''''-''''''1''''''''''''2'''">
              <a:rPr lang="en-US" sz="1400">
                <a:solidFill>
                  <a:schemeClr val="accent1"/>
                </a:solidFill>
              </a:rPr>
              <a:pPr marL="0" indent="0" algn="r">
                <a:buNone/>
              </a:pPr>
              <a:t>Jun-12</a:t>
            </a:fld>
            <a:endParaRPr lang="en-US" sz="1400" dirty="0">
              <a:solidFill>
                <a:schemeClr val="accent1"/>
              </a:solidFill>
              <a:latin typeface="Arial"/>
              <a:sym typeface="Arial"/>
            </a:endParaRPr>
          </a:p>
        </p:txBody>
      </p:sp>
      <p:sp>
        <p:nvSpPr>
          <p:cNvPr id="78" name="Text Placeholder 123"/>
          <p:cNvSpPr>
            <a:spLocks noGrp="1"/>
          </p:cNvSpPr>
          <p:nvPr>
            <p:custDataLst>
              <p:tags r:id="rId30"/>
            </p:custDataLst>
          </p:nvPr>
        </p:nvSpPr>
        <p:spPr bwMode="auto">
          <a:xfrm flipV="1">
            <a:off x="2151063" y="5353050"/>
            <a:ext cx="212725" cy="590550"/>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FFEAA4CF-2C33-4192-8C86-EA22395EC355}" type="datetime'''''''''M''''''''ay''''''''''''''''-''''''''''''''''''1''2'">
              <a:rPr lang="en-US" sz="1400">
                <a:solidFill>
                  <a:schemeClr val="accent1"/>
                </a:solidFill>
              </a:rPr>
              <a:pPr marL="0" indent="0" algn="r">
                <a:buNone/>
              </a:pPr>
              <a:t>May-12</a:t>
            </a:fld>
            <a:endParaRPr lang="en-US" sz="1400" dirty="0">
              <a:solidFill>
                <a:schemeClr val="accent1"/>
              </a:solidFill>
              <a:latin typeface="Arial"/>
              <a:sym typeface="Arial"/>
            </a:endParaRPr>
          </a:p>
        </p:txBody>
      </p:sp>
      <p:sp>
        <p:nvSpPr>
          <p:cNvPr id="77" name="Text Placeholder 122"/>
          <p:cNvSpPr>
            <a:spLocks noGrp="1"/>
          </p:cNvSpPr>
          <p:nvPr>
            <p:custDataLst>
              <p:tags r:id="rId31"/>
            </p:custDataLst>
          </p:nvPr>
        </p:nvSpPr>
        <p:spPr bwMode="auto">
          <a:xfrm flipV="1">
            <a:off x="1817688" y="5353050"/>
            <a:ext cx="212725" cy="531813"/>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06C2052D-A1D9-4BF1-80BD-610FFC9FABBC}" type="datetime'''''''''''''''''''''''''''Ap''''''r''''''''-''''''''1''2'''''">
              <a:rPr lang="en-US" sz="1400">
                <a:solidFill>
                  <a:schemeClr val="accent1"/>
                </a:solidFill>
              </a:rPr>
              <a:pPr marL="0" indent="0" algn="r">
                <a:buNone/>
              </a:pPr>
              <a:t>Apr-12</a:t>
            </a:fld>
            <a:endParaRPr lang="en-US" sz="1400" dirty="0">
              <a:solidFill>
                <a:schemeClr val="accent1"/>
              </a:solidFill>
              <a:latin typeface="Arial"/>
              <a:sym typeface="Arial"/>
            </a:endParaRPr>
          </a:p>
        </p:txBody>
      </p:sp>
      <p:sp>
        <p:nvSpPr>
          <p:cNvPr id="70" name="Text Placeholder 115"/>
          <p:cNvSpPr>
            <a:spLocks noGrp="1"/>
          </p:cNvSpPr>
          <p:nvPr>
            <p:custDataLst>
              <p:tags r:id="rId32"/>
            </p:custDataLst>
          </p:nvPr>
        </p:nvSpPr>
        <p:spPr bwMode="auto">
          <a:xfrm flipV="1">
            <a:off x="1484313" y="5353050"/>
            <a:ext cx="212725" cy="560388"/>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3340B68C-94E0-435E-9EA6-D7197C540572}" type="datetime'''''''''''''''''''''''''''M''ar''-''1''''2'''">
              <a:rPr lang="en-US" sz="1400">
                <a:solidFill>
                  <a:schemeClr val="accent1"/>
                </a:solidFill>
              </a:rPr>
              <a:pPr marL="0" indent="0" algn="r">
                <a:buNone/>
              </a:pPr>
              <a:t>Mar-12</a:t>
            </a:fld>
            <a:endParaRPr lang="en-US" sz="1400" dirty="0">
              <a:solidFill>
                <a:schemeClr val="accent1"/>
              </a:solidFill>
              <a:sym typeface="+mn-lt"/>
            </a:endParaRPr>
          </a:p>
        </p:txBody>
      </p:sp>
      <p:sp>
        <p:nvSpPr>
          <p:cNvPr id="69" name="Text Placeholder 114"/>
          <p:cNvSpPr>
            <a:spLocks noGrp="1"/>
          </p:cNvSpPr>
          <p:nvPr>
            <p:custDataLst>
              <p:tags r:id="rId33"/>
            </p:custDataLst>
          </p:nvPr>
        </p:nvSpPr>
        <p:spPr bwMode="auto">
          <a:xfrm flipV="1">
            <a:off x="1141413" y="5353050"/>
            <a:ext cx="212725" cy="560388"/>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16C929B3-C934-47A6-8577-FE035C9287D8}" type="datetime'F''''''''''e''''b''''''''-''''''''1''''''''2'''''''''''''">
              <a:rPr lang="en-US" sz="1400">
                <a:solidFill>
                  <a:schemeClr val="accent1"/>
                </a:solidFill>
              </a:rPr>
              <a:pPr marL="0" indent="0" algn="r">
                <a:buNone/>
              </a:pPr>
              <a:t>Feb-12</a:t>
            </a:fld>
            <a:endParaRPr lang="en-US" sz="1400" dirty="0">
              <a:solidFill>
                <a:schemeClr val="accent1"/>
              </a:solidFill>
              <a:sym typeface="+mn-lt"/>
            </a:endParaRPr>
          </a:p>
        </p:txBody>
      </p:sp>
      <p:sp>
        <p:nvSpPr>
          <p:cNvPr id="68" name="Text Placeholder 113"/>
          <p:cNvSpPr>
            <a:spLocks noGrp="1"/>
          </p:cNvSpPr>
          <p:nvPr>
            <p:custDataLst>
              <p:tags r:id="rId34"/>
            </p:custDataLst>
          </p:nvPr>
        </p:nvSpPr>
        <p:spPr bwMode="auto">
          <a:xfrm flipV="1">
            <a:off x="808038" y="5353050"/>
            <a:ext cx="212725" cy="541338"/>
          </a:xfrm>
          <a:prstGeom prst="rect">
            <a:avLst/>
          </a:prstGeom>
          <a:noFill/>
          <a:extLst>
            <a:ext uri="{909E8E84-426E-40DD-AFC4-6F175D3DCCD1}">
              <a14:hiddenFill xmlns:a14="http://schemas.microsoft.com/office/drawing/2010/main">
                <a:solidFill>
                  <a:scrgbClr r="0" g="0" b="0"/>
                </a:solidFill>
              </a14:hiddenFill>
            </a:ext>
          </a:extLst>
        </p:spPr>
        <p:txBody>
          <a:bodyPr vert="eaVert"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A67833AF-AAA4-4E6A-A355-017CD49760E9}" type="datetime'''''''''J''''a''''n''-''1''''''''''''''''''''2'''''''''''">
              <a:rPr lang="en-US" sz="1400">
                <a:solidFill>
                  <a:schemeClr val="accent1"/>
                </a:solidFill>
              </a:rPr>
              <a:pPr marL="0" indent="0" algn="r">
                <a:buNone/>
              </a:pPr>
              <a:t>Jan-12</a:t>
            </a:fld>
            <a:endParaRPr lang="en-US" sz="1400" dirty="0">
              <a:solidFill>
                <a:schemeClr val="accent1"/>
              </a:solidFill>
              <a:sym typeface="+mn-lt"/>
            </a:endParaRPr>
          </a:p>
        </p:txBody>
      </p:sp>
      <p:sp>
        <p:nvSpPr>
          <p:cNvPr id="25" name="Rectangle 32"/>
          <p:cNvSpPr>
            <a:spLocks noChangeArrowheads="1"/>
          </p:cNvSpPr>
          <p:nvPr/>
        </p:nvSpPr>
        <p:spPr bwMode="auto">
          <a:xfrm>
            <a:off x="417981" y="1303925"/>
            <a:ext cx="390955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0" tIns="0" rIns="0" bIns="0" anchor="b">
            <a:spAutoFit/>
          </a:bodyPr>
          <a:lstStyle>
            <a:lvl1pPr eaLnBrk="0" hangingPunct="0">
              <a:defRPr sz="800">
                <a:solidFill>
                  <a:schemeClr val="tx1"/>
                </a:solidFill>
                <a:latin typeface="Arial" pitchFamily="34" charset="0"/>
                <a:ea typeface="MS PGothic" pitchFamily="34" charset="-128"/>
              </a:defRPr>
            </a:lvl1pPr>
            <a:lvl2pPr marL="742950" indent="-285750" eaLnBrk="0" hangingPunct="0">
              <a:defRPr sz="800">
                <a:solidFill>
                  <a:schemeClr val="tx1"/>
                </a:solidFill>
                <a:latin typeface="Arial" pitchFamily="34" charset="0"/>
                <a:ea typeface="MS PGothic" pitchFamily="34" charset="-128"/>
              </a:defRPr>
            </a:lvl2pPr>
            <a:lvl3pPr marL="1143000" indent="-228600" eaLnBrk="0" hangingPunct="0">
              <a:defRPr sz="800">
                <a:solidFill>
                  <a:schemeClr val="tx1"/>
                </a:solidFill>
                <a:latin typeface="Arial" pitchFamily="34" charset="0"/>
                <a:ea typeface="MS PGothic" pitchFamily="34" charset="-128"/>
              </a:defRPr>
            </a:lvl3pPr>
            <a:lvl4pPr marL="1600200" indent="-228600" eaLnBrk="0" hangingPunct="0">
              <a:defRPr sz="800">
                <a:solidFill>
                  <a:schemeClr val="tx1"/>
                </a:solidFill>
                <a:latin typeface="Arial" pitchFamily="34" charset="0"/>
                <a:ea typeface="MS PGothic" pitchFamily="34" charset="-128"/>
              </a:defRPr>
            </a:lvl4pPr>
            <a:lvl5pPr marL="2057400" indent="-228600" eaLnBrk="0" hangingPunct="0">
              <a:defRPr sz="8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8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8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8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800">
                <a:solidFill>
                  <a:schemeClr val="tx1"/>
                </a:solidFill>
                <a:latin typeface="Arial" pitchFamily="34" charset="0"/>
                <a:ea typeface="MS PGothic" pitchFamily="34" charset="-128"/>
              </a:defRPr>
            </a:lvl9pPr>
          </a:lstStyle>
          <a:p>
            <a:r>
              <a:rPr lang="en-GB" altLang="de-DE" sz="1400" b="1" dirty="0" smtClean="0">
                <a:solidFill>
                  <a:schemeClr val="accent1"/>
                </a:solidFill>
              </a:rPr>
              <a:t>Colombia average farm-gate price</a:t>
            </a:r>
          </a:p>
          <a:p>
            <a:r>
              <a:rPr lang="en-GB" altLang="de-DE" sz="1400" dirty="0" smtClean="0">
                <a:solidFill>
                  <a:schemeClr val="accent1"/>
                </a:solidFill>
              </a:rPr>
              <a:t>US$ per lb green</a:t>
            </a:r>
            <a:endParaRPr lang="en-GB" altLang="de-DE" sz="1400" dirty="0">
              <a:solidFill>
                <a:schemeClr val="accent1"/>
              </a:solidFill>
            </a:endParaRPr>
          </a:p>
        </p:txBody>
      </p:sp>
      <p:sp>
        <p:nvSpPr>
          <p:cNvPr id="141" name="McK Footnote"/>
          <p:cNvSpPr txBox="1">
            <a:spLocks noChangeArrowheads="1"/>
          </p:cNvSpPr>
          <p:nvPr/>
        </p:nvSpPr>
        <p:spPr bwMode="auto">
          <a:xfrm>
            <a:off x="627529" y="6232571"/>
            <a:ext cx="7367761" cy="553998"/>
          </a:xfrm>
          <a:prstGeom prst="rect">
            <a:avLst/>
          </a:prstGeom>
          <a:noFill/>
          <a:ln w="9525">
            <a:noFill/>
            <a:miter lim="800000"/>
            <a:headEnd/>
            <a:tailEnd/>
          </a:ln>
        </p:spPr>
        <p:txBody>
          <a:bodyPr wrap="square" lIns="0" tIns="0" rIns="0" bIns="0" anchor="b">
            <a:spAutoFit/>
          </a:bodyPr>
          <a:lstStyle/>
          <a:p>
            <a:pPr defTabSz="895350">
              <a:tabLst>
                <a:tab pos="517525" algn="r"/>
              </a:tabLst>
            </a:pPr>
            <a:r>
              <a:rPr lang="en-US" sz="900" dirty="0" smtClean="0">
                <a:solidFill>
                  <a:schemeClr val="tx1">
                    <a:lumMod val="65000"/>
                    <a:lumOff val="35000"/>
                  </a:schemeClr>
                </a:solidFill>
              </a:rPr>
              <a:t>*At current exchange rate; subsidy paid if internal base price is below COP 700,000; sum of </a:t>
            </a:r>
            <a:r>
              <a:rPr lang="en-US" sz="900" dirty="0">
                <a:solidFill>
                  <a:schemeClr val="tx1">
                    <a:lumMod val="65000"/>
                    <a:lumOff val="35000"/>
                  </a:schemeClr>
                </a:solidFill>
              </a:rPr>
              <a:t> </a:t>
            </a:r>
            <a:r>
              <a:rPr lang="en-US" sz="900" dirty="0" smtClean="0">
                <a:solidFill>
                  <a:schemeClr val="tx1">
                    <a:lumMod val="65000"/>
                    <a:lumOff val="35000"/>
                  </a:schemeClr>
                </a:solidFill>
              </a:rPr>
              <a:t>income from coffee sale and </a:t>
            </a:r>
            <a:r>
              <a:rPr lang="en-US" sz="900" dirty="0">
                <a:solidFill>
                  <a:schemeClr val="tx1">
                    <a:lumMod val="65000"/>
                    <a:lumOff val="35000"/>
                  </a:schemeClr>
                </a:solidFill>
              </a:rPr>
              <a:t>subsidy cannot exceed COP </a:t>
            </a:r>
            <a:r>
              <a:rPr lang="en-US" sz="900" dirty="0" smtClean="0">
                <a:solidFill>
                  <a:schemeClr val="tx1">
                    <a:lumMod val="65000"/>
                    <a:lumOff val="35000"/>
                  </a:schemeClr>
                </a:solidFill>
              </a:rPr>
              <a:t>700,000; subsidy of COP 165,000 paid if </a:t>
            </a:r>
            <a:r>
              <a:rPr lang="en-US" sz="900" dirty="0">
                <a:solidFill>
                  <a:schemeClr val="tx1">
                    <a:lumMod val="65000"/>
                    <a:lumOff val="35000"/>
                  </a:schemeClr>
                </a:solidFill>
              </a:rPr>
              <a:t> </a:t>
            </a:r>
            <a:r>
              <a:rPr lang="en-US" sz="900" dirty="0" smtClean="0">
                <a:solidFill>
                  <a:schemeClr val="tx1">
                    <a:lumMod val="65000"/>
                    <a:lumOff val="35000"/>
                  </a:schemeClr>
                </a:solidFill>
              </a:rPr>
              <a:t>price is below COP 480,000; otherwise payment of up to COP 145,000; between Oct 2012 and March 2013 producers received COP 20,000 and later 60,000 per load if price was below 650,000</a:t>
            </a:r>
          </a:p>
          <a:p>
            <a:pPr marL="563563" indent="-563563" defTabSz="895350">
              <a:tabLst>
                <a:tab pos="517525" algn="r"/>
              </a:tabLst>
            </a:pPr>
            <a:r>
              <a:rPr lang="en-US" sz="900" dirty="0" smtClean="0">
                <a:solidFill>
                  <a:schemeClr val="tx1">
                    <a:lumMod val="65000"/>
                    <a:lumOff val="35000"/>
                  </a:schemeClr>
                </a:solidFill>
              </a:rPr>
              <a:t>Source: FNC, TechnoServe analysis</a:t>
            </a:r>
          </a:p>
        </p:txBody>
      </p:sp>
      <p:sp>
        <p:nvSpPr>
          <p:cNvPr id="22" name="TextBox 21"/>
          <p:cNvSpPr txBox="1"/>
          <p:nvPr/>
        </p:nvSpPr>
        <p:spPr>
          <a:xfrm>
            <a:off x="3340897" y="1899230"/>
            <a:ext cx="2505866" cy="692497"/>
          </a:xfrm>
          <a:prstGeom prst="rect">
            <a:avLst/>
          </a:prstGeom>
          <a:noFill/>
        </p:spPr>
        <p:txBody>
          <a:bodyPr wrap="square" rtlCol="0">
            <a:spAutoFit/>
          </a:bodyPr>
          <a:lstStyle/>
          <a:p>
            <a:r>
              <a:rPr lang="en-US" sz="1300" dirty="0" smtClean="0"/>
              <a:t>Subsidy is triggered when coffee price falls below       COP 700,000 (~ $1.50 per </a:t>
            </a:r>
            <a:r>
              <a:rPr lang="en-US" sz="1300" dirty="0" err="1" smtClean="0"/>
              <a:t>lb</a:t>
            </a:r>
            <a:r>
              <a:rPr lang="en-US" sz="1300" dirty="0" smtClean="0"/>
              <a:t>)*</a:t>
            </a:r>
            <a:endParaRPr lang="en-US" sz="1300" dirty="0"/>
          </a:p>
        </p:txBody>
      </p:sp>
      <p:sp>
        <p:nvSpPr>
          <p:cNvPr id="27" name="TextBox 26"/>
          <p:cNvSpPr txBox="1"/>
          <p:nvPr/>
        </p:nvSpPr>
        <p:spPr>
          <a:xfrm>
            <a:off x="5494331" y="3470814"/>
            <a:ext cx="1125415" cy="307777"/>
          </a:xfrm>
          <a:prstGeom prst="rect">
            <a:avLst/>
          </a:prstGeom>
          <a:noFill/>
        </p:spPr>
        <p:txBody>
          <a:bodyPr wrap="square" rtlCol="0">
            <a:spAutoFit/>
          </a:bodyPr>
          <a:lstStyle/>
          <a:p>
            <a:r>
              <a:rPr lang="en-US" sz="1400" b="1" dirty="0" smtClean="0">
                <a:solidFill>
                  <a:schemeClr val="bg1"/>
                </a:solidFill>
              </a:rPr>
              <a:t>Subsidy</a:t>
            </a:r>
            <a:endParaRPr lang="en-US" sz="1400" b="1" dirty="0">
              <a:solidFill>
                <a:schemeClr val="bg1"/>
              </a:solidFill>
            </a:endParaRPr>
          </a:p>
        </p:txBody>
      </p:sp>
      <p:sp>
        <p:nvSpPr>
          <p:cNvPr id="5" name="Title 4"/>
          <p:cNvSpPr>
            <a:spLocks noGrp="1"/>
          </p:cNvSpPr>
          <p:nvPr>
            <p:ph type="title"/>
          </p:nvPr>
        </p:nvSpPr>
        <p:spPr>
          <a:xfrm>
            <a:off x="400869" y="312739"/>
            <a:ext cx="8442048" cy="1052038"/>
          </a:xfrm>
        </p:spPr>
        <p:txBody>
          <a:bodyPr/>
          <a:lstStyle/>
          <a:p>
            <a:r>
              <a:rPr lang="en-US" b="0" dirty="0" smtClean="0"/>
              <a:t>The government has helped farmers by offering a cash subsidy when the market falls below US$1.50 (COP 700,000)</a:t>
            </a:r>
            <a:endParaRPr lang="en-US" b="0" dirty="0"/>
          </a:p>
        </p:txBody>
      </p:sp>
      <p:sp>
        <p:nvSpPr>
          <p:cNvPr id="106" name="TextBox 105"/>
          <p:cNvSpPr txBox="1"/>
          <p:nvPr/>
        </p:nvSpPr>
        <p:spPr>
          <a:xfrm>
            <a:off x="6392863" y="1910381"/>
            <a:ext cx="2018031" cy="692497"/>
          </a:xfrm>
          <a:prstGeom prst="rect">
            <a:avLst/>
          </a:prstGeom>
          <a:noFill/>
        </p:spPr>
        <p:txBody>
          <a:bodyPr wrap="square" rtlCol="0">
            <a:spAutoFit/>
          </a:bodyPr>
          <a:lstStyle/>
          <a:p>
            <a:pPr algn="r"/>
            <a:r>
              <a:rPr lang="en-US" sz="1300" dirty="0" smtClean="0"/>
              <a:t>More than $ 600 million in subsidies paid to farmers in 2013</a:t>
            </a:r>
            <a:endParaRPr lang="en-US" sz="1300" dirty="0"/>
          </a:p>
        </p:txBody>
      </p:sp>
      <p:sp>
        <p:nvSpPr>
          <p:cNvPr id="2" name="TextBox 1"/>
          <p:cNvSpPr txBox="1"/>
          <p:nvPr/>
        </p:nvSpPr>
        <p:spPr>
          <a:xfrm>
            <a:off x="1363664" y="1938957"/>
            <a:ext cx="1797049" cy="800219"/>
          </a:xfrm>
          <a:prstGeom prst="rect">
            <a:avLst/>
          </a:prstGeom>
          <a:noFill/>
        </p:spPr>
        <p:txBody>
          <a:bodyPr wrap="square" lIns="0" tIns="0" rIns="0" bIns="0" rtlCol="0">
            <a:spAutoFit/>
          </a:bodyPr>
          <a:lstStyle/>
          <a:p>
            <a:r>
              <a:rPr lang="en-US" sz="1300" dirty="0" smtClean="0"/>
              <a:t>Historically, direct government subsidies were not common in </a:t>
            </a:r>
            <a:r>
              <a:rPr lang="en-US" sz="1300" dirty="0"/>
              <a:t>the coffee sector </a:t>
            </a:r>
          </a:p>
        </p:txBody>
      </p:sp>
      <p:sp>
        <p:nvSpPr>
          <p:cNvPr id="7" name="Isosceles Triangle 6"/>
          <p:cNvSpPr/>
          <p:nvPr/>
        </p:nvSpPr>
        <p:spPr>
          <a:xfrm rot="16200000">
            <a:off x="638495" y="2256603"/>
            <a:ext cx="1005840" cy="226482"/>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p:cNvSpPr/>
          <p:nvPr/>
        </p:nvSpPr>
        <p:spPr>
          <a:xfrm rot="10800000">
            <a:off x="3422647" y="2649044"/>
            <a:ext cx="573087" cy="821769"/>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Isosceles Triangle 72"/>
          <p:cNvSpPr/>
          <p:nvPr/>
        </p:nvSpPr>
        <p:spPr>
          <a:xfrm rot="10800000">
            <a:off x="7762921" y="2649043"/>
            <a:ext cx="573087" cy="1349869"/>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56545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Object 59" hidden="1"/>
          <p:cNvGraphicFramePr>
            <a:graphicFrameLocks noChangeAspect="1"/>
          </p:cNvGraphicFramePr>
          <p:nvPr>
            <p:custDataLst>
              <p:tags r:id="rId2"/>
            </p:custDataLst>
            <p:extLst>
              <p:ext uri="{D42A27DB-BD31-4B8C-83A1-F6EECF244321}">
                <p14:modId xmlns:p14="http://schemas.microsoft.com/office/powerpoint/2010/main" val="11329116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2484"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200" u="none" strike="noStrike" cap="none" normalizeH="0" smtClean="0">
              <a:ln>
                <a:noFill/>
              </a:ln>
              <a:solidFill>
                <a:schemeClr val="tx1"/>
              </a:solidFill>
              <a:effectLst/>
              <a:latin typeface="Arial"/>
              <a:sym typeface="Arial"/>
            </a:endParaRPr>
          </a:p>
        </p:txBody>
      </p:sp>
      <p:sp>
        <p:nvSpPr>
          <p:cNvPr id="61" name="McK Footnote"/>
          <p:cNvSpPr txBox="1">
            <a:spLocks noChangeArrowheads="1"/>
          </p:cNvSpPr>
          <p:nvPr/>
        </p:nvSpPr>
        <p:spPr bwMode="auto">
          <a:xfrm>
            <a:off x="628925" y="6217776"/>
            <a:ext cx="7421642" cy="553998"/>
          </a:xfrm>
          <a:prstGeom prst="rect">
            <a:avLst/>
          </a:prstGeom>
          <a:noFill/>
          <a:ln w="9525">
            <a:noFill/>
            <a:miter lim="800000"/>
            <a:headEnd/>
            <a:tailEnd/>
          </a:ln>
        </p:spPr>
        <p:txBody>
          <a:bodyPr wrap="square" lIns="0" tIns="0" rIns="0" bIns="0" anchor="b">
            <a:spAutoFit/>
          </a:bodyPr>
          <a:lstStyle/>
          <a:p>
            <a:pPr defTabSz="895350">
              <a:tabLst>
                <a:tab pos="517525" algn="r"/>
              </a:tabLst>
            </a:pPr>
            <a:r>
              <a:rPr lang="en-US" sz="900" dirty="0">
                <a:solidFill>
                  <a:schemeClr val="tx1">
                    <a:lumMod val="65000"/>
                    <a:lumOff val="35000"/>
                  </a:schemeClr>
                </a:solidFill>
              </a:rPr>
              <a:t>1</a:t>
            </a:r>
            <a:r>
              <a:rPr lang="en-US" sz="900" dirty="0" smtClean="0">
                <a:solidFill>
                  <a:schemeClr val="tx1">
                    <a:lumMod val="65000"/>
                    <a:lumOff val="35000"/>
                  </a:schemeClr>
                </a:solidFill>
              </a:rPr>
              <a:t> Entry level salary</a:t>
            </a:r>
          </a:p>
          <a:p>
            <a:pPr defTabSz="895350">
              <a:tabLst>
                <a:tab pos="517525" algn="r"/>
              </a:tabLst>
            </a:pPr>
            <a:r>
              <a:rPr lang="en-US" sz="900" dirty="0">
                <a:solidFill>
                  <a:schemeClr val="tx1">
                    <a:lumMod val="65000"/>
                    <a:lumOff val="35000"/>
                  </a:schemeClr>
                </a:solidFill>
              </a:rPr>
              <a:t>2</a:t>
            </a:r>
            <a:r>
              <a:rPr lang="en-US" sz="900" dirty="0" smtClean="0">
                <a:solidFill>
                  <a:schemeClr val="tx1">
                    <a:lumMod val="65000"/>
                    <a:lumOff val="35000"/>
                  </a:schemeClr>
                </a:solidFill>
              </a:rPr>
              <a:t> Assuming 260 work days per year for office job and 300 days for agricultural workers</a:t>
            </a:r>
          </a:p>
          <a:p>
            <a:pPr defTabSz="895350">
              <a:tabLst>
                <a:tab pos="517525" algn="r"/>
              </a:tabLst>
            </a:pPr>
            <a:r>
              <a:rPr lang="en-US" sz="900" dirty="0" smtClean="0">
                <a:solidFill>
                  <a:schemeClr val="tx1">
                    <a:lumMod val="65000"/>
                    <a:lumOff val="35000"/>
                  </a:schemeClr>
                </a:solidFill>
              </a:rPr>
              <a:t>4 Assuming daily rate of COP 20,000 and 220 work days per year</a:t>
            </a:r>
          </a:p>
          <a:p>
            <a:pPr defTabSz="895350">
              <a:tabLst>
                <a:tab pos="517525" algn="r"/>
              </a:tabLst>
            </a:pPr>
            <a:r>
              <a:rPr lang="en-US" sz="900" dirty="0" smtClean="0">
                <a:solidFill>
                  <a:schemeClr val="tx1">
                    <a:lumMod val="65000"/>
                    <a:lumOff val="35000"/>
                  </a:schemeClr>
                </a:solidFill>
              </a:rPr>
              <a:t>Source</a:t>
            </a:r>
            <a:r>
              <a:rPr lang="en-US" sz="900" dirty="0">
                <a:solidFill>
                  <a:schemeClr val="tx1">
                    <a:lumMod val="65000"/>
                    <a:lumOff val="35000"/>
                  </a:schemeClr>
                </a:solidFill>
              </a:rPr>
              <a:t>: </a:t>
            </a:r>
            <a:r>
              <a:rPr lang="en-US" sz="900" dirty="0" smtClean="0">
                <a:solidFill>
                  <a:schemeClr val="tx1">
                    <a:lumMod val="65000"/>
                    <a:lumOff val="35000"/>
                  </a:schemeClr>
                </a:solidFill>
              </a:rPr>
              <a:t>DANE, tusalario.org, stakeholder interviews, TechnoServe analysis</a:t>
            </a:r>
            <a:endParaRPr lang="en-US" sz="900" dirty="0">
              <a:solidFill>
                <a:schemeClr val="tx1">
                  <a:lumMod val="65000"/>
                  <a:lumOff val="35000"/>
                </a:schemeClr>
              </a:solidFill>
            </a:endParaRPr>
          </a:p>
        </p:txBody>
      </p:sp>
      <p:sp>
        <p:nvSpPr>
          <p:cNvPr id="52" name="Title 51"/>
          <p:cNvSpPr>
            <a:spLocks noGrp="1"/>
          </p:cNvSpPr>
          <p:nvPr>
            <p:ph type="title"/>
          </p:nvPr>
        </p:nvSpPr>
        <p:spPr/>
        <p:txBody>
          <a:bodyPr/>
          <a:lstStyle/>
          <a:p>
            <a:r>
              <a:rPr lang="en-US" b="0" dirty="0" smtClean="0"/>
              <a:t>Farmers will increasingly weigh the opportunity cost of coffee farming, both in terms of land and time (labor)</a:t>
            </a:r>
            <a:endParaRPr lang="en-US" b="0" dirty="0"/>
          </a:p>
        </p:txBody>
      </p:sp>
      <p:graphicFrame>
        <p:nvGraphicFramePr>
          <p:cNvPr id="5" name="Object 4"/>
          <p:cNvGraphicFramePr>
            <a:graphicFrameLocks/>
          </p:cNvGraphicFramePr>
          <p:nvPr>
            <p:custDataLst>
              <p:tags r:id="rId4"/>
            </p:custDataLst>
            <p:extLst>
              <p:ext uri="{D42A27DB-BD31-4B8C-83A1-F6EECF244321}">
                <p14:modId xmlns:p14="http://schemas.microsoft.com/office/powerpoint/2010/main" val="4230445383"/>
              </p:ext>
            </p:extLst>
          </p:nvPr>
        </p:nvGraphicFramePr>
        <p:xfrm>
          <a:off x="1409700" y="2019300"/>
          <a:ext cx="1857443" cy="3514725"/>
        </p:xfrm>
        <a:graphic>
          <a:graphicData uri="http://schemas.openxmlformats.org/presentationml/2006/ole">
            <mc:AlternateContent xmlns:mc="http://schemas.openxmlformats.org/markup-compatibility/2006">
              <mc:Choice xmlns:v="urn:schemas-microsoft-com:vml" Requires="v">
                <p:oleObj spid="_x0000_s212485" name="Chart" r:id="rId30" imgW="1857443" imgH="3514725" progId="MSGraph.Chart.8">
                  <p:embed followColorScheme="full"/>
                </p:oleObj>
              </mc:Choice>
              <mc:Fallback>
                <p:oleObj name="Chart" r:id="rId30" imgW="1857443" imgH="3514725" progId="MSGraph.Chart.8">
                  <p:embed followColorScheme="full"/>
                  <p:pic>
                    <p:nvPicPr>
                      <p:cNvPr id="0" name=""/>
                      <p:cNvPicPr/>
                      <p:nvPr/>
                    </p:nvPicPr>
                    <p:blipFill>
                      <a:blip r:embed="rId31"/>
                      <a:stretch>
                        <a:fillRect/>
                      </a:stretch>
                    </p:blipFill>
                    <p:spPr>
                      <a:xfrm>
                        <a:off x="1409700" y="2019300"/>
                        <a:ext cx="1857443" cy="3514725"/>
                      </a:xfrm>
                      <a:prstGeom prst="rect">
                        <a:avLst/>
                      </a:prstGeom>
                    </p:spPr>
                  </p:pic>
                </p:oleObj>
              </mc:Fallback>
            </mc:AlternateContent>
          </a:graphicData>
        </a:graphic>
      </p:graphicFrame>
      <p:sp>
        <p:nvSpPr>
          <p:cNvPr id="24" name="Text Placeholder 52"/>
          <p:cNvSpPr>
            <a:spLocks noGrp="1"/>
          </p:cNvSpPr>
          <p:nvPr>
            <p:custDataLst>
              <p:tags r:id="rId5"/>
            </p:custDataLst>
          </p:nvPr>
        </p:nvSpPr>
        <p:spPr bwMode="auto">
          <a:xfrm>
            <a:off x="368300" y="3608388"/>
            <a:ext cx="955675" cy="3651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FA958AAE-E182-493E-8DE6-E57F894530FE}" type="datetime'T''''''''''ext''i''''le&#10;factor''y'''' ''w''''''ork''er'''''''">
              <a:rPr lang="en-US" sz="1200">
                <a:solidFill>
                  <a:schemeClr val="accent1"/>
                </a:solidFill>
              </a:rPr>
              <a:pPr/>
              <a:t>Textile
factory worker</a:t>
            </a:fld>
            <a:endParaRPr lang="en-US" sz="1200" dirty="0">
              <a:solidFill>
                <a:schemeClr val="accent1"/>
              </a:solidFill>
              <a:latin typeface="Arial"/>
              <a:sym typeface="Arial"/>
            </a:endParaRPr>
          </a:p>
        </p:txBody>
      </p:sp>
      <p:sp>
        <p:nvSpPr>
          <p:cNvPr id="28" name="Text Placeholder 130"/>
          <p:cNvSpPr>
            <a:spLocks noGrp="1"/>
          </p:cNvSpPr>
          <p:nvPr>
            <p:custDataLst>
              <p:tags r:id="rId6"/>
            </p:custDataLst>
          </p:nvPr>
        </p:nvSpPr>
        <p:spPr bwMode="gray">
          <a:xfrm>
            <a:off x="2492375" y="3700463"/>
            <a:ext cx="423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D112E87A-BDE8-41DB-9197-38C313747391}" type="datetime'3,''''''''''''''''6''''0''''''''''''''''0'''''''''''">
              <a:rPr lang="en-US" sz="1200">
                <a:solidFill>
                  <a:schemeClr val="accent1"/>
                </a:solidFill>
              </a:rPr>
              <a:pPr/>
              <a:t>3,600</a:t>
            </a:fld>
            <a:endParaRPr lang="en-US" sz="1200" dirty="0">
              <a:solidFill>
                <a:schemeClr val="accent1"/>
              </a:solidFill>
              <a:latin typeface="Arial"/>
              <a:sym typeface="Arial"/>
            </a:endParaRPr>
          </a:p>
        </p:txBody>
      </p:sp>
      <p:sp>
        <p:nvSpPr>
          <p:cNvPr id="35" name="Text Placeholder 217"/>
          <p:cNvSpPr>
            <a:spLocks noGrp="1"/>
          </p:cNvSpPr>
          <p:nvPr>
            <p:custDataLst>
              <p:tags r:id="rId7"/>
            </p:custDataLst>
          </p:nvPr>
        </p:nvSpPr>
        <p:spPr bwMode="auto">
          <a:xfrm>
            <a:off x="368300" y="2955925"/>
            <a:ext cx="1044575" cy="3651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B0F008D4-6D22-46E4-B059-E582669C29ED}" type="datetime'Info''rma''l agri-''''&#10;c''''u''''l''tural w''''''or''''''ker'">
              <a:rPr lang="en-US" sz="1200" smtClean="0">
                <a:solidFill>
                  <a:schemeClr val="accent1"/>
                </a:solidFill>
              </a:rPr>
              <a:pPr marL="0" indent="0">
                <a:spcBef>
                  <a:spcPct val="0"/>
                </a:spcBef>
                <a:spcAft>
                  <a:spcPct val="0"/>
                </a:spcAft>
                <a:buNone/>
              </a:pPr>
              <a:t>Informal agri-
cultural worker</a:t>
            </a:fld>
            <a:r>
              <a:rPr lang="en-US" sz="1200" baseline="30000" dirty="0" smtClean="0">
                <a:solidFill>
                  <a:schemeClr val="accent1"/>
                </a:solidFill>
              </a:rPr>
              <a:t>4</a:t>
            </a:r>
            <a:endParaRPr lang="en-US" sz="1200" baseline="30000" dirty="0">
              <a:solidFill>
                <a:schemeClr val="accent1"/>
              </a:solidFill>
              <a:latin typeface="Arial"/>
              <a:sym typeface="Arial"/>
            </a:endParaRPr>
          </a:p>
        </p:txBody>
      </p:sp>
      <p:sp>
        <p:nvSpPr>
          <p:cNvPr id="19" name="Text Placeholder 29"/>
          <p:cNvSpPr>
            <a:spLocks noGrp="1"/>
          </p:cNvSpPr>
          <p:nvPr>
            <p:custDataLst>
              <p:tags r:id="rId8"/>
            </p:custDataLst>
          </p:nvPr>
        </p:nvSpPr>
        <p:spPr bwMode="gray">
          <a:xfrm>
            <a:off x="2206625" y="3048000"/>
            <a:ext cx="939800"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200" dirty="0" smtClean="0">
                <a:solidFill>
                  <a:schemeClr val="accent1"/>
                </a:solidFill>
                <a:latin typeface="Arial"/>
                <a:sym typeface="Arial"/>
              </a:rPr>
              <a:t>2,200 - </a:t>
            </a:r>
            <a:fld id="{E6801803-FEA2-4D1F-B3E3-B5EBA53C37BC}" type="datetime'''''''2'''',''''''50''''''''''''''''''''''''''0'''''''''''">
              <a:rPr lang="en-US" sz="1200" smtClean="0">
                <a:solidFill>
                  <a:schemeClr val="accent1"/>
                </a:solidFill>
                <a:latin typeface="Arial"/>
                <a:sym typeface="Arial"/>
              </a:rPr>
              <a:pPr marL="0" indent="0">
                <a:spcBef>
                  <a:spcPct val="0"/>
                </a:spcBef>
                <a:spcAft>
                  <a:spcPct val="0"/>
                </a:spcAft>
                <a:buNone/>
              </a:pPr>
              <a:t>2,500</a:t>
            </a:fld>
            <a:endParaRPr lang="en-US" sz="1200" dirty="0">
              <a:solidFill>
                <a:schemeClr val="accent1"/>
              </a:solidFill>
              <a:latin typeface="Arial"/>
              <a:sym typeface="Arial"/>
            </a:endParaRPr>
          </a:p>
        </p:txBody>
      </p:sp>
      <p:sp>
        <p:nvSpPr>
          <p:cNvPr id="23" name="Text Placeholder 205"/>
          <p:cNvSpPr>
            <a:spLocks noGrp="1"/>
          </p:cNvSpPr>
          <p:nvPr>
            <p:custDataLst>
              <p:tags r:id="rId9"/>
            </p:custDataLst>
          </p:nvPr>
        </p:nvSpPr>
        <p:spPr bwMode="auto">
          <a:xfrm>
            <a:off x="368300" y="2298700"/>
            <a:ext cx="993775" cy="3651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14A7450A-C458-445F-B1F7-83E511A08031}" type="datetime'Coffe''e ''''farm''i''ng&#10;''(2'''''' ''''hect''are''s'''''')'">
              <a:rPr lang="en-US" sz="1200" smtClean="0">
                <a:solidFill>
                  <a:schemeClr val="accent1"/>
                </a:solidFill>
              </a:rPr>
              <a:pPr/>
              <a:t>Coffee farming
(2 hectares)</a:t>
            </a:fld>
            <a:r>
              <a:rPr lang="en-US" sz="1200" baseline="30000" dirty="0" smtClean="0">
                <a:solidFill>
                  <a:schemeClr val="accent1"/>
                </a:solidFill>
              </a:rPr>
              <a:t>3</a:t>
            </a:r>
            <a:endParaRPr lang="en-US" sz="1200" baseline="30000" dirty="0">
              <a:solidFill>
                <a:schemeClr val="accent1"/>
              </a:solidFill>
              <a:latin typeface="Arial"/>
              <a:sym typeface="Arial"/>
            </a:endParaRPr>
          </a:p>
        </p:txBody>
      </p:sp>
      <p:sp>
        <p:nvSpPr>
          <p:cNvPr id="21" name="Text Placeholder 31"/>
          <p:cNvSpPr>
            <a:spLocks noGrp="1"/>
          </p:cNvSpPr>
          <p:nvPr>
            <p:custDataLst>
              <p:tags r:id="rId10"/>
            </p:custDataLst>
          </p:nvPr>
        </p:nvSpPr>
        <p:spPr bwMode="gray">
          <a:xfrm>
            <a:off x="2825750" y="4352925"/>
            <a:ext cx="423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8316FC99-C4D4-45D2-AC70-3FEE12B5C897}" type="datetime'''''''''''''''4'''''''',''''9''''''''''''''0''0'''''">
              <a:rPr lang="en-US" sz="1200">
                <a:solidFill>
                  <a:schemeClr val="accent1"/>
                </a:solidFill>
              </a:rPr>
              <a:pPr/>
              <a:t>4,900</a:t>
            </a:fld>
            <a:endParaRPr lang="en-US" sz="1200" dirty="0">
              <a:solidFill>
                <a:schemeClr val="accent1"/>
              </a:solidFill>
              <a:latin typeface="Arial"/>
              <a:sym typeface="Arial"/>
            </a:endParaRPr>
          </a:p>
        </p:txBody>
      </p:sp>
      <p:sp>
        <p:nvSpPr>
          <p:cNvPr id="33" name="Text Placeholder 215"/>
          <p:cNvSpPr>
            <a:spLocks noGrp="1"/>
          </p:cNvSpPr>
          <p:nvPr>
            <p:custDataLst>
              <p:tags r:id="rId11"/>
            </p:custDataLst>
          </p:nvPr>
        </p:nvSpPr>
        <p:spPr bwMode="auto">
          <a:xfrm>
            <a:off x="368300" y="5010150"/>
            <a:ext cx="717550"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075AB039-0991-41A8-87C4-031E7B48249F}" type="datetime'''''''''''Ba''''''''''''n''k'' ''''''t''''el''l''''''''''''er'">
              <a:rPr lang="en-US" sz="1200" smtClean="0">
                <a:solidFill>
                  <a:schemeClr val="accent1"/>
                </a:solidFill>
              </a:rPr>
              <a:pPr marL="0" indent="0">
                <a:spcBef>
                  <a:spcPct val="0"/>
                </a:spcBef>
                <a:spcAft>
                  <a:spcPct val="0"/>
                </a:spcAft>
                <a:buNone/>
              </a:pPr>
              <a:t>Bank teller</a:t>
            </a:fld>
            <a:endParaRPr lang="en-US" sz="1200" dirty="0">
              <a:solidFill>
                <a:schemeClr val="accent1"/>
              </a:solidFill>
              <a:latin typeface="Arial"/>
              <a:sym typeface="Arial"/>
            </a:endParaRPr>
          </a:p>
        </p:txBody>
      </p:sp>
      <p:sp>
        <p:nvSpPr>
          <p:cNvPr id="26" name="Text Placeholder 129"/>
          <p:cNvSpPr>
            <a:spLocks noGrp="1"/>
          </p:cNvSpPr>
          <p:nvPr>
            <p:custDataLst>
              <p:tags r:id="rId12"/>
            </p:custDataLst>
          </p:nvPr>
        </p:nvSpPr>
        <p:spPr bwMode="gray">
          <a:xfrm>
            <a:off x="3187700" y="5010150"/>
            <a:ext cx="423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E6C49A32-92E3-43D9-9FA7-2F5ACD7F0D72}" type="datetime'6'''''''',3''''''''''''''''''''''0''''''0'''''">
              <a:rPr lang="en-US" sz="1200">
                <a:solidFill>
                  <a:schemeClr val="accent1"/>
                </a:solidFill>
              </a:rPr>
              <a:pPr/>
              <a:t>6,300</a:t>
            </a:fld>
            <a:endParaRPr lang="en-US" sz="1200" dirty="0">
              <a:solidFill>
                <a:schemeClr val="accent1"/>
              </a:solidFill>
              <a:latin typeface="Arial"/>
              <a:sym typeface="Arial"/>
            </a:endParaRPr>
          </a:p>
        </p:txBody>
      </p:sp>
      <p:sp>
        <p:nvSpPr>
          <p:cNvPr id="34" name="Text Placeholder 216"/>
          <p:cNvSpPr>
            <a:spLocks noGrp="1"/>
          </p:cNvSpPr>
          <p:nvPr>
            <p:custDataLst>
              <p:tags r:id="rId13"/>
            </p:custDataLst>
          </p:nvPr>
        </p:nvSpPr>
        <p:spPr bwMode="auto">
          <a:xfrm>
            <a:off x="368300" y="4352925"/>
            <a:ext cx="7969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0AE94DD8-A5A7-4831-952C-18011DB6443C}" type="datetime'''T''r''''''''uc''''''k'''''''''''' ''''dr''''i''ve''''''''r'">
              <a:rPr lang="en-US" sz="1200">
                <a:solidFill>
                  <a:schemeClr val="accent1"/>
                </a:solidFill>
              </a:rPr>
              <a:pPr marL="0" indent="0">
                <a:spcBef>
                  <a:spcPct val="0"/>
                </a:spcBef>
                <a:spcAft>
                  <a:spcPct val="0"/>
                </a:spcAft>
                <a:buNone/>
              </a:pPr>
              <a:t>Truck driver</a:t>
            </a:fld>
            <a:endParaRPr lang="en-US" sz="1200" dirty="0">
              <a:solidFill>
                <a:schemeClr val="accent1"/>
              </a:solidFill>
              <a:latin typeface="Arial"/>
              <a:sym typeface="Arial"/>
            </a:endParaRPr>
          </a:p>
        </p:txBody>
      </p:sp>
      <p:sp>
        <p:nvSpPr>
          <p:cNvPr id="41" name="Text Placeholder 56"/>
          <p:cNvSpPr>
            <a:spLocks noGrp="1"/>
          </p:cNvSpPr>
          <p:nvPr>
            <p:custDataLst>
              <p:tags r:id="rId14"/>
            </p:custDataLst>
          </p:nvPr>
        </p:nvSpPr>
        <p:spPr bwMode="gray">
          <a:xfrm>
            <a:off x="1930400" y="2390775"/>
            <a:ext cx="423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634C9825-B2EE-4275-BEA6-DD5F2CDA1E33}" type="datetime'''''''''''''''''''''''''''''1'''''''''',''4''3''''0'''">
              <a:rPr lang="en-US" sz="1200">
                <a:solidFill>
                  <a:schemeClr val="accent1"/>
                </a:solidFill>
              </a:rPr>
              <a:pPr/>
              <a:t>1,430</a:t>
            </a:fld>
            <a:endParaRPr lang="en-US" sz="1200" dirty="0">
              <a:solidFill>
                <a:schemeClr val="accent1"/>
              </a:solidFill>
              <a:latin typeface="Arial"/>
              <a:sym typeface="Arial"/>
            </a:endParaRPr>
          </a:p>
        </p:txBody>
      </p:sp>
      <p:sp>
        <p:nvSpPr>
          <p:cNvPr id="36" name="Rectangle 32"/>
          <p:cNvSpPr>
            <a:spLocks noChangeArrowheads="1"/>
          </p:cNvSpPr>
          <p:nvPr/>
        </p:nvSpPr>
        <p:spPr bwMode="auto">
          <a:xfrm>
            <a:off x="1539875" y="1647825"/>
            <a:ext cx="22980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0" tIns="0" rIns="0" bIns="0" anchor="b">
            <a:spAutoFit/>
          </a:bodyPr>
          <a:lstStyle>
            <a:lvl1pPr eaLnBrk="0" hangingPunct="0">
              <a:defRPr sz="800">
                <a:solidFill>
                  <a:schemeClr val="tx1"/>
                </a:solidFill>
                <a:latin typeface="Arial" pitchFamily="34" charset="0"/>
                <a:ea typeface="MS PGothic" pitchFamily="34" charset="-128"/>
              </a:defRPr>
            </a:lvl1pPr>
            <a:lvl2pPr marL="742950" indent="-285750" eaLnBrk="0" hangingPunct="0">
              <a:defRPr sz="800">
                <a:solidFill>
                  <a:schemeClr val="tx1"/>
                </a:solidFill>
                <a:latin typeface="Arial" pitchFamily="34" charset="0"/>
                <a:ea typeface="MS PGothic" pitchFamily="34" charset="-128"/>
              </a:defRPr>
            </a:lvl2pPr>
            <a:lvl3pPr marL="1143000" indent="-228600" eaLnBrk="0" hangingPunct="0">
              <a:defRPr sz="800">
                <a:solidFill>
                  <a:schemeClr val="tx1"/>
                </a:solidFill>
                <a:latin typeface="Arial" pitchFamily="34" charset="0"/>
                <a:ea typeface="MS PGothic" pitchFamily="34" charset="-128"/>
              </a:defRPr>
            </a:lvl3pPr>
            <a:lvl4pPr marL="1600200" indent="-228600" eaLnBrk="0" hangingPunct="0">
              <a:defRPr sz="800">
                <a:solidFill>
                  <a:schemeClr val="tx1"/>
                </a:solidFill>
                <a:latin typeface="Arial" pitchFamily="34" charset="0"/>
                <a:ea typeface="MS PGothic" pitchFamily="34" charset="-128"/>
              </a:defRPr>
            </a:lvl4pPr>
            <a:lvl5pPr marL="2057400" indent="-228600" eaLnBrk="0" hangingPunct="0">
              <a:defRPr sz="8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8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8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8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800">
                <a:solidFill>
                  <a:schemeClr val="tx1"/>
                </a:solidFill>
                <a:latin typeface="Arial" pitchFamily="34" charset="0"/>
                <a:ea typeface="MS PGothic" pitchFamily="34" charset="-128"/>
              </a:defRPr>
            </a:lvl9pPr>
          </a:lstStyle>
          <a:p>
            <a:r>
              <a:rPr lang="en-GB" altLang="de-DE" sz="1200" b="1" dirty="0" smtClean="0">
                <a:solidFill>
                  <a:schemeClr val="accent1"/>
                </a:solidFill>
              </a:rPr>
              <a:t>Base net income</a:t>
            </a:r>
            <a:r>
              <a:rPr lang="en-GB" altLang="de-DE" sz="1200" baseline="30000" dirty="0" smtClean="0">
                <a:solidFill>
                  <a:schemeClr val="accent1"/>
                </a:solidFill>
              </a:rPr>
              <a:t>1 </a:t>
            </a:r>
          </a:p>
          <a:p>
            <a:r>
              <a:rPr lang="en-GB" altLang="de-DE" sz="1200" dirty="0" smtClean="0">
                <a:solidFill>
                  <a:schemeClr val="accent1"/>
                </a:solidFill>
              </a:rPr>
              <a:t>2012/13, US$</a:t>
            </a:r>
            <a:endParaRPr lang="en-GB" altLang="de-DE" sz="1200" dirty="0">
              <a:solidFill>
                <a:schemeClr val="accent1"/>
              </a:solidFill>
            </a:endParaRPr>
          </a:p>
        </p:txBody>
      </p:sp>
      <p:cxnSp>
        <p:nvCxnSpPr>
          <p:cNvPr id="9" name="Straight Connector 8"/>
          <p:cNvCxnSpPr/>
          <p:nvPr/>
        </p:nvCxnSpPr>
        <p:spPr>
          <a:xfrm>
            <a:off x="1541463" y="2016125"/>
            <a:ext cx="22974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278313" y="2016125"/>
            <a:ext cx="16590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410325" y="2016125"/>
            <a:ext cx="2297430"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2"/>
          <p:cNvSpPr>
            <a:spLocks noChangeArrowheads="1"/>
          </p:cNvSpPr>
          <p:nvPr/>
        </p:nvSpPr>
        <p:spPr bwMode="auto">
          <a:xfrm>
            <a:off x="4278313" y="1450975"/>
            <a:ext cx="155484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0" tIns="0" rIns="0" bIns="0" anchor="b">
            <a:spAutoFit/>
          </a:bodyPr>
          <a:lstStyle>
            <a:lvl1pPr eaLnBrk="0" hangingPunct="0">
              <a:defRPr sz="800">
                <a:solidFill>
                  <a:schemeClr val="tx1"/>
                </a:solidFill>
                <a:latin typeface="Arial" pitchFamily="34" charset="0"/>
                <a:ea typeface="MS PGothic" pitchFamily="34" charset="-128"/>
              </a:defRPr>
            </a:lvl1pPr>
            <a:lvl2pPr marL="742950" indent="-285750" eaLnBrk="0" hangingPunct="0">
              <a:defRPr sz="800">
                <a:solidFill>
                  <a:schemeClr val="tx1"/>
                </a:solidFill>
                <a:latin typeface="Arial" pitchFamily="34" charset="0"/>
                <a:ea typeface="MS PGothic" pitchFamily="34" charset="-128"/>
              </a:defRPr>
            </a:lvl2pPr>
            <a:lvl3pPr marL="1143000" indent="-228600" eaLnBrk="0" hangingPunct="0">
              <a:defRPr sz="800">
                <a:solidFill>
                  <a:schemeClr val="tx1"/>
                </a:solidFill>
                <a:latin typeface="Arial" pitchFamily="34" charset="0"/>
                <a:ea typeface="MS PGothic" pitchFamily="34" charset="-128"/>
              </a:defRPr>
            </a:lvl3pPr>
            <a:lvl4pPr marL="1600200" indent="-228600" eaLnBrk="0" hangingPunct="0">
              <a:defRPr sz="800">
                <a:solidFill>
                  <a:schemeClr val="tx1"/>
                </a:solidFill>
                <a:latin typeface="Arial" pitchFamily="34" charset="0"/>
                <a:ea typeface="MS PGothic" pitchFamily="34" charset="-128"/>
              </a:defRPr>
            </a:lvl4pPr>
            <a:lvl5pPr marL="2057400" indent="-228600" eaLnBrk="0" hangingPunct="0">
              <a:defRPr sz="8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8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8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8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800">
                <a:solidFill>
                  <a:schemeClr val="tx1"/>
                </a:solidFill>
                <a:latin typeface="Arial" pitchFamily="34" charset="0"/>
                <a:ea typeface="MS PGothic" pitchFamily="34" charset="-128"/>
              </a:defRPr>
            </a:lvl9pPr>
          </a:lstStyle>
          <a:p>
            <a:r>
              <a:rPr lang="en-GB" altLang="de-DE" sz="1200" b="1" dirty="0" err="1" smtClean="0">
                <a:solidFill>
                  <a:schemeClr val="accent1"/>
                </a:solidFill>
              </a:rPr>
              <a:t>Labor</a:t>
            </a:r>
            <a:r>
              <a:rPr lang="en-GB" altLang="de-DE" sz="1200" b="1" dirty="0" smtClean="0">
                <a:solidFill>
                  <a:schemeClr val="accent1"/>
                </a:solidFill>
              </a:rPr>
              <a:t> utilization</a:t>
            </a:r>
          </a:p>
          <a:p>
            <a:r>
              <a:rPr lang="en-GB" altLang="de-DE" sz="1200" dirty="0" smtClean="0">
                <a:solidFill>
                  <a:schemeClr val="accent1"/>
                </a:solidFill>
              </a:rPr>
              <a:t>Share of total working days worked</a:t>
            </a:r>
            <a:r>
              <a:rPr lang="en-GB" altLang="de-DE" sz="1200" baseline="30000" dirty="0" smtClean="0">
                <a:solidFill>
                  <a:schemeClr val="accent1"/>
                </a:solidFill>
              </a:rPr>
              <a:t>2</a:t>
            </a:r>
            <a:endParaRPr lang="en-GB" altLang="de-DE" sz="1200" baseline="30000" dirty="0">
              <a:solidFill>
                <a:schemeClr val="accent1"/>
              </a:solidFill>
            </a:endParaRPr>
          </a:p>
        </p:txBody>
      </p:sp>
      <p:sp>
        <p:nvSpPr>
          <p:cNvPr id="37" name="Rectangle 32"/>
          <p:cNvSpPr>
            <a:spLocks noChangeArrowheads="1"/>
          </p:cNvSpPr>
          <p:nvPr/>
        </p:nvSpPr>
        <p:spPr bwMode="auto">
          <a:xfrm>
            <a:off x="6410325" y="1646754"/>
            <a:ext cx="22818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0" tIns="0" rIns="0" bIns="0" anchor="b">
            <a:spAutoFit/>
          </a:bodyPr>
          <a:lstStyle>
            <a:lvl1pPr eaLnBrk="0" hangingPunct="0">
              <a:defRPr sz="800">
                <a:solidFill>
                  <a:schemeClr val="tx1"/>
                </a:solidFill>
                <a:latin typeface="Arial" pitchFamily="34" charset="0"/>
                <a:ea typeface="MS PGothic" pitchFamily="34" charset="-128"/>
              </a:defRPr>
            </a:lvl1pPr>
            <a:lvl2pPr marL="742950" indent="-285750" eaLnBrk="0" hangingPunct="0">
              <a:defRPr sz="800">
                <a:solidFill>
                  <a:schemeClr val="tx1"/>
                </a:solidFill>
                <a:latin typeface="Arial" pitchFamily="34" charset="0"/>
                <a:ea typeface="MS PGothic" pitchFamily="34" charset="-128"/>
              </a:defRPr>
            </a:lvl2pPr>
            <a:lvl3pPr marL="1143000" indent="-228600" eaLnBrk="0" hangingPunct="0">
              <a:defRPr sz="800">
                <a:solidFill>
                  <a:schemeClr val="tx1"/>
                </a:solidFill>
                <a:latin typeface="Arial" pitchFamily="34" charset="0"/>
                <a:ea typeface="MS PGothic" pitchFamily="34" charset="-128"/>
              </a:defRPr>
            </a:lvl3pPr>
            <a:lvl4pPr marL="1600200" indent="-228600" eaLnBrk="0" hangingPunct="0">
              <a:defRPr sz="800">
                <a:solidFill>
                  <a:schemeClr val="tx1"/>
                </a:solidFill>
                <a:latin typeface="Arial" pitchFamily="34" charset="0"/>
                <a:ea typeface="MS PGothic" pitchFamily="34" charset="-128"/>
              </a:defRPr>
            </a:lvl4pPr>
            <a:lvl5pPr marL="2057400" indent="-228600" eaLnBrk="0" hangingPunct="0">
              <a:defRPr sz="8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8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8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8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800">
                <a:solidFill>
                  <a:schemeClr val="tx1"/>
                </a:solidFill>
                <a:latin typeface="Arial" pitchFamily="34" charset="0"/>
                <a:ea typeface="MS PGothic" pitchFamily="34" charset="-128"/>
              </a:defRPr>
            </a:lvl9pPr>
          </a:lstStyle>
          <a:p>
            <a:r>
              <a:rPr lang="en-GB" altLang="de-DE" sz="1200" b="1" dirty="0" smtClean="0">
                <a:solidFill>
                  <a:schemeClr val="accent1"/>
                </a:solidFill>
              </a:rPr>
              <a:t>Annualized net income</a:t>
            </a:r>
          </a:p>
          <a:p>
            <a:r>
              <a:rPr lang="en-GB" altLang="de-DE" sz="1200" dirty="0" smtClean="0">
                <a:solidFill>
                  <a:schemeClr val="accent1"/>
                </a:solidFill>
              </a:rPr>
              <a:t>US$</a:t>
            </a:r>
            <a:endParaRPr lang="en-GB" altLang="de-DE" sz="1200" dirty="0">
              <a:solidFill>
                <a:schemeClr val="accent1"/>
              </a:solidFill>
            </a:endParaRPr>
          </a:p>
        </p:txBody>
      </p:sp>
      <p:sp>
        <p:nvSpPr>
          <p:cNvPr id="12" name="Oval 11"/>
          <p:cNvSpPr/>
          <p:nvPr/>
        </p:nvSpPr>
        <p:spPr>
          <a:xfrm>
            <a:off x="3960813" y="1647825"/>
            <a:ext cx="228600" cy="228600"/>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a:t>
            </a:r>
            <a:endParaRPr lang="en-US" sz="1400" b="1" dirty="0">
              <a:solidFill>
                <a:schemeClr val="accent1"/>
              </a:solidFill>
            </a:endParaRPr>
          </a:p>
        </p:txBody>
      </p:sp>
      <p:sp>
        <p:nvSpPr>
          <p:cNvPr id="38" name="Oval 37"/>
          <p:cNvSpPr/>
          <p:nvPr/>
        </p:nvSpPr>
        <p:spPr>
          <a:xfrm>
            <a:off x="6035675" y="1647825"/>
            <a:ext cx="228600" cy="228600"/>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a:t>
            </a:r>
            <a:endParaRPr lang="en-US" sz="1400" b="1" dirty="0">
              <a:solidFill>
                <a:schemeClr val="accent1"/>
              </a:solidFill>
            </a:endParaRPr>
          </a:p>
        </p:txBody>
      </p:sp>
      <p:graphicFrame>
        <p:nvGraphicFramePr>
          <p:cNvPr id="39" name="Object 38"/>
          <p:cNvGraphicFramePr>
            <a:graphicFrameLocks/>
          </p:cNvGraphicFramePr>
          <p:nvPr>
            <p:custDataLst>
              <p:tags r:id="rId15"/>
            </p:custDataLst>
            <p:extLst>
              <p:ext uri="{D42A27DB-BD31-4B8C-83A1-F6EECF244321}">
                <p14:modId xmlns:p14="http://schemas.microsoft.com/office/powerpoint/2010/main" val="143158303"/>
              </p:ext>
            </p:extLst>
          </p:nvPr>
        </p:nvGraphicFramePr>
        <p:xfrm>
          <a:off x="6286500" y="2019300"/>
          <a:ext cx="2305185" cy="3514725"/>
        </p:xfrm>
        <a:graphic>
          <a:graphicData uri="http://schemas.openxmlformats.org/presentationml/2006/ole">
            <mc:AlternateContent xmlns:mc="http://schemas.openxmlformats.org/markup-compatibility/2006">
              <mc:Choice xmlns:v="urn:schemas-microsoft-com:vml" Requires="v">
                <p:oleObj spid="_x0000_s212486" name="Chart" r:id="rId32" imgW="2305185" imgH="3514725" progId="MSGraph.Chart.8">
                  <p:embed followColorScheme="full"/>
                </p:oleObj>
              </mc:Choice>
              <mc:Fallback>
                <p:oleObj name="Chart" r:id="rId32" imgW="2305185" imgH="3514725" progId="MSGraph.Chart.8">
                  <p:embed followColorScheme="full"/>
                  <p:pic>
                    <p:nvPicPr>
                      <p:cNvPr id="0" name=""/>
                      <p:cNvPicPr/>
                      <p:nvPr/>
                    </p:nvPicPr>
                    <p:blipFill>
                      <a:blip r:embed="rId33"/>
                      <a:stretch>
                        <a:fillRect/>
                      </a:stretch>
                    </p:blipFill>
                    <p:spPr>
                      <a:xfrm>
                        <a:off x="6286500" y="2019300"/>
                        <a:ext cx="2305185" cy="3514725"/>
                      </a:xfrm>
                      <a:prstGeom prst="rect">
                        <a:avLst/>
                      </a:prstGeom>
                    </p:spPr>
                  </p:pic>
                </p:oleObj>
              </mc:Fallback>
            </mc:AlternateContent>
          </a:graphicData>
        </a:graphic>
      </p:graphicFrame>
      <p:sp>
        <p:nvSpPr>
          <p:cNvPr id="10" name="Right Arrow 9"/>
          <p:cNvSpPr/>
          <p:nvPr>
            <p:custDataLst>
              <p:tags r:id="rId16"/>
            </p:custDataLst>
          </p:nvPr>
        </p:nvSpPr>
        <p:spPr bwMode="auto">
          <a:xfrm rot="16200000">
            <a:off x="7661275" y="5467350"/>
            <a:ext cx="128588" cy="152400"/>
          </a:xfrm>
          <a:prstGeom prst="rightArrow">
            <a:avLst>
              <a:gd name="adj1" fmla="val 100000"/>
              <a:gd name="adj2" fmla="val 100000"/>
            </a:avLst>
          </a:prstGeom>
          <a:solidFill>
            <a:schemeClr val="tx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custDataLst>
              <p:tags r:id="rId17"/>
            </p:custDataLst>
          </p:nvPr>
        </p:nvCxnSpPr>
        <p:spPr bwMode="gray">
          <a:xfrm>
            <a:off x="7724775" y="3883025"/>
            <a:ext cx="0" cy="1546225"/>
          </a:xfrm>
          <a:prstGeom prst="line">
            <a:avLst/>
          </a:prstGeom>
          <a:ln w="9525">
            <a:solidFill>
              <a:srgbClr val="212492"/>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custDataLst>
              <p:tags r:id="rId18"/>
            </p:custDataLst>
          </p:nvPr>
        </p:nvCxnSpPr>
        <p:spPr bwMode="gray">
          <a:xfrm>
            <a:off x="7724775" y="2152650"/>
            <a:ext cx="0" cy="238125"/>
          </a:xfrm>
          <a:prstGeom prst="line">
            <a:avLst/>
          </a:prstGeom>
          <a:ln w="9525">
            <a:solidFill>
              <a:srgbClr val="212492"/>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custDataLst>
              <p:tags r:id="rId19"/>
            </p:custDataLst>
          </p:nvPr>
        </p:nvCxnSpPr>
        <p:spPr bwMode="gray">
          <a:xfrm>
            <a:off x="7724775" y="2573338"/>
            <a:ext cx="0" cy="474663"/>
          </a:xfrm>
          <a:prstGeom prst="line">
            <a:avLst/>
          </a:prstGeom>
          <a:ln w="9525">
            <a:solidFill>
              <a:srgbClr val="212492"/>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custDataLst>
              <p:tags r:id="rId20"/>
            </p:custDataLst>
          </p:nvPr>
        </p:nvCxnSpPr>
        <p:spPr bwMode="gray">
          <a:xfrm>
            <a:off x="7724775" y="3230563"/>
            <a:ext cx="0" cy="469900"/>
          </a:xfrm>
          <a:prstGeom prst="line">
            <a:avLst/>
          </a:prstGeom>
          <a:ln w="9525">
            <a:solidFill>
              <a:srgbClr val="212492"/>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sp>
        <p:nvSpPr>
          <p:cNvPr id="42" name="Text Placeholder 36"/>
          <p:cNvSpPr>
            <a:spLocks noGrp="1"/>
          </p:cNvSpPr>
          <p:nvPr>
            <p:custDataLst>
              <p:tags r:id="rId21"/>
            </p:custDataLst>
          </p:nvPr>
        </p:nvSpPr>
        <p:spPr bwMode="auto">
          <a:xfrm>
            <a:off x="7213600" y="5659438"/>
            <a:ext cx="1020763" cy="3651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$3,950</a:t>
            </a:r>
          </a:p>
          <a:p>
            <a:pPr marL="0" indent="0" algn="ctr">
              <a:spcBef>
                <a:spcPct val="0"/>
              </a:spcBef>
              <a:spcAft>
                <a:spcPct val="0"/>
              </a:spcAft>
              <a:buNone/>
            </a:pPr>
            <a:r>
              <a:rPr lang="en-US" sz="1200" dirty="0" smtClean="0">
                <a:solidFill>
                  <a:schemeClr val="accent1"/>
                </a:solidFill>
                <a:latin typeface="Arial"/>
                <a:sym typeface="Arial"/>
              </a:rPr>
              <a:t>Minimum wage</a:t>
            </a:r>
          </a:p>
        </p:txBody>
      </p:sp>
      <p:sp>
        <p:nvSpPr>
          <p:cNvPr id="44" name="Text Placeholder 31"/>
          <p:cNvSpPr>
            <a:spLocks noGrp="1"/>
          </p:cNvSpPr>
          <p:nvPr>
            <p:custDataLst>
              <p:tags r:id="rId22"/>
            </p:custDataLst>
          </p:nvPr>
        </p:nvSpPr>
        <p:spPr bwMode="gray">
          <a:xfrm>
            <a:off x="8045450" y="4352925"/>
            <a:ext cx="423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4F20EB34-035E-46DF-97F2-0013450C6FFA}" type="datetime'4,''''''''''''9''''''''''''''0''''''0'''">
              <a:rPr lang="en-US" sz="1200">
                <a:solidFill>
                  <a:schemeClr val="accent1"/>
                </a:solidFill>
              </a:rPr>
              <a:pPr/>
              <a:t>4,900</a:t>
            </a:fld>
            <a:endParaRPr lang="en-US" sz="1200" dirty="0">
              <a:solidFill>
                <a:schemeClr val="accent1"/>
              </a:solidFill>
              <a:latin typeface="Arial"/>
              <a:sym typeface="Arial"/>
            </a:endParaRPr>
          </a:p>
        </p:txBody>
      </p:sp>
      <p:sp>
        <p:nvSpPr>
          <p:cNvPr id="40" name="Text Placeholder 129"/>
          <p:cNvSpPr>
            <a:spLocks noGrp="1"/>
          </p:cNvSpPr>
          <p:nvPr>
            <p:custDataLst>
              <p:tags r:id="rId23"/>
            </p:custDataLst>
          </p:nvPr>
        </p:nvSpPr>
        <p:spPr bwMode="gray">
          <a:xfrm>
            <a:off x="8502650" y="5010150"/>
            <a:ext cx="423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D4BC2F53-9555-4E13-886D-E22F731C100D}" type="datetime'''6'''''',''''''''''3''''''''''''''''0''''''''''0'''''''''''''">
              <a:rPr lang="en-US" sz="1200">
                <a:solidFill>
                  <a:schemeClr val="accent1"/>
                </a:solidFill>
              </a:rPr>
              <a:pPr/>
              <a:t>6,300</a:t>
            </a:fld>
            <a:endParaRPr lang="en-US" sz="1200" dirty="0">
              <a:solidFill>
                <a:schemeClr val="accent1"/>
              </a:solidFill>
              <a:latin typeface="Arial"/>
              <a:sym typeface="Arial"/>
            </a:endParaRPr>
          </a:p>
        </p:txBody>
      </p:sp>
      <p:sp>
        <p:nvSpPr>
          <p:cNvPr id="46" name="Text Placeholder 130"/>
          <p:cNvSpPr>
            <a:spLocks noGrp="1"/>
          </p:cNvSpPr>
          <p:nvPr>
            <p:custDataLst>
              <p:tags r:id="rId24"/>
            </p:custDataLst>
          </p:nvPr>
        </p:nvSpPr>
        <p:spPr bwMode="gray">
          <a:xfrm>
            <a:off x="7616825" y="3700463"/>
            <a:ext cx="423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9D32206A-0BB5-4811-A562-C46D3F7A9569}" type="datetime'''''''3,''''60''''''''''''''0'''''''''''''''''''">
              <a:rPr lang="en-US" sz="1200">
                <a:solidFill>
                  <a:schemeClr val="accent1"/>
                </a:solidFill>
              </a:rPr>
              <a:pPr/>
              <a:t>3,600</a:t>
            </a:fld>
            <a:endParaRPr lang="en-US" sz="1200" dirty="0">
              <a:solidFill>
                <a:schemeClr val="accent1"/>
              </a:solidFill>
              <a:latin typeface="Arial"/>
              <a:sym typeface="Arial"/>
            </a:endParaRPr>
          </a:p>
        </p:txBody>
      </p:sp>
      <p:sp>
        <p:nvSpPr>
          <p:cNvPr id="48" name="Text Placeholder 29"/>
          <p:cNvSpPr>
            <a:spLocks noGrp="1"/>
          </p:cNvSpPr>
          <p:nvPr>
            <p:custDataLst>
              <p:tags r:id="rId25"/>
            </p:custDataLst>
          </p:nvPr>
        </p:nvSpPr>
        <p:spPr bwMode="gray">
          <a:xfrm>
            <a:off x="7531100" y="3048000"/>
            <a:ext cx="97313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200" dirty="0" smtClean="0">
                <a:solidFill>
                  <a:schemeClr val="accent1"/>
                </a:solidFill>
                <a:latin typeface="Arial"/>
                <a:sym typeface="Arial"/>
              </a:rPr>
              <a:t>3,000 </a:t>
            </a:r>
            <a:r>
              <a:rPr lang="en-US" sz="1200" dirty="0" smtClean="0">
                <a:latin typeface="Arial"/>
                <a:sym typeface="Arial"/>
              </a:rPr>
              <a:t>– </a:t>
            </a:r>
            <a:r>
              <a:rPr lang="en-US" sz="1200" dirty="0" smtClean="0">
                <a:solidFill>
                  <a:schemeClr val="accent1"/>
                </a:solidFill>
                <a:latin typeface="Arial"/>
                <a:sym typeface="Arial"/>
              </a:rPr>
              <a:t>3,350</a:t>
            </a:r>
            <a:endParaRPr lang="en-US" sz="1200" dirty="0">
              <a:solidFill>
                <a:schemeClr val="accent1"/>
              </a:solidFill>
              <a:latin typeface="Arial"/>
              <a:sym typeface="Arial"/>
            </a:endParaRPr>
          </a:p>
        </p:txBody>
      </p:sp>
      <p:sp>
        <p:nvSpPr>
          <p:cNvPr id="43" name="Text Placeholder 57"/>
          <p:cNvSpPr>
            <a:spLocks noGrp="1"/>
          </p:cNvSpPr>
          <p:nvPr>
            <p:custDataLst>
              <p:tags r:id="rId26"/>
            </p:custDataLst>
          </p:nvPr>
        </p:nvSpPr>
        <p:spPr bwMode="gray">
          <a:xfrm>
            <a:off x="7378700" y="2390775"/>
            <a:ext cx="423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226F7B7C-C2E0-4FB9-A845-567A6EFA24E1}" type="datetime'''2'''',86''''''''''''''''''''''''''''''0'''''''''''''">
              <a:rPr lang="en-US" sz="1200">
                <a:solidFill>
                  <a:schemeClr val="accent1"/>
                </a:solidFill>
              </a:rPr>
              <a:pPr/>
              <a:t>2,860</a:t>
            </a:fld>
            <a:endParaRPr lang="en-US" sz="1200" dirty="0">
              <a:solidFill>
                <a:schemeClr val="accent1"/>
              </a:solidFill>
              <a:latin typeface="Arial"/>
              <a:sym typeface="Arial"/>
            </a:endParaRPr>
          </a:p>
        </p:txBody>
      </p:sp>
      <p:graphicFrame>
        <p:nvGraphicFramePr>
          <p:cNvPr id="14" name="Table 13"/>
          <p:cNvGraphicFramePr>
            <a:graphicFrameLocks noGrp="1"/>
          </p:cNvGraphicFramePr>
          <p:nvPr>
            <p:extLst>
              <p:ext uri="{D42A27DB-BD31-4B8C-83A1-F6EECF244321}">
                <p14:modId xmlns:p14="http://schemas.microsoft.com/office/powerpoint/2010/main" val="762104255"/>
              </p:ext>
            </p:extLst>
          </p:nvPr>
        </p:nvGraphicFramePr>
        <p:xfrm>
          <a:off x="4603750" y="2095499"/>
          <a:ext cx="922020" cy="3383755"/>
        </p:xfrm>
        <a:graphic>
          <a:graphicData uri="http://schemas.openxmlformats.org/drawingml/2006/table">
            <a:tbl>
              <a:tblPr firstRow="1" bandRow="1">
                <a:tableStyleId>{5C22544A-7EE6-4342-B048-85BDC9FD1C3A}</a:tableStyleId>
              </a:tblPr>
              <a:tblGrid>
                <a:gridCol w="922020"/>
              </a:tblGrid>
              <a:tr h="676751">
                <a:tc>
                  <a:txBody>
                    <a:bodyPr/>
                    <a:lstStyle/>
                    <a:p>
                      <a:pPr algn="ctr"/>
                      <a:r>
                        <a:rPr lang="en-US" sz="1200" b="0" dirty="0" smtClean="0">
                          <a:solidFill>
                            <a:schemeClr val="accent1"/>
                          </a:solidFill>
                        </a:rPr>
                        <a:t>50%</a:t>
                      </a:r>
                      <a:endParaRPr lang="en-US" sz="1200" b="0" dirty="0">
                        <a:solidFill>
                          <a:schemeClr val="accent1"/>
                        </a:solidFill>
                      </a:endParaRPr>
                    </a:p>
                  </a:txBody>
                  <a:tcPr anchor="ctr">
                    <a:solidFill>
                      <a:schemeClr val="bg1"/>
                    </a:solidFill>
                  </a:tcPr>
                </a:tc>
              </a:tr>
              <a:tr h="676751">
                <a:tc>
                  <a:txBody>
                    <a:bodyPr/>
                    <a:lstStyle/>
                    <a:p>
                      <a:pPr algn="ctr"/>
                      <a:r>
                        <a:rPr lang="en-US" sz="1200" b="0" dirty="0" smtClean="0">
                          <a:solidFill>
                            <a:schemeClr val="accent1"/>
                          </a:solidFill>
                        </a:rPr>
                        <a:t>75%</a:t>
                      </a:r>
                      <a:endParaRPr lang="en-US" sz="1200" b="0" dirty="0">
                        <a:solidFill>
                          <a:schemeClr val="accent1"/>
                        </a:solidFill>
                      </a:endParaRPr>
                    </a:p>
                  </a:txBody>
                  <a:tcPr anchor="ctr">
                    <a:solidFill>
                      <a:schemeClr val="bg1"/>
                    </a:solidFill>
                  </a:tcPr>
                </a:tc>
              </a:tr>
              <a:tr h="676751">
                <a:tc>
                  <a:txBody>
                    <a:bodyPr/>
                    <a:lstStyle/>
                    <a:p>
                      <a:pPr algn="ctr"/>
                      <a:r>
                        <a:rPr lang="en-US" sz="1200" b="0" dirty="0" smtClean="0">
                          <a:solidFill>
                            <a:schemeClr val="accent1"/>
                          </a:solidFill>
                        </a:rPr>
                        <a:t>100%</a:t>
                      </a:r>
                      <a:endParaRPr lang="en-US" sz="1200" b="0" dirty="0">
                        <a:solidFill>
                          <a:schemeClr val="accent1"/>
                        </a:solidFill>
                      </a:endParaRPr>
                    </a:p>
                  </a:txBody>
                  <a:tcPr anchor="ctr">
                    <a:solidFill>
                      <a:schemeClr val="bg1"/>
                    </a:solidFill>
                  </a:tcPr>
                </a:tc>
              </a:tr>
              <a:tr h="676751">
                <a:tc>
                  <a:txBody>
                    <a:bodyPr/>
                    <a:lstStyle/>
                    <a:p>
                      <a:pPr algn="ctr"/>
                      <a:r>
                        <a:rPr lang="en-US" sz="1200" b="0" dirty="0" smtClean="0">
                          <a:solidFill>
                            <a:schemeClr val="accent1"/>
                          </a:solidFill>
                        </a:rPr>
                        <a:t>100%</a:t>
                      </a:r>
                      <a:endParaRPr lang="en-US" sz="1200" b="0" dirty="0">
                        <a:solidFill>
                          <a:schemeClr val="accent1"/>
                        </a:solidFill>
                      </a:endParaRPr>
                    </a:p>
                  </a:txBody>
                  <a:tcPr anchor="ctr">
                    <a:solidFill>
                      <a:schemeClr val="bg1"/>
                    </a:solidFill>
                  </a:tcPr>
                </a:tc>
              </a:tr>
              <a:tr h="676751">
                <a:tc>
                  <a:txBody>
                    <a:bodyPr/>
                    <a:lstStyle/>
                    <a:p>
                      <a:pPr algn="ctr"/>
                      <a:r>
                        <a:rPr lang="en-US" sz="1200" b="0" dirty="0" smtClean="0">
                          <a:solidFill>
                            <a:schemeClr val="accent1"/>
                          </a:solidFill>
                        </a:rPr>
                        <a:t>100%</a:t>
                      </a:r>
                      <a:endParaRPr lang="en-US" sz="1200" b="0" dirty="0">
                        <a:solidFill>
                          <a:schemeClr val="accent1"/>
                        </a:solidFill>
                      </a:endParaRPr>
                    </a:p>
                  </a:txBody>
                  <a:tcPr anchor="ctr">
                    <a:solidFill>
                      <a:schemeClr val="bg1"/>
                    </a:solidFill>
                  </a:tcPr>
                </a:tc>
              </a:tr>
            </a:tbl>
          </a:graphicData>
        </a:graphic>
      </p:graphicFrame>
    </p:spTree>
    <p:extLst>
      <p:ext uri="{BB962C8B-B14F-4D97-AF65-F5344CB8AC3E}">
        <p14:creationId xmlns:p14="http://schemas.microsoft.com/office/powerpoint/2010/main" val="32607635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p:cNvGraphicFramePr>
          <p:nvPr>
            <p:custDataLst>
              <p:tags r:id="rId2"/>
            </p:custDataLst>
            <p:extLst>
              <p:ext uri="{D42A27DB-BD31-4B8C-83A1-F6EECF244321}">
                <p14:modId xmlns:p14="http://schemas.microsoft.com/office/powerpoint/2010/main" val="3178131500"/>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67352"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4"/>
          <p:cNvSpPr/>
          <p:nvPr/>
        </p:nvSpPr>
        <p:spPr>
          <a:xfrm>
            <a:off x="1572325" y="1204331"/>
            <a:ext cx="7002965" cy="4716966"/>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US" b="0" dirty="0" smtClean="0"/>
              <a:t>Colombia is at a crossroads</a:t>
            </a:r>
            <a:endParaRPr lang="en-US" b="0" dirty="0"/>
          </a:p>
        </p:txBody>
      </p:sp>
      <p:sp>
        <p:nvSpPr>
          <p:cNvPr id="4" name="Rectangle 3"/>
          <p:cNvSpPr/>
          <p:nvPr/>
        </p:nvSpPr>
        <p:spPr>
          <a:xfrm>
            <a:off x="2140696" y="1572325"/>
            <a:ext cx="1315844" cy="702527"/>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solidFill>
                  <a:schemeClr val="accent1"/>
                </a:solidFill>
              </a:rPr>
              <a:t>Slowly exit coffee</a:t>
            </a:r>
            <a:endParaRPr lang="en-US" sz="1300" b="1" dirty="0">
              <a:solidFill>
                <a:schemeClr val="accent1"/>
              </a:solidFill>
            </a:endParaRPr>
          </a:p>
        </p:txBody>
      </p:sp>
      <p:sp>
        <p:nvSpPr>
          <p:cNvPr id="7" name="Rectangle 6"/>
          <p:cNvSpPr/>
          <p:nvPr/>
        </p:nvSpPr>
        <p:spPr>
          <a:xfrm>
            <a:off x="2140696" y="3749291"/>
            <a:ext cx="1315844" cy="702527"/>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solidFill>
                  <a:schemeClr val="accent1"/>
                </a:solidFill>
              </a:rPr>
              <a:t>Focus on quality</a:t>
            </a:r>
            <a:endParaRPr lang="en-US" sz="1300" b="1" dirty="0">
              <a:solidFill>
                <a:schemeClr val="accent1"/>
              </a:solidFill>
            </a:endParaRPr>
          </a:p>
        </p:txBody>
      </p:sp>
      <p:sp>
        <p:nvSpPr>
          <p:cNvPr id="6" name="Pentagon 5"/>
          <p:cNvSpPr/>
          <p:nvPr/>
        </p:nvSpPr>
        <p:spPr>
          <a:xfrm>
            <a:off x="423748" y="2406219"/>
            <a:ext cx="1594625" cy="2230244"/>
          </a:xfrm>
          <a:prstGeom prst="homePlate">
            <a:avLst>
              <a:gd name="adj" fmla="val 14886"/>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Rectangle 8"/>
          <p:cNvSpPr/>
          <p:nvPr/>
        </p:nvSpPr>
        <p:spPr>
          <a:xfrm>
            <a:off x="2140696" y="2649773"/>
            <a:ext cx="1315844" cy="702527"/>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solidFill>
                  <a:schemeClr val="accent1"/>
                </a:solidFill>
              </a:rPr>
              <a:t>Keep coffee but diversify</a:t>
            </a:r>
            <a:endParaRPr lang="en-US" sz="1300" b="1" dirty="0">
              <a:solidFill>
                <a:schemeClr val="accent1"/>
              </a:solidFill>
            </a:endParaRPr>
          </a:p>
        </p:txBody>
      </p:sp>
      <p:sp>
        <p:nvSpPr>
          <p:cNvPr id="11" name="Rectangle 10"/>
          <p:cNvSpPr/>
          <p:nvPr/>
        </p:nvSpPr>
        <p:spPr>
          <a:xfrm>
            <a:off x="2140696" y="4833122"/>
            <a:ext cx="1315844" cy="702527"/>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solidFill>
                  <a:schemeClr val="accent1"/>
                </a:solidFill>
              </a:rPr>
              <a:t>Improve efficiency</a:t>
            </a:r>
            <a:endParaRPr lang="en-US" sz="1300" b="1" dirty="0">
              <a:solidFill>
                <a:schemeClr val="accent1"/>
              </a:solidFill>
            </a:endParaRPr>
          </a:p>
        </p:txBody>
      </p:sp>
      <p:sp>
        <p:nvSpPr>
          <p:cNvPr id="8" name="TextBox 7"/>
          <p:cNvSpPr txBox="1"/>
          <p:nvPr/>
        </p:nvSpPr>
        <p:spPr>
          <a:xfrm>
            <a:off x="3668758" y="1572325"/>
            <a:ext cx="4672359" cy="80021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300" dirty="0" smtClean="0"/>
              <a:t>Shift away from coffee farming and move into other economic activities that provide better income prospects</a:t>
            </a:r>
          </a:p>
          <a:p>
            <a:pPr marL="285750" indent="-285750">
              <a:buFont typeface="Arial" panose="020B0604020202020204" pitchFamily="34" charset="0"/>
              <a:buChar char="•"/>
            </a:pPr>
            <a:r>
              <a:rPr lang="en-US" sz="1300" dirty="0" smtClean="0"/>
              <a:t>In particular, in </a:t>
            </a:r>
            <a:r>
              <a:rPr lang="en-US" sz="1300" dirty="0" err="1" smtClean="0"/>
              <a:t>peri</a:t>
            </a:r>
            <a:r>
              <a:rPr lang="en-US" sz="1300" dirty="0" smtClean="0"/>
              <a:t>-urban areas and in places most vulnerable to climate change</a:t>
            </a:r>
            <a:endParaRPr lang="en-US" sz="1300" dirty="0"/>
          </a:p>
        </p:txBody>
      </p:sp>
      <p:sp>
        <p:nvSpPr>
          <p:cNvPr id="12" name="TextBox 11"/>
          <p:cNvSpPr txBox="1"/>
          <p:nvPr/>
        </p:nvSpPr>
        <p:spPr>
          <a:xfrm>
            <a:off x="3668759" y="3749291"/>
            <a:ext cx="4672358" cy="80021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300" dirty="0" smtClean="0"/>
              <a:t>Focus on specialty coffee and implement activities to improve quality in order to achieve higher margins</a:t>
            </a:r>
          </a:p>
          <a:p>
            <a:pPr marL="285750" indent="-285750">
              <a:buFont typeface="Arial" panose="020B0604020202020204" pitchFamily="34" charset="0"/>
              <a:buChar char="•"/>
            </a:pPr>
            <a:r>
              <a:rPr lang="en-US" sz="1300" dirty="0" smtClean="0"/>
              <a:t>In particular for farmers at higher altitudes or with traditional varieties</a:t>
            </a:r>
            <a:endParaRPr lang="en-US" sz="1300" dirty="0"/>
          </a:p>
        </p:txBody>
      </p:sp>
      <p:sp>
        <p:nvSpPr>
          <p:cNvPr id="13" name="TextBox 12"/>
          <p:cNvSpPr txBox="1"/>
          <p:nvPr/>
        </p:nvSpPr>
        <p:spPr>
          <a:xfrm>
            <a:off x="3668759" y="2649773"/>
            <a:ext cx="4672358" cy="80021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300" dirty="0" smtClean="0"/>
              <a:t>Diversification into additional crops that provide income and decrease dependency on coffee prices</a:t>
            </a:r>
          </a:p>
          <a:p>
            <a:pPr marL="285750" indent="-285750">
              <a:buFont typeface="Arial" panose="020B0604020202020204" pitchFamily="34" charset="0"/>
              <a:buChar char="•"/>
            </a:pPr>
            <a:r>
              <a:rPr lang="en-US" sz="1300" dirty="0" smtClean="0"/>
              <a:t>In particular, in lower altitudes that are more susceptible to disease and climate change</a:t>
            </a:r>
            <a:endParaRPr lang="en-US" sz="1300" dirty="0"/>
          </a:p>
        </p:txBody>
      </p:sp>
      <p:sp>
        <p:nvSpPr>
          <p:cNvPr id="14" name="TextBox 13"/>
          <p:cNvSpPr txBox="1"/>
          <p:nvPr/>
        </p:nvSpPr>
        <p:spPr>
          <a:xfrm>
            <a:off x="3668759" y="4833122"/>
            <a:ext cx="4527396" cy="400110"/>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300" dirty="0" smtClean="0"/>
              <a:t>Decrease cost of production in order to improve efficiency and gain higher profit margin</a:t>
            </a:r>
          </a:p>
        </p:txBody>
      </p:sp>
      <p:cxnSp>
        <p:nvCxnSpPr>
          <p:cNvPr id="17" name="Straight Connector 16"/>
          <p:cNvCxnSpPr/>
          <p:nvPr/>
        </p:nvCxnSpPr>
        <p:spPr>
          <a:xfrm>
            <a:off x="423748" y="2406219"/>
            <a:ext cx="0" cy="23268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McK Footnote"/>
          <p:cNvSpPr txBox="1">
            <a:spLocks noChangeArrowheads="1"/>
          </p:cNvSpPr>
          <p:nvPr/>
        </p:nvSpPr>
        <p:spPr bwMode="auto">
          <a:xfrm>
            <a:off x="641720" y="6399779"/>
            <a:ext cx="8485187" cy="1384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b="0" dirty="0" smtClean="0">
                <a:solidFill>
                  <a:schemeClr val="tx1">
                    <a:lumMod val="65000"/>
                    <a:lumOff val="35000"/>
                  </a:schemeClr>
                </a:solidFill>
              </a:rPr>
              <a:t>Source</a:t>
            </a:r>
            <a:r>
              <a:rPr lang="en-US" sz="900" b="0" dirty="0">
                <a:solidFill>
                  <a:schemeClr val="tx1">
                    <a:lumMod val="65000"/>
                    <a:lumOff val="35000"/>
                  </a:schemeClr>
                </a:solidFill>
              </a:rPr>
              <a:t>: </a:t>
            </a:r>
            <a:r>
              <a:rPr lang="en-US" sz="900" b="0" dirty="0" smtClean="0">
                <a:solidFill>
                  <a:schemeClr val="tx1">
                    <a:lumMod val="65000"/>
                    <a:lumOff val="35000"/>
                  </a:schemeClr>
                </a:solidFill>
              </a:rPr>
              <a:t>Stakeholder interviews, TechnoServe analysis</a:t>
            </a:r>
            <a:endParaRPr lang="en-US" sz="900" dirty="0">
              <a:solidFill>
                <a:schemeClr val="tx1">
                  <a:lumMod val="65000"/>
                  <a:lumOff val="35000"/>
                </a:schemeClr>
              </a:solidFill>
            </a:endParaRPr>
          </a:p>
        </p:txBody>
      </p:sp>
      <p:sp>
        <p:nvSpPr>
          <p:cNvPr id="2" name="TextBox 1"/>
          <p:cNvSpPr txBox="1"/>
          <p:nvPr/>
        </p:nvSpPr>
        <p:spPr>
          <a:xfrm>
            <a:off x="498439" y="2608609"/>
            <a:ext cx="1519935" cy="1800493"/>
          </a:xfrm>
          <a:prstGeom prst="rect">
            <a:avLst/>
          </a:prstGeom>
          <a:noFill/>
        </p:spPr>
        <p:txBody>
          <a:bodyPr wrap="square" lIns="0" tIns="0" rIns="0" bIns="0" rtlCol="0">
            <a:spAutoFit/>
          </a:bodyPr>
          <a:lstStyle/>
          <a:p>
            <a:r>
              <a:rPr lang="en-US" sz="1300" b="1" dirty="0" smtClean="0">
                <a:solidFill>
                  <a:schemeClr val="bg1"/>
                </a:solidFill>
              </a:rPr>
              <a:t>Facing eroding margins and decreasing competitiveness, Colombian coffee farmers have several options to address this situation</a:t>
            </a:r>
            <a:endParaRPr lang="en-US" sz="1300" b="1" dirty="0">
              <a:solidFill>
                <a:schemeClr val="bg1"/>
              </a:solidFill>
            </a:endParaRPr>
          </a:p>
        </p:txBody>
      </p:sp>
    </p:spTree>
    <p:extLst>
      <p:ext uri="{BB962C8B-B14F-4D97-AF65-F5344CB8AC3E}">
        <p14:creationId xmlns:p14="http://schemas.microsoft.com/office/powerpoint/2010/main" val="157546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p:cNvGraphicFramePr>
          <p:nvPr>
            <p:custDataLst>
              <p:tags r:id="rId2"/>
            </p:custDataLst>
            <p:extLst>
              <p:ext uri="{D42A27DB-BD31-4B8C-83A1-F6EECF244321}">
                <p14:modId xmlns:p14="http://schemas.microsoft.com/office/powerpoint/2010/main" val="1574286375"/>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78433"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bwMode="auto">
          <a:xfrm>
            <a:off x="985837" y="2658206"/>
            <a:ext cx="7000875" cy="385763"/>
          </a:xfrm>
          <a:prstGeom prst="rect">
            <a:avLst/>
          </a:prstGeom>
          <a:solidFill>
            <a:schemeClr val="accent1"/>
          </a:solidFill>
          <a:ln w="9525" cap="flat" cmpd="sng" algn="ctr">
            <a:solidFill>
              <a:schemeClr val="accent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10" name="TextBox 9"/>
          <p:cNvSpPr txBox="1"/>
          <p:nvPr/>
        </p:nvSpPr>
        <p:spPr>
          <a:xfrm>
            <a:off x="1471614" y="1843086"/>
            <a:ext cx="6372225" cy="2031325"/>
          </a:xfrm>
          <a:prstGeom prst="rect">
            <a:avLst/>
          </a:prstGeom>
          <a:noFill/>
        </p:spPr>
        <p:txBody>
          <a:bodyPr wrap="square" rtlCol="0">
            <a:spAutoFit/>
          </a:bodyPr>
          <a:lstStyle/>
          <a:p>
            <a:pPr>
              <a:buFont typeface="Wingdings" pitchFamily="2" charset="2"/>
              <a:buChar char="q"/>
            </a:pPr>
            <a:r>
              <a:rPr lang="en-US" dirty="0" smtClean="0">
                <a:solidFill>
                  <a:schemeClr val="accent1"/>
                </a:solidFill>
              </a:rPr>
              <a:t> Colombia coffee industry primer</a:t>
            </a:r>
          </a:p>
          <a:p>
            <a:pPr>
              <a:buFont typeface="Wingdings" pitchFamily="2" charset="2"/>
              <a:buChar char="q"/>
            </a:pPr>
            <a:endParaRPr lang="en-US" dirty="0" smtClean="0"/>
          </a:p>
          <a:p>
            <a:pPr>
              <a:buFont typeface="Wingdings" pitchFamily="2" charset="2"/>
              <a:buChar char="q"/>
            </a:pPr>
            <a:endParaRPr lang="en-US" dirty="0" smtClean="0"/>
          </a:p>
          <a:p>
            <a:pPr>
              <a:buFont typeface="Wingdings" pitchFamily="2" charset="2"/>
              <a:buChar char="q"/>
            </a:pPr>
            <a:r>
              <a:rPr lang="en-US" b="1" dirty="0" smtClean="0">
                <a:solidFill>
                  <a:schemeClr val="bg1"/>
                </a:solidFill>
              </a:rPr>
              <a:t> Analytical framework</a:t>
            </a:r>
          </a:p>
          <a:p>
            <a:pPr>
              <a:buFont typeface="Wingdings" pitchFamily="2" charset="2"/>
              <a:buChar char="q"/>
            </a:pPr>
            <a:endParaRPr lang="en-US" dirty="0" smtClean="0"/>
          </a:p>
          <a:p>
            <a:pPr>
              <a:buFont typeface="Wingdings" pitchFamily="2" charset="2"/>
              <a:buChar char="q"/>
            </a:pPr>
            <a:endParaRPr lang="en-US" dirty="0" smtClean="0">
              <a:solidFill>
                <a:schemeClr val="accent1"/>
              </a:solidFill>
            </a:endParaRPr>
          </a:p>
          <a:p>
            <a:pPr>
              <a:buFont typeface="Wingdings" pitchFamily="2" charset="2"/>
              <a:buChar char="q"/>
            </a:pPr>
            <a:r>
              <a:rPr lang="en-US" dirty="0" smtClean="0">
                <a:solidFill>
                  <a:schemeClr val="accent1"/>
                </a:solidFill>
              </a:rPr>
              <a:t> Colombia business case discussion</a:t>
            </a:r>
          </a:p>
        </p:txBody>
      </p:sp>
      <p:sp>
        <p:nvSpPr>
          <p:cNvPr id="3" name="Title 2"/>
          <p:cNvSpPr>
            <a:spLocks noGrp="1"/>
          </p:cNvSpPr>
          <p:nvPr>
            <p:ph type="title"/>
          </p:nvPr>
        </p:nvSpPr>
        <p:spPr/>
        <p:txBody>
          <a:bodyPr/>
          <a:lstStyle/>
          <a:p>
            <a:r>
              <a:rPr lang="en-US" b="0" dirty="0" smtClean="0"/>
              <a:t>Contents</a:t>
            </a:r>
            <a:endParaRPr lang="en-US" b="0" dirty="0"/>
          </a:p>
        </p:txBody>
      </p:sp>
    </p:spTree>
    <p:extLst>
      <p:ext uri="{BB962C8B-B14F-4D97-AF65-F5344CB8AC3E}">
        <p14:creationId xmlns:p14="http://schemas.microsoft.com/office/powerpoint/2010/main" val="25686401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 name="Object 45" hidden="1"/>
          <p:cNvGraphicFramePr>
            <a:graphicFrameLocks noChangeAspect="1"/>
          </p:cNvGraphicFramePr>
          <p:nvPr>
            <p:custDataLst>
              <p:tags r:id="rId2"/>
            </p:custDataLst>
            <p:extLst>
              <p:ext uri="{D42A27DB-BD31-4B8C-83A1-F6EECF244321}">
                <p14:modId xmlns:p14="http://schemas.microsoft.com/office/powerpoint/2010/main" val="255262897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5675" name="think-cell Slide" r:id="rId34" imgW="270" imgH="270" progId="TCLayout.ActiveDocument.1">
                  <p:embed/>
                </p:oleObj>
              </mc:Choice>
              <mc:Fallback>
                <p:oleObj name="think-cell Slide" r:id="rId34" imgW="270" imgH="270" progId="TCLayout.ActiveDocument.1">
                  <p:embed/>
                  <p:pic>
                    <p:nvPicPr>
                      <p:cNvPr id="0" name=""/>
                      <p:cNvPicPr/>
                      <p:nvPr/>
                    </p:nvPicPr>
                    <p:blipFill>
                      <a:blip r:embed="rId35"/>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000" u="none" strike="noStrike" cap="none" normalizeH="0" smtClean="0">
              <a:ln>
                <a:noFill/>
              </a:ln>
              <a:solidFill>
                <a:schemeClr val="tx1"/>
              </a:solidFill>
              <a:effectLst/>
              <a:latin typeface="Arial"/>
              <a:sym typeface="Arial"/>
            </a:endParaRPr>
          </a:p>
        </p:txBody>
      </p:sp>
      <p:cxnSp>
        <p:nvCxnSpPr>
          <p:cNvPr id="59" name="Straight Connector 58"/>
          <p:cNvCxnSpPr/>
          <p:nvPr/>
        </p:nvCxnSpPr>
        <p:spPr bwMode="auto">
          <a:xfrm>
            <a:off x="1098867" y="3419792"/>
            <a:ext cx="5087621"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sp>
        <p:nvSpPr>
          <p:cNvPr id="10" name="Rectangle 3"/>
          <p:cNvSpPr>
            <a:spLocks noChangeArrowheads="1"/>
          </p:cNvSpPr>
          <p:nvPr>
            <p:custDataLst>
              <p:tags r:id="rId4"/>
            </p:custDataLst>
          </p:nvPr>
        </p:nvSpPr>
        <p:spPr bwMode="auto">
          <a:xfrm>
            <a:off x="6527800" y="1239838"/>
            <a:ext cx="2598737" cy="1599358"/>
          </a:xfrm>
          <a:prstGeom prst="rect">
            <a:avLst/>
          </a:prstGeom>
          <a:noFill/>
          <a:ln w="9525">
            <a:noFill/>
            <a:miter lim="800000"/>
            <a:headEnd/>
            <a:tailEnd/>
          </a:ln>
        </p:spPr>
        <p:txBody>
          <a:bodyPr lIns="93296" tIns="93296" rIns="93296" bIns="93296" anchor="t"/>
          <a:lstStyle/>
          <a:p>
            <a:pPr marL="114300" indent="-114300" defTabSz="912813"/>
            <a:r>
              <a:rPr lang="en-US" sz="1000" b="1" dirty="0"/>
              <a:t>Potential </a:t>
            </a:r>
            <a:r>
              <a:rPr lang="en-US" sz="1000" b="1" dirty="0" smtClean="0"/>
              <a:t>Impact</a:t>
            </a:r>
          </a:p>
          <a:p>
            <a:pPr marL="114300" indent="-114300" defTabSz="912813">
              <a:buFontTx/>
              <a:buChar char="•"/>
            </a:pPr>
            <a:r>
              <a:rPr lang="en-US" sz="1000" dirty="0" smtClean="0"/>
              <a:t>Net Benefit / ROI</a:t>
            </a:r>
          </a:p>
          <a:p>
            <a:pPr marL="114300" indent="-114300" defTabSz="912813">
              <a:buFontTx/>
              <a:buChar char="•"/>
            </a:pPr>
            <a:r>
              <a:rPr lang="en-US" sz="1000" dirty="0" smtClean="0"/>
              <a:t>Revenue – GDP increase</a:t>
            </a:r>
          </a:p>
          <a:p>
            <a:pPr marL="114300" indent="-114300" defTabSz="912813">
              <a:buFontTx/>
              <a:buChar char="•"/>
            </a:pPr>
            <a:r>
              <a:rPr lang="en-US" sz="1000" dirty="0" smtClean="0"/>
              <a:t>Employment </a:t>
            </a:r>
            <a:r>
              <a:rPr lang="en-US" sz="1000" dirty="0"/>
              <a:t>– Potential for job creation or preservation</a:t>
            </a:r>
          </a:p>
          <a:p>
            <a:pPr marL="114300" indent="-114300" defTabSz="912813">
              <a:buFontTx/>
              <a:buChar char="•"/>
            </a:pPr>
            <a:r>
              <a:rPr lang="en-US" sz="1000" dirty="0"/>
              <a:t>Scope – Broadly applicable or impacting a narrow segment</a:t>
            </a:r>
          </a:p>
          <a:p>
            <a:pPr marL="114300" indent="-114300" defTabSz="912813">
              <a:buFontTx/>
              <a:buChar char="•"/>
            </a:pPr>
            <a:r>
              <a:rPr lang="en-US" sz="1000" dirty="0" smtClean="0"/>
              <a:t>Durability– </a:t>
            </a:r>
            <a:r>
              <a:rPr lang="en-US" sz="1000" dirty="0"/>
              <a:t>Ability to preserve jobs/wealth over 5-20 year time frame</a:t>
            </a:r>
          </a:p>
        </p:txBody>
      </p:sp>
      <p:sp>
        <p:nvSpPr>
          <p:cNvPr id="11" name="Rectangle 31"/>
          <p:cNvSpPr>
            <a:spLocks noChangeArrowheads="1"/>
          </p:cNvSpPr>
          <p:nvPr>
            <p:custDataLst>
              <p:tags r:id="rId5"/>
            </p:custDataLst>
          </p:nvPr>
        </p:nvSpPr>
        <p:spPr bwMode="auto">
          <a:xfrm>
            <a:off x="6527800" y="2698750"/>
            <a:ext cx="2598737" cy="1700208"/>
          </a:xfrm>
          <a:prstGeom prst="rect">
            <a:avLst/>
          </a:prstGeom>
          <a:noFill/>
          <a:ln w="9525">
            <a:noFill/>
            <a:miter lim="800000"/>
            <a:headEnd/>
            <a:tailEnd/>
          </a:ln>
        </p:spPr>
        <p:txBody>
          <a:bodyPr lIns="93296" tIns="93296" rIns="93296" bIns="93296" anchor="t"/>
          <a:lstStyle/>
          <a:p>
            <a:pPr marL="114300" indent="-114300" defTabSz="912813"/>
            <a:r>
              <a:rPr lang="en-US" sz="1000" b="1" dirty="0"/>
              <a:t>Ease of </a:t>
            </a:r>
            <a:r>
              <a:rPr lang="en-US" sz="1000" b="1" dirty="0" smtClean="0"/>
              <a:t>Implementation</a:t>
            </a:r>
            <a:endParaRPr lang="en-US" sz="1000" b="1" dirty="0"/>
          </a:p>
          <a:p>
            <a:pPr marL="114300" indent="-114300" defTabSz="912813">
              <a:buFontTx/>
              <a:buChar char="•"/>
            </a:pPr>
            <a:r>
              <a:rPr lang="en-US" sz="1000" dirty="0"/>
              <a:t>Time Frame – Time required to generate economic growth</a:t>
            </a:r>
          </a:p>
          <a:p>
            <a:pPr marL="114300" indent="-114300" defTabSz="912813">
              <a:buFontTx/>
              <a:buChar char="•"/>
            </a:pPr>
            <a:r>
              <a:rPr lang="en-US" sz="1000" dirty="0"/>
              <a:t>Cost – Investment required</a:t>
            </a:r>
          </a:p>
          <a:p>
            <a:pPr marL="114300" indent="-114300" defTabSz="912813">
              <a:buFontTx/>
              <a:buChar char="•"/>
            </a:pPr>
            <a:r>
              <a:rPr lang="en-US" sz="1000" dirty="0"/>
              <a:t>Political Feasibility – Ability to reach stakeholder agreement and long term commitment</a:t>
            </a:r>
          </a:p>
          <a:p>
            <a:pPr marL="114300" indent="-114300" defTabSz="912813">
              <a:buFontTx/>
              <a:buChar char="•"/>
            </a:pPr>
            <a:r>
              <a:rPr lang="en-US" sz="1000" dirty="0"/>
              <a:t>Technical Feasibility – Complexity of  solution and availability of local skills to implement</a:t>
            </a:r>
          </a:p>
        </p:txBody>
      </p:sp>
      <p:sp>
        <p:nvSpPr>
          <p:cNvPr id="39" name="Rectangle 31"/>
          <p:cNvSpPr>
            <a:spLocks noChangeArrowheads="1"/>
          </p:cNvSpPr>
          <p:nvPr>
            <p:custDataLst>
              <p:tags r:id="rId6"/>
            </p:custDataLst>
          </p:nvPr>
        </p:nvSpPr>
        <p:spPr bwMode="auto">
          <a:xfrm>
            <a:off x="6532563" y="4267518"/>
            <a:ext cx="2598737" cy="1892300"/>
          </a:xfrm>
          <a:prstGeom prst="rect">
            <a:avLst/>
          </a:prstGeom>
          <a:noFill/>
          <a:ln w="9525">
            <a:noFill/>
            <a:miter lim="800000"/>
            <a:headEnd/>
            <a:tailEnd/>
          </a:ln>
        </p:spPr>
        <p:txBody>
          <a:bodyPr lIns="93296" tIns="93296" rIns="93296" bIns="93296" anchor="t"/>
          <a:lstStyle/>
          <a:p>
            <a:pPr marL="114300" indent="-114300" defTabSz="912813"/>
            <a:r>
              <a:rPr lang="en-US" sz="1000" b="1" dirty="0" smtClean="0"/>
              <a:t>Interpreting this matrix</a:t>
            </a:r>
            <a:endParaRPr lang="en-US" sz="1000" b="1" dirty="0"/>
          </a:p>
          <a:p>
            <a:pPr marL="114300" indent="-114300" defTabSz="912813">
              <a:buFontTx/>
              <a:buChar char="•"/>
            </a:pPr>
            <a:r>
              <a:rPr lang="en-US" sz="1000" dirty="0" smtClean="0"/>
              <a:t>“High Impact / Less Difficult” items are recommended co-investments</a:t>
            </a:r>
          </a:p>
          <a:p>
            <a:pPr marL="114300" indent="-114300" defTabSz="912813">
              <a:buFontTx/>
              <a:buChar char="•"/>
            </a:pPr>
            <a:r>
              <a:rPr lang="en-US" sz="1000" dirty="0" smtClean="0"/>
              <a:t>“High Impact / Difficult” items are worth pursuing but likely require long-term funding or should be government led</a:t>
            </a:r>
          </a:p>
          <a:p>
            <a:pPr marL="114300" indent="-114300" defTabSz="912813">
              <a:buFontTx/>
              <a:buChar char="•"/>
            </a:pPr>
            <a:r>
              <a:rPr lang="en-US" sz="1000" dirty="0" smtClean="0"/>
              <a:t>“Low Impact / Less Difficult” items are likely to happen on their own (i.e., via private sector or existing initiatives)</a:t>
            </a:r>
          </a:p>
          <a:p>
            <a:pPr marL="114300" indent="-114300" defTabSz="912813">
              <a:buFontTx/>
              <a:buChar char="•"/>
            </a:pPr>
            <a:r>
              <a:rPr lang="en-US" sz="1000" dirty="0" smtClean="0"/>
              <a:t>“Low Impact / Difficult” items should be considered on a case-by-case basis but may not be replicable to all farmers</a:t>
            </a:r>
            <a:endParaRPr lang="en-US" sz="1000" dirty="0"/>
          </a:p>
        </p:txBody>
      </p:sp>
      <p:sp>
        <p:nvSpPr>
          <p:cNvPr id="19" name="Title 6"/>
          <p:cNvSpPr txBox="1">
            <a:spLocks/>
          </p:cNvSpPr>
          <p:nvPr/>
        </p:nvSpPr>
        <p:spPr>
          <a:xfrm>
            <a:off x="400869" y="312738"/>
            <a:ext cx="8263071" cy="1548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0" kern="1200">
                <a:solidFill>
                  <a:schemeClr val="accent1"/>
                </a:solidFill>
                <a:latin typeface="+mj-lt"/>
                <a:ea typeface="+mj-ea"/>
                <a:cs typeface="+mj-cs"/>
              </a:defRPr>
            </a:lvl1pPr>
          </a:lstStyle>
          <a:p>
            <a:r>
              <a:rPr lang="en-US" sz="2400" dirty="0" smtClean="0"/>
              <a:t>Different </a:t>
            </a:r>
            <a:r>
              <a:rPr lang="en-US" sz="2400" dirty="0" smtClean="0"/>
              <a:t>groups of farmers will need to respond in different ways</a:t>
            </a:r>
            <a:endParaRPr lang="en-US" sz="2400" dirty="0"/>
          </a:p>
        </p:txBody>
      </p:sp>
      <p:sp>
        <p:nvSpPr>
          <p:cNvPr id="22" name="Rectangle 30"/>
          <p:cNvSpPr>
            <a:spLocks noChangeArrowheads="1"/>
          </p:cNvSpPr>
          <p:nvPr>
            <p:custDataLst>
              <p:tags r:id="rId7"/>
            </p:custDataLst>
          </p:nvPr>
        </p:nvSpPr>
        <p:spPr bwMode="auto">
          <a:xfrm>
            <a:off x="136525" y="3258503"/>
            <a:ext cx="1009650" cy="292100"/>
          </a:xfrm>
          <a:prstGeom prst="rect">
            <a:avLst/>
          </a:prstGeom>
          <a:noFill/>
          <a:ln w="9525">
            <a:noFill/>
            <a:miter lim="800000"/>
            <a:headEnd/>
            <a:tailEnd/>
          </a:ln>
        </p:spPr>
        <p:txBody>
          <a:bodyPr lIns="93296" tIns="93296" rIns="93296" bIns="93296" anchor="ctr"/>
          <a:lstStyle/>
          <a:p>
            <a:pPr marL="114300" indent="-114300" defTabSz="912813"/>
            <a:r>
              <a:rPr lang="en-US" sz="1100" b="1" dirty="0">
                <a:solidFill>
                  <a:schemeClr val="accent1"/>
                </a:solidFill>
              </a:rPr>
              <a:t>Potential impact</a:t>
            </a:r>
          </a:p>
        </p:txBody>
      </p:sp>
      <p:cxnSp>
        <p:nvCxnSpPr>
          <p:cNvPr id="23" name="Straight Connector 22"/>
          <p:cNvCxnSpPr>
            <a:stCxn id="29" idx="2"/>
          </p:cNvCxnSpPr>
          <p:nvPr/>
        </p:nvCxnSpPr>
        <p:spPr bwMode="auto">
          <a:xfrm flipH="1" flipV="1">
            <a:off x="3632836" y="1257301"/>
            <a:ext cx="10434" cy="450519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sp>
        <p:nvSpPr>
          <p:cNvPr id="24" name="Rectangle 17"/>
          <p:cNvSpPr>
            <a:spLocks noChangeArrowheads="1"/>
          </p:cNvSpPr>
          <p:nvPr>
            <p:custDataLst>
              <p:tags r:id="rId8"/>
            </p:custDataLst>
          </p:nvPr>
        </p:nvSpPr>
        <p:spPr bwMode="auto">
          <a:xfrm>
            <a:off x="508000" y="1333183"/>
            <a:ext cx="590550" cy="385762"/>
          </a:xfrm>
          <a:prstGeom prst="rect">
            <a:avLst/>
          </a:prstGeom>
          <a:noFill/>
          <a:ln w="9525">
            <a:noFill/>
            <a:miter lim="800000"/>
            <a:headEnd/>
            <a:tailEnd/>
          </a:ln>
        </p:spPr>
        <p:txBody>
          <a:bodyPr lIns="93296" tIns="93296" rIns="93296" bIns="93296" anchor="ctr"/>
          <a:lstStyle/>
          <a:p>
            <a:pPr defTabSz="912813"/>
            <a:r>
              <a:rPr lang="en-US" sz="1100" b="1">
                <a:solidFill>
                  <a:schemeClr val="accent1"/>
                </a:solidFill>
              </a:rPr>
              <a:t>High</a:t>
            </a:r>
            <a:endParaRPr lang="en-US" sz="1100">
              <a:solidFill>
                <a:schemeClr val="accent1"/>
              </a:solidFill>
            </a:endParaRPr>
          </a:p>
        </p:txBody>
      </p:sp>
      <p:sp>
        <p:nvSpPr>
          <p:cNvPr id="25" name="Rectangle 18"/>
          <p:cNvSpPr>
            <a:spLocks noChangeArrowheads="1"/>
          </p:cNvSpPr>
          <p:nvPr>
            <p:custDataLst>
              <p:tags r:id="rId9"/>
            </p:custDataLst>
          </p:nvPr>
        </p:nvSpPr>
        <p:spPr bwMode="auto">
          <a:xfrm>
            <a:off x="555625" y="5385118"/>
            <a:ext cx="590550" cy="385762"/>
          </a:xfrm>
          <a:prstGeom prst="rect">
            <a:avLst/>
          </a:prstGeom>
          <a:noFill/>
          <a:ln w="9525">
            <a:noFill/>
            <a:miter lim="800000"/>
            <a:headEnd/>
            <a:tailEnd/>
          </a:ln>
        </p:spPr>
        <p:txBody>
          <a:bodyPr lIns="93296" tIns="93296" rIns="93296" bIns="93296" anchor="ctr"/>
          <a:lstStyle/>
          <a:p>
            <a:pPr defTabSz="912813"/>
            <a:r>
              <a:rPr lang="en-US" sz="1100" b="1">
                <a:solidFill>
                  <a:schemeClr val="accent1"/>
                </a:solidFill>
              </a:rPr>
              <a:t>Low</a:t>
            </a:r>
            <a:endParaRPr lang="en-US" sz="1100">
              <a:solidFill>
                <a:schemeClr val="accent1"/>
              </a:solidFill>
            </a:endParaRPr>
          </a:p>
        </p:txBody>
      </p:sp>
      <p:sp>
        <p:nvSpPr>
          <p:cNvPr id="26" name="Rectangle 19"/>
          <p:cNvSpPr>
            <a:spLocks noChangeArrowheads="1"/>
          </p:cNvSpPr>
          <p:nvPr>
            <p:custDataLst>
              <p:tags r:id="rId10"/>
            </p:custDataLst>
          </p:nvPr>
        </p:nvSpPr>
        <p:spPr bwMode="auto">
          <a:xfrm>
            <a:off x="1067753" y="5643245"/>
            <a:ext cx="801687" cy="384175"/>
          </a:xfrm>
          <a:prstGeom prst="rect">
            <a:avLst/>
          </a:prstGeom>
          <a:noFill/>
          <a:ln w="9525">
            <a:noFill/>
            <a:miter lim="800000"/>
            <a:headEnd/>
            <a:tailEnd/>
          </a:ln>
        </p:spPr>
        <p:txBody>
          <a:bodyPr lIns="93296" tIns="93296" rIns="93296" bIns="93296" anchor="ctr"/>
          <a:lstStyle/>
          <a:p>
            <a:pPr defTabSz="912813"/>
            <a:r>
              <a:rPr lang="en-US" sz="1100" b="1" dirty="0">
                <a:solidFill>
                  <a:schemeClr val="accent1"/>
                </a:solidFill>
              </a:rPr>
              <a:t>Difficult</a:t>
            </a:r>
            <a:endParaRPr lang="en-US" sz="1100" dirty="0">
              <a:solidFill>
                <a:schemeClr val="accent1"/>
              </a:solidFill>
            </a:endParaRPr>
          </a:p>
        </p:txBody>
      </p:sp>
      <p:sp>
        <p:nvSpPr>
          <p:cNvPr id="27" name="Rectangle 20"/>
          <p:cNvSpPr>
            <a:spLocks noChangeArrowheads="1"/>
          </p:cNvSpPr>
          <p:nvPr>
            <p:custDataLst>
              <p:tags r:id="rId11"/>
            </p:custDataLst>
          </p:nvPr>
        </p:nvSpPr>
        <p:spPr bwMode="auto">
          <a:xfrm>
            <a:off x="5287328" y="5662295"/>
            <a:ext cx="1517650" cy="385763"/>
          </a:xfrm>
          <a:prstGeom prst="rect">
            <a:avLst/>
          </a:prstGeom>
          <a:noFill/>
          <a:ln w="9525">
            <a:noFill/>
            <a:miter lim="800000"/>
            <a:headEnd/>
            <a:tailEnd/>
          </a:ln>
        </p:spPr>
        <p:txBody>
          <a:bodyPr lIns="93296" tIns="93296" rIns="93296" bIns="93296" anchor="ctr"/>
          <a:lstStyle/>
          <a:p>
            <a:pPr defTabSz="912813"/>
            <a:r>
              <a:rPr lang="en-US" sz="1100" b="1">
                <a:solidFill>
                  <a:schemeClr val="accent1"/>
                </a:solidFill>
              </a:rPr>
              <a:t>Less Difficult</a:t>
            </a:r>
            <a:endParaRPr lang="en-US" sz="1100">
              <a:solidFill>
                <a:schemeClr val="accent1"/>
              </a:solidFill>
            </a:endParaRPr>
          </a:p>
        </p:txBody>
      </p:sp>
      <p:sp>
        <p:nvSpPr>
          <p:cNvPr id="28" name="Rectangle 29"/>
          <p:cNvSpPr>
            <a:spLocks noChangeArrowheads="1"/>
          </p:cNvSpPr>
          <p:nvPr>
            <p:custDataLst>
              <p:tags r:id="rId12"/>
            </p:custDataLst>
          </p:nvPr>
        </p:nvSpPr>
        <p:spPr bwMode="auto">
          <a:xfrm>
            <a:off x="2822575" y="5908675"/>
            <a:ext cx="2038350" cy="290513"/>
          </a:xfrm>
          <a:prstGeom prst="rect">
            <a:avLst/>
          </a:prstGeom>
          <a:noFill/>
          <a:ln w="9525">
            <a:noFill/>
            <a:miter lim="800000"/>
            <a:headEnd/>
            <a:tailEnd/>
          </a:ln>
        </p:spPr>
        <p:txBody>
          <a:bodyPr lIns="93296" tIns="93296" rIns="93296" bIns="93296" anchor="ctr"/>
          <a:lstStyle/>
          <a:p>
            <a:pPr marL="114300" indent="-114300" defTabSz="912813"/>
            <a:r>
              <a:rPr lang="en-US" sz="1100" b="1" dirty="0">
                <a:solidFill>
                  <a:schemeClr val="accent1"/>
                </a:solidFill>
              </a:rPr>
              <a:t>Ease of implementation</a:t>
            </a:r>
          </a:p>
        </p:txBody>
      </p:sp>
      <p:graphicFrame>
        <p:nvGraphicFramePr>
          <p:cNvPr id="29" name="Object 28"/>
          <p:cNvGraphicFramePr>
            <a:graphicFrameLocks noChangeAspect="1"/>
          </p:cNvGraphicFramePr>
          <p:nvPr>
            <p:custDataLst>
              <p:tags r:id="rId13"/>
            </p:custDataLst>
            <p:extLst>
              <p:ext uri="{D42A27DB-BD31-4B8C-83A1-F6EECF244321}">
                <p14:modId xmlns:p14="http://schemas.microsoft.com/office/powerpoint/2010/main" val="3171864834"/>
              </p:ext>
            </p:extLst>
          </p:nvPr>
        </p:nvGraphicFramePr>
        <p:xfrm>
          <a:off x="952500" y="1257300"/>
          <a:ext cx="5381541" cy="4505191"/>
        </p:xfrm>
        <a:graphic>
          <a:graphicData uri="http://schemas.openxmlformats.org/presentationml/2006/ole">
            <mc:AlternateContent xmlns:mc="http://schemas.openxmlformats.org/markup-compatibility/2006">
              <mc:Choice xmlns:v="urn:schemas-microsoft-com:vml" Requires="v">
                <p:oleObj spid="_x0000_s35676" name="Chart" r:id="rId36" imgW="5381541" imgH="4505191" progId="MSGraph.Chart.8">
                  <p:embed followColorScheme="full"/>
                </p:oleObj>
              </mc:Choice>
              <mc:Fallback>
                <p:oleObj name="Chart" r:id="rId36" imgW="5381541" imgH="4505191" progId="MSGraph.Chart.8">
                  <p:embed followColorScheme="full"/>
                  <p:pic>
                    <p:nvPicPr>
                      <p:cNvPr id="0" name=""/>
                      <p:cNvPicPr>
                        <a:picLocks noChangeAspect="1" noChangeArrowheads="1"/>
                      </p:cNvPicPr>
                      <p:nvPr/>
                    </p:nvPicPr>
                    <p:blipFill>
                      <a:blip r:embed="rId37"/>
                      <a:srcRect/>
                      <a:stretch>
                        <a:fillRect/>
                      </a:stretch>
                    </p:blipFill>
                    <p:spPr bwMode="auto">
                      <a:xfrm>
                        <a:off x="952500" y="1257300"/>
                        <a:ext cx="5381541" cy="45051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38" name="Straight Connector 137"/>
          <p:cNvCxnSpPr/>
          <p:nvPr>
            <p:custDataLst>
              <p:tags r:id="rId14"/>
            </p:custDataLst>
          </p:nvPr>
        </p:nvCxnSpPr>
        <p:spPr bwMode="auto">
          <a:xfrm flipH="1" flipV="1">
            <a:off x="2414588" y="3432175"/>
            <a:ext cx="117475" cy="61913"/>
          </a:xfrm>
          <a:prstGeom prst="line">
            <a:avLst/>
          </a:prstGeom>
          <a:ln w="63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6" name="Text Placeholder 34"/>
          <p:cNvSpPr>
            <a:spLocks noGrp="1"/>
          </p:cNvSpPr>
          <p:nvPr>
            <p:custDataLst>
              <p:tags r:id="rId15"/>
            </p:custDataLst>
          </p:nvPr>
        </p:nvSpPr>
        <p:spPr bwMode="gray">
          <a:xfrm>
            <a:off x="2035175" y="3494088"/>
            <a:ext cx="1284288"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6C1C1DB9-91FE-4D24-BD63-85AD6A32AF04}" type="datetime'''''''Harves''''''ti''n''g'''' te''''''c''hn''olog''y'''">
              <a:rPr lang="en-US" sz="1000">
                <a:solidFill>
                  <a:schemeClr val="accent1"/>
                </a:solidFill>
              </a:rPr>
              <a:pPr/>
              <a:t>Harvesting technology</a:t>
            </a:fld>
            <a:endParaRPr lang="en-US" sz="1000" dirty="0">
              <a:solidFill>
                <a:schemeClr val="accent1"/>
              </a:solidFill>
              <a:latin typeface="Arial"/>
              <a:sym typeface="Arial"/>
            </a:endParaRPr>
          </a:p>
        </p:txBody>
      </p:sp>
      <p:sp>
        <p:nvSpPr>
          <p:cNvPr id="97" name="Text Placeholder 35"/>
          <p:cNvSpPr>
            <a:spLocks noGrp="1"/>
          </p:cNvSpPr>
          <p:nvPr>
            <p:custDataLst>
              <p:tags r:id="rId16"/>
            </p:custDataLst>
          </p:nvPr>
        </p:nvSpPr>
        <p:spPr bwMode="gray">
          <a:xfrm>
            <a:off x="2201863" y="4457700"/>
            <a:ext cx="1468438"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8D8E43CB-2945-40B0-A6FC-666183FB9576}" type="datetime'W''''''a''s''''''t''''ew''a''ter ''c''omp''''''lian''''''c''e'">
              <a:rPr lang="en-US" sz="1000" b="1">
                <a:solidFill>
                  <a:schemeClr val="accent1"/>
                </a:solidFill>
                <a:latin typeface="Arial"/>
                <a:sym typeface="Arial"/>
              </a:rPr>
              <a:pPr marL="0" indent="0">
                <a:spcBef>
                  <a:spcPct val="0"/>
                </a:spcBef>
                <a:spcAft>
                  <a:spcPct val="0"/>
                </a:spcAft>
                <a:buNone/>
              </a:pPr>
              <a:t>Wastewater compliance</a:t>
            </a:fld>
            <a:endParaRPr lang="en-US" sz="1000" b="1" dirty="0">
              <a:solidFill>
                <a:schemeClr val="accent1"/>
              </a:solidFill>
              <a:latin typeface="Arial"/>
              <a:sym typeface="Arial"/>
            </a:endParaRPr>
          </a:p>
        </p:txBody>
      </p:sp>
      <p:sp>
        <p:nvSpPr>
          <p:cNvPr id="98" name="Text Placeholder 36"/>
          <p:cNvSpPr>
            <a:spLocks noGrp="1"/>
          </p:cNvSpPr>
          <p:nvPr>
            <p:custDataLst>
              <p:tags r:id="rId17"/>
            </p:custDataLst>
          </p:nvPr>
        </p:nvSpPr>
        <p:spPr bwMode="gray">
          <a:xfrm>
            <a:off x="2435225" y="4238625"/>
            <a:ext cx="1192213"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9E2E35E7-5DE4-48F0-AC05-985E185D39BE}" type="datetime'''''''Ro''bu''''''''sta int''''''''r''o''duc''t''''''io''n'">
              <a:rPr lang="en-US" sz="1000">
                <a:solidFill>
                  <a:schemeClr val="accent1"/>
                </a:solidFill>
                <a:latin typeface="Arial"/>
                <a:sym typeface="Arial"/>
              </a:rPr>
              <a:pPr marL="0" indent="0">
                <a:spcBef>
                  <a:spcPct val="0"/>
                </a:spcBef>
                <a:spcAft>
                  <a:spcPct val="0"/>
                </a:spcAft>
                <a:buNone/>
              </a:pPr>
              <a:t>Robusta introduction</a:t>
            </a:fld>
            <a:endParaRPr lang="en-US" sz="1000" dirty="0">
              <a:solidFill>
                <a:schemeClr val="accent1"/>
              </a:solidFill>
              <a:latin typeface="Arial"/>
              <a:sym typeface="Arial"/>
            </a:endParaRPr>
          </a:p>
        </p:txBody>
      </p:sp>
      <p:sp>
        <p:nvSpPr>
          <p:cNvPr id="94" name="Text Placeholder 32"/>
          <p:cNvSpPr>
            <a:spLocks noGrp="1"/>
          </p:cNvSpPr>
          <p:nvPr>
            <p:custDataLst>
              <p:tags r:id="rId18"/>
            </p:custDataLst>
          </p:nvPr>
        </p:nvSpPr>
        <p:spPr bwMode="gray">
          <a:xfrm>
            <a:off x="3206750" y="2876550"/>
            <a:ext cx="1133475"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98F73B5E-AB5E-4784-ADC1-FB425ABB0EBD}" type="datetime'Fa''''''rm d''''''''iversif''''''''ic''''''ati''o''''n'''''">
              <a:rPr lang="en-US" sz="1000">
                <a:solidFill>
                  <a:schemeClr val="accent1"/>
                </a:solidFill>
                <a:latin typeface="Arial"/>
                <a:sym typeface="Arial"/>
              </a:rPr>
              <a:pPr marL="0" indent="0">
                <a:spcBef>
                  <a:spcPct val="0"/>
                </a:spcBef>
                <a:spcAft>
                  <a:spcPct val="0"/>
                </a:spcAft>
                <a:buNone/>
              </a:pPr>
              <a:t>Farm diversification</a:t>
            </a:fld>
            <a:endParaRPr lang="en-US" sz="1000" dirty="0">
              <a:solidFill>
                <a:schemeClr val="accent1"/>
              </a:solidFill>
              <a:latin typeface="Arial"/>
              <a:sym typeface="Arial"/>
            </a:endParaRPr>
          </a:p>
        </p:txBody>
      </p:sp>
      <p:sp>
        <p:nvSpPr>
          <p:cNvPr id="63" name="Text Placeholder 8"/>
          <p:cNvSpPr>
            <a:spLocks noGrp="1"/>
          </p:cNvSpPr>
          <p:nvPr>
            <p:custDataLst>
              <p:tags r:id="rId19"/>
            </p:custDataLst>
          </p:nvPr>
        </p:nvSpPr>
        <p:spPr bwMode="gray">
          <a:xfrm>
            <a:off x="4749800" y="2647950"/>
            <a:ext cx="722313"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4063479C-A767-4725-ACA7-243BF48EAF5B}" type="datetime'R''''''e''n''''''o''''''''v''''''a''''t''i''on'''''">
              <a:rPr lang="en-US" sz="1000" smtClean="0">
                <a:solidFill>
                  <a:schemeClr val="accent1"/>
                </a:solidFill>
                <a:latin typeface="Arial"/>
                <a:sym typeface="Arial"/>
              </a:rPr>
              <a:pPr marL="0" indent="0">
                <a:spcBef>
                  <a:spcPct val="0"/>
                </a:spcBef>
                <a:spcAft>
                  <a:spcPct val="0"/>
                </a:spcAft>
                <a:buNone/>
              </a:pPr>
              <a:t>Renovation</a:t>
            </a:fld>
            <a:r>
              <a:rPr lang="en-US" sz="1000" dirty="0" smtClean="0">
                <a:solidFill>
                  <a:schemeClr val="accent1"/>
                </a:solidFill>
                <a:latin typeface="Arial"/>
                <a:sym typeface="Arial"/>
              </a:rPr>
              <a:t>*</a:t>
            </a:r>
            <a:endParaRPr lang="en-US" sz="1000" dirty="0">
              <a:solidFill>
                <a:schemeClr val="accent1"/>
              </a:solidFill>
              <a:latin typeface="Arial"/>
              <a:sym typeface="Arial"/>
            </a:endParaRPr>
          </a:p>
        </p:txBody>
      </p:sp>
      <p:sp>
        <p:nvSpPr>
          <p:cNvPr id="62" name="Text Placeholder 7"/>
          <p:cNvSpPr>
            <a:spLocks noGrp="1"/>
          </p:cNvSpPr>
          <p:nvPr>
            <p:custDataLst>
              <p:tags r:id="rId20"/>
            </p:custDataLst>
          </p:nvPr>
        </p:nvSpPr>
        <p:spPr bwMode="gray">
          <a:xfrm>
            <a:off x="4773613" y="1971675"/>
            <a:ext cx="1119188"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4860D9F8-516E-42B0-B46D-8566FEDD6109}" type="datetime'''A''gr''''''''''ono''m''''''''''''''y'''' /'' GA''Ps'''">
              <a:rPr lang="en-US" sz="1000" b="1">
                <a:solidFill>
                  <a:schemeClr val="accent1"/>
                </a:solidFill>
              </a:rPr>
              <a:pPr/>
              <a:t>Agronomy / GAPs</a:t>
            </a:fld>
            <a:endParaRPr lang="en-US" sz="1000" b="1" dirty="0">
              <a:solidFill>
                <a:schemeClr val="accent1"/>
              </a:solidFill>
              <a:sym typeface="+mn-lt"/>
            </a:endParaRPr>
          </a:p>
        </p:txBody>
      </p:sp>
      <p:sp>
        <p:nvSpPr>
          <p:cNvPr id="67" name="Text Placeholder 9"/>
          <p:cNvSpPr>
            <a:spLocks noGrp="1"/>
          </p:cNvSpPr>
          <p:nvPr>
            <p:custDataLst>
              <p:tags r:id="rId21"/>
            </p:custDataLst>
          </p:nvPr>
        </p:nvSpPr>
        <p:spPr bwMode="gray">
          <a:xfrm>
            <a:off x="4271963" y="3497263"/>
            <a:ext cx="1344613"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41581B9A-F750-4C20-BF67-7DF50140C034}" type="datetime'Qua''l''''''ity di''ffer''''''''''''e''nt''''i''ati''''on'''''">
              <a:rPr lang="en-US" sz="1000" b="1">
                <a:solidFill>
                  <a:schemeClr val="accent1"/>
                </a:solidFill>
                <a:latin typeface="Arial"/>
                <a:sym typeface="Arial"/>
              </a:rPr>
              <a:pPr marL="0" indent="0">
                <a:spcBef>
                  <a:spcPct val="0"/>
                </a:spcBef>
                <a:spcAft>
                  <a:spcPct val="0"/>
                </a:spcAft>
                <a:buNone/>
              </a:pPr>
              <a:t>Quality differentiation</a:t>
            </a:fld>
            <a:endParaRPr lang="en-US" sz="1000" b="1" dirty="0">
              <a:solidFill>
                <a:schemeClr val="accent1"/>
              </a:solidFill>
              <a:latin typeface="Arial"/>
              <a:sym typeface="Arial"/>
            </a:endParaRPr>
          </a:p>
        </p:txBody>
      </p:sp>
      <p:sp>
        <p:nvSpPr>
          <p:cNvPr id="76" name="Text Placeholder 24"/>
          <p:cNvSpPr>
            <a:spLocks noGrp="1"/>
          </p:cNvSpPr>
          <p:nvPr>
            <p:custDataLst>
              <p:tags r:id="rId22"/>
            </p:custDataLst>
          </p:nvPr>
        </p:nvSpPr>
        <p:spPr bwMode="gray">
          <a:xfrm>
            <a:off x="3821113" y="4378325"/>
            <a:ext cx="703263" cy="3048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0471B20B-0D26-45C0-9825-106751D301F2}" type="datetime'C''ert''i''''''''''''f''icat''''i''''on&#10;e''''x''pansion'">
              <a:rPr lang="en-US" sz="1000">
                <a:solidFill>
                  <a:schemeClr val="accent1"/>
                </a:solidFill>
              </a:rPr>
              <a:pPr/>
              <a:t>Certification
expansion</a:t>
            </a:fld>
            <a:endParaRPr lang="en-US" sz="1000" dirty="0">
              <a:solidFill>
                <a:schemeClr val="accent1"/>
              </a:solidFill>
              <a:latin typeface="Arial"/>
              <a:sym typeface="Arial"/>
            </a:endParaRPr>
          </a:p>
        </p:txBody>
      </p:sp>
      <p:sp>
        <p:nvSpPr>
          <p:cNvPr id="83" name="Text Placeholder 26"/>
          <p:cNvSpPr>
            <a:spLocks noGrp="1"/>
          </p:cNvSpPr>
          <p:nvPr>
            <p:custDataLst>
              <p:tags r:id="rId23"/>
            </p:custDataLst>
          </p:nvPr>
        </p:nvSpPr>
        <p:spPr bwMode="gray">
          <a:xfrm>
            <a:off x="4562475" y="4826000"/>
            <a:ext cx="1277938"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F4700476-6B00-446C-B1CD-D080220184C9}" type="datetime'''''''B''rand''''''i''n''''g'''' /'' tr''''a''dem''''arks'''''">
              <a:rPr lang="en-US" sz="1000">
                <a:solidFill>
                  <a:schemeClr val="accent1"/>
                </a:solidFill>
              </a:rPr>
              <a:pPr/>
              <a:t>Branding / trademarks</a:t>
            </a:fld>
            <a:endParaRPr lang="en-US" sz="1000" dirty="0">
              <a:solidFill>
                <a:schemeClr val="accent1"/>
              </a:solidFill>
              <a:latin typeface="Arial"/>
              <a:sym typeface="Arial"/>
            </a:endParaRPr>
          </a:p>
        </p:txBody>
      </p:sp>
      <p:sp>
        <p:nvSpPr>
          <p:cNvPr id="78" name="Text Placeholder 25"/>
          <p:cNvSpPr>
            <a:spLocks noGrp="1"/>
          </p:cNvSpPr>
          <p:nvPr>
            <p:custDataLst>
              <p:tags r:id="rId24"/>
            </p:custDataLst>
          </p:nvPr>
        </p:nvSpPr>
        <p:spPr bwMode="gray">
          <a:xfrm>
            <a:off x="5289550" y="4378325"/>
            <a:ext cx="850900" cy="3048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FACB10C9-700E-47DD-887A-D70A183DD6C0}" type="datetime'B''an p''''roh''i''b''i''ted''''&#10;agro''c''he''''m''ic''als'">
              <a:rPr lang="en-US" sz="1000">
                <a:solidFill>
                  <a:schemeClr val="accent1"/>
                </a:solidFill>
              </a:rPr>
              <a:pPr/>
              <a:t>Ban prohibited
agrochemicals</a:t>
            </a:fld>
            <a:endParaRPr lang="en-US" sz="1000" dirty="0">
              <a:solidFill>
                <a:schemeClr val="accent1"/>
              </a:solidFill>
              <a:latin typeface="Arial"/>
              <a:sym typeface="Arial"/>
            </a:endParaRPr>
          </a:p>
        </p:txBody>
      </p:sp>
      <p:sp>
        <p:nvSpPr>
          <p:cNvPr id="95" name="Text Placeholder 33"/>
          <p:cNvSpPr>
            <a:spLocks noGrp="1"/>
          </p:cNvSpPr>
          <p:nvPr>
            <p:custDataLst>
              <p:tags r:id="rId25"/>
            </p:custDataLst>
          </p:nvPr>
        </p:nvSpPr>
        <p:spPr bwMode="gray">
          <a:xfrm>
            <a:off x="2163763" y="2857500"/>
            <a:ext cx="658813"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5EB41A10-2287-4005-A2FC-358F14D87A95}" type="datetime'''''''''''''''''''I''''''''''np''u''t'' c''''re''''''di''t'''">
              <a:rPr lang="en-US" sz="1000">
                <a:solidFill>
                  <a:schemeClr val="accent1"/>
                </a:solidFill>
                <a:latin typeface="Arial"/>
                <a:sym typeface="Arial"/>
              </a:rPr>
              <a:pPr marL="0" indent="0">
                <a:spcBef>
                  <a:spcPct val="0"/>
                </a:spcBef>
                <a:spcAft>
                  <a:spcPct val="0"/>
                </a:spcAft>
                <a:buNone/>
              </a:pPr>
              <a:t>Input credit</a:t>
            </a:fld>
            <a:endParaRPr lang="en-US" sz="1000" dirty="0">
              <a:solidFill>
                <a:schemeClr val="accent1"/>
              </a:solidFill>
              <a:latin typeface="Arial"/>
              <a:sym typeface="Arial"/>
            </a:endParaRPr>
          </a:p>
        </p:txBody>
      </p:sp>
      <p:sp>
        <p:nvSpPr>
          <p:cNvPr id="71" name="Text Placeholder 21"/>
          <p:cNvSpPr>
            <a:spLocks noGrp="1"/>
          </p:cNvSpPr>
          <p:nvPr>
            <p:custDataLst>
              <p:tags r:id="rId26"/>
            </p:custDataLst>
          </p:nvPr>
        </p:nvSpPr>
        <p:spPr bwMode="gray">
          <a:xfrm>
            <a:off x="4235450" y="3781425"/>
            <a:ext cx="1314450"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1D21A9EF-9DC9-465E-AA50-44A05C5EA940}" type="datetime'''''''''''Do''''''''m''es''tic'''''' ''c''o''''n''s''umption'">
              <a:rPr lang="en-US" sz="1000">
                <a:solidFill>
                  <a:schemeClr val="accent1"/>
                </a:solidFill>
              </a:rPr>
              <a:pPr/>
              <a:t>Domestic consumption</a:t>
            </a:fld>
            <a:endParaRPr lang="en-US" sz="1000" dirty="0">
              <a:solidFill>
                <a:schemeClr val="accent1"/>
              </a:solidFill>
              <a:latin typeface="Arial"/>
              <a:sym typeface="Arial"/>
            </a:endParaRPr>
          </a:p>
        </p:txBody>
      </p:sp>
      <p:sp>
        <p:nvSpPr>
          <p:cNvPr id="99" name="Text Placeholder 37"/>
          <p:cNvSpPr>
            <a:spLocks noGrp="1"/>
          </p:cNvSpPr>
          <p:nvPr>
            <p:custDataLst>
              <p:tags r:id="rId27"/>
            </p:custDataLst>
          </p:nvPr>
        </p:nvSpPr>
        <p:spPr bwMode="gray">
          <a:xfrm>
            <a:off x="3206750" y="4010025"/>
            <a:ext cx="1230313"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A70E7A51-4A79-41C8-8C1B-F0BAF0E32177}" type="datetime'''Farme''''r'' ''orga''n''iza''''''''''''t''''''i''ons'''">
              <a:rPr lang="en-US" sz="1000">
                <a:solidFill>
                  <a:schemeClr val="accent1"/>
                </a:solidFill>
              </a:rPr>
              <a:pPr/>
              <a:t>Farmer organizations</a:t>
            </a:fld>
            <a:endParaRPr lang="en-US" sz="1000" dirty="0">
              <a:solidFill>
                <a:schemeClr val="accent1"/>
              </a:solidFill>
              <a:latin typeface="Arial"/>
              <a:sym typeface="Arial"/>
            </a:endParaRPr>
          </a:p>
        </p:txBody>
      </p:sp>
      <p:sp>
        <p:nvSpPr>
          <p:cNvPr id="93" name="Text Placeholder 31"/>
          <p:cNvSpPr>
            <a:spLocks noGrp="1"/>
          </p:cNvSpPr>
          <p:nvPr>
            <p:custDataLst>
              <p:tags r:id="rId28"/>
            </p:custDataLst>
          </p:nvPr>
        </p:nvSpPr>
        <p:spPr bwMode="gray">
          <a:xfrm>
            <a:off x="3200400" y="2484438"/>
            <a:ext cx="914400"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FB2A08A4-115F-491C-98C6-5687D63D1FD8}" type="datetime'Cen''t''''r''''''al'''' mi''''ll''''''''''''''i''''ng'''''">
              <a:rPr lang="en-US" sz="1000" b="1">
                <a:solidFill>
                  <a:schemeClr val="accent1"/>
                </a:solidFill>
                <a:latin typeface="Arial"/>
                <a:sym typeface="Arial"/>
              </a:rPr>
              <a:pPr marL="0" indent="0">
                <a:spcBef>
                  <a:spcPct val="0"/>
                </a:spcBef>
                <a:spcAft>
                  <a:spcPct val="0"/>
                </a:spcAft>
                <a:buNone/>
              </a:pPr>
              <a:t>Central milling</a:t>
            </a:fld>
            <a:endParaRPr lang="en-US" sz="1000" b="1" dirty="0">
              <a:solidFill>
                <a:schemeClr val="accent1"/>
              </a:solidFill>
              <a:latin typeface="Arial"/>
              <a:sym typeface="Arial"/>
            </a:endParaRPr>
          </a:p>
        </p:txBody>
      </p:sp>
      <p:sp>
        <p:nvSpPr>
          <p:cNvPr id="90" name="Text Placeholder 28"/>
          <p:cNvSpPr>
            <a:spLocks noGrp="1"/>
          </p:cNvSpPr>
          <p:nvPr>
            <p:custDataLst>
              <p:tags r:id="rId29"/>
            </p:custDataLst>
          </p:nvPr>
        </p:nvSpPr>
        <p:spPr bwMode="gray">
          <a:xfrm>
            <a:off x="1663700" y="2200275"/>
            <a:ext cx="1074738" cy="152400"/>
          </a:xfrm>
          <a:prstGeom prst="rect">
            <a:avLst/>
          </a:prstGeom>
          <a:noFill/>
          <a:extLst>
            <a:ext uri="{909E8E84-426E-40DD-AFC4-6F175D3DCCD1}">
              <a14:hiddenFill xmlns:a14="http://schemas.microsoft.com/office/drawing/2010/main">
                <a:solidFill>
                  <a:scrgbClr r="0" g="0" b="0"/>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87CB59E2-7BB5-4F8C-97F6-64C026B01A2B}" type="datetime'I''n''s''''''t''''''''it''''''ut''ion''''al ''refo''r''''m'''">
              <a:rPr lang="en-US" sz="1000">
                <a:solidFill>
                  <a:schemeClr val="accent1"/>
                </a:solidFill>
                <a:latin typeface="Arial"/>
                <a:sym typeface="Arial"/>
              </a:rPr>
              <a:pPr marL="0" indent="0">
                <a:spcBef>
                  <a:spcPct val="0"/>
                </a:spcBef>
                <a:spcAft>
                  <a:spcPct val="0"/>
                </a:spcAft>
                <a:buNone/>
              </a:pPr>
              <a:t>Institutional reform</a:t>
            </a:fld>
            <a:endParaRPr lang="en-US" sz="1000" dirty="0">
              <a:solidFill>
                <a:schemeClr val="accent1"/>
              </a:solidFill>
              <a:latin typeface="Arial"/>
              <a:sym typeface="Arial"/>
            </a:endParaRPr>
          </a:p>
        </p:txBody>
      </p:sp>
      <p:sp>
        <p:nvSpPr>
          <p:cNvPr id="89" name="Text Placeholder 27"/>
          <p:cNvSpPr>
            <a:spLocks noGrp="1"/>
          </p:cNvSpPr>
          <p:nvPr>
            <p:custDataLst>
              <p:tags r:id="rId30"/>
            </p:custDataLst>
          </p:nvPr>
        </p:nvSpPr>
        <p:spPr bwMode="gray">
          <a:xfrm>
            <a:off x="1663700" y="1743075"/>
            <a:ext cx="787400" cy="152400"/>
          </a:xfrm>
          <a:prstGeom prst="rect">
            <a:avLst/>
          </a:prstGeom>
          <a:noFill/>
          <a:extLst>
            <a:ext uri="{909E8E84-426E-40DD-AFC4-6F175D3DCCD1}">
              <a14:hiddenFill xmlns:a14="http://schemas.microsoft.com/office/drawing/2010/main">
                <a:solidFill>
                  <a:scrgbClr r="0" g="0" b="0"/>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1A1C1182-8D82-4CD0-848A-EE68E1C413FA}" type="datetime'''P''''ric''''''e'''''' ''s''''''''u''''bs''id''''y'''''''">
              <a:rPr lang="en-US" sz="1000">
                <a:solidFill>
                  <a:schemeClr val="accent1"/>
                </a:solidFill>
                <a:latin typeface="Arial"/>
                <a:sym typeface="Arial"/>
              </a:rPr>
              <a:pPr marL="0" indent="0">
                <a:spcBef>
                  <a:spcPct val="0"/>
                </a:spcBef>
                <a:spcAft>
                  <a:spcPct val="0"/>
                </a:spcAft>
                <a:buNone/>
              </a:pPr>
              <a:t>Price subsidy</a:t>
            </a:fld>
            <a:endParaRPr lang="en-US" sz="1000" dirty="0">
              <a:solidFill>
                <a:schemeClr val="accent1"/>
              </a:solidFill>
              <a:latin typeface="Arial"/>
              <a:sym typeface="Arial"/>
            </a:endParaRPr>
          </a:p>
        </p:txBody>
      </p:sp>
      <p:sp>
        <p:nvSpPr>
          <p:cNvPr id="91" name="Text Placeholder 29"/>
          <p:cNvSpPr>
            <a:spLocks noGrp="1"/>
          </p:cNvSpPr>
          <p:nvPr>
            <p:custDataLst>
              <p:tags r:id="rId31"/>
            </p:custDataLst>
          </p:nvPr>
        </p:nvSpPr>
        <p:spPr bwMode="gray">
          <a:xfrm>
            <a:off x="1090613" y="3016250"/>
            <a:ext cx="1103313" cy="152400"/>
          </a:xfrm>
          <a:prstGeom prst="rect">
            <a:avLst/>
          </a:prstGeom>
          <a:noFill/>
          <a:extLst>
            <a:ext uri="{909E8E84-426E-40DD-AFC4-6F175D3DCCD1}">
              <a14:hiddenFill xmlns:a14="http://schemas.microsoft.com/office/drawing/2010/main">
                <a:solidFill>
                  <a:schemeClr val="accent1"/>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E72519A2-8D01-4163-A3CA-4B3E983B9987}" type="datetime'''''''''F''a''''''rm'' cons''''''''''''o''''li''''da''''tion'">
              <a:rPr lang="en-US" sz="1000">
                <a:solidFill>
                  <a:schemeClr val="accent1"/>
                </a:solidFill>
                <a:latin typeface="Arial"/>
                <a:sym typeface="Arial"/>
              </a:rPr>
              <a:pPr marL="0" indent="0">
                <a:spcBef>
                  <a:spcPct val="0"/>
                </a:spcBef>
                <a:spcAft>
                  <a:spcPct val="0"/>
                </a:spcAft>
                <a:buNone/>
              </a:pPr>
              <a:t>Farm consolidation</a:t>
            </a:fld>
            <a:endParaRPr lang="en-US" sz="1000" dirty="0">
              <a:solidFill>
                <a:schemeClr val="accent1"/>
              </a:solidFill>
              <a:latin typeface="Arial"/>
              <a:sym typeface="Arial"/>
            </a:endParaRPr>
          </a:p>
        </p:txBody>
      </p:sp>
      <p:sp>
        <p:nvSpPr>
          <p:cNvPr id="92" name="Text Placeholder 30"/>
          <p:cNvSpPr>
            <a:spLocks noGrp="1"/>
          </p:cNvSpPr>
          <p:nvPr>
            <p:custDataLst>
              <p:tags r:id="rId32"/>
            </p:custDataLst>
          </p:nvPr>
        </p:nvSpPr>
        <p:spPr bwMode="gray">
          <a:xfrm>
            <a:off x="1579563" y="2647950"/>
            <a:ext cx="985838" cy="152400"/>
          </a:xfrm>
          <a:prstGeom prst="rect">
            <a:avLst/>
          </a:prstGeom>
          <a:noFill/>
          <a:extLst>
            <a:ext uri="{909E8E84-426E-40DD-AFC4-6F175D3DCCD1}">
              <a14:hiddenFill xmlns:a14="http://schemas.microsoft.com/office/drawing/2010/main">
                <a:solidFill>
                  <a:scrgbClr r="0" g="0" b="0"/>
                </a:solidFill>
              </a14:hiddenFill>
            </a:ext>
          </a:extLst>
        </p:spPr>
        <p:txBody>
          <a:bodyPr wrap="none" lIns="17463" tIns="0" rIns="17463"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632833BB-2E75-466C-9E06-D1C7760E4939}" type="datetime'''''''F''erti''l''i''zer'' ''''''s''''''u''''''''bs''i''d''y'">
              <a:rPr lang="en-US" sz="1000">
                <a:solidFill>
                  <a:schemeClr val="accent1"/>
                </a:solidFill>
                <a:latin typeface="Arial"/>
                <a:sym typeface="Arial"/>
              </a:rPr>
              <a:pPr marL="0" indent="0">
                <a:spcBef>
                  <a:spcPct val="0"/>
                </a:spcBef>
                <a:spcAft>
                  <a:spcPct val="0"/>
                </a:spcAft>
                <a:buNone/>
              </a:pPr>
              <a:t>Fertilizer subsidy</a:t>
            </a:fld>
            <a:endParaRPr lang="en-US" sz="1000" dirty="0">
              <a:solidFill>
                <a:schemeClr val="accent1"/>
              </a:solidFill>
              <a:latin typeface="Arial"/>
              <a:sym typeface="Arial"/>
            </a:endParaRPr>
          </a:p>
        </p:txBody>
      </p:sp>
      <p:sp>
        <p:nvSpPr>
          <p:cNvPr id="139" name="McK Footnote"/>
          <p:cNvSpPr txBox="1">
            <a:spLocks noChangeArrowheads="1"/>
          </p:cNvSpPr>
          <p:nvPr/>
        </p:nvSpPr>
        <p:spPr bwMode="auto">
          <a:xfrm>
            <a:off x="641720" y="6261279"/>
            <a:ext cx="8485187" cy="2769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b="0" dirty="0" smtClean="0">
                <a:solidFill>
                  <a:schemeClr val="tx1">
                    <a:lumMod val="65000"/>
                    <a:lumOff val="35000"/>
                  </a:schemeClr>
                </a:solidFill>
              </a:rPr>
              <a:t>* Addressed by different schemes</a:t>
            </a:r>
          </a:p>
          <a:p>
            <a:pPr marL="563563" indent="-563563" defTabSz="895350">
              <a:tabLst>
                <a:tab pos="517525" algn="r"/>
              </a:tabLst>
            </a:pPr>
            <a:r>
              <a:rPr lang="en-US" sz="900" b="0" dirty="0" smtClean="0">
                <a:solidFill>
                  <a:schemeClr val="tx1">
                    <a:lumMod val="65000"/>
                    <a:lumOff val="35000"/>
                  </a:schemeClr>
                </a:solidFill>
              </a:rPr>
              <a:t>Source</a:t>
            </a:r>
            <a:r>
              <a:rPr lang="en-US" sz="900" b="0" dirty="0">
                <a:solidFill>
                  <a:schemeClr val="tx1">
                    <a:lumMod val="65000"/>
                    <a:lumOff val="35000"/>
                  </a:schemeClr>
                </a:solidFill>
              </a:rPr>
              <a:t>: </a:t>
            </a:r>
            <a:r>
              <a:rPr lang="en-US" sz="900" b="0" dirty="0" smtClean="0">
                <a:solidFill>
                  <a:schemeClr val="tx1">
                    <a:lumMod val="65000"/>
                    <a:lumOff val="35000"/>
                  </a:schemeClr>
                </a:solidFill>
              </a:rPr>
              <a:t>Stakeholder interviews, TechnoServe analysis</a:t>
            </a:r>
            <a:endParaRPr lang="en-US" sz="900" dirty="0">
              <a:solidFill>
                <a:schemeClr val="tx1">
                  <a:lumMod val="65000"/>
                  <a:lumOff val="35000"/>
                </a:schemeClr>
              </a:solidFill>
            </a:endParaRPr>
          </a:p>
        </p:txBody>
      </p:sp>
      <p:sp>
        <p:nvSpPr>
          <p:cNvPr id="141" name="Oval 140"/>
          <p:cNvSpPr/>
          <p:nvPr/>
        </p:nvSpPr>
        <p:spPr>
          <a:xfrm>
            <a:off x="7760493" y="953388"/>
            <a:ext cx="133350" cy="133350"/>
          </a:xfrm>
          <a:prstGeom prst="ellipse">
            <a:avLst/>
          </a:prstGeom>
          <a:solidFill>
            <a:srgbClr val="2124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TextBox 141"/>
          <p:cNvSpPr txBox="1"/>
          <p:nvPr/>
        </p:nvSpPr>
        <p:spPr>
          <a:xfrm>
            <a:off x="7955280" y="855905"/>
            <a:ext cx="1028700" cy="307777"/>
          </a:xfrm>
          <a:prstGeom prst="rect">
            <a:avLst/>
          </a:prstGeom>
          <a:noFill/>
        </p:spPr>
        <p:txBody>
          <a:bodyPr wrap="square" lIns="0" tIns="0" rIns="0" bIns="0" rtlCol="0">
            <a:spAutoFit/>
          </a:bodyPr>
          <a:lstStyle/>
          <a:p>
            <a:r>
              <a:rPr lang="en-US" sz="1000" dirty="0" smtClean="0">
                <a:solidFill>
                  <a:schemeClr val="accent1"/>
                </a:solidFill>
              </a:rPr>
              <a:t>Addressed by business cases</a:t>
            </a:r>
            <a:endParaRPr lang="en-US" sz="1000" dirty="0">
              <a:solidFill>
                <a:schemeClr val="accent1"/>
              </a:solidFill>
            </a:endParaRPr>
          </a:p>
        </p:txBody>
      </p:sp>
    </p:spTree>
    <p:extLst>
      <p:ext uri="{BB962C8B-B14F-4D97-AF65-F5344CB8AC3E}">
        <p14:creationId xmlns:p14="http://schemas.microsoft.com/office/powerpoint/2010/main" val="33114569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470848" y="2161667"/>
            <a:ext cx="1447800" cy="738664"/>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600" b="1" dirty="0" smtClean="0">
                <a:solidFill>
                  <a:schemeClr val="accent1"/>
                </a:solidFill>
                <a:latin typeface="Arial" charset="0"/>
              </a:rPr>
              <a:t>Region</a:t>
            </a:r>
            <a:endParaRPr kumimoji="0" lang="en-US" sz="1600" b="1" i="0" u="none" strike="noStrike" cap="none" normalizeH="0" baseline="0" dirty="0" smtClean="0">
              <a:ln>
                <a:noFill/>
              </a:ln>
              <a:solidFill>
                <a:schemeClr val="accent1"/>
              </a:solidFill>
              <a:effectLst/>
              <a:latin typeface="Arial" charset="0"/>
            </a:endParaRPr>
          </a:p>
        </p:txBody>
      </p:sp>
      <p:sp>
        <p:nvSpPr>
          <p:cNvPr id="7" name="Rectangle 6"/>
          <p:cNvSpPr/>
          <p:nvPr/>
        </p:nvSpPr>
        <p:spPr bwMode="auto">
          <a:xfrm>
            <a:off x="470848" y="3415156"/>
            <a:ext cx="1447800" cy="738664"/>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600" b="1" dirty="0" smtClean="0">
                <a:solidFill>
                  <a:schemeClr val="accent1"/>
                </a:solidFill>
                <a:latin typeface="Arial" charset="0"/>
              </a:rPr>
              <a:t> Farm size</a:t>
            </a:r>
            <a:endParaRPr kumimoji="0" lang="en-US" sz="1600" b="1" i="0" u="none" strike="noStrike" cap="none" normalizeH="0" baseline="0" dirty="0" smtClean="0">
              <a:ln>
                <a:noFill/>
              </a:ln>
              <a:solidFill>
                <a:schemeClr val="accent1"/>
              </a:solidFill>
              <a:effectLst/>
              <a:latin typeface="Arial" charset="0"/>
            </a:endParaRPr>
          </a:p>
        </p:txBody>
      </p:sp>
      <p:cxnSp>
        <p:nvCxnSpPr>
          <p:cNvPr id="9" name="Straight Connector 8"/>
          <p:cNvCxnSpPr/>
          <p:nvPr/>
        </p:nvCxnSpPr>
        <p:spPr bwMode="auto">
          <a:xfrm>
            <a:off x="470848" y="2076256"/>
            <a:ext cx="8413379"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sp>
        <p:nvSpPr>
          <p:cNvPr id="10" name="TextBox 9"/>
          <p:cNvSpPr txBox="1"/>
          <p:nvPr/>
        </p:nvSpPr>
        <p:spPr>
          <a:xfrm>
            <a:off x="2147248" y="1771456"/>
            <a:ext cx="1905000" cy="338554"/>
          </a:xfrm>
          <a:prstGeom prst="rect">
            <a:avLst/>
          </a:prstGeom>
          <a:noFill/>
        </p:spPr>
        <p:txBody>
          <a:bodyPr wrap="square" rtlCol="0">
            <a:spAutoFit/>
          </a:bodyPr>
          <a:lstStyle/>
          <a:p>
            <a:r>
              <a:rPr lang="en-US" sz="1600" b="1" dirty="0" smtClean="0">
                <a:solidFill>
                  <a:schemeClr val="accent1"/>
                </a:solidFill>
              </a:rPr>
              <a:t>Implication</a:t>
            </a:r>
            <a:endParaRPr lang="en-US" sz="1600" b="1" dirty="0">
              <a:solidFill>
                <a:schemeClr val="accent1"/>
              </a:solidFill>
            </a:endParaRPr>
          </a:p>
        </p:txBody>
      </p:sp>
      <p:sp>
        <p:nvSpPr>
          <p:cNvPr id="11" name="TextBox 10"/>
          <p:cNvSpPr txBox="1"/>
          <p:nvPr/>
        </p:nvSpPr>
        <p:spPr>
          <a:xfrm>
            <a:off x="6247822" y="1780851"/>
            <a:ext cx="1905000" cy="338554"/>
          </a:xfrm>
          <a:prstGeom prst="rect">
            <a:avLst/>
          </a:prstGeom>
          <a:noFill/>
        </p:spPr>
        <p:txBody>
          <a:bodyPr wrap="square" rtlCol="0">
            <a:spAutoFit/>
          </a:bodyPr>
          <a:lstStyle/>
          <a:p>
            <a:r>
              <a:rPr lang="en-US" sz="1600" b="1" dirty="0" smtClean="0">
                <a:solidFill>
                  <a:schemeClr val="accent1"/>
                </a:solidFill>
              </a:rPr>
              <a:t>Categories</a:t>
            </a:r>
            <a:endParaRPr lang="en-US" sz="1600" b="1" dirty="0">
              <a:solidFill>
                <a:schemeClr val="accent1"/>
              </a:solidFill>
            </a:endParaRPr>
          </a:p>
        </p:txBody>
      </p:sp>
      <p:sp>
        <p:nvSpPr>
          <p:cNvPr id="14" name="TextBox 13"/>
          <p:cNvSpPr txBox="1"/>
          <p:nvPr/>
        </p:nvSpPr>
        <p:spPr>
          <a:xfrm>
            <a:off x="2147248" y="2161667"/>
            <a:ext cx="4100574" cy="1077218"/>
          </a:xfrm>
          <a:prstGeom prst="rect">
            <a:avLst/>
          </a:prstGeom>
          <a:noFill/>
        </p:spPr>
        <p:txBody>
          <a:bodyPr wrap="square" rtlCol="0">
            <a:spAutoFit/>
          </a:bodyPr>
          <a:lstStyle/>
          <a:p>
            <a:pPr lvl="0"/>
            <a:r>
              <a:rPr lang="en-US" sz="1600" dirty="0" smtClean="0"/>
              <a:t>Some regions have higher labor and opportunity costs (availability of other income opportunities), as well as better infrastructure (e.g., roads)</a:t>
            </a:r>
            <a:endParaRPr lang="en-US" sz="1600" dirty="0"/>
          </a:p>
        </p:txBody>
      </p:sp>
      <p:sp>
        <p:nvSpPr>
          <p:cNvPr id="15" name="TextBox 14"/>
          <p:cNvSpPr txBox="1"/>
          <p:nvPr/>
        </p:nvSpPr>
        <p:spPr>
          <a:xfrm>
            <a:off x="2147248" y="3415156"/>
            <a:ext cx="4100574" cy="830997"/>
          </a:xfrm>
          <a:prstGeom prst="rect">
            <a:avLst/>
          </a:prstGeom>
          <a:noFill/>
        </p:spPr>
        <p:txBody>
          <a:bodyPr wrap="square" rtlCol="0">
            <a:spAutoFit/>
          </a:bodyPr>
          <a:lstStyle/>
          <a:p>
            <a:pPr lvl="0"/>
            <a:r>
              <a:rPr lang="en-US" sz="1600" dirty="0" smtClean="0"/>
              <a:t>Smaller farms typically have lower labor costs because they primarily utilize (unpaid) family labor</a:t>
            </a:r>
            <a:endParaRPr lang="en-US" sz="1600" dirty="0"/>
          </a:p>
        </p:txBody>
      </p:sp>
      <p:sp>
        <p:nvSpPr>
          <p:cNvPr id="16" name="TextBox 15"/>
          <p:cNvSpPr txBox="1"/>
          <p:nvPr/>
        </p:nvSpPr>
        <p:spPr>
          <a:xfrm>
            <a:off x="6247822" y="2161667"/>
            <a:ext cx="2709142" cy="584775"/>
          </a:xfrm>
          <a:prstGeom prst="rect">
            <a:avLst/>
          </a:prstGeom>
          <a:noFill/>
        </p:spPr>
        <p:txBody>
          <a:bodyPr wrap="square" rtlCol="0">
            <a:spAutoFit/>
          </a:bodyPr>
          <a:lstStyle/>
          <a:p>
            <a:pPr marL="285750" lvl="0" indent="-285750">
              <a:buFont typeface="Arial" panose="020B0604020202020204" pitchFamily="34" charset="0"/>
              <a:buChar char="•"/>
            </a:pPr>
            <a:r>
              <a:rPr lang="en-US" sz="1600" dirty="0" smtClean="0"/>
              <a:t>Central/northern region</a:t>
            </a:r>
          </a:p>
          <a:p>
            <a:pPr marL="285750" lvl="0" indent="-285750">
              <a:buFont typeface="Arial" panose="020B0604020202020204" pitchFamily="34" charset="0"/>
              <a:buChar char="•"/>
            </a:pPr>
            <a:r>
              <a:rPr lang="en-US" sz="1600" dirty="0" smtClean="0"/>
              <a:t>Southern region</a:t>
            </a:r>
            <a:endParaRPr lang="en-US" sz="1600" dirty="0"/>
          </a:p>
        </p:txBody>
      </p:sp>
      <p:sp>
        <p:nvSpPr>
          <p:cNvPr id="17" name="TextBox 16"/>
          <p:cNvSpPr txBox="1"/>
          <p:nvPr/>
        </p:nvSpPr>
        <p:spPr>
          <a:xfrm>
            <a:off x="6247822" y="3415156"/>
            <a:ext cx="2376426" cy="830997"/>
          </a:xfrm>
          <a:prstGeom prst="rect">
            <a:avLst/>
          </a:prstGeom>
          <a:noFill/>
        </p:spPr>
        <p:txBody>
          <a:bodyPr wrap="square" rtlCol="0">
            <a:spAutoFit/>
          </a:bodyPr>
          <a:lstStyle/>
          <a:p>
            <a:pPr marL="285750" lvl="0" indent="-285750">
              <a:buFont typeface="Arial" panose="020B0604020202020204" pitchFamily="34" charset="0"/>
              <a:buChar char="•"/>
            </a:pPr>
            <a:r>
              <a:rPr lang="en-US" sz="1600" dirty="0" smtClean="0"/>
              <a:t>&lt; 1ha</a:t>
            </a:r>
          </a:p>
          <a:p>
            <a:pPr marL="285750" lvl="0" indent="-285750">
              <a:buFont typeface="Arial" panose="020B0604020202020204" pitchFamily="34" charset="0"/>
              <a:buChar char="•"/>
            </a:pPr>
            <a:r>
              <a:rPr lang="en-US" sz="1600" dirty="0" smtClean="0"/>
              <a:t>1 – 5 ha</a:t>
            </a:r>
          </a:p>
          <a:p>
            <a:pPr marL="285750" lvl="0" indent="-285750">
              <a:buFont typeface="Arial" panose="020B0604020202020204" pitchFamily="34" charset="0"/>
              <a:buChar char="•"/>
            </a:pPr>
            <a:r>
              <a:rPr lang="en-US" sz="1600" dirty="0" smtClean="0"/>
              <a:t>&gt; 5 ha</a:t>
            </a:r>
          </a:p>
        </p:txBody>
      </p:sp>
      <p:sp>
        <p:nvSpPr>
          <p:cNvPr id="5" name="Title 4"/>
          <p:cNvSpPr>
            <a:spLocks noGrp="1"/>
          </p:cNvSpPr>
          <p:nvPr>
            <p:ph type="title"/>
          </p:nvPr>
        </p:nvSpPr>
        <p:spPr/>
        <p:txBody>
          <a:bodyPr/>
          <a:lstStyle/>
          <a:p>
            <a:r>
              <a:rPr lang="en-US" b="0" dirty="0" smtClean="0"/>
              <a:t>We </a:t>
            </a:r>
            <a:r>
              <a:rPr lang="en-US" b="0" dirty="0" smtClean="0"/>
              <a:t>have segmented Colombia’s farms on the basis of region, farm size and altitude</a:t>
            </a:r>
            <a:endParaRPr lang="en-US" b="0" dirty="0"/>
          </a:p>
        </p:txBody>
      </p:sp>
      <p:sp>
        <p:nvSpPr>
          <p:cNvPr id="3" name="Rectangle 2"/>
          <p:cNvSpPr/>
          <p:nvPr/>
        </p:nvSpPr>
        <p:spPr bwMode="auto">
          <a:xfrm>
            <a:off x="470848" y="4667033"/>
            <a:ext cx="1447800" cy="738664"/>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600" b="1" dirty="0" smtClean="0">
                <a:solidFill>
                  <a:schemeClr val="accent1"/>
                </a:solidFill>
                <a:latin typeface="Arial" charset="0"/>
              </a:rPr>
              <a:t>Altitude</a:t>
            </a:r>
            <a:endParaRPr kumimoji="0" lang="en-US" sz="1600" b="1" i="0" u="none" strike="noStrike" cap="none" normalizeH="0" baseline="0" dirty="0" smtClean="0">
              <a:ln>
                <a:noFill/>
              </a:ln>
              <a:solidFill>
                <a:schemeClr val="accent1"/>
              </a:solidFill>
              <a:effectLst/>
              <a:latin typeface="Arial" charset="0"/>
            </a:endParaRPr>
          </a:p>
        </p:txBody>
      </p:sp>
      <p:sp>
        <p:nvSpPr>
          <p:cNvPr id="12" name="TextBox 11"/>
          <p:cNvSpPr txBox="1"/>
          <p:nvPr/>
        </p:nvSpPr>
        <p:spPr>
          <a:xfrm>
            <a:off x="2147248" y="4667033"/>
            <a:ext cx="4100574" cy="1077218"/>
          </a:xfrm>
          <a:prstGeom prst="rect">
            <a:avLst/>
          </a:prstGeom>
          <a:noFill/>
        </p:spPr>
        <p:txBody>
          <a:bodyPr wrap="square" rtlCol="0">
            <a:spAutoFit/>
          </a:bodyPr>
          <a:lstStyle/>
          <a:p>
            <a:pPr lvl="0"/>
            <a:r>
              <a:rPr lang="en-US" sz="1600" dirty="0" smtClean="0"/>
              <a:t>Higher altitude areas are more likely to produce premium coffees; lower altitude areas are more vulnerable to pest/disease and climate change</a:t>
            </a:r>
            <a:endParaRPr lang="en-US" sz="1600" dirty="0"/>
          </a:p>
        </p:txBody>
      </p:sp>
      <p:sp>
        <p:nvSpPr>
          <p:cNvPr id="13" name="TextBox 12"/>
          <p:cNvSpPr txBox="1"/>
          <p:nvPr/>
        </p:nvSpPr>
        <p:spPr>
          <a:xfrm>
            <a:off x="6247821" y="4667033"/>
            <a:ext cx="2879086" cy="830997"/>
          </a:xfrm>
          <a:prstGeom prst="rect">
            <a:avLst/>
          </a:prstGeom>
          <a:noFill/>
        </p:spPr>
        <p:txBody>
          <a:bodyPr wrap="square" rtlCol="0">
            <a:spAutoFit/>
          </a:bodyPr>
          <a:lstStyle/>
          <a:p>
            <a:pPr marL="285750" lvl="0" indent="-285750">
              <a:buFont typeface="Arial" panose="020B0604020202020204" pitchFamily="34" charset="0"/>
              <a:buChar char="•"/>
            </a:pPr>
            <a:r>
              <a:rPr lang="en-US" sz="1600" dirty="0" smtClean="0"/>
              <a:t>Low (&lt; 1,200m)</a:t>
            </a:r>
          </a:p>
          <a:p>
            <a:pPr marL="285750" lvl="0" indent="-285750">
              <a:buFont typeface="Arial" panose="020B0604020202020204" pitchFamily="34" charset="0"/>
              <a:buChar char="•"/>
            </a:pPr>
            <a:r>
              <a:rPr lang="en-US" sz="1600" dirty="0" smtClean="0"/>
              <a:t>Medium (1,200 – 1,600m)</a:t>
            </a:r>
          </a:p>
          <a:p>
            <a:pPr marL="285750" lvl="0" indent="-285750">
              <a:buFont typeface="Arial" panose="020B0604020202020204" pitchFamily="34" charset="0"/>
              <a:buChar char="•"/>
            </a:pPr>
            <a:r>
              <a:rPr lang="en-US" sz="1600" dirty="0" smtClean="0"/>
              <a:t>High (&gt; 1,600m)</a:t>
            </a:r>
            <a:endParaRPr lang="en-US" sz="1600" dirty="0"/>
          </a:p>
        </p:txBody>
      </p:sp>
      <p:sp>
        <p:nvSpPr>
          <p:cNvPr id="8" name="Oval 7"/>
          <p:cNvSpPr/>
          <p:nvPr/>
        </p:nvSpPr>
        <p:spPr>
          <a:xfrm>
            <a:off x="247709" y="4813227"/>
            <a:ext cx="446277" cy="446277"/>
          </a:xfrm>
          <a:prstGeom prst="ellipse">
            <a:avLst/>
          </a:prstGeom>
          <a:solidFill>
            <a:schemeClr val="accent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rPr>
              <a:t>C</a:t>
            </a:r>
            <a:endParaRPr lang="en-US" sz="1600" b="1" dirty="0">
              <a:solidFill>
                <a:schemeClr val="bg1"/>
              </a:solidFill>
            </a:endParaRPr>
          </a:p>
        </p:txBody>
      </p:sp>
      <p:sp>
        <p:nvSpPr>
          <p:cNvPr id="20" name="Oval 19"/>
          <p:cNvSpPr/>
          <p:nvPr/>
        </p:nvSpPr>
        <p:spPr>
          <a:xfrm>
            <a:off x="247709" y="2307861"/>
            <a:ext cx="446277" cy="446277"/>
          </a:xfrm>
          <a:prstGeom prst="ellipse">
            <a:avLst/>
          </a:prstGeom>
          <a:solidFill>
            <a:schemeClr val="accent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A</a:t>
            </a:r>
          </a:p>
        </p:txBody>
      </p:sp>
      <p:sp>
        <p:nvSpPr>
          <p:cNvPr id="21" name="Oval 20"/>
          <p:cNvSpPr/>
          <p:nvPr/>
        </p:nvSpPr>
        <p:spPr>
          <a:xfrm>
            <a:off x="247709" y="3561350"/>
            <a:ext cx="446277" cy="446277"/>
          </a:xfrm>
          <a:prstGeom prst="ellipse">
            <a:avLst/>
          </a:prstGeom>
          <a:solidFill>
            <a:schemeClr val="accent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B</a:t>
            </a:r>
          </a:p>
        </p:txBody>
      </p:sp>
      <p:sp>
        <p:nvSpPr>
          <p:cNvPr id="18" name="McK Footnote"/>
          <p:cNvSpPr txBox="1">
            <a:spLocks noChangeArrowheads="1"/>
          </p:cNvSpPr>
          <p:nvPr/>
        </p:nvSpPr>
        <p:spPr bwMode="auto">
          <a:xfrm>
            <a:off x="641720" y="6243665"/>
            <a:ext cx="8485187" cy="1384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b="0" dirty="0" smtClean="0">
                <a:solidFill>
                  <a:schemeClr val="tx1">
                    <a:lumMod val="65000"/>
                    <a:lumOff val="35000"/>
                  </a:schemeClr>
                </a:solidFill>
              </a:rPr>
              <a:t>Source</a:t>
            </a:r>
            <a:r>
              <a:rPr lang="en-US" sz="900" b="0" dirty="0">
                <a:solidFill>
                  <a:schemeClr val="tx1">
                    <a:lumMod val="65000"/>
                    <a:lumOff val="35000"/>
                  </a:schemeClr>
                </a:solidFill>
              </a:rPr>
              <a:t>: </a:t>
            </a:r>
            <a:r>
              <a:rPr lang="en-US" sz="900" b="0" dirty="0" smtClean="0">
                <a:solidFill>
                  <a:schemeClr val="tx1">
                    <a:lumMod val="65000"/>
                    <a:lumOff val="35000"/>
                  </a:schemeClr>
                </a:solidFill>
              </a:rPr>
              <a:t>Stakeholder interviews, TechnoServe analysis</a:t>
            </a:r>
            <a:endParaRPr lang="en-US" sz="900" dirty="0">
              <a:solidFill>
                <a:schemeClr val="tx1">
                  <a:lumMod val="65000"/>
                  <a:lumOff val="35000"/>
                </a:schemeClr>
              </a:solidFill>
            </a:endParaRPr>
          </a:p>
        </p:txBody>
      </p:sp>
    </p:spTree>
    <p:extLst>
      <p:ext uri="{BB962C8B-B14F-4D97-AF65-F5344CB8AC3E}">
        <p14:creationId xmlns:p14="http://schemas.microsoft.com/office/powerpoint/2010/main" val="19597350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ext uri="{D42A27DB-BD31-4B8C-83A1-F6EECF244321}">
                <p14:modId xmlns:p14="http://schemas.microsoft.com/office/powerpoint/2010/main" val="32480227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9463" name="think-cell Slide" r:id="rId6" imgW="270" imgH="270" progId="TCLayout.ActiveDocument.1">
                  <p:embed/>
                </p:oleObj>
              </mc:Choice>
              <mc:Fallback>
                <p:oleObj name="think-cell Slide" r:id="rId6" imgW="270" imgH="270"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sp>
        <p:nvSpPr>
          <p:cNvPr id="16" name="Rectangle 1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noAutofit/>
          </a:bodyPr>
          <a:lstStyle/>
          <a:p>
            <a:pPr fontAlgn="base">
              <a:spcBef>
                <a:spcPct val="0"/>
              </a:spcBef>
              <a:spcAft>
                <a:spcPct val="0"/>
              </a:spcAft>
            </a:pPr>
            <a:endParaRPr kumimoji="0" lang="en-US" sz="1000" u="none" strike="noStrike" cap="none" normalizeH="0" smtClean="0">
              <a:ln>
                <a:noFill/>
              </a:ln>
              <a:solidFill>
                <a:schemeClr val="tx1"/>
              </a:solidFill>
              <a:effectLst/>
              <a:latin typeface="Arial"/>
              <a:cs typeface="Arial"/>
              <a:sym typeface="Arial"/>
            </a:endParaRPr>
          </a:p>
        </p:txBody>
      </p:sp>
      <p:pic>
        <p:nvPicPr>
          <p:cNvPr id="179258" name="Picture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1499" y="1008698"/>
            <a:ext cx="5934556" cy="5152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TextBox 28"/>
          <p:cNvSpPr txBox="1"/>
          <p:nvPr/>
        </p:nvSpPr>
        <p:spPr>
          <a:xfrm>
            <a:off x="6779511" y="1324278"/>
            <a:ext cx="2221650" cy="261610"/>
          </a:xfrm>
          <a:prstGeom prst="rect">
            <a:avLst/>
          </a:prstGeom>
          <a:noFill/>
        </p:spPr>
        <p:txBody>
          <a:bodyPr wrap="square" rtlCol="0">
            <a:spAutoFit/>
          </a:bodyPr>
          <a:lstStyle/>
          <a:p>
            <a:pPr>
              <a:spcAft>
                <a:spcPts val="600"/>
              </a:spcAft>
            </a:pPr>
            <a:r>
              <a:rPr lang="en-US" sz="1100" b="1" dirty="0" smtClean="0">
                <a:solidFill>
                  <a:schemeClr val="accent1"/>
                </a:solidFill>
              </a:rPr>
              <a:t>Major coffee growing regions</a:t>
            </a:r>
          </a:p>
        </p:txBody>
      </p:sp>
      <p:sp>
        <p:nvSpPr>
          <p:cNvPr id="212" name="Freeform 355"/>
          <p:cNvSpPr>
            <a:spLocks/>
          </p:cNvSpPr>
          <p:nvPr/>
        </p:nvSpPr>
        <p:spPr bwMode="auto">
          <a:xfrm>
            <a:off x="6528537" y="7876058"/>
            <a:ext cx="433071" cy="130804"/>
          </a:xfrm>
          <a:custGeom>
            <a:avLst/>
            <a:gdLst>
              <a:gd name="T0" fmla="*/ 326 w 145"/>
              <a:gd name="T1" fmla="*/ 4 h 55"/>
              <a:gd name="T2" fmla="*/ 134 w 145"/>
              <a:gd name="T3" fmla="*/ 7 h 55"/>
              <a:gd name="T4" fmla="*/ 70 w 145"/>
              <a:gd name="T5" fmla="*/ 58 h 55"/>
              <a:gd name="T6" fmla="*/ 0 w 145"/>
              <a:gd name="T7" fmla="*/ 83 h 55"/>
              <a:gd name="T8" fmla="*/ 0 60000 65536"/>
              <a:gd name="T9" fmla="*/ 0 60000 65536"/>
              <a:gd name="T10" fmla="*/ 0 60000 65536"/>
              <a:gd name="T11" fmla="*/ 0 60000 65536"/>
              <a:gd name="T12" fmla="*/ 0 w 145"/>
              <a:gd name="T13" fmla="*/ 0 h 55"/>
              <a:gd name="T14" fmla="*/ 145 w 145"/>
              <a:gd name="T15" fmla="*/ 55 h 55"/>
            </a:gdLst>
            <a:ahLst/>
            <a:cxnLst>
              <a:cxn ang="T8">
                <a:pos x="T0" y="T1"/>
              </a:cxn>
              <a:cxn ang="T9">
                <a:pos x="T2" y="T3"/>
              </a:cxn>
              <a:cxn ang="T10">
                <a:pos x="T4" y="T5"/>
              </a:cxn>
              <a:cxn ang="T11">
                <a:pos x="T6" y="T7"/>
              </a:cxn>
            </a:cxnLst>
            <a:rect l="T12" t="T13" r="T14" b="T15"/>
            <a:pathLst>
              <a:path w="145" h="55">
                <a:moveTo>
                  <a:pt x="145" y="4"/>
                </a:moveTo>
                <a:cubicBezTo>
                  <a:pt x="116" y="4"/>
                  <a:pt x="87" y="0"/>
                  <a:pt x="59" y="7"/>
                </a:cubicBezTo>
                <a:cubicBezTo>
                  <a:pt x="40" y="11"/>
                  <a:pt x="42" y="28"/>
                  <a:pt x="31" y="38"/>
                </a:cubicBezTo>
                <a:cubicBezTo>
                  <a:pt x="16" y="51"/>
                  <a:pt x="14" y="50"/>
                  <a:pt x="0" y="55"/>
                </a:cubicBezTo>
              </a:path>
            </a:pathLst>
          </a:cu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 name="Rectangle 9"/>
          <p:cNvSpPr/>
          <p:nvPr/>
        </p:nvSpPr>
        <p:spPr bwMode="auto">
          <a:xfrm>
            <a:off x="6930214" y="1644509"/>
            <a:ext cx="209863" cy="199936"/>
          </a:xfrm>
          <a:prstGeom prst="rect">
            <a:avLst/>
          </a:prstGeom>
          <a:solidFill>
            <a:srgbClr val="212492"/>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smtClean="0">
              <a:ln>
                <a:noFill/>
              </a:ln>
              <a:solidFill>
                <a:schemeClr val="accent1"/>
              </a:solidFill>
              <a:effectLst/>
              <a:latin typeface="Arial" charset="0"/>
            </a:endParaRPr>
          </a:p>
        </p:txBody>
      </p:sp>
      <p:sp>
        <p:nvSpPr>
          <p:cNvPr id="14" name="TextBox 13"/>
          <p:cNvSpPr txBox="1"/>
          <p:nvPr/>
        </p:nvSpPr>
        <p:spPr>
          <a:xfrm>
            <a:off x="7170058" y="1611432"/>
            <a:ext cx="1831103" cy="261610"/>
          </a:xfrm>
          <a:prstGeom prst="rect">
            <a:avLst/>
          </a:prstGeom>
          <a:noFill/>
        </p:spPr>
        <p:txBody>
          <a:bodyPr wrap="square" rtlCol="0">
            <a:spAutoFit/>
          </a:bodyPr>
          <a:lstStyle/>
          <a:p>
            <a:r>
              <a:rPr lang="en-US" sz="1100" dirty="0" smtClean="0">
                <a:solidFill>
                  <a:schemeClr val="accent1"/>
                </a:solidFill>
              </a:rPr>
              <a:t>Southern</a:t>
            </a:r>
            <a:endParaRPr lang="en-US" sz="1100" dirty="0">
              <a:solidFill>
                <a:schemeClr val="accent1"/>
              </a:solidFill>
            </a:endParaRPr>
          </a:p>
        </p:txBody>
      </p:sp>
      <p:sp>
        <p:nvSpPr>
          <p:cNvPr id="89" name="Rectangle 88"/>
          <p:cNvSpPr/>
          <p:nvPr/>
        </p:nvSpPr>
        <p:spPr bwMode="auto">
          <a:xfrm>
            <a:off x="6930214" y="1930266"/>
            <a:ext cx="209863" cy="199936"/>
          </a:xfrm>
          <a:prstGeom prst="rect">
            <a:avLst/>
          </a:prstGeom>
          <a:solidFill>
            <a:srgbClr val="BEBFF0"/>
          </a:solidFill>
          <a:ln w="9525"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smtClean="0">
              <a:ln>
                <a:noFill/>
              </a:ln>
              <a:solidFill>
                <a:schemeClr val="accent1"/>
              </a:solidFill>
              <a:effectLst/>
              <a:latin typeface="Arial" charset="0"/>
            </a:endParaRPr>
          </a:p>
        </p:txBody>
      </p:sp>
      <p:sp>
        <p:nvSpPr>
          <p:cNvPr id="90" name="TextBox 89"/>
          <p:cNvSpPr txBox="1"/>
          <p:nvPr/>
        </p:nvSpPr>
        <p:spPr>
          <a:xfrm>
            <a:off x="7170058" y="1897189"/>
            <a:ext cx="1831103" cy="261610"/>
          </a:xfrm>
          <a:prstGeom prst="rect">
            <a:avLst/>
          </a:prstGeom>
          <a:noFill/>
        </p:spPr>
        <p:txBody>
          <a:bodyPr wrap="square" rtlCol="0">
            <a:spAutoFit/>
          </a:bodyPr>
          <a:lstStyle/>
          <a:p>
            <a:r>
              <a:rPr lang="en-US" sz="1100" dirty="0" smtClean="0">
                <a:solidFill>
                  <a:schemeClr val="accent1"/>
                </a:solidFill>
              </a:rPr>
              <a:t>Central/Northern*</a:t>
            </a:r>
            <a:endParaRPr lang="en-US" sz="1100" dirty="0">
              <a:solidFill>
                <a:schemeClr val="accent1"/>
              </a:solidFill>
            </a:endParaRPr>
          </a:p>
        </p:txBody>
      </p:sp>
      <p:sp>
        <p:nvSpPr>
          <p:cNvPr id="4" name="Title 3"/>
          <p:cNvSpPr>
            <a:spLocks noGrp="1"/>
          </p:cNvSpPr>
          <p:nvPr>
            <p:ph type="title"/>
          </p:nvPr>
        </p:nvSpPr>
        <p:spPr/>
        <p:txBody>
          <a:bodyPr/>
          <a:lstStyle/>
          <a:p>
            <a:pPr marL="268288"/>
            <a:r>
              <a:rPr lang="en-US" sz="1600" b="0" dirty="0" smtClean="0"/>
              <a:t>REGIONAL ARCHETYPES</a:t>
            </a:r>
            <a:r>
              <a:rPr lang="en-US" b="0" dirty="0" smtClean="0"/>
              <a:t/>
            </a:r>
            <a:br>
              <a:rPr lang="en-US" b="0" dirty="0" smtClean="0"/>
            </a:br>
            <a:r>
              <a:rPr lang="en-US" b="0" dirty="0" smtClean="0"/>
              <a:t>Southern farms tend to have lower opportunity costs (and labor costs)…</a:t>
            </a:r>
            <a:endParaRPr lang="en-US" b="0" dirty="0"/>
          </a:p>
        </p:txBody>
      </p:sp>
      <p:sp>
        <p:nvSpPr>
          <p:cNvPr id="69" name="Oval 68"/>
          <p:cNvSpPr/>
          <p:nvPr/>
        </p:nvSpPr>
        <p:spPr bwMode="auto">
          <a:xfrm>
            <a:off x="139822" y="304799"/>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dirty="0" smtClean="0">
                <a:ln>
                  <a:noFill/>
                </a:ln>
                <a:solidFill>
                  <a:schemeClr val="bg1"/>
                </a:solidFill>
                <a:effectLst/>
                <a:latin typeface="Arial" charset="0"/>
              </a:rPr>
              <a:t>A</a:t>
            </a:r>
          </a:p>
        </p:txBody>
      </p:sp>
      <p:sp>
        <p:nvSpPr>
          <p:cNvPr id="13" name="McK Footnote"/>
          <p:cNvSpPr txBox="1">
            <a:spLocks noChangeArrowheads="1"/>
          </p:cNvSpPr>
          <p:nvPr/>
        </p:nvSpPr>
        <p:spPr bwMode="auto">
          <a:xfrm>
            <a:off x="619418" y="6237359"/>
            <a:ext cx="8485187" cy="415498"/>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b="0" dirty="0" smtClean="0">
                <a:solidFill>
                  <a:schemeClr val="tx1">
                    <a:lumMod val="65000"/>
                    <a:lumOff val="35000"/>
                  </a:schemeClr>
                </a:solidFill>
              </a:rPr>
              <a:t>Note: Regional classification based on </a:t>
            </a:r>
            <a:r>
              <a:rPr lang="en-US" sz="900" b="0" dirty="0" err="1" smtClean="0">
                <a:solidFill>
                  <a:schemeClr val="tx1">
                    <a:lumMod val="65000"/>
                    <a:lumOff val="35000"/>
                  </a:schemeClr>
                </a:solidFill>
              </a:rPr>
              <a:t>Cenicafé</a:t>
            </a:r>
            <a:r>
              <a:rPr lang="en-US" sz="900" b="0" dirty="0" smtClean="0">
                <a:solidFill>
                  <a:schemeClr val="tx1">
                    <a:lumMod val="65000"/>
                    <a:lumOff val="35000"/>
                  </a:schemeClr>
                </a:solidFill>
              </a:rPr>
              <a:t> definition</a:t>
            </a:r>
          </a:p>
          <a:p>
            <a:pPr marL="563563" indent="-563563" defTabSz="895350">
              <a:tabLst>
                <a:tab pos="517525" algn="r"/>
              </a:tabLst>
            </a:pPr>
            <a:r>
              <a:rPr lang="en-US" sz="900" dirty="0" smtClean="0">
                <a:solidFill>
                  <a:schemeClr val="tx1">
                    <a:lumMod val="65000"/>
                    <a:lumOff val="35000"/>
                  </a:schemeClr>
                </a:solidFill>
              </a:rPr>
              <a:t>*I</a:t>
            </a:r>
            <a:r>
              <a:rPr lang="en-US" sz="900" b="0" dirty="0" smtClean="0">
                <a:solidFill>
                  <a:schemeClr val="tx1">
                    <a:lumMod val="65000"/>
                    <a:lumOff val="35000"/>
                  </a:schemeClr>
                </a:solidFill>
              </a:rPr>
              <a:t>nclusion of northern regions into central </a:t>
            </a:r>
            <a:r>
              <a:rPr lang="en-US" sz="900" dirty="0" smtClean="0">
                <a:solidFill>
                  <a:schemeClr val="tx1">
                    <a:lumMod val="65000"/>
                    <a:lumOff val="35000"/>
                  </a:schemeClr>
                </a:solidFill>
              </a:rPr>
              <a:t>region </a:t>
            </a:r>
            <a:r>
              <a:rPr lang="en-US" sz="900" b="0" dirty="0" smtClean="0">
                <a:solidFill>
                  <a:schemeClr val="tx1">
                    <a:lumMod val="65000"/>
                    <a:lumOff val="35000"/>
                  </a:schemeClr>
                </a:solidFill>
              </a:rPr>
              <a:t>despite regional differences</a:t>
            </a:r>
          </a:p>
          <a:p>
            <a:pPr marL="563563" indent="-563563" defTabSz="895350">
              <a:tabLst>
                <a:tab pos="517525" algn="r"/>
              </a:tabLst>
            </a:pPr>
            <a:r>
              <a:rPr lang="en-US" sz="900" b="0" dirty="0" smtClean="0">
                <a:solidFill>
                  <a:schemeClr val="tx1">
                    <a:lumMod val="65000"/>
                    <a:lumOff val="35000"/>
                  </a:schemeClr>
                </a:solidFill>
              </a:rPr>
              <a:t>Source</a:t>
            </a:r>
            <a:r>
              <a:rPr lang="en-US" sz="900" b="0" dirty="0">
                <a:solidFill>
                  <a:schemeClr val="tx1">
                    <a:lumMod val="65000"/>
                    <a:lumOff val="35000"/>
                  </a:schemeClr>
                </a:solidFill>
              </a:rPr>
              <a:t>: </a:t>
            </a:r>
            <a:r>
              <a:rPr lang="en-US" sz="900" b="0" dirty="0" err="1" smtClean="0">
                <a:solidFill>
                  <a:schemeClr val="tx1">
                    <a:lumMod val="65000"/>
                    <a:lumOff val="35000"/>
                  </a:schemeClr>
                </a:solidFill>
              </a:rPr>
              <a:t>Agronet</a:t>
            </a:r>
            <a:r>
              <a:rPr lang="en-US" sz="900" b="0" dirty="0" smtClean="0">
                <a:solidFill>
                  <a:schemeClr val="tx1">
                    <a:lumMod val="65000"/>
                    <a:lumOff val="35000"/>
                  </a:schemeClr>
                </a:solidFill>
              </a:rPr>
              <a:t>, </a:t>
            </a:r>
            <a:r>
              <a:rPr lang="en-US" sz="900" b="0" dirty="0" err="1" smtClean="0">
                <a:solidFill>
                  <a:schemeClr val="tx1">
                    <a:lumMod val="65000"/>
                    <a:lumOff val="35000"/>
                  </a:schemeClr>
                </a:solidFill>
              </a:rPr>
              <a:t>Cenicafé</a:t>
            </a:r>
            <a:endParaRPr lang="en-US" sz="900" dirty="0">
              <a:solidFill>
                <a:schemeClr val="tx1">
                  <a:lumMod val="65000"/>
                  <a:lumOff val="35000"/>
                </a:schemeClr>
              </a:solidFill>
            </a:endParaRPr>
          </a:p>
        </p:txBody>
      </p:sp>
      <p:sp>
        <p:nvSpPr>
          <p:cNvPr id="7" name="Rectangular Callout 6"/>
          <p:cNvSpPr/>
          <p:nvPr/>
        </p:nvSpPr>
        <p:spPr>
          <a:xfrm>
            <a:off x="4174771" y="4472163"/>
            <a:ext cx="1409094" cy="699980"/>
          </a:xfrm>
          <a:prstGeom prst="wedgeRectCallout">
            <a:avLst>
              <a:gd name="adj1" fmla="val -80552"/>
              <a:gd name="adj2" fmla="val -72433"/>
            </a:avLst>
          </a:prstGeom>
          <a:solidFill>
            <a:schemeClr val="bg1"/>
          </a:solidFill>
          <a:ln w="1270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276069" y="4481947"/>
            <a:ext cx="1296366" cy="677108"/>
          </a:xfrm>
          <a:prstGeom prst="rect">
            <a:avLst/>
          </a:prstGeom>
          <a:noFill/>
        </p:spPr>
        <p:txBody>
          <a:bodyPr wrap="square" lIns="0" tIns="0" rIns="0" bIns="0" rtlCol="0">
            <a:spAutoFit/>
          </a:bodyPr>
          <a:lstStyle/>
          <a:p>
            <a:r>
              <a:rPr lang="en-US" sz="1100" i="1" dirty="0" smtClean="0">
                <a:solidFill>
                  <a:schemeClr val="tx2">
                    <a:lumMod val="65000"/>
                    <a:lumOff val="35000"/>
                  </a:schemeClr>
                </a:solidFill>
              </a:rPr>
              <a:t>Shows some characteristics that are similar to Southern region</a:t>
            </a:r>
            <a:endParaRPr lang="en-US" sz="1100" i="1" dirty="0">
              <a:solidFill>
                <a:schemeClr val="tx2">
                  <a:lumMod val="65000"/>
                  <a:lumOff val="35000"/>
                </a:schemeClr>
              </a:solidFill>
            </a:endParaRPr>
          </a:p>
        </p:txBody>
      </p:sp>
    </p:spTree>
    <p:extLst>
      <p:ext uri="{BB962C8B-B14F-4D97-AF65-F5344CB8AC3E}">
        <p14:creationId xmlns:p14="http://schemas.microsoft.com/office/powerpoint/2010/main" val="42488076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
            </p:custDataLst>
            <p:extLst>
              <p:ext uri="{D42A27DB-BD31-4B8C-83A1-F6EECF244321}">
                <p14:modId xmlns:p14="http://schemas.microsoft.com/office/powerpoint/2010/main" val="228639543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84853" name="think-cell Slide" r:id="rId34" imgW="270" imgH="270" progId="TCLayout.ActiveDocument.1">
                  <p:embed/>
                </p:oleObj>
              </mc:Choice>
              <mc:Fallback>
                <p:oleObj name="think-cell Slide" r:id="rId34" imgW="270" imgH="270" progId="TCLayout.ActiveDocument.1">
                  <p:embed/>
                  <p:pic>
                    <p:nvPicPr>
                      <p:cNvPr id="0" name=""/>
                      <p:cNvPicPr/>
                      <p:nvPr/>
                    </p:nvPicPr>
                    <p:blipFill>
                      <a:blip r:embed="rId35"/>
                      <a:stretch>
                        <a:fillRect/>
                      </a:stretch>
                    </p:blipFill>
                    <p:spPr>
                      <a:xfrm>
                        <a:off x="1588" y="1588"/>
                        <a:ext cx="1587" cy="1587"/>
                      </a:xfrm>
                      <a:prstGeom prst="rect">
                        <a:avLst/>
                      </a:prstGeom>
                    </p:spPr>
                  </p:pic>
                </p:oleObj>
              </mc:Fallback>
            </mc:AlternateContent>
          </a:graphicData>
        </a:graphic>
      </p:graphicFrame>
      <p:sp>
        <p:nvSpPr>
          <p:cNvPr id="11" name="Rectangle 10"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200" u="none" strike="noStrike" cap="none" normalizeH="0" smtClean="0">
              <a:ln>
                <a:noFill/>
              </a:ln>
              <a:solidFill>
                <a:schemeClr val="tx1"/>
              </a:solidFill>
              <a:effectLst/>
              <a:latin typeface="Arial"/>
              <a:sym typeface="Arial"/>
            </a:endParaRPr>
          </a:p>
        </p:txBody>
      </p:sp>
      <p:sp>
        <p:nvSpPr>
          <p:cNvPr id="39" name="McK Footnote"/>
          <p:cNvSpPr txBox="1">
            <a:spLocks noChangeArrowheads="1"/>
          </p:cNvSpPr>
          <p:nvPr/>
        </p:nvSpPr>
        <p:spPr bwMode="auto">
          <a:xfrm>
            <a:off x="632480" y="6245542"/>
            <a:ext cx="8485187" cy="1384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a:t>
            </a:r>
            <a:r>
              <a:rPr lang="en-US" sz="900" dirty="0">
                <a:solidFill>
                  <a:schemeClr val="tx1">
                    <a:lumMod val="65000"/>
                    <a:lumOff val="35000"/>
                  </a:schemeClr>
                </a:solidFill>
              </a:rPr>
              <a:t>: </a:t>
            </a:r>
            <a:r>
              <a:rPr lang="en-US" sz="900" dirty="0" smtClean="0">
                <a:solidFill>
                  <a:schemeClr val="tx1">
                    <a:lumMod val="65000"/>
                    <a:lumOff val="35000"/>
                  </a:schemeClr>
                </a:solidFill>
              </a:rPr>
              <a:t>FNC, </a:t>
            </a:r>
            <a:r>
              <a:rPr lang="de-DE" sz="900" dirty="0" smtClean="0">
                <a:solidFill>
                  <a:schemeClr val="tx1">
                    <a:lumMod val="65000"/>
                    <a:lumOff val="35000"/>
                  </a:schemeClr>
                </a:solidFill>
              </a:rPr>
              <a:t>DANE, TechnoServe analysis</a:t>
            </a:r>
            <a:endParaRPr lang="en-US" sz="900" dirty="0">
              <a:solidFill>
                <a:schemeClr val="tx1">
                  <a:lumMod val="65000"/>
                  <a:lumOff val="35000"/>
                </a:schemeClr>
              </a:solidFill>
            </a:endParaRPr>
          </a:p>
        </p:txBody>
      </p:sp>
      <p:cxnSp>
        <p:nvCxnSpPr>
          <p:cNvPr id="33" name="Straight Connector 32"/>
          <p:cNvCxnSpPr/>
          <p:nvPr/>
        </p:nvCxnSpPr>
        <p:spPr bwMode="auto">
          <a:xfrm>
            <a:off x="2533023" y="2193925"/>
            <a:ext cx="2898948"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aphicFrame>
        <p:nvGraphicFramePr>
          <p:cNvPr id="16" name="Object 15"/>
          <p:cNvGraphicFramePr>
            <a:graphicFrameLocks/>
          </p:cNvGraphicFramePr>
          <p:nvPr>
            <p:custDataLst>
              <p:tags r:id="rId4"/>
            </p:custDataLst>
            <p:extLst>
              <p:ext uri="{D42A27DB-BD31-4B8C-83A1-F6EECF244321}">
                <p14:modId xmlns:p14="http://schemas.microsoft.com/office/powerpoint/2010/main" val="3261643743"/>
              </p:ext>
            </p:extLst>
          </p:nvPr>
        </p:nvGraphicFramePr>
        <p:xfrm>
          <a:off x="6286500" y="2286000"/>
          <a:ext cx="2181157" cy="3886200"/>
        </p:xfrm>
        <a:graphic>
          <a:graphicData uri="http://schemas.openxmlformats.org/presentationml/2006/ole">
            <mc:AlternateContent xmlns:mc="http://schemas.openxmlformats.org/markup-compatibility/2006">
              <mc:Choice xmlns:v="urn:schemas-microsoft-com:vml" Requires="v">
                <p:oleObj spid="_x0000_s284854" name="Chart" r:id="rId36" imgW="2181157" imgH="3886200" progId="MSGraph.Chart.8">
                  <p:embed followColorScheme="full"/>
                </p:oleObj>
              </mc:Choice>
              <mc:Fallback>
                <p:oleObj name="Chart" r:id="rId36" imgW="2181157" imgH="3886200" progId="MSGraph.Chart.8">
                  <p:embed followColorScheme="full"/>
                  <p:pic>
                    <p:nvPicPr>
                      <p:cNvPr id="0" name=""/>
                      <p:cNvPicPr/>
                      <p:nvPr/>
                    </p:nvPicPr>
                    <p:blipFill>
                      <a:blip r:embed="rId37"/>
                      <a:stretch>
                        <a:fillRect/>
                      </a:stretch>
                    </p:blipFill>
                    <p:spPr>
                      <a:xfrm>
                        <a:off x="6286500" y="2286000"/>
                        <a:ext cx="2181157" cy="3886200"/>
                      </a:xfrm>
                      <a:prstGeom prst="rect">
                        <a:avLst/>
                      </a:prstGeom>
                    </p:spPr>
                  </p:pic>
                </p:oleObj>
              </mc:Fallback>
            </mc:AlternateContent>
          </a:graphicData>
        </a:graphic>
      </p:graphicFrame>
      <p:sp>
        <p:nvSpPr>
          <p:cNvPr id="57" name="Text Placeholder 61"/>
          <p:cNvSpPr>
            <a:spLocks noGrp="1"/>
          </p:cNvSpPr>
          <p:nvPr>
            <p:custDataLst>
              <p:tags r:id="rId5"/>
            </p:custDataLst>
          </p:nvPr>
        </p:nvSpPr>
        <p:spPr bwMode="gray">
          <a:xfrm>
            <a:off x="6092825" y="5767388"/>
            <a:ext cx="2635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-24</a:t>
            </a:r>
            <a:endParaRPr lang="en-US" sz="1200" dirty="0">
              <a:solidFill>
                <a:schemeClr val="accent1"/>
              </a:solidFill>
              <a:latin typeface="Arial"/>
              <a:sym typeface="Arial"/>
            </a:endParaRPr>
          </a:p>
        </p:txBody>
      </p:sp>
      <p:sp>
        <p:nvSpPr>
          <p:cNvPr id="55" name="Text Placeholder 60"/>
          <p:cNvSpPr>
            <a:spLocks noGrp="1"/>
          </p:cNvSpPr>
          <p:nvPr>
            <p:custDataLst>
              <p:tags r:id="rId6"/>
            </p:custDataLst>
          </p:nvPr>
        </p:nvSpPr>
        <p:spPr bwMode="gray">
          <a:xfrm>
            <a:off x="6311900" y="5357813"/>
            <a:ext cx="2635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-21</a:t>
            </a:r>
            <a:endParaRPr lang="en-US" sz="1200" dirty="0">
              <a:solidFill>
                <a:schemeClr val="accent1"/>
              </a:solidFill>
              <a:latin typeface="Arial"/>
              <a:sym typeface="Arial"/>
            </a:endParaRPr>
          </a:p>
        </p:txBody>
      </p:sp>
      <p:sp>
        <p:nvSpPr>
          <p:cNvPr id="54" name="Text Placeholder 59"/>
          <p:cNvSpPr>
            <a:spLocks noGrp="1"/>
          </p:cNvSpPr>
          <p:nvPr>
            <p:custDataLst>
              <p:tags r:id="rId7"/>
            </p:custDataLst>
          </p:nvPr>
        </p:nvSpPr>
        <p:spPr bwMode="gray">
          <a:xfrm>
            <a:off x="6711950" y="4948238"/>
            <a:ext cx="2635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-17</a:t>
            </a:r>
            <a:endParaRPr lang="en-US" sz="1200" dirty="0">
              <a:solidFill>
                <a:schemeClr val="accent1"/>
              </a:solidFill>
              <a:latin typeface="Arial"/>
              <a:sym typeface="Arial"/>
            </a:endParaRPr>
          </a:p>
        </p:txBody>
      </p:sp>
      <p:sp>
        <p:nvSpPr>
          <p:cNvPr id="52" name="Text Placeholder 58"/>
          <p:cNvSpPr>
            <a:spLocks noGrp="1"/>
          </p:cNvSpPr>
          <p:nvPr>
            <p:custDataLst>
              <p:tags r:id="rId8"/>
            </p:custDataLst>
          </p:nvPr>
        </p:nvSpPr>
        <p:spPr bwMode="gray">
          <a:xfrm>
            <a:off x="6788150" y="4538663"/>
            <a:ext cx="2635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-16</a:t>
            </a:r>
            <a:endParaRPr lang="en-US" sz="1200" dirty="0">
              <a:solidFill>
                <a:schemeClr val="accent1"/>
              </a:solidFill>
              <a:latin typeface="Arial"/>
              <a:sym typeface="Arial"/>
            </a:endParaRPr>
          </a:p>
        </p:txBody>
      </p:sp>
      <p:sp>
        <p:nvSpPr>
          <p:cNvPr id="51" name="Text Placeholder 57"/>
          <p:cNvSpPr>
            <a:spLocks noGrp="1"/>
          </p:cNvSpPr>
          <p:nvPr>
            <p:custDataLst>
              <p:tags r:id="rId9"/>
            </p:custDataLst>
          </p:nvPr>
        </p:nvSpPr>
        <p:spPr bwMode="gray">
          <a:xfrm>
            <a:off x="6969125" y="4129088"/>
            <a:ext cx="2635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latin typeface="Arial"/>
                <a:sym typeface="Arial"/>
              </a:rPr>
              <a:t>-</a:t>
            </a:r>
            <a:r>
              <a:rPr lang="en-US" sz="1200" dirty="0" smtClean="0">
                <a:solidFill>
                  <a:schemeClr val="accent1"/>
                </a:solidFill>
                <a:latin typeface="Arial"/>
                <a:sym typeface="Arial"/>
              </a:rPr>
              <a:t>14</a:t>
            </a:r>
            <a:endParaRPr lang="en-US" sz="1200" dirty="0">
              <a:solidFill>
                <a:schemeClr val="accent1"/>
              </a:solidFill>
              <a:latin typeface="Arial"/>
              <a:sym typeface="Arial"/>
            </a:endParaRPr>
          </a:p>
        </p:txBody>
      </p:sp>
      <p:sp>
        <p:nvSpPr>
          <p:cNvPr id="50" name="Text Placeholder 56"/>
          <p:cNvSpPr>
            <a:spLocks noGrp="1"/>
          </p:cNvSpPr>
          <p:nvPr>
            <p:custDataLst>
              <p:tags r:id="rId10"/>
            </p:custDataLst>
          </p:nvPr>
        </p:nvSpPr>
        <p:spPr bwMode="gray">
          <a:xfrm>
            <a:off x="7170738" y="3719513"/>
            <a:ext cx="25241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-11</a:t>
            </a:r>
            <a:endParaRPr lang="en-US" sz="1200" dirty="0">
              <a:solidFill>
                <a:schemeClr val="accent1"/>
              </a:solidFill>
              <a:latin typeface="Arial"/>
              <a:sym typeface="Arial"/>
            </a:endParaRPr>
          </a:p>
        </p:txBody>
      </p:sp>
      <p:sp>
        <p:nvSpPr>
          <p:cNvPr id="47" name="Text Placeholder 55"/>
          <p:cNvSpPr>
            <a:spLocks noGrp="1"/>
          </p:cNvSpPr>
          <p:nvPr>
            <p:custDataLst>
              <p:tags r:id="rId11"/>
            </p:custDataLst>
          </p:nvPr>
        </p:nvSpPr>
        <p:spPr bwMode="gray">
          <a:xfrm>
            <a:off x="7529513" y="3309938"/>
            <a:ext cx="1793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-8</a:t>
            </a:r>
            <a:endParaRPr lang="en-US" sz="1200" dirty="0">
              <a:solidFill>
                <a:schemeClr val="accent1"/>
              </a:solidFill>
              <a:latin typeface="Arial"/>
              <a:sym typeface="Arial"/>
            </a:endParaRPr>
          </a:p>
        </p:txBody>
      </p:sp>
      <p:sp>
        <p:nvSpPr>
          <p:cNvPr id="46" name="Text Placeholder 54"/>
          <p:cNvSpPr>
            <a:spLocks noGrp="1"/>
          </p:cNvSpPr>
          <p:nvPr>
            <p:custDataLst>
              <p:tags r:id="rId12"/>
            </p:custDataLst>
          </p:nvPr>
        </p:nvSpPr>
        <p:spPr bwMode="gray">
          <a:xfrm>
            <a:off x="7739063" y="2900363"/>
            <a:ext cx="1793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-5</a:t>
            </a:r>
            <a:endParaRPr lang="en-US" sz="1200" dirty="0">
              <a:solidFill>
                <a:schemeClr val="accent1"/>
              </a:solidFill>
              <a:latin typeface="Arial"/>
              <a:sym typeface="Arial"/>
            </a:endParaRPr>
          </a:p>
        </p:txBody>
      </p:sp>
      <p:sp>
        <p:nvSpPr>
          <p:cNvPr id="44" name="Text Placeholder 53"/>
          <p:cNvSpPr>
            <a:spLocks noGrp="1"/>
          </p:cNvSpPr>
          <p:nvPr>
            <p:custDataLst>
              <p:tags r:id="rId13"/>
            </p:custDataLst>
          </p:nvPr>
        </p:nvSpPr>
        <p:spPr bwMode="gray">
          <a:xfrm>
            <a:off x="7824788" y="2490788"/>
            <a:ext cx="1793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-4</a:t>
            </a:r>
            <a:endParaRPr lang="en-US" sz="1200" dirty="0">
              <a:solidFill>
                <a:schemeClr val="accent1"/>
              </a:solidFill>
              <a:latin typeface="Arial"/>
              <a:sym typeface="Arial"/>
            </a:endParaRPr>
          </a:p>
        </p:txBody>
      </p:sp>
      <p:sp>
        <p:nvSpPr>
          <p:cNvPr id="18" name="TextBox 17"/>
          <p:cNvSpPr txBox="1"/>
          <p:nvPr/>
        </p:nvSpPr>
        <p:spPr>
          <a:xfrm>
            <a:off x="5852940" y="1552614"/>
            <a:ext cx="3029803" cy="646331"/>
          </a:xfrm>
          <a:prstGeom prst="rect">
            <a:avLst/>
          </a:prstGeom>
          <a:noFill/>
        </p:spPr>
        <p:txBody>
          <a:bodyPr wrap="square" rtlCol="0">
            <a:spAutoFit/>
          </a:bodyPr>
          <a:lstStyle/>
          <a:p>
            <a:r>
              <a:rPr lang="en-US" sz="1200" b="1" dirty="0" smtClean="0">
                <a:solidFill>
                  <a:schemeClr val="accent1"/>
                </a:solidFill>
              </a:rPr>
              <a:t>Migration rate of rural population, 1993-2005</a:t>
            </a:r>
          </a:p>
          <a:p>
            <a:r>
              <a:rPr lang="en-US" sz="1200" dirty="0">
                <a:solidFill>
                  <a:schemeClr val="accent1"/>
                </a:solidFill>
              </a:rPr>
              <a:t>Incidents per </a:t>
            </a:r>
            <a:r>
              <a:rPr lang="en-US" sz="1200" dirty="0" smtClean="0">
                <a:solidFill>
                  <a:schemeClr val="accent1"/>
                </a:solidFill>
              </a:rPr>
              <a:t>1,000</a:t>
            </a:r>
            <a:endParaRPr lang="en-US" sz="1200" dirty="0">
              <a:solidFill>
                <a:schemeClr val="accent1"/>
              </a:solidFill>
            </a:endParaRPr>
          </a:p>
        </p:txBody>
      </p:sp>
      <p:sp>
        <p:nvSpPr>
          <p:cNvPr id="7" name="Rectangle 6"/>
          <p:cNvSpPr/>
          <p:nvPr/>
        </p:nvSpPr>
        <p:spPr bwMode="auto">
          <a:xfrm>
            <a:off x="7353627" y="1034807"/>
            <a:ext cx="144000" cy="144000"/>
          </a:xfrm>
          <a:prstGeom prst="rect">
            <a:avLst/>
          </a:prstGeom>
          <a:solidFill>
            <a:srgbClr val="212492"/>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b="1" i="0" u="none" strike="noStrike" cap="none" normalizeH="0" baseline="0" smtClean="0">
              <a:ln>
                <a:noFill/>
              </a:ln>
              <a:solidFill>
                <a:schemeClr val="accent1"/>
              </a:solidFill>
              <a:effectLst/>
              <a:latin typeface="Arial" charset="0"/>
            </a:endParaRPr>
          </a:p>
        </p:txBody>
      </p:sp>
      <p:sp>
        <p:nvSpPr>
          <p:cNvPr id="9" name="TextBox 8"/>
          <p:cNvSpPr txBox="1"/>
          <p:nvPr/>
        </p:nvSpPr>
        <p:spPr>
          <a:xfrm>
            <a:off x="7495028" y="979737"/>
            <a:ext cx="1582612" cy="261610"/>
          </a:xfrm>
          <a:prstGeom prst="rect">
            <a:avLst/>
          </a:prstGeom>
          <a:noFill/>
        </p:spPr>
        <p:txBody>
          <a:bodyPr wrap="square" rtlCol="0">
            <a:spAutoFit/>
          </a:bodyPr>
          <a:lstStyle/>
          <a:p>
            <a:r>
              <a:rPr lang="en-US" sz="1050" dirty="0" smtClean="0">
                <a:solidFill>
                  <a:schemeClr val="accent1"/>
                </a:solidFill>
              </a:rPr>
              <a:t>Southern region</a:t>
            </a:r>
            <a:endParaRPr lang="en-US" sz="1050" dirty="0">
              <a:solidFill>
                <a:schemeClr val="accent1"/>
              </a:solidFill>
            </a:endParaRPr>
          </a:p>
        </p:txBody>
      </p:sp>
      <p:sp>
        <p:nvSpPr>
          <p:cNvPr id="3" name="Title 2"/>
          <p:cNvSpPr>
            <a:spLocks noGrp="1"/>
          </p:cNvSpPr>
          <p:nvPr>
            <p:ph type="title"/>
          </p:nvPr>
        </p:nvSpPr>
        <p:spPr/>
        <p:txBody>
          <a:bodyPr/>
          <a:lstStyle/>
          <a:p>
            <a:pPr marL="271463"/>
            <a:r>
              <a:rPr lang="en-US" sz="1600" b="0" dirty="0"/>
              <a:t>REGIONAL ARCHETYPES</a:t>
            </a:r>
            <a:r>
              <a:rPr lang="en-US" b="0" dirty="0"/>
              <a:t/>
            </a:r>
            <a:br>
              <a:rPr lang="en-US" b="0" dirty="0"/>
            </a:br>
            <a:r>
              <a:rPr lang="en-US" b="0" dirty="0" smtClean="0"/>
              <a:t>…Evidenced in part by growing coffee areas and lower rural migration rates</a:t>
            </a:r>
            <a:endParaRPr lang="en-US" b="0" dirty="0"/>
          </a:p>
        </p:txBody>
      </p:sp>
      <p:graphicFrame>
        <p:nvGraphicFramePr>
          <p:cNvPr id="13" name="Object 12"/>
          <p:cNvGraphicFramePr>
            <a:graphicFrameLocks/>
          </p:cNvGraphicFramePr>
          <p:nvPr>
            <p:custDataLst>
              <p:tags r:id="rId14"/>
            </p:custDataLst>
            <p:extLst>
              <p:ext uri="{D42A27DB-BD31-4B8C-83A1-F6EECF244321}">
                <p14:modId xmlns:p14="http://schemas.microsoft.com/office/powerpoint/2010/main" val="1459179277"/>
              </p:ext>
            </p:extLst>
          </p:nvPr>
        </p:nvGraphicFramePr>
        <p:xfrm>
          <a:off x="2705100" y="2286000"/>
          <a:ext cx="2476500" cy="3886200"/>
        </p:xfrm>
        <a:graphic>
          <a:graphicData uri="http://schemas.openxmlformats.org/presentationml/2006/ole">
            <mc:AlternateContent xmlns:mc="http://schemas.openxmlformats.org/markup-compatibility/2006">
              <mc:Choice xmlns:v="urn:schemas-microsoft-com:vml" Requires="v">
                <p:oleObj spid="_x0000_s284855" name="Chart" r:id="rId38" imgW="2476500" imgH="3886200" progId="MSGraph.Chart.8">
                  <p:embed followColorScheme="full"/>
                </p:oleObj>
              </mc:Choice>
              <mc:Fallback>
                <p:oleObj name="Chart" r:id="rId38" imgW="2476500" imgH="3886200" progId="MSGraph.Chart.8">
                  <p:embed followColorScheme="full"/>
                  <p:pic>
                    <p:nvPicPr>
                      <p:cNvPr id="0" name=""/>
                      <p:cNvPicPr/>
                      <p:nvPr/>
                    </p:nvPicPr>
                    <p:blipFill>
                      <a:blip r:embed="rId39"/>
                      <a:stretch>
                        <a:fillRect/>
                      </a:stretch>
                    </p:blipFill>
                    <p:spPr>
                      <a:xfrm>
                        <a:off x="2705100" y="2286000"/>
                        <a:ext cx="2476500" cy="3886200"/>
                      </a:xfrm>
                      <a:prstGeom prst="rect">
                        <a:avLst/>
                      </a:prstGeom>
                    </p:spPr>
                  </p:pic>
                </p:oleObj>
              </mc:Fallback>
            </mc:AlternateContent>
          </a:graphicData>
        </a:graphic>
      </p:graphicFrame>
      <p:sp>
        <p:nvSpPr>
          <p:cNvPr id="42" name="Text Placeholder 25"/>
          <p:cNvSpPr>
            <a:spLocks noGrp="1"/>
          </p:cNvSpPr>
          <p:nvPr>
            <p:custDataLst>
              <p:tags r:id="rId15"/>
            </p:custDataLst>
          </p:nvPr>
        </p:nvSpPr>
        <p:spPr bwMode="gray">
          <a:xfrm>
            <a:off x="2701925" y="5767388"/>
            <a:ext cx="2635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-15</a:t>
            </a:r>
            <a:endParaRPr lang="en-US" sz="1200" dirty="0">
              <a:solidFill>
                <a:schemeClr val="accent1"/>
              </a:solidFill>
              <a:latin typeface="Arial"/>
              <a:sym typeface="Arial"/>
            </a:endParaRPr>
          </a:p>
        </p:txBody>
      </p:sp>
      <p:sp>
        <p:nvSpPr>
          <p:cNvPr id="45" name="Text Placeholder 62"/>
          <p:cNvSpPr>
            <a:spLocks noGrp="1"/>
          </p:cNvSpPr>
          <p:nvPr>
            <p:custDataLst>
              <p:tags r:id="rId16"/>
            </p:custDataLst>
          </p:nvPr>
        </p:nvSpPr>
        <p:spPr bwMode="auto">
          <a:xfrm>
            <a:off x="985838" y="5767388"/>
            <a:ext cx="4714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FD0C0B3C-F541-4F21-BD51-8C59935F96A8}" type="datetime'C''''''a''''''''''''''''''''''''ld''''''''''''''''''as'''">
              <a:rPr lang="en-US" sz="1200">
                <a:solidFill>
                  <a:schemeClr val="accent1"/>
                </a:solidFill>
              </a:rPr>
              <a:pPr marL="0" indent="0">
                <a:buNone/>
              </a:pPr>
              <a:t>Caldas</a:t>
            </a:fld>
            <a:endParaRPr lang="en-US" sz="1200" dirty="0">
              <a:solidFill>
                <a:schemeClr val="accent1"/>
              </a:solidFill>
              <a:latin typeface="Arial"/>
              <a:sym typeface="Arial"/>
            </a:endParaRPr>
          </a:p>
        </p:txBody>
      </p:sp>
      <p:sp>
        <p:nvSpPr>
          <p:cNvPr id="40" name="Text Placeholder 61"/>
          <p:cNvSpPr>
            <a:spLocks noGrp="1"/>
          </p:cNvSpPr>
          <p:nvPr>
            <p:custDataLst>
              <p:tags r:id="rId17"/>
            </p:custDataLst>
          </p:nvPr>
        </p:nvSpPr>
        <p:spPr bwMode="auto">
          <a:xfrm>
            <a:off x="985838" y="5357813"/>
            <a:ext cx="438150"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CF5BFA6D-498A-466F-AAE4-E7D5F37CCDAB}" type="datetime'''''''''T''''''''o''''l''''''''i''''''''''m''''a'''''''">
              <a:rPr lang="en-US" sz="1200">
                <a:solidFill>
                  <a:schemeClr val="accent1"/>
                </a:solidFill>
              </a:rPr>
              <a:pPr marL="0" indent="0">
                <a:buNone/>
              </a:pPr>
              <a:t>Tolima</a:t>
            </a:fld>
            <a:endParaRPr lang="en-US" sz="1200" dirty="0">
              <a:solidFill>
                <a:schemeClr val="accent1"/>
              </a:solidFill>
              <a:latin typeface="Arial"/>
              <a:sym typeface="Arial"/>
            </a:endParaRPr>
          </a:p>
        </p:txBody>
      </p:sp>
      <p:sp>
        <p:nvSpPr>
          <p:cNvPr id="41" name="Text Placeholder 24"/>
          <p:cNvSpPr>
            <a:spLocks noGrp="1"/>
          </p:cNvSpPr>
          <p:nvPr>
            <p:custDataLst>
              <p:tags r:id="rId18"/>
            </p:custDataLst>
          </p:nvPr>
        </p:nvSpPr>
        <p:spPr bwMode="gray">
          <a:xfrm>
            <a:off x="3749675" y="5357813"/>
            <a:ext cx="212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200" dirty="0" smtClean="0">
                <a:solidFill>
                  <a:schemeClr val="accent1"/>
                </a:solidFill>
                <a:latin typeface="Arial"/>
                <a:sym typeface="Arial"/>
              </a:rPr>
              <a:t>13</a:t>
            </a:r>
            <a:endParaRPr lang="en-US" sz="1200" dirty="0">
              <a:solidFill>
                <a:schemeClr val="accent1"/>
              </a:solidFill>
              <a:latin typeface="Arial"/>
              <a:sym typeface="Arial"/>
            </a:endParaRPr>
          </a:p>
        </p:txBody>
      </p:sp>
      <p:sp>
        <p:nvSpPr>
          <p:cNvPr id="43" name="Text Placeholder 59"/>
          <p:cNvSpPr>
            <a:spLocks noGrp="1"/>
          </p:cNvSpPr>
          <p:nvPr>
            <p:custDataLst>
              <p:tags r:id="rId19"/>
            </p:custDataLst>
          </p:nvPr>
        </p:nvSpPr>
        <p:spPr bwMode="auto">
          <a:xfrm>
            <a:off x="985838" y="4948238"/>
            <a:ext cx="6318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87969DC9-44E6-4C0F-92C2-265E3875FE54}" type="datetime'''''An''''''''t''''''''''''''''''''i''o''''''''qui''''a'''''''">
              <a:rPr lang="en-US" sz="1200">
                <a:solidFill>
                  <a:schemeClr val="accent1"/>
                </a:solidFill>
              </a:rPr>
              <a:pPr marL="0" indent="0">
                <a:buNone/>
              </a:pPr>
              <a:t>Antioquia</a:t>
            </a:fld>
            <a:endParaRPr lang="en-US" sz="1200" dirty="0">
              <a:solidFill>
                <a:schemeClr val="accent1"/>
              </a:solidFill>
              <a:latin typeface="Arial"/>
              <a:sym typeface="Arial"/>
            </a:endParaRPr>
          </a:p>
        </p:txBody>
      </p:sp>
      <p:sp>
        <p:nvSpPr>
          <p:cNvPr id="36" name="Text Placeholder 21"/>
          <p:cNvSpPr>
            <a:spLocks noGrp="1"/>
          </p:cNvSpPr>
          <p:nvPr>
            <p:custDataLst>
              <p:tags r:id="rId20"/>
            </p:custDataLst>
          </p:nvPr>
        </p:nvSpPr>
        <p:spPr bwMode="gray">
          <a:xfrm>
            <a:off x="3568700" y="4948238"/>
            <a:ext cx="1285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200" dirty="0" smtClean="0">
                <a:solidFill>
                  <a:schemeClr val="accent1"/>
                </a:solidFill>
                <a:latin typeface="Arial"/>
                <a:sym typeface="Arial"/>
              </a:rPr>
              <a:t>6</a:t>
            </a:r>
            <a:endParaRPr lang="en-US" sz="1200" dirty="0">
              <a:solidFill>
                <a:schemeClr val="accent1"/>
              </a:solidFill>
              <a:latin typeface="Arial"/>
              <a:sym typeface="Arial"/>
            </a:endParaRPr>
          </a:p>
        </p:txBody>
      </p:sp>
      <p:sp>
        <p:nvSpPr>
          <p:cNvPr id="37" name="Text Placeholder 60"/>
          <p:cNvSpPr>
            <a:spLocks noGrp="1"/>
          </p:cNvSpPr>
          <p:nvPr>
            <p:custDataLst>
              <p:tags r:id="rId21"/>
            </p:custDataLst>
          </p:nvPr>
        </p:nvSpPr>
        <p:spPr bwMode="auto">
          <a:xfrm>
            <a:off x="985838" y="4538663"/>
            <a:ext cx="6397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15CAE92A-5FC3-43AF-A995-D2F9F56C5E9E}" type="datetime'R''''''''''i''''''s''a''''''''''r''''a''''l''da'''''''''''''">
              <a:rPr lang="en-US" sz="1200">
                <a:solidFill>
                  <a:schemeClr val="accent1"/>
                </a:solidFill>
              </a:rPr>
              <a:pPr marL="0" indent="0">
                <a:buNone/>
              </a:pPr>
              <a:t>Risaralda</a:t>
            </a:fld>
            <a:endParaRPr lang="en-US" sz="1200" dirty="0">
              <a:solidFill>
                <a:schemeClr val="accent1"/>
              </a:solidFill>
              <a:latin typeface="Arial"/>
              <a:sym typeface="Arial"/>
            </a:endParaRPr>
          </a:p>
        </p:txBody>
      </p:sp>
      <p:sp>
        <p:nvSpPr>
          <p:cNvPr id="35" name="Text Placeholder 9"/>
          <p:cNvSpPr>
            <a:spLocks noGrp="1"/>
          </p:cNvSpPr>
          <p:nvPr>
            <p:custDataLst>
              <p:tags r:id="rId22"/>
            </p:custDataLst>
          </p:nvPr>
        </p:nvSpPr>
        <p:spPr bwMode="gray">
          <a:xfrm>
            <a:off x="2844800" y="4538663"/>
            <a:ext cx="2635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-10</a:t>
            </a:r>
            <a:endParaRPr lang="en-US" sz="1200" dirty="0">
              <a:solidFill>
                <a:schemeClr val="accent1"/>
              </a:solidFill>
              <a:latin typeface="Arial"/>
              <a:sym typeface="Arial"/>
            </a:endParaRPr>
          </a:p>
        </p:txBody>
      </p:sp>
      <p:sp>
        <p:nvSpPr>
          <p:cNvPr id="48" name="Text Placeholder 58"/>
          <p:cNvSpPr>
            <a:spLocks noGrp="1"/>
          </p:cNvSpPr>
          <p:nvPr>
            <p:custDataLst>
              <p:tags r:id="rId23"/>
            </p:custDataLst>
          </p:nvPr>
        </p:nvSpPr>
        <p:spPr bwMode="auto">
          <a:xfrm>
            <a:off x="985838" y="4129088"/>
            <a:ext cx="14144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B781298C-9D97-49F0-B54D-107BB1443FA8}" type="datetime'''''''''''C''u''nd''''''ina''m''''''''a''''''r''''''''c''a'">
              <a:rPr lang="en-US" sz="1200" smtClean="0">
                <a:solidFill>
                  <a:schemeClr val="accent1"/>
                </a:solidFill>
              </a:rPr>
              <a:pPr/>
              <a:t>Cundinamarca</a:t>
            </a:fld>
            <a:r>
              <a:rPr lang="en-US" sz="1200" dirty="0" smtClean="0"/>
              <a:t>          </a:t>
            </a:r>
            <a:endParaRPr lang="en-US" sz="1200" dirty="0">
              <a:latin typeface="Arial"/>
              <a:sym typeface="Arial"/>
            </a:endParaRPr>
          </a:p>
        </p:txBody>
      </p:sp>
      <p:sp>
        <p:nvSpPr>
          <p:cNvPr id="34" name="Text Placeholder 8"/>
          <p:cNvSpPr>
            <a:spLocks noGrp="1"/>
          </p:cNvSpPr>
          <p:nvPr>
            <p:custDataLst>
              <p:tags r:id="rId24"/>
            </p:custDataLst>
          </p:nvPr>
        </p:nvSpPr>
        <p:spPr bwMode="gray">
          <a:xfrm>
            <a:off x="2540000" y="4129088"/>
            <a:ext cx="2635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-21</a:t>
            </a:r>
            <a:endParaRPr lang="en-US" sz="1200" dirty="0">
              <a:solidFill>
                <a:schemeClr val="accent1"/>
              </a:solidFill>
              <a:latin typeface="Arial"/>
              <a:sym typeface="Arial"/>
            </a:endParaRPr>
          </a:p>
        </p:txBody>
      </p:sp>
      <p:sp>
        <p:nvSpPr>
          <p:cNvPr id="38" name="Text Placeholder 57"/>
          <p:cNvSpPr>
            <a:spLocks noGrp="1"/>
          </p:cNvSpPr>
          <p:nvPr>
            <p:custDataLst>
              <p:tags r:id="rId25"/>
            </p:custDataLst>
          </p:nvPr>
        </p:nvSpPr>
        <p:spPr bwMode="auto">
          <a:xfrm>
            <a:off x="985838" y="3719513"/>
            <a:ext cx="32543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9EF52EF6-6FF3-4FED-9DCC-9BF3F57C3F9E}" type="datetime'''''V''''''''''''''''''''''a''''''''''''''lle'''">
              <a:rPr lang="en-US" sz="1200">
                <a:solidFill>
                  <a:schemeClr val="accent1"/>
                </a:solidFill>
              </a:rPr>
              <a:pPr marL="0" indent="0">
                <a:buNone/>
              </a:pPr>
              <a:t>Valle</a:t>
            </a:fld>
            <a:endParaRPr lang="en-US" sz="1200" dirty="0">
              <a:solidFill>
                <a:schemeClr val="accent1"/>
              </a:solidFill>
              <a:latin typeface="Arial"/>
              <a:sym typeface="Arial"/>
            </a:endParaRPr>
          </a:p>
        </p:txBody>
      </p:sp>
      <p:sp>
        <p:nvSpPr>
          <p:cNvPr id="32" name="Text Placeholder 7"/>
          <p:cNvSpPr>
            <a:spLocks noGrp="1"/>
          </p:cNvSpPr>
          <p:nvPr>
            <p:custDataLst>
              <p:tags r:id="rId26"/>
            </p:custDataLst>
          </p:nvPr>
        </p:nvSpPr>
        <p:spPr bwMode="gray">
          <a:xfrm>
            <a:off x="2568575" y="3719513"/>
            <a:ext cx="2635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200" dirty="0" smtClean="0">
                <a:solidFill>
                  <a:schemeClr val="accent1"/>
                </a:solidFill>
                <a:latin typeface="Arial"/>
                <a:sym typeface="Arial"/>
              </a:rPr>
              <a:t>-20</a:t>
            </a:r>
            <a:endParaRPr lang="en-US" sz="1200" dirty="0">
              <a:solidFill>
                <a:schemeClr val="accent1"/>
              </a:solidFill>
              <a:latin typeface="Arial"/>
              <a:sym typeface="Arial"/>
            </a:endParaRPr>
          </a:p>
        </p:txBody>
      </p:sp>
      <p:sp>
        <p:nvSpPr>
          <p:cNvPr id="49" name="Text Placeholder 45"/>
          <p:cNvSpPr>
            <a:spLocks noGrp="1"/>
          </p:cNvSpPr>
          <p:nvPr>
            <p:custDataLst>
              <p:tags r:id="rId27"/>
            </p:custDataLst>
          </p:nvPr>
        </p:nvSpPr>
        <p:spPr bwMode="auto">
          <a:xfrm>
            <a:off x="985838" y="3309938"/>
            <a:ext cx="3444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BA5683F7-3DF3-4797-8FB0-B14C8C0AF3F7}" type="datetime'''H''ui''''''''''''''''l''''''''''''''''''''''''''''''a'''''''">
              <a:rPr lang="en-US" sz="1200">
                <a:solidFill>
                  <a:schemeClr val="accent1"/>
                </a:solidFill>
              </a:rPr>
              <a:pPr marL="0" indent="0">
                <a:buNone/>
              </a:pPr>
              <a:t>Huila</a:t>
            </a:fld>
            <a:endParaRPr lang="en-US" sz="1200" dirty="0">
              <a:solidFill>
                <a:schemeClr val="accent1"/>
              </a:solidFill>
              <a:sym typeface="+mn-lt"/>
            </a:endParaRPr>
          </a:p>
        </p:txBody>
      </p:sp>
      <p:sp>
        <p:nvSpPr>
          <p:cNvPr id="31" name="Text Placeholder 6"/>
          <p:cNvSpPr>
            <a:spLocks noGrp="1"/>
          </p:cNvSpPr>
          <p:nvPr>
            <p:custDataLst>
              <p:tags r:id="rId28"/>
            </p:custDataLst>
          </p:nvPr>
        </p:nvSpPr>
        <p:spPr bwMode="gray">
          <a:xfrm>
            <a:off x="5102225" y="3309938"/>
            <a:ext cx="212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200" dirty="0" smtClean="0">
                <a:solidFill>
                  <a:schemeClr val="accent1"/>
                </a:solidFill>
                <a:latin typeface="Arial"/>
                <a:sym typeface="Arial"/>
              </a:rPr>
              <a:t>65</a:t>
            </a:r>
            <a:endParaRPr lang="en-US" sz="1200" dirty="0">
              <a:solidFill>
                <a:schemeClr val="accent1"/>
              </a:solidFill>
              <a:latin typeface="Arial"/>
              <a:sym typeface="Arial"/>
            </a:endParaRPr>
          </a:p>
        </p:txBody>
      </p:sp>
      <p:sp>
        <p:nvSpPr>
          <p:cNvPr id="56" name="Text Placeholder 53"/>
          <p:cNvSpPr>
            <a:spLocks noGrp="1"/>
          </p:cNvSpPr>
          <p:nvPr>
            <p:custDataLst>
              <p:tags r:id="rId29"/>
            </p:custDataLst>
          </p:nvPr>
        </p:nvSpPr>
        <p:spPr bwMode="auto">
          <a:xfrm>
            <a:off x="985838" y="2900363"/>
            <a:ext cx="438150"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8653F05D-B617-476F-92B9-F14EDB7D804D}" type="datetime'''''''''''''''''''''''Ca''u''c''''''''''''''''a'''''''''''">
              <a:rPr lang="en-US" sz="1200">
                <a:solidFill>
                  <a:schemeClr val="accent1"/>
                </a:solidFill>
              </a:rPr>
              <a:pPr marL="0" indent="0">
                <a:buNone/>
              </a:pPr>
              <a:t>Cauca</a:t>
            </a:fld>
            <a:endParaRPr lang="en-US" sz="1200" dirty="0">
              <a:solidFill>
                <a:schemeClr val="accent1"/>
              </a:solidFill>
              <a:latin typeface="Arial"/>
              <a:sym typeface="Arial"/>
            </a:endParaRPr>
          </a:p>
        </p:txBody>
      </p:sp>
      <p:sp>
        <p:nvSpPr>
          <p:cNvPr id="30" name="Text Placeholder 5"/>
          <p:cNvSpPr>
            <a:spLocks noGrp="1"/>
          </p:cNvSpPr>
          <p:nvPr>
            <p:custDataLst>
              <p:tags r:id="rId30"/>
            </p:custDataLst>
          </p:nvPr>
        </p:nvSpPr>
        <p:spPr bwMode="gray">
          <a:xfrm>
            <a:off x="4225925" y="2900363"/>
            <a:ext cx="212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200" dirty="0" smtClean="0">
                <a:solidFill>
                  <a:schemeClr val="accent1"/>
                </a:solidFill>
                <a:latin typeface="Arial"/>
                <a:sym typeface="Arial"/>
              </a:rPr>
              <a:t>31</a:t>
            </a:r>
            <a:endParaRPr lang="en-US" sz="1200" dirty="0">
              <a:solidFill>
                <a:schemeClr val="accent1"/>
              </a:solidFill>
              <a:latin typeface="Arial"/>
              <a:sym typeface="Arial"/>
            </a:endParaRPr>
          </a:p>
        </p:txBody>
      </p:sp>
      <p:sp>
        <p:nvSpPr>
          <p:cNvPr id="53" name="Text Placeholder 55"/>
          <p:cNvSpPr>
            <a:spLocks noGrp="1"/>
          </p:cNvSpPr>
          <p:nvPr>
            <p:custDataLst>
              <p:tags r:id="rId31"/>
            </p:custDataLst>
          </p:nvPr>
        </p:nvSpPr>
        <p:spPr bwMode="auto">
          <a:xfrm>
            <a:off x="985838" y="2490788"/>
            <a:ext cx="446088" cy="182563"/>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7B567051-E70C-4621-B7E6-F753F04023F9}" type="datetime'''''N''a''''''''''''''''r''''''i''''''n''''o'''''''''">
              <a:rPr lang="en-US" sz="1200">
                <a:solidFill>
                  <a:schemeClr val="accent1"/>
                </a:solidFill>
              </a:rPr>
              <a:pPr marL="0" indent="0">
                <a:buNone/>
              </a:pPr>
              <a:t>Narino</a:t>
            </a:fld>
            <a:endParaRPr lang="en-US" sz="1200" dirty="0">
              <a:solidFill>
                <a:schemeClr val="accent1"/>
              </a:solidFill>
              <a:latin typeface="Arial"/>
              <a:sym typeface="Arial"/>
            </a:endParaRPr>
          </a:p>
        </p:txBody>
      </p:sp>
      <p:sp>
        <p:nvSpPr>
          <p:cNvPr id="29" name="Text Placeholder 4"/>
          <p:cNvSpPr>
            <a:spLocks noGrp="1"/>
          </p:cNvSpPr>
          <p:nvPr>
            <p:custDataLst>
              <p:tags r:id="rId32"/>
            </p:custDataLst>
          </p:nvPr>
        </p:nvSpPr>
        <p:spPr bwMode="gray">
          <a:xfrm>
            <a:off x="4730750" y="2490788"/>
            <a:ext cx="212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200" dirty="0" smtClean="0">
                <a:solidFill>
                  <a:schemeClr val="accent1"/>
                </a:solidFill>
                <a:latin typeface="Arial"/>
                <a:sym typeface="Arial"/>
              </a:rPr>
              <a:t>50</a:t>
            </a:r>
            <a:endParaRPr lang="en-US" sz="1200" dirty="0">
              <a:solidFill>
                <a:schemeClr val="accent1"/>
              </a:solidFill>
              <a:latin typeface="Arial"/>
              <a:sym typeface="Arial"/>
            </a:endParaRPr>
          </a:p>
        </p:txBody>
      </p:sp>
      <p:sp>
        <p:nvSpPr>
          <p:cNvPr id="91" name="TextBox 90"/>
          <p:cNvSpPr txBox="1"/>
          <p:nvPr/>
        </p:nvSpPr>
        <p:spPr>
          <a:xfrm>
            <a:off x="2533023" y="1552614"/>
            <a:ext cx="2898616" cy="646331"/>
          </a:xfrm>
          <a:prstGeom prst="rect">
            <a:avLst/>
          </a:prstGeom>
          <a:noFill/>
        </p:spPr>
        <p:txBody>
          <a:bodyPr wrap="square" rtlCol="0">
            <a:spAutoFit/>
          </a:bodyPr>
          <a:lstStyle/>
          <a:p>
            <a:r>
              <a:rPr lang="en-US" sz="1200" b="1" dirty="0" smtClean="0">
                <a:solidFill>
                  <a:schemeClr val="accent1"/>
                </a:solidFill>
              </a:rPr>
              <a:t>Difference in area cultivated for coffee between 2004 and 2013</a:t>
            </a:r>
          </a:p>
          <a:p>
            <a:r>
              <a:rPr lang="en-US" sz="1200" dirty="0" smtClean="0">
                <a:solidFill>
                  <a:schemeClr val="accent1"/>
                </a:solidFill>
              </a:rPr>
              <a:t>Percent</a:t>
            </a:r>
          </a:p>
        </p:txBody>
      </p:sp>
      <p:cxnSp>
        <p:nvCxnSpPr>
          <p:cNvPr id="94" name="Straight Connector 93"/>
          <p:cNvCxnSpPr/>
          <p:nvPr/>
        </p:nvCxnSpPr>
        <p:spPr bwMode="auto">
          <a:xfrm>
            <a:off x="5852940" y="2193925"/>
            <a:ext cx="2898948"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cxnSp>
        <p:nvCxnSpPr>
          <p:cNvPr id="17" name="Straight Connector 16"/>
          <p:cNvCxnSpPr/>
          <p:nvPr/>
        </p:nvCxnSpPr>
        <p:spPr>
          <a:xfrm>
            <a:off x="985838" y="2193925"/>
            <a:ext cx="141446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985838" y="1911350"/>
            <a:ext cx="1449308" cy="276999"/>
          </a:xfrm>
          <a:prstGeom prst="rect">
            <a:avLst/>
          </a:prstGeom>
          <a:noFill/>
        </p:spPr>
        <p:txBody>
          <a:bodyPr wrap="square" rtlCol="0">
            <a:spAutoFit/>
          </a:bodyPr>
          <a:lstStyle/>
          <a:p>
            <a:r>
              <a:rPr lang="en-US" sz="1200" b="1" dirty="0" smtClean="0">
                <a:solidFill>
                  <a:schemeClr val="accent1"/>
                </a:solidFill>
              </a:rPr>
              <a:t>Region</a:t>
            </a:r>
            <a:endParaRPr lang="en-US" sz="1200" dirty="0" smtClean="0">
              <a:solidFill>
                <a:schemeClr val="accent1"/>
              </a:solidFill>
            </a:endParaRPr>
          </a:p>
        </p:txBody>
      </p:sp>
      <p:sp>
        <p:nvSpPr>
          <p:cNvPr id="26" name="Rectangle 25"/>
          <p:cNvSpPr/>
          <p:nvPr/>
        </p:nvSpPr>
        <p:spPr bwMode="auto">
          <a:xfrm>
            <a:off x="7353627" y="1244357"/>
            <a:ext cx="144000" cy="144000"/>
          </a:xfrm>
          <a:prstGeom prst="rect">
            <a:avLst/>
          </a:prstGeom>
          <a:solidFill>
            <a:srgbClr val="BEBFF0"/>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b="1" i="0" u="none" strike="noStrike" cap="none" normalizeH="0" baseline="0" smtClean="0">
              <a:ln>
                <a:noFill/>
              </a:ln>
              <a:solidFill>
                <a:schemeClr val="accent1"/>
              </a:solidFill>
              <a:effectLst/>
              <a:latin typeface="Arial" charset="0"/>
            </a:endParaRPr>
          </a:p>
        </p:txBody>
      </p:sp>
      <p:sp>
        <p:nvSpPr>
          <p:cNvPr id="27" name="TextBox 26"/>
          <p:cNvSpPr txBox="1"/>
          <p:nvPr/>
        </p:nvSpPr>
        <p:spPr>
          <a:xfrm>
            <a:off x="7495028" y="1200717"/>
            <a:ext cx="1582612" cy="261610"/>
          </a:xfrm>
          <a:prstGeom prst="rect">
            <a:avLst/>
          </a:prstGeom>
          <a:noFill/>
        </p:spPr>
        <p:txBody>
          <a:bodyPr wrap="square" rtlCol="0">
            <a:spAutoFit/>
          </a:bodyPr>
          <a:lstStyle/>
          <a:p>
            <a:r>
              <a:rPr lang="en-US" sz="1050" dirty="0" smtClean="0">
                <a:solidFill>
                  <a:schemeClr val="accent1"/>
                </a:solidFill>
              </a:rPr>
              <a:t>Central/Northern region</a:t>
            </a:r>
            <a:endParaRPr lang="en-US" sz="1050" dirty="0">
              <a:solidFill>
                <a:schemeClr val="accent1"/>
              </a:solidFill>
            </a:endParaRPr>
          </a:p>
        </p:txBody>
      </p:sp>
      <p:sp>
        <p:nvSpPr>
          <p:cNvPr id="28" name="Oval 27"/>
          <p:cNvSpPr/>
          <p:nvPr/>
        </p:nvSpPr>
        <p:spPr bwMode="auto">
          <a:xfrm>
            <a:off x="139822" y="304799"/>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dirty="0" smtClean="0">
                <a:ln>
                  <a:noFill/>
                </a:ln>
                <a:solidFill>
                  <a:schemeClr val="bg1"/>
                </a:solidFill>
                <a:effectLst/>
                <a:latin typeface="Arial" charset="0"/>
              </a:rPr>
              <a:t>A</a:t>
            </a:r>
          </a:p>
        </p:txBody>
      </p:sp>
    </p:spTree>
    <p:extLst>
      <p:ext uri="{BB962C8B-B14F-4D97-AF65-F5344CB8AC3E}">
        <p14:creationId xmlns:p14="http://schemas.microsoft.com/office/powerpoint/2010/main" val="33445254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p:custDataLst>
              <p:tags r:id="rId2"/>
            </p:custDataLst>
            <p:extLst>
              <p:ext uri="{D42A27DB-BD31-4B8C-83A1-F6EECF244321}">
                <p14:modId xmlns:p14="http://schemas.microsoft.com/office/powerpoint/2010/main" val="14514086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3323" name="think-cell Slide" r:id="rId26" imgW="6350000" imgH="6350000" progId="TCLayout.ActiveDocument.1">
                  <p:embed/>
                </p:oleObj>
              </mc:Choice>
              <mc:Fallback>
                <p:oleObj name="think-cell Slide" r:id="rId26" imgW="6350000" imgH="6350000" progId="TCLayout.ActiveDocument.1">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53" name="TextBox 52"/>
          <p:cNvSpPr txBox="1"/>
          <p:nvPr/>
        </p:nvSpPr>
        <p:spPr>
          <a:xfrm>
            <a:off x="563486" y="6213647"/>
            <a:ext cx="7578498" cy="230832"/>
          </a:xfrm>
          <a:prstGeom prst="rect">
            <a:avLst/>
          </a:prstGeom>
          <a:noFill/>
        </p:spPr>
        <p:txBody>
          <a:bodyPr wrap="square" rtlCol="0" anchor="b">
            <a:spAutoFit/>
          </a:bodyPr>
          <a:lstStyle/>
          <a:p>
            <a:r>
              <a:rPr lang="en-US" sz="900" dirty="0" smtClean="0">
                <a:solidFill>
                  <a:schemeClr val="tx1">
                    <a:lumMod val="65000"/>
                    <a:lumOff val="35000"/>
                  </a:schemeClr>
                </a:solidFill>
              </a:rPr>
              <a:t>Source: Interviews; TechnoServe analysis </a:t>
            </a:r>
            <a:endParaRPr lang="en-US" sz="900" dirty="0">
              <a:solidFill>
                <a:schemeClr val="tx1">
                  <a:lumMod val="65000"/>
                  <a:lumOff val="35000"/>
                </a:schemeClr>
              </a:solidFill>
            </a:endParaRPr>
          </a:p>
        </p:txBody>
      </p:sp>
      <p:sp>
        <p:nvSpPr>
          <p:cNvPr id="6" name="Title 5"/>
          <p:cNvSpPr>
            <a:spLocks noGrp="1"/>
          </p:cNvSpPr>
          <p:nvPr>
            <p:ph type="title"/>
          </p:nvPr>
        </p:nvSpPr>
        <p:spPr/>
        <p:txBody>
          <a:bodyPr/>
          <a:lstStyle/>
          <a:p>
            <a:pPr marL="271463"/>
            <a:r>
              <a:rPr lang="en-US" sz="1600" b="0" dirty="0" smtClean="0"/>
              <a:t>FARM SIZE ARCHETYPES</a:t>
            </a:r>
            <a:r>
              <a:rPr lang="en-US" b="0" dirty="0"/>
              <a:t/>
            </a:r>
            <a:br>
              <a:rPr lang="en-US" b="0" dirty="0"/>
            </a:br>
            <a:r>
              <a:rPr lang="en-US" b="0" dirty="0" smtClean="0"/>
              <a:t>Larger farms tend to utilize labor more efficiently</a:t>
            </a:r>
            <a:endParaRPr lang="en-US" b="0" dirty="0"/>
          </a:p>
        </p:txBody>
      </p:sp>
      <p:sp>
        <p:nvSpPr>
          <p:cNvPr id="2" name="TextBox 1"/>
          <p:cNvSpPr txBox="1"/>
          <p:nvPr/>
        </p:nvSpPr>
        <p:spPr>
          <a:xfrm>
            <a:off x="463972" y="1408171"/>
            <a:ext cx="3799114" cy="430887"/>
          </a:xfrm>
          <a:prstGeom prst="rect">
            <a:avLst/>
          </a:prstGeom>
          <a:noFill/>
        </p:spPr>
        <p:txBody>
          <a:bodyPr wrap="square" lIns="0" tIns="0" rIns="0" bIns="0" rtlCol="0">
            <a:spAutoFit/>
          </a:bodyPr>
          <a:lstStyle/>
          <a:p>
            <a:r>
              <a:rPr lang="en-US" sz="1400" b="1" dirty="0" smtClean="0">
                <a:solidFill>
                  <a:schemeClr val="accent1"/>
                </a:solidFill>
              </a:rPr>
              <a:t>Number of labor days per 100 </a:t>
            </a:r>
            <a:r>
              <a:rPr lang="en-US" sz="1400" b="1" dirty="0" err="1" smtClean="0">
                <a:solidFill>
                  <a:schemeClr val="accent1"/>
                </a:solidFill>
              </a:rPr>
              <a:t>lbs</a:t>
            </a:r>
            <a:r>
              <a:rPr lang="en-US" sz="1400" b="1" dirty="0" smtClean="0">
                <a:solidFill>
                  <a:schemeClr val="accent1"/>
                </a:solidFill>
              </a:rPr>
              <a:t> per year</a:t>
            </a:r>
          </a:p>
          <a:p>
            <a:r>
              <a:rPr lang="en-US" sz="1400" dirty="0" smtClean="0">
                <a:solidFill>
                  <a:schemeClr val="accent1"/>
                </a:solidFill>
              </a:rPr>
              <a:t>Days</a:t>
            </a:r>
            <a:endParaRPr lang="en-US" sz="1400" dirty="0">
              <a:solidFill>
                <a:schemeClr val="accent1"/>
              </a:solidFill>
            </a:endParaRPr>
          </a:p>
        </p:txBody>
      </p:sp>
      <p:sp>
        <p:nvSpPr>
          <p:cNvPr id="20" name="Oval 19"/>
          <p:cNvSpPr/>
          <p:nvPr/>
        </p:nvSpPr>
        <p:spPr bwMode="auto">
          <a:xfrm>
            <a:off x="139822" y="304799"/>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dirty="0" smtClean="0">
                <a:ln>
                  <a:noFill/>
                </a:ln>
                <a:solidFill>
                  <a:schemeClr val="bg1"/>
                </a:solidFill>
                <a:effectLst/>
                <a:latin typeface="Arial" charset="0"/>
              </a:rPr>
              <a:t>B</a:t>
            </a:r>
          </a:p>
        </p:txBody>
      </p:sp>
      <p:graphicFrame>
        <p:nvGraphicFramePr>
          <p:cNvPr id="4" name="Object 3"/>
          <p:cNvGraphicFramePr>
            <a:graphicFrameLocks/>
          </p:cNvGraphicFramePr>
          <p:nvPr>
            <p:custDataLst>
              <p:tags r:id="rId4"/>
            </p:custDataLst>
            <p:extLst>
              <p:ext uri="{D42A27DB-BD31-4B8C-83A1-F6EECF244321}">
                <p14:modId xmlns:p14="http://schemas.microsoft.com/office/powerpoint/2010/main" val="3721572323"/>
              </p:ext>
            </p:extLst>
          </p:nvPr>
        </p:nvGraphicFramePr>
        <p:xfrm>
          <a:off x="609600" y="2057400"/>
          <a:ext cx="7324657" cy="3238410"/>
        </p:xfrm>
        <a:graphic>
          <a:graphicData uri="http://schemas.openxmlformats.org/presentationml/2006/ole">
            <mc:AlternateContent xmlns:mc="http://schemas.openxmlformats.org/markup-compatibility/2006">
              <mc:Choice xmlns:v="urn:schemas-microsoft-com:vml" Requires="v">
                <p:oleObj spid="_x0000_s213324" name="Chart" r:id="rId28" imgW="7324657" imgH="3238410" progId="MSGraph.Chart.8">
                  <p:embed followColorScheme="full"/>
                </p:oleObj>
              </mc:Choice>
              <mc:Fallback>
                <p:oleObj name="Chart" r:id="rId28" imgW="7324657" imgH="3238410" progId="MSGraph.Chart.8">
                  <p:embed followColorScheme="full"/>
                  <p:pic>
                    <p:nvPicPr>
                      <p:cNvPr id="0" name=""/>
                      <p:cNvPicPr/>
                      <p:nvPr/>
                    </p:nvPicPr>
                    <p:blipFill>
                      <a:blip r:embed="rId29"/>
                      <a:stretch>
                        <a:fillRect/>
                      </a:stretch>
                    </p:blipFill>
                    <p:spPr>
                      <a:xfrm>
                        <a:off x="609600" y="2057400"/>
                        <a:ext cx="7324657" cy="3238410"/>
                      </a:xfrm>
                      <a:prstGeom prst="rect">
                        <a:avLst/>
                      </a:prstGeom>
                    </p:spPr>
                  </p:pic>
                </p:oleObj>
              </mc:Fallback>
            </mc:AlternateContent>
          </a:graphicData>
        </a:graphic>
      </p:graphicFrame>
      <p:sp>
        <p:nvSpPr>
          <p:cNvPr id="51" name="Text Placeholder 53"/>
          <p:cNvSpPr>
            <a:spLocks noGrp="1"/>
          </p:cNvSpPr>
          <p:nvPr>
            <p:custDataLst>
              <p:tags r:id="rId5"/>
            </p:custDataLst>
          </p:nvPr>
        </p:nvSpPr>
        <p:spPr bwMode="gray">
          <a:xfrm>
            <a:off x="533400" y="2074863"/>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7</a:t>
            </a:r>
            <a:endParaRPr lang="en-US" sz="1400" dirty="0">
              <a:solidFill>
                <a:schemeClr val="accent1"/>
              </a:solidFill>
              <a:latin typeface="Arial"/>
              <a:sym typeface="Arial"/>
            </a:endParaRPr>
          </a:p>
        </p:txBody>
      </p:sp>
      <p:sp>
        <p:nvSpPr>
          <p:cNvPr id="56" name="Text Placeholder 57"/>
          <p:cNvSpPr>
            <a:spLocks noGrp="1"/>
          </p:cNvSpPr>
          <p:nvPr>
            <p:custDataLst>
              <p:tags r:id="rId6"/>
            </p:custDataLst>
          </p:nvPr>
        </p:nvSpPr>
        <p:spPr bwMode="gray">
          <a:xfrm>
            <a:off x="533400" y="2817813"/>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6</a:t>
            </a:r>
            <a:endParaRPr lang="en-US" sz="1400" dirty="0">
              <a:solidFill>
                <a:schemeClr val="accent1"/>
              </a:solidFill>
              <a:latin typeface="Arial"/>
              <a:sym typeface="Arial"/>
            </a:endParaRPr>
          </a:p>
        </p:txBody>
      </p:sp>
      <p:sp>
        <p:nvSpPr>
          <p:cNvPr id="55" name="Text Placeholder 56"/>
          <p:cNvSpPr>
            <a:spLocks noGrp="1"/>
          </p:cNvSpPr>
          <p:nvPr>
            <p:custDataLst>
              <p:tags r:id="rId7"/>
            </p:custDataLst>
          </p:nvPr>
        </p:nvSpPr>
        <p:spPr bwMode="gray">
          <a:xfrm>
            <a:off x="533400" y="3560763"/>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5</a:t>
            </a:r>
            <a:endParaRPr lang="en-US" sz="1400" dirty="0">
              <a:solidFill>
                <a:schemeClr val="accent1"/>
              </a:solidFill>
              <a:latin typeface="Arial"/>
              <a:sym typeface="Arial"/>
            </a:endParaRPr>
          </a:p>
        </p:txBody>
      </p:sp>
      <p:sp>
        <p:nvSpPr>
          <p:cNvPr id="54" name="Text Placeholder 55"/>
          <p:cNvSpPr>
            <a:spLocks noGrp="1"/>
          </p:cNvSpPr>
          <p:nvPr>
            <p:custDataLst>
              <p:tags r:id="rId8"/>
            </p:custDataLst>
          </p:nvPr>
        </p:nvSpPr>
        <p:spPr bwMode="gray">
          <a:xfrm>
            <a:off x="533400" y="4294188"/>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4</a:t>
            </a:r>
            <a:endParaRPr lang="en-US" sz="1400" dirty="0">
              <a:solidFill>
                <a:schemeClr val="accent1"/>
              </a:solidFill>
              <a:latin typeface="Arial"/>
              <a:sym typeface="Arial"/>
            </a:endParaRPr>
          </a:p>
        </p:txBody>
      </p:sp>
      <p:sp>
        <p:nvSpPr>
          <p:cNvPr id="52" name="Text Placeholder 54"/>
          <p:cNvSpPr>
            <a:spLocks noGrp="1"/>
          </p:cNvSpPr>
          <p:nvPr>
            <p:custDataLst>
              <p:tags r:id="rId9"/>
            </p:custDataLst>
          </p:nvPr>
        </p:nvSpPr>
        <p:spPr bwMode="gray">
          <a:xfrm>
            <a:off x="533400" y="5037138"/>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3</a:t>
            </a:r>
            <a:endParaRPr lang="en-US" sz="1400" dirty="0">
              <a:solidFill>
                <a:schemeClr val="accent1"/>
              </a:solidFill>
              <a:latin typeface="Arial"/>
              <a:sym typeface="Arial"/>
            </a:endParaRPr>
          </a:p>
        </p:txBody>
      </p:sp>
      <p:cxnSp>
        <p:nvCxnSpPr>
          <p:cNvPr id="12" name="Straight Connector 11"/>
          <p:cNvCxnSpPr/>
          <p:nvPr>
            <p:custDataLst>
              <p:tags r:id="rId10"/>
            </p:custDataLst>
          </p:nvPr>
        </p:nvCxnSpPr>
        <p:spPr bwMode="gray">
          <a:xfrm>
            <a:off x="7829550" y="3121025"/>
            <a:ext cx="0" cy="615950"/>
          </a:xfrm>
          <a:prstGeom prst="line">
            <a:avLst/>
          </a:prstGeom>
          <a:ln w="25400">
            <a:solidFill>
              <a:srgbClr val="D52B1E"/>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11"/>
            </p:custDataLst>
          </p:nvPr>
        </p:nvCxnSpPr>
        <p:spPr bwMode="auto">
          <a:xfrm>
            <a:off x="2181225" y="3124200"/>
            <a:ext cx="5686425" cy="0"/>
          </a:xfrm>
          <a:prstGeom prst="line">
            <a:avLst/>
          </a:prstGeom>
          <a:ln w="63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6" name="Text Placeholder 31"/>
          <p:cNvSpPr>
            <a:spLocks noGrp="1"/>
          </p:cNvSpPr>
          <p:nvPr>
            <p:custDataLst>
              <p:tags r:id="rId12"/>
            </p:custDataLst>
          </p:nvPr>
        </p:nvSpPr>
        <p:spPr bwMode="gray">
          <a:xfrm>
            <a:off x="7535863" y="3254375"/>
            <a:ext cx="587375" cy="273050"/>
          </a:xfrm>
          <a:prstGeom prst="ellipse">
            <a:avLst/>
          </a:prstGeom>
          <a:solidFill>
            <a:schemeClr val="accent1"/>
          </a:solidFill>
          <a:ln w="9525">
            <a:solidFill>
              <a:srgbClr val="D52B1E"/>
            </a:solidFill>
          </a:ln>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lnSpc>
                <a:spcPct val="90000"/>
              </a:lnSpc>
              <a:spcBef>
                <a:spcPct val="0"/>
              </a:spcBef>
              <a:spcAft>
                <a:spcPct val="0"/>
              </a:spcAft>
              <a:buNone/>
            </a:pPr>
            <a:r>
              <a:rPr lang="en-US" sz="1400" b="1" dirty="0" smtClean="0">
                <a:solidFill>
                  <a:schemeClr val="bg1"/>
                </a:solidFill>
              </a:rPr>
              <a:t>-15%</a:t>
            </a:r>
            <a:endParaRPr lang="en-US" sz="1400" b="1" dirty="0">
              <a:solidFill>
                <a:schemeClr val="bg1"/>
              </a:solidFill>
              <a:latin typeface="Arial"/>
              <a:sym typeface="Arial"/>
            </a:endParaRPr>
          </a:p>
        </p:txBody>
      </p:sp>
      <p:sp>
        <p:nvSpPr>
          <p:cNvPr id="34" name="Text Placeholder 35"/>
          <p:cNvSpPr>
            <a:spLocks noGrp="1"/>
          </p:cNvSpPr>
          <p:nvPr>
            <p:custDataLst>
              <p:tags r:id="rId13"/>
            </p:custDataLst>
          </p:nvPr>
        </p:nvSpPr>
        <p:spPr bwMode="auto">
          <a:xfrm>
            <a:off x="8075613" y="4930775"/>
            <a:ext cx="819150" cy="42545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b="1" dirty="0" smtClean="0">
                <a:solidFill>
                  <a:schemeClr val="accent1"/>
                </a:solidFill>
                <a:latin typeface="Arial"/>
                <a:sym typeface="Arial"/>
              </a:rPr>
              <a:t>Farm size</a:t>
            </a:r>
          </a:p>
          <a:p>
            <a:pPr marL="0" indent="0">
              <a:spcBef>
                <a:spcPct val="0"/>
              </a:spcBef>
              <a:spcAft>
                <a:spcPct val="0"/>
              </a:spcAft>
              <a:buNone/>
            </a:pPr>
            <a:r>
              <a:rPr lang="en-US" sz="1400" dirty="0" smtClean="0">
                <a:solidFill>
                  <a:schemeClr val="accent1"/>
                </a:solidFill>
                <a:latin typeface="Arial"/>
                <a:sym typeface="Arial"/>
              </a:rPr>
              <a:t>Hectares</a:t>
            </a:r>
            <a:endParaRPr lang="en-US" sz="1400" dirty="0">
              <a:solidFill>
                <a:schemeClr val="accent1"/>
              </a:solidFill>
              <a:latin typeface="Arial"/>
              <a:sym typeface="Arial"/>
            </a:endParaRPr>
          </a:p>
        </p:txBody>
      </p:sp>
      <p:sp>
        <p:nvSpPr>
          <p:cNvPr id="33" name="Text Placeholder 30"/>
          <p:cNvSpPr>
            <a:spLocks noGrp="1"/>
          </p:cNvSpPr>
          <p:nvPr>
            <p:custDataLst>
              <p:tags r:id="rId14"/>
            </p:custDataLst>
          </p:nvPr>
        </p:nvSpPr>
        <p:spPr bwMode="auto">
          <a:xfrm>
            <a:off x="7724775" y="5305425"/>
            <a:ext cx="20955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A7562CB-5E37-4773-8131-4D19713326A7}" type="datetime'''''''''''''''''''''''1''''''''''''''''''''''0'''''">
              <a:rPr lang="en-US" sz="1400">
                <a:solidFill>
                  <a:schemeClr val="accent1"/>
                </a:solidFill>
                <a:latin typeface="Arial"/>
                <a:sym typeface="Arial"/>
              </a:rPr>
              <a:pPr marL="0" indent="0" algn="ctr">
                <a:spcBef>
                  <a:spcPct val="0"/>
                </a:spcBef>
                <a:spcAft>
                  <a:spcPct val="0"/>
                </a:spcAft>
                <a:buNone/>
              </a:pPr>
              <a:t>10</a:t>
            </a:fld>
            <a:endParaRPr lang="en-US" sz="1400" dirty="0">
              <a:solidFill>
                <a:schemeClr val="accent1"/>
              </a:solidFill>
              <a:latin typeface="Arial"/>
              <a:sym typeface="Arial"/>
            </a:endParaRPr>
          </a:p>
        </p:txBody>
      </p:sp>
      <p:sp>
        <p:nvSpPr>
          <p:cNvPr id="32" name="Text Placeholder 29"/>
          <p:cNvSpPr>
            <a:spLocks noGrp="1"/>
          </p:cNvSpPr>
          <p:nvPr>
            <p:custDataLst>
              <p:tags r:id="rId15"/>
            </p:custDataLst>
          </p:nvPr>
        </p:nvSpPr>
        <p:spPr bwMode="auto">
          <a:xfrm>
            <a:off x="7069138" y="530542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9245F83-7B37-4167-9BE3-282163D7A0C9}" type="datetime'''''''''''''9'''''''''''">
              <a:rPr lang="en-US" sz="1400">
                <a:solidFill>
                  <a:schemeClr val="accent1"/>
                </a:solidFill>
                <a:latin typeface="Arial"/>
                <a:sym typeface="Arial"/>
              </a:rPr>
              <a:pPr marL="0" indent="0" algn="ctr">
                <a:spcBef>
                  <a:spcPct val="0"/>
                </a:spcBef>
                <a:spcAft>
                  <a:spcPct val="0"/>
                </a:spcAft>
                <a:buNone/>
              </a:pPr>
              <a:t>9</a:t>
            </a:fld>
            <a:endParaRPr lang="en-US" sz="1400" dirty="0">
              <a:solidFill>
                <a:schemeClr val="accent1"/>
              </a:solidFill>
              <a:latin typeface="Arial"/>
              <a:sym typeface="Arial"/>
            </a:endParaRPr>
          </a:p>
        </p:txBody>
      </p:sp>
      <p:sp>
        <p:nvSpPr>
          <p:cNvPr id="31" name="Text Placeholder 28"/>
          <p:cNvSpPr>
            <a:spLocks noGrp="1"/>
          </p:cNvSpPr>
          <p:nvPr>
            <p:custDataLst>
              <p:tags r:id="rId16"/>
            </p:custDataLst>
          </p:nvPr>
        </p:nvSpPr>
        <p:spPr bwMode="auto">
          <a:xfrm>
            <a:off x="6364288" y="530542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F84B040-41AB-4910-B9C4-3A1D6DCA49D8}" type="datetime'''''''''''''8'''''''''''''''''''">
              <a:rPr lang="en-US" sz="1400">
                <a:solidFill>
                  <a:schemeClr val="accent1"/>
                </a:solidFill>
                <a:latin typeface="Arial"/>
                <a:sym typeface="Arial"/>
              </a:rPr>
              <a:pPr marL="0" indent="0" algn="ctr">
                <a:spcBef>
                  <a:spcPct val="0"/>
                </a:spcBef>
                <a:spcAft>
                  <a:spcPct val="0"/>
                </a:spcAft>
                <a:buNone/>
              </a:pPr>
              <a:t>8</a:t>
            </a:fld>
            <a:endParaRPr lang="en-US" sz="1400" dirty="0">
              <a:solidFill>
                <a:schemeClr val="accent1"/>
              </a:solidFill>
              <a:latin typeface="Arial"/>
              <a:sym typeface="Arial"/>
            </a:endParaRPr>
          </a:p>
        </p:txBody>
      </p:sp>
      <p:sp>
        <p:nvSpPr>
          <p:cNvPr id="30" name="Text Placeholder 27"/>
          <p:cNvSpPr>
            <a:spLocks noGrp="1"/>
          </p:cNvSpPr>
          <p:nvPr>
            <p:custDataLst>
              <p:tags r:id="rId17"/>
            </p:custDataLst>
          </p:nvPr>
        </p:nvSpPr>
        <p:spPr bwMode="auto">
          <a:xfrm>
            <a:off x="5659438" y="530542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0FFF27E-DF37-4F6E-82E2-BA754B12F8FE}" type="datetime'''''''''''''''''''''''''''''''''''7'''''''''''''">
              <a:rPr lang="en-US" sz="1400">
                <a:solidFill>
                  <a:schemeClr val="accent1"/>
                </a:solidFill>
                <a:latin typeface="Arial"/>
                <a:sym typeface="Arial"/>
              </a:rPr>
              <a:pPr marL="0" indent="0" algn="ctr">
                <a:spcBef>
                  <a:spcPct val="0"/>
                </a:spcBef>
                <a:spcAft>
                  <a:spcPct val="0"/>
                </a:spcAft>
                <a:buNone/>
              </a:pPr>
              <a:t>7</a:t>
            </a:fld>
            <a:endParaRPr lang="en-US" sz="1400" dirty="0">
              <a:solidFill>
                <a:schemeClr val="accent1"/>
              </a:solidFill>
              <a:latin typeface="Arial"/>
              <a:sym typeface="Arial"/>
            </a:endParaRPr>
          </a:p>
        </p:txBody>
      </p:sp>
      <p:sp>
        <p:nvSpPr>
          <p:cNvPr id="29" name="Text Placeholder 26"/>
          <p:cNvSpPr>
            <a:spLocks noGrp="1"/>
          </p:cNvSpPr>
          <p:nvPr>
            <p:custDataLst>
              <p:tags r:id="rId18"/>
            </p:custDataLst>
          </p:nvPr>
        </p:nvSpPr>
        <p:spPr bwMode="auto">
          <a:xfrm>
            <a:off x="4954588" y="530542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9075D06-D532-42A7-9C0E-76E35B507789}" type="datetime'''''''6'''''''''''''''''''''''''''''''''''''''''''''''">
              <a:rPr lang="en-US" sz="1400">
                <a:solidFill>
                  <a:schemeClr val="accent1"/>
                </a:solidFill>
                <a:latin typeface="Arial"/>
                <a:sym typeface="Arial"/>
              </a:rPr>
              <a:pPr marL="0" indent="0" algn="ctr">
                <a:spcBef>
                  <a:spcPct val="0"/>
                </a:spcBef>
                <a:spcAft>
                  <a:spcPct val="0"/>
                </a:spcAft>
                <a:buNone/>
              </a:pPr>
              <a:t>6</a:t>
            </a:fld>
            <a:endParaRPr lang="en-US" sz="1400" dirty="0">
              <a:solidFill>
                <a:schemeClr val="accent1"/>
              </a:solidFill>
              <a:latin typeface="Arial"/>
              <a:sym typeface="Arial"/>
            </a:endParaRPr>
          </a:p>
        </p:txBody>
      </p:sp>
      <p:sp>
        <p:nvSpPr>
          <p:cNvPr id="28" name="Text Placeholder 25"/>
          <p:cNvSpPr>
            <a:spLocks noGrp="1"/>
          </p:cNvSpPr>
          <p:nvPr>
            <p:custDataLst>
              <p:tags r:id="rId19"/>
            </p:custDataLst>
          </p:nvPr>
        </p:nvSpPr>
        <p:spPr bwMode="auto">
          <a:xfrm>
            <a:off x="4249738" y="530542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7FAD835-5F25-416B-8DE5-1F3AE5EBAFCD}" type="datetime'''''''''5'''''''''''''''''">
              <a:rPr lang="en-US" sz="1400">
                <a:solidFill>
                  <a:schemeClr val="accent1"/>
                </a:solidFill>
                <a:latin typeface="Arial"/>
                <a:sym typeface="Arial"/>
              </a:rPr>
              <a:pPr marL="0" indent="0" algn="ctr">
                <a:spcBef>
                  <a:spcPct val="0"/>
                </a:spcBef>
                <a:spcAft>
                  <a:spcPct val="0"/>
                </a:spcAft>
                <a:buNone/>
              </a:pPr>
              <a:t>5</a:t>
            </a:fld>
            <a:endParaRPr lang="en-US" sz="1400" dirty="0">
              <a:solidFill>
                <a:schemeClr val="accent1"/>
              </a:solidFill>
              <a:latin typeface="Arial"/>
              <a:sym typeface="Arial"/>
            </a:endParaRPr>
          </a:p>
        </p:txBody>
      </p:sp>
      <p:sp>
        <p:nvSpPr>
          <p:cNvPr id="27" name="Text Placeholder 24"/>
          <p:cNvSpPr>
            <a:spLocks noGrp="1"/>
          </p:cNvSpPr>
          <p:nvPr>
            <p:custDataLst>
              <p:tags r:id="rId20"/>
            </p:custDataLst>
          </p:nvPr>
        </p:nvSpPr>
        <p:spPr bwMode="auto">
          <a:xfrm>
            <a:off x="3535363" y="530542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00A10E58-19AA-4DD2-BCAD-C69F2D8D0EB9}" type="datetime'''''''''''''''''''''4'''''''''''''''''''''''''''''">
              <a:rPr lang="en-US" sz="1400">
                <a:solidFill>
                  <a:schemeClr val="accent1"/>
                </a:solidFill>
                <a:latin typeface="Arial"/>
                <a:sym typeface="Arial"/>
              </a:rPr>
              <a:pPr marL="0" indent="0" algn="ctr">
                <a:spcBef>
                  <a:spcPct val="0"/>
                </a:spcBef>
                <a:spcAft>
                  <a:spcPct val="0"/>
                </a:spcAft>
                <a:buNone/>
              </a:pPr>
              <a:t>4</a:t>
            </a:fld>
            <a:endParaRPr lang="en-US" sz="1400" dirty="0">
              <a:solidFill>
                <a:schemeClr val="accent1"/>
              </a:solidFill>
              <a:latin typeface="Arial"/>
              <a:sym typeface="Arial"/>
            </a:endParaRPr>
          </a:p>
        </p:txBody>
      </p:sp>
      <p:sp>
        <p:nvSpPr>
          <p:cNvPr id="26" name="Text Placeholder 21"/>
          <p:cNvSpPr>
            <a:spLocks noGrp="1"/>
          </p:cNvSpPr>
          <p:nvPr>
            <p:custDataLst>
              <p:tags r:id="rId21"/>
            </p:custDataLst>
          </p:nvPr>
        </p:nvSpPr>
        <p:spPr bwMode="auto">
          <a:xfrm>
            <a:off x="2830513" y="530542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7DED0943-25F7-4213-BBBB-8A41017589C6}" type="datetime'''3'">
              <a:rPr lang="en-US" sz="1400">
                <a:solidFill>
                  <a:schemeClr val="accent1"/>
                </a:solidFill>
                <a:latin typeface="Arial"/>
                <a:sym typeface="Arial"/>
              </a:rPr>
              <a:pPr marL="0" indent="0" algn="ctr">
                <a:spcBef>
                  <a:spcPct val="0"/>
                </a:spcBef>
                <a:spcAft>
                  <a:spcPct val="0"/>
                </a:spcAft>
                <a:buNone/>
              </a:pPr>
              <a:t>3</a:t>
            </a:fld>
            <a:endParaRPr lang="en-US" sz="1400" dirty="0">
              <a:solidFill>
                <a:schemeClr val="accent1"/>
              </a:solidFill>
              <a:latin typeface="Arial"/>
              <a:sym typeface="Arial"/>
            </a:endParaRPr>
          </a:p>
        </p:txBody>
      </p:sp>
      <p:sp>
        <p:nvSpPr>
          <p:cNvPr id="23" name="Text Placeholder 7"/>
          <p:cNvSpPr>
            <a:spLocks noGrp="1"/>
          </p:cNvSpPr>
          <p:nvPr>
            <p:custDataLst>
              <p:tags r:id="rId22"/>
            </p:custDataLst>
          </p:nvPr>
        </p:nvSpPr>
        <p:spPr bwMode="auto">
          <a:xfrm>
            <a:off x="2125663" y="530542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D15F360-146B-40BA-8278-50BF9B7C84F5}" type="datetime'2'''''''''''''''''''">
              <a:rPr lang="en-US" sz="1400">
                <a:solidFill>
                  <a:schemeClr val="accent1"/>
                </a:solidFill>
              </a:rPr>
              <a:pPr/>
              <a:t>2</a:t>
            </a:fld>
            <a:endParaRPr lang="en-US" sz="1400" dirty="0">
              <a:solidFill>
                <a:schemeClr val="accent1"/>
              </a:solidFill>
              <a:latin typeface="Arial"/>
              <a:sym typeface="Arial"/>
            </a:endParaRPr>
          </a:p>
        </p:txBody>
      </p:sp>
      <p:sp>
        <p:nvSpPr>
          <p:cNvPr id="22" name="Text Placeholder 6"/>
          <p:cNvSpPr>
            <a:spLocks noGrp="1"/>
          </p:cNvSpPr>
          <p:nvPr>
            <p:custDataLst>
              <p:tags r:id="rId23"/>
            </p:custDataLst>
          </p:nvPr>
        </p:nvSpPr>
        <p:spPr bwMode="auto">
          <a:xfrm>
            <a:off x="1420813" y="530542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0CCD1429-9F7A-45AE-B395-1296F17631BA}" type="datetime'''''''''''''''''''1'''''''''''''''''''''''">
              <a:rPr lang="en-US" sz="1400">
                <a:solidFill>
                  <a:schemeClr val="accent1"/>
                </a:solidFill>
              </a:rPr>
              <a:pPr/>
              <a:t>1</a:t>
            </a:fld>
            <a:endParaRPr lang="en-US" sz="1400" dirty="0">
              <a:solidFill>
                <a:schemeClr val="accent1"/>
              </a:solidFill>
              <a:latin typeface="Arial"/>
              <a:sym typeface="Arial"/>
            </a:endParaRPr>
          </a:p>
        </p:txBody>
      </p:sp>
      <p:sp>
        <p:nvSpPr>
          <p:cNvPr id="21" name="Text Placeholder 5"/>
          <p:cNvSpPr>
            <a:spLocks noGrp="1"/>
          </p:cNvSpPr>
          <p:nvPr>
            <p:custDataLst>
              <p:tags r:id="rId24"/>
            </p:custDataLst>
          </p:nvPr>
        </p:nvSpPr>
        <p:spPr bwMode="auto">
          <a:xfrm>
            <a:off x="715963" y="530542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FC2DAB8-C8F8-4F06-9579-31F55062B0C2}" type="datetime'''''''''''0'''''''''''''''''''''''''''''''''''''''''''''''">
              <a:rPr lang="en-US" sz="1400">
                <a:solidFill>
                  <a:schemeClr val="accent1"/>
                </a:solidFill>
              </a:rPr>
              <a:pPr/>
              <a:t>0</a:t>
            </a:fld>
            <a:endParaRPr lang="en-US" sz="1400" dirty="0">
              <a:solidFill>
                <a:schemeClr val="accent1"/>
              </a:solidFill>
              <a:latin typeface="Arial"/>
              <a:sym typeface="Arial"/>
            </a:endParaRPr>
          </a:p>
        </p:txBody>
      </p:sp>
      <p:cxnSp>
        <p:nvCxnSpPr>
          <p:cNvPr id="14" name="Straight Connector 13"/>
          <p:cNvCxnSpPr/>
          <p:nvPr/>
        </p:nvCxnSpPr>
        <p:spPr>
          <a:xfrm flipH="1" flipV="1">
            <a:off x="2184655" y="3186573"/>
            <a:ext cx="0" cy="21031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3" name="Group 12"/>
          <p:cNvGrpSpPr/>
          <p:nvPr/>
        </p:nvGrpSpPr>
        <p:grpSpPr>
          <a:xfrm>
            <a:off x="3074715" y="2844800"/>
            <a:ext cx="4225957" cy="215444"/>
            <a:chOff x="2363529" y="2931884"/>
            <a:chExt cx="4225957" cy="215444"/>
          </a:xfrm>
        </p:grpSpPr>
        <p:sp>
          <p:nvSpPr>
            <p:cNvPr id="7" name="TextBox 6"/>
            <p:cNvSpPr txBox="1"/>
            <p:nvPr/>
          </p:nvSpPr>
          <p:spPr>
            <a:xfrm>
              <a:off x="2363529" y="2931884"/>
              <a:ext cx="3630871" cy="215444"/>
            </a:xfrm>
            <a:prstGeom prst="rect">
              <a:avLst/>
            </a:prstGeom>
            <a:noFill/>
          </p:spPr>
          <p:txBody>
            <a:bodyPr wrap="square" lIns="0" tIns="0" rIns="0" bIns="0" rtlCol="0">
              <a:spAutoFit/>
            </a:bodyPr>
            <a:lstStyle/>
            <a:p>
              <a:r>
                <a:rPr lang="en-US" sz="1400" dirty="0" smtClean="0">
                  <a:solidFill>
                    <a:schemeClr val="accent1"/>
                  </a:solidFill>
                </a:rPr>
                <a:t>Increasing levels of labor efficiency</a:t>
              </a:r>
              <a:endParaRPr lang="en-US" sz="1400" dirty="0">
                <a:solidFill>
                  <a:schemeClr val="accent1"/>
                </a:solidFill>
              </a:endParaRPr>
            </a:p>
          </p:txBody>
        </p:sp>
        <p:cxnSp>
          <p:nvCxnSpPr>
            <p:cNvPr id="11" name="Straight Arrow Connector 10"/>
            <p:cNvCxnSpPr/>
            <p:nvPr/>
          </p:nvCxnSpPr>
          <p:spPr>
            <a:xfrm>
              <a:off x="5181600" y="3039606"/>
              <a:ext cx="140788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683835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p:custDataLst>
              <p:tags r:id="rId2"/>
            </p:custDataLst>
            <p:extLst>
              <p:ext uri="{D42A27DB-BD31-4B8C-83A1-F6EECF244321}">
                <p14:modId xmlns:p14="http://schemas.microsoft.com/office/powerpoint/2010/main" val="419361939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7827" name="think-cell Slide" r:id="rId26" imgW="6350000" imgH="6350000" progId="TCLayout.ActiveDocument.1">
                  <p:embed/>
                </p:oleObj>
              </mc:Choice>
              <mc:Fallback>
                <p:oleObj name="think-cell Slide" r:id="rId26" imgW="6350000" imgH="6350000" progId="TCLayout.ActiveDocument.1">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53" name="TextBox 52"/>
          <p:cNvSpPr txBox="1"/>
          <p:nvPr/>
        </p:nvSpPr>
        <p:spPr>
          <a:xfrm>
            <a:off x="563486" y="6225077"/>
            <a:ext cx="7578498" cy="230832"/>
          </a:xfrm>
          <a:prstGeom prst="rect">
            <a:avLst/>
          </a:prstGeom>
          <a:noFill/>
        </p:spPr>
        <p:txBody>
          <a:bodyPr wrap="square" rtlCol="0" anchor="b">
            <a:spAutoFit/>
          </a:bodyPr>
          <a:lstStyle/>
          <a:p>
            <a:r>
              <a:rPr lang="en-US" sz="900" dirty="0" smtClean="0">
                <a:solidFill>
                  <a:schemeClr val="tx1">
                    <a:lumMod val="65000"/>
                    <a:lumOff val="35000"/>
                  </a:schemeClr>
                </a:solidFill>
              </a:rPr>
              <a:t>Source: Interviews; TechnoServe analysis </a:t>
            </a:r>
            <a:endParaRPr lang="en-US" sz="900" dirty="0">
              <a:solidFill>
                <a:schemeClr val="tx1">
                  <a:lumMod val="65000"/>
                  <a:lumOff val="35000"/>
                </a:schemeClr>
              </a:solidFill>
            </a:endParaRPr>
          </a:p>
        </p:txBody>
      </p:sp>
      <p:sp>
        <p:nvSpPr>
          <p:cNvPr id="4" name="TextBox 3"/>
          <p:cNvSpPr txBox="1"/>
          <p:nvPr/>
        </p:nvSpPr>
        <p:spPr>
          <a:xfrm>
            <a:off x="659765" y="1358012"/>
            <a:ext cx="6739447" cy="523220"/>
          </a:xfrm>
          <a:prstGeom prst="rect">
            <a:avLst/>
          </a:prstGeom>
          <a:noFill/>
        </p:spPr>
        <p:txBody>
          <a:bodyPr wrap="square" rtlCol="0">
            <a:spAutoFit/>
          </a:bodyPr>
          <a:lstStyle/>
          <a:p>
            <a:r>
              <a:rPr lang="en-US" sz="1400" b="1" dirty="0" smtClean="0">
                <a:solidFill>
                  <a:schemeClr val="accent1"/>
                </a:solidFill>
              </a:rPr>
              <a:t>Estimated distribution of family vs. hired labor by farm size</a:t>
            </a:r>
          </a:p>
          <a:p>
            <a:r>
              <a:rPr lang="en-US" sz="1400" dirty="0">
                <a:solidFill>
                  <a:schemeClr val="accent1"/>
                </a:solidFill>
              </a:rPr>
              <a:t>US$  per lb </a:t>
            </a:r>
            <a:r>
              <a:rPr lang="en-US" sz="1400" dirty="0" smtClean="0">
                <a:solidFill>
                  <a:schemeClr val="accent1"/>
                </a:solidFill>
              </a:rPr>
              <a:t>green</a:t>
            </a:r>
            <a:endParaRPr lang="en-US" sz="1400" b="1" dirty="0" smtClean="0">
              <a:solidFill>
                <a:schemeClr val="accent1"/>
              </a:solidFill>
            </a:endParaRPr>
          </a:p>
        </p:txBody>
      </p:sp>
      <p:sp>
        <p:nvSpPr>
          <p:cNvPr id="6" name="Title 5"/>
          <p:cNvSpPr>
            <a:spLocks noGrp="1"/>
          </p:cNvSpPr>
          <p:nvPr>
            <p:ph type="title"/>
          </p:nvPr>
        </p:nvSpPr>
        <p:spPr/>
        <p:txBody>
          <a:bodyPr/>
          <a:lstStyle/>
          <a:p>
            <a:pPr marL="271463"/>
            <a:r>
              <a:rPr lang="en-US" sz="1600" b="0" dirty="0" smtClean="0"/>
              <a:t>FARM SIZE ARCHETYPES</a:t>
            </a:r>
            <a:r>
              <a:rPr lang="en-US" b="0" dirty="0"/>
              <a:t/>
            </a:r>
            <a:br>
              <a:rPr lang="en-US" b="0" dirty="0"/>
            </a:br>
            <a:r>
              <a:rPr lang="en-US" b="0" dirty="0" smtClean="0"/>
              <a:t>Smaller farms, which rely mostly on family labor, tend to have lower cash costs</a:t>
            </a:r>
            <a:endParaRPr lang="en-US" b="0" dirty="0"/>
          </a:p>
        </p:txBody>
      </p:sp>
      <p:sp>
        <p:nvSpPr>
          <p:cNvPr id="51" name="Oval 50"/>
          <p:cNvSpPr/>
          <p:nvPr/>
        </p:nvSpPr>
        <p:spPr bwMode="auto">
          <a:xfrm>
            <a:off x="139822" y="304799"/>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dirty="0" smtClean="0">
                <a:ln>
                  <a:noFill/>
                </a:ln>
                <a:solidFill>
                  <a:schemeClr val="bg1"/>
                </a:solidFill>
                <a:effectLst/>
                <a:latin typeface="Arial" charset="0"/>
              </a:rPr>
              <a:t>B</a:t>
            </a:r>
          </a:p>
        </p:txBody>
      </p:sp>
      <p:graphicFrame>
        <p:nvGraphicFramePr>
          <p:cNvPr id="49" name="Object 48"/>
          <p:cNvGraphicFramePr>
            <a:graphicFrameLocks/>
          </p:cNvGraphicFramePr>
          <p:nvPr>
            <p:custDataLst>
              <p:tags r:id="rId4"/>
            </p:custDataLst>
            <p:extLst>
              <p:ext uri="{D42A27DB-BD31-4B8C-83A1-F6EECF244321}">
                <p14:modId xmlns:p14="http://schemas.microsoft.com/office/powerpoint/2010/main" val="1121530199"/>
              </p:ext>
            </p:extLst>
          </p:nvPr>
        </p:nvGraphicFramePr>
        <p:xfrm>
          <a:off x="1143000" y="2209800"/>
          <a:ext cx="6696143" cy="3495585"/>
        </p:xfrm>
        <a:graphic>
          <a:graphicData uri="http://schemas.openxmlformats.org/presentationml/2006/ole">
            <mc:AlternateContent xmlns:mc="http://schemas.openxmlformats.org/markup-compatibility/2006">
              <mc:Choice xmlns:v="urn:schemas-microsoft-com:vml" Requires="v">
                <p:oleObj spid="_x0000_s187828" name="Chart" r:id="rId28" imgW="6696143" imgH="3495585" progId="MSGraph.Chart.8">
                  <p:embed followColorScheme="full"/>
                </p:oleObj>
              </mc:Choice>
              <mc:Fallback>
                <p:oleObj name="Chart" r:id="rId28" imgW="6696143" imgH="3495585" progId="MSGraph.Chart.8">
                  <p:embed followColorScheme="full"/>
                  <p:pic>
                    <p:nvPicPr>
                      <p:cNvPr id="0" name=""/>
                      <p:cNvPicPr/>
                      <p:nvPr/>
                    </p:nvPicPr>
                    <p:blipFill>
                      <a:blip r:embed="rId29"/>
                      <a:stretch>
                        <a:fillRect/>
                      </a:stretch>
                    </p:blipFill>
                    <p:spPr>
                      <a:xfrm>
                        <a:off x="1143000" y="2209800"/>
                        <a:ext cx="6696143" cy="3495585"/>
                      </a:xfrm>
                      <a:prstGeom prst="rect">
                        <a:avLst/>
                      </a:prstGeom>
                    </p:spPr>
                  </p:pic>
                </p:oleObj>
              </mc:Fallback>
            </mc:AlternateContent>
          </a:graphicData>
        </a:graphic>
      </p:graphicFrame>
      <p:sp>
        <p:nvSpPr>
          <p:cNvPr id="62" name="Text Placeholder 92"/>
          <p:cNvSpPr>
            <a:spLocks noGrp="1"/>
          </p:cNvSpPr>
          <p:nvPr>
            <p:custDataLst>
              <p:tags r:id="rId5"/>
            </p:custDataLst>
          </p:nvPr>
        </p:nvSpPr>
        <p:spPr bwMode="gray">
          <a:xfrm>
            <a:off x="830263" y="2227263"/>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07D363F1-57EF-420A-821A-D254B65FF781}" type="datetime'1''''''''''''''''''''''''''''''.''''''''''''''''''''00'''">
              <a:rPr lang="en-US" sz="1400">
                <a:solidFill>
                  <a:srgbClr val="C00000"/>
                </a:solidFill>
              </a:rPr>
              <a:pPr/>
              <a:t>1.00</a:t>
            </a:fld>
            <a:endParaRPr lang="en-US" sz="1400" dirty="0">
              <a:solidFill>
                <a:srgbClr val="C00000"/>
              </a:solidFill>
              <a:latin typeface="Arial"/>
              <a:sym typeface="Arial"/>
            </a:endParaRPr>
          </a:p>
        </p:txBody>
      </p:sp>
      <p:sp>
        <p:nvSpPr>
          <p:cNvPr id="50" name="Text Placeholder 84"/>
          <p:cNvSpPr>
            <a:spLocks noGrp="1"/>
          </p:cNvSpPr>
          <p:nvPr>
            <p:custDataLst>
              <p:tags r:id="rId6"/>
            </p:custDataLst>
          </p:nvPr>
        </p:nvSpPr>
        <p:spPr bwMode="gray">
          <a:xfrm>
            <a:off x="830263" y="4799013"/>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10EB194B-1E53-4BCA-9217-488C7DC37C9C}" type="datetime'0.''''''''''''''''2''''''''''''''0'''''''''''''''''''">
              <a:rPr lang="en-US" sz="1400">
                <a:solidFill>
                  <a:srgbClr val="C00000"/>
                </a:solidFill>
              </a:rPr>
              <a:pPr/>
              <a:t>0.20</a:t>
            </a:fld>
            <a:endParaRPr lang="en-US" sz="1400" dirty="0">
              <a:solidFill>
                <a:srgbClr val="C00000"/>
              </a:solidFill>
              <a:latin typeface="Arial"/>
              <a:sym typeface="Arial"/>
            </a:endParaRPr>
          </a:p>
        </p:txBody>
      </p:sp>
      <p:sp>
        <p:nvSpPr>
          <p:cNvPr id="67" name="Text Placeholder 90"/>
          <p:cNvSpPr>
            <a:spLocks noGrp="1"/>
          </p:cNvSpPr>
          <p:nvPr>
            <p:custDataLst>
              <p:tags r:id="rId7"/>
            </p:custDataLst>
          </p:nvPr>
        </p:nvSpPr>
        <p:spPr bwMode="gray">
          <a:xfrm>
            <a:off x="830263" y="2865438"/>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4D55234D-F9B4-42E5-B048-B43DA80A86A2}" type="datetime'''''''''0''''''''''''.''''8''''''0'''''''''''''''''''''''''">
              <a:rPr lang="en-US" sz="1400">
                <a:solidFill>
                  <a:srgbClr val="C00000"/>
                </a:solidFill>
              </a:rPr>
              <a:pPr/>
              <a:t>0.80</a:t>
            </a:fld>
            <a:endParaRPr lang="en-US" sz="1400" dirty="0">
              <a:solidFill>
                <a:srgbClr val="C00000"/>
              </a:solidFill>
              <a:latin typeface="Arial"/>
              <a:sym typeface="Arial"/>
            </a:endParaRPr>
          </a:p>
        </p:txBody>
      </p:sp>
      <p:sp>
        <p:nvSpPr>
          <p:cNvPr id="61" name="Text Placeholder 82"/>
          <p:cNvSpPr>
            <a:spLocks noGrp="1"/>
          </p:cNvSpPr>
          <p:nvPr>
            <p:custDataLst>
              <p:tags r:id="rId8"/>
            </p:custDataLst>
          </p:nvPr>
        </p:nvSpPr>
        <p:spPr bwMode="gray">
          <a:xfrm>
            <a:off x="830263" y="5437188"/>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7AA498FD-016C-4E8E-BA85-14F965ECFF7D}" type="datetime'''''0''.''''0''''''''''''''''''0'''''''''''''''''''''''''''''">
              <a:rPr lang="en-US" sz="1400">
                <a:solidFill>
                  <a:srgbClr val="C00000"/>
                </a:solidFill>
              </a:rPr>
              <a:pPr/>
              <a:t>0.00</a:t>
            </a:fld>
            <a:endParaRPr lang="en-US" sz="1400" dirty="0">
              <a:solidFill>
                <a:srgbClr val="C00000"/>
              </a:solidFill>
              <a:latin typeface="Arial"/>
              <a:sym typeface="Arial"/>
            </a:endParaRPr>
          </a:p>
        </p:txBody>
      </p:sp>
      <p:sp>
        <p:nvSpPr>
          <p:cNvPr id="65" name="Text Placeholder 88"/>
          <p:cNvSpPr>
            <a:spLocks noGrp="1"/>
          </p:cNvSpPr>
          <p:nvPr>
            <p:custDataLst>
              <p:tags r:id="rId9"/>
            </p:custDataLst>
          </p:nvPr>
        </p:nvSpPr>
        <p:spPr bwMode="gray">
          <a:xfrm>
            <a:off x="830263" y="3513138"/>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59E58697-F4BC-4B73-A950-8F3C2E2D2FCF}" type="datetime'0''''''''''''''''.''''''''6''''''''''''''''''''''''0'''">
              <a:rPr lang="en-US" sz="1400">
                <a:solidFill>
                  <a:srgbClr val="C00000"/>
                </a:solidFill>
              </a:rPr>
              <a:pPr/>
              <a:t>0.60</a:t>
            </a:fld>
            <a:endParaRPr lang="en-US" sz="1400" dirty="0">
              <a:solidFill>
                <a:srgbClr val="C00000"/>
              </a:solidFill>
              <a:latin typeface="Arial"/>
              <a:sym typeface="Arial"/>
            </a:endParaRPr>
          </a:p>
        </p:txBody>
      </p:sp>
      <p:sp>
        <p:nvSpPr>
          <p:cNvPr id="52" name="Text Placeholder 86"/>
          <p:cNvSpPr>
            <a:spLocks noGrp="1"/>
          </p:cNvSpPr>
          <p:nvPr>
            <p:custDataLst>
              <p:tags r:id="rId10"/>
            </p:custDataLst>
          </p:nvPr>
        </p:nvSpPr>
        <p:spPr bwMode="gray">
          <a:xfrm>
            <a:off x="830263" y="4151313"/>
            <a:ext cx="344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DE2902E9-08A9-454D-AB61-D9AC87D284A3}" type="datetime'''''''''''''''''''''''''''''0''.''''''''''''4''''''''''0'''">
              <a:rPr lang="en-US" sz="1400">
                <a:solidFill>
                  <a:srgbClr val="C00000"/>
                </a:solidFill>
              </a:rPr>
              <a:pPr/>
              <a:t>0.40</a:t>
            </a:fld>
            <a:endParaRPr lang="en-US" sz="1400" dirty="0">
              <a:solidFill>
                <a:srgbClr val="C00000"/>
              </a:solidFill>
              <a:latin typeface="Arial"/>
              <a:sym typeface="Arial"/>
            </a:endParaRPr>
          </a:p>
        </p:txBody>
      </p:sp>
      <p:sp>
        <p:nvSpPr>
          <p:cNvPr id="100" name="Text Placeholder 70"/>
          <p:cNvSpPr>
            <a:spLocks noGrp="1"/>
          </p:cNvSpPr>
          <p:nvPr>
            <p:custDataLst>
              <p:tags r:id="rId11"/>
            </p:custDataLst>
          </p:nvPr>
        </p:nvSpPr>
        <p:spPr bwMode="auto">
          <a:xfrm>
            <a:off x="7870825" y="4125913"/>
            <a:ext cx="866775" cy="42545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787D5326-410B-40B7-A86C-6961E45B91ED}" type="datetime'Hi''red'' ''''''labo''''''''r&#10;(''cash ''c''''os''''t'''')'">
              <a:rPr lang="en-US" sz="1400">
                <a:solidFill>
                  <a:srgbClr val="C00000"/>
                </a:solidFill>
              </a:rPr>
              <a:pPr/>
              <a:t>Hired labor
(cash cost)</a:t>
            </a:fld>
            <a:endParaRPr lang="en-US" sz="1400" dirty="0">
              <a:solidFill>
                <a:srgbClr val="C00000"/>
              </a:solidFill>
              <a:latin typeface="Arial"/>
              <a:sym typeface="Arial"/>
            </a:endParaRPr>
          </a:p>
        </p:txBody>
      </p:sp>
      <p:sp>
        <p:nvSpPr>
          <p:cNvPr id="92" name="Text Placeholder 67"/>
          <p:cNvSpPr>
            <a:spLocks noGrp="1"/>
          </p:cNvSpPr>
          <p:nvPr>
            <p:custDataLst>
              <p:tags r:id="rId12"/>
            </p:custDataLst>
          </p:nvPr>
        </p:nvSpPr>
        <p:spPr bwMode="auto">
          <a:xfrm>
            <a:off x="7031038" y="570547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E5D47386-60B0-4669-8ECF-409671C1257F}" type="datetime'''''''''''''''''''''''''''''''''9'''''''">
              <a:rPr lang="en-US" sz="1400">
                <a:solidFill>
                  <a:srgbClr val="C00000"/>
                </a:solidFill>
              </a:rPr>
              <a:pPr/>
              <a:t>9</a:t>
            </a:fld>
            <a:endParaRPr lang="en-US" sz="1400" dirty="0">
              <a:solidFill>
                <a:srgbClr val="C00000"/>
              </a:solidFill>
              <a:latin typeface="Arial"/>
              <a:sym typeface="Arial"/>
            </a:endParaRPr>
          </a:p>
        </p:txBody>
      </p:sp>
      <p:sp>
        <p:nvSpPr>
          <p:cNvPr id="94" name="Text Placeholder 68"/>
          <p:cNvSpPr>
            <a:spLocks noGrp="1"/>
          </p:cNvSpPr>
          <p:nvPr>
            <p:custDataLst>
              <p:tags r:id="rId13"/>
            </p:custDataLst>
          </p:nvPr>
        </p:nvSpPr>
        <p:spPr bwMode="auto">
          <a:xfrm>
            <a:off x="7620000" y="5705475"/>
            <a:ext cx="20955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574E544D-4AE1-44C5-9D6A-9A27EEBDCC1F}" type="datetime'''''''''1''0'''''''''''''''''''''''''''''''''''''''''">
              <a:rPr lang="en-US" sz="1400">
                <a:solidFill>
                  <a:srgbClr val="C00000"/>
                </a:solidFill>
              </a:rPr>
              <a:pPr/>
              <a:t>10</a:t>
            </a:fld>
            <a:endParaRPr lang="en-US" sz="1400" dirty="0">
              <a:solidFill>
                <a:srgbClr val="C00000"/>
              </a:solidFill>
              <a:latin typeface="Arial"/>
              <a:sym typeface="Arial"/>
            </a:endParaRPr>
          </a:p>
        </p:txBody>
      </p:sp>
      <p:sp>
        <p:nvSpPr>
          <p:cNvPr id="101" name="Text Placeholder 69"/>
          <p:cNvSpPr>
            <a:spLocks noGrp="1"/>
          </p:cNvSpPr>
          <p:nvPr>
            <p:custDataLst>
              <p:tags r:id="rId14"/>
            </p:custDataLst>
          </p:nvPr>
        </p:nvSpPr>
        <p:spPr bwMode="auto">
          <a:xfrm>
            <a:off x="7870825" y="2859088"/>
            <a:ext cx="1220788" cy="42545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27BC6D60-673A-4C70-8089-1014D6CFB498}" type="datetime'''Fami''ly ''''la''''bor&#10;''''(no''n-''ca''s''''h'' cost)'''">
              <a:rPr lang="en-US" sz="1400">
                <a:solidFill>
                  <a:srgbClr val="C00000"/>
                </a:solidFill>
              </a:rPr>
              <a:pPr/>
              <a:t>Family labor
(non-cash cost)</a:t>
            </a:fld>
            <a:endParaRPr lang="en-US" sz="1400" dirty="0">
              <a:solidFill>
                <a:srgbClr val="C00000"/>
              </a:solidFill>
              <a:latin typeface="Arial"/>
              <a:sym typeface="Arial"/>
            </a:endParaRPr>
          </a:p>
        </p:txBody>
      </p:sp>
      <p:sp>
        <p:nvSpPr>
          <p:cNvPr id="91" name="Text Placeholder 66"/>
          <p:cNvSpPr>
            <a:spLocks noGrp="1"/>
          </p:cNvSpPr>
          <p:nvPr>
            <p:custDataLst>
              <p:tags r:id="rId15"/>
            </p:custDataLst>
          </p:nvPr>
        </p:nvSpPr>
        <p:spPr bwMode="auto">
          <a:xfrm>
            <a:off x="6383338" y="570547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F4126029-77E8-46DD-8669-C5E7414DD588}" type="datetime'''''''''''''''''''''''''''''8'''''''''''''">
              <a:rPr lang="en-US" sz="1400">
                <a:solidFill>
                  <a:srgbClr val="C00000"/>
                </a:solidFill>
              </a:rPr>
              <a:pPr/>
              <a:t>8</a:t>
            </a:fld>
            <a:endParaRPr lang="en-US" sz="1400" dirty="0">
              <a:solidFill>
                <a:srgbClr val="C00000"/>
              </a:solidFill>
              <a:latin typeface="Arial"/>
              <a:sym typeface="Arial"/>
            </a:endParaRPr>
          </a:p>
        </p:txBody>
      </p:sp>
      <p:sp>
        <p:nvSpPr>
          <p:cNvPr id="89" name="Text Placeholder 65"/>
          <p:cNvSpPr>
            <a:spLocks noGrp="1"/>
          </p:cNvSpPr>
          <p:nvPr>
            <p:custDataLst>
              <p:tags r:id="rId16"/>
            </p:custDataLst>
          </p:nvPr>
        </p:nvSpPr>
        <p:spPr bwMode="auto">
          <a:xfrm>
            <a:off x="5745163" y="570547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E14A5E69-9018-4E64-BF3C-3710BCD26987}" type="datetime'''7'''">
              <a:rPr lang="en-US" sz="1400">
                <a:solidFill>
                  <a:srgbClr val="C00000"/>
                </a:solidFill>
              </a:rPr>
              <a:pPr/>
              <a:t>7</a:t>
            </a:fld>
            <a:endParaRPr lang="en-US" sz="1400" dirty="0">
              <a:solidFill>
                <a:srgbClr val="C00000"/>
              </a:solidFill>
              <a:latin typeface="Arial"/>
              <a:sym typeface="Arial"/>
            </a:endParaRPr>
          </a:p>
        </p:txBody>
      </p:sp>
      <p:sp>
        <p:nvSpPr>
          <p:cNvPr id="79" name="Text Placeholder 64"/>
          <p:cNvSpPr>
            <a:spLocks noGrp="1"/>
          </p:cNvSpPr>
          <p:nvPr>
            <p:custDataLst>
              <p:tags r:id="rId17"/>
            </p:custDataLst>
          </p:nvPr>
        </p:nvSpPr>
        <p:spPr bwMode="auto">
          <a:xfrm>
            <a:off x="5106988" y="570547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D14CF1AF-3A83-4FDA-A179-B1EC9D7D2EAB}" type="datetime'''''''''''''''''''''''''''''''''''''''''''''6'">
              <a:rPr lang="en-US" sz="1400">
                <a:solidFill>
                  <a:srgbClr val="C00000"/>
                </a:solidFill>
              </a:rPr>
              <a:pPr/>
              <a:t>6</a:t>
            </a:fld>
            <a:endParaRPr lang="en-US" sz="1400" dirty="0">
              <a:solidFill>
                <a:srgbClr val="C00000"/>
              </a:solidFill>
              <a:latin typeface="Arial"/>
              <a:sym typeface="Arial"/>
            </a:endParaRPr>
          </a:p>
        </p:txBody>
      </p:sp>
      <p:sp>
        <p:nvSpPr>
          <p:cNvPr id="76" name="Text Placeholder 63"/>
          <p:cNvSpPr>
            <a:spLocks noGrp="1"/>
          </p:cNvSpPr>
          <p:nvPr>
            <p:custDataLst>
              <p:tags r:id="rId18"/>
            </p:custDataLst>
          </p:nvPr>
        </p:nvSpPr>
        <p:spPr bwMode="auto">
          <a:xfrm>
            <a:off x="4468813" y="570547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D9AC9668-5E86-432C-A76A-6BCAA964448A}" type="datetime'5'''">
              <a:rPr lang="en-US" sz="1400">
                <a:solidFill>
                  <a:srgbClr val="C00000"/>
                </a:solidFill>
              </a:rPr>
              <a:pPr/>
              <a:t>5</a:t>
            </a:fld>
            <a:endParaRPr lang="en-US" sz="1400" dirty="0">
              <a:solidFill>
                <a:srgbClr val="C00000"/>
              </a:solidFill>
              <a:latin typeface="Arial"/>
              <a:sym typeface="Arial"/>
            </a:endParaRPr>
          </a:p>
        </p:txBody>
      </p:sp>
      <p:sp>
        <p:nvSpPr>
          <p:cNvPr id="70" name="Text Placeholder 61"/>
          <p:cNvSpPr>
            <a:spLocks noGrp="1"/>
          </p:cNvSpPr>
          <p:nvPr>
            <p:custDataLst>
              <p:tags r:id="rId19"/>
            </p:custDataLst>
          </p:nvPr>
        </p:nvSpPr>
        <p:spPr bwMode="auto">
          <a:xfrm>
            <a:off x="3182938" y="570547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1D6276C0-82A6-4144-BA52-273299EAF0FA}" type="datetime'''''''''''''''''''''''''''''''''3'''''''''">
              <a:rPr lang="en-US" sz="1400">
                <a:solidFill>
                  <a:srgbClr val="C00000"/>
                </a:solidFill>
              </a:rPr>
              <a:pPr/>
              <a:t>3</a:t>
            </a:fld>
            <a:endParaRPr lang="en-US" sz="1400" dirty="0">
              <a:solidFill>
                <a:srgbClr val="C00000"/>
              </a:solidFill>
              <a:latin typeface="Arial"/>
              <a:sym typeface="Arial"/>
            </a:endParaRPr>
          </a:p>
        </p:txBody>
      </p:sp>
      <p:sp>
        <p:nvSpPr>
          <p:cNvPr id="73" name="Text Placeholder 62"/>
          <p:cNvSpPr>
            <a:spLocks noGrp="1"/>
          </p:cNvSpPr>
          <p:nvPr>
            <p:custDataLst>
              <p:tags r:id="rId20"/>
            </p:custDataLst>
          </p:nvPr>
        </p:nvSpPr>
        <p:spPr bwMode="auto">
          <a:xfrm>
            <a:off x="3821113" y="570547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FD77202-8536-46EA-A7DB-B615C8C32BF2}" type="datetime'''''''''''''''''''''''4'''''''''''''''">
              <a:rPr lang="en-US" sz="1400">
                <a:solidFill>
                  <a:srgbClr val="C00000"/>
                </a:solidFill>
              </a:rPr>
              <a:pPr/>
              <a:t>4</a:t>
            </a:fld>
            <a:endParaRPr lang="en-US" sz="1400" dirty="0">
              <a:solidFill>
                <a:srgbClr val="C00000"/>
              </a:solidFill>
              <a:latin typeface="Arial"/>
              <a:sym typeface="Arial"/>
            </a:endParaRPr>
          </a:p>
        </p:txBody>
      </p:sp>
      <p:sp>
        <p:nvSpPr>
          <p:cNvPr id="99" name="Text Placeholder 58"/>
          <p:cNvSpPr>
            <a:spLocks noGrp="1"/>
          </p:cNvSpPr>
          <p:nvPr>
            <p:custDataLst>
              <p:tags r:id="rId21"/>
            </p:custDataLst>
          </p:nvPr>
        </p:nvSpPr>
        <p:spPr bwMode="auto">
          <a:xfrm>
            <a:off x="2544763" y="570547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F665316B-1396-41A7-A49D-F4C6ADFC0F58}" type="datetime'''''''''''''''''''''''''''''''''''''''''''''''''''''''2'">
              <a:rPr lang="en-US" sz="1400">
                <a:solidFill>
                  <a:srgbClr val="C00000"/>
                </a:solidFill>
              </a:rPr>
              <a:pPr/>
              <a:t>2</a:t>
            </a:fld>
            <a:endParaRPr lang="en-US" sz="1400" dirty="0">
              <a:solidFill>
                <a:srgbClr val="C00000"/>
              </a:solidFill>
              <a:latin typeface="Arial"/>
              <a:sym typeface="Arial"/>
            </a:endParaRPr>
          </a:p>
        </p:txBody>
      </p:sp>
      <p:sp>
        <p:nvSpPr>
          <p:cNvPr id="97" name="Text Placeholder 57"/>
          <p:cNvSpPr>
            <a:spLocks noGrp="1"/>
          </p:cNvSpPr>
          <p:nvPr>
            <p:custDataLst>
              <p:tags r:id="rId22"/>
            </p:custDataLst>
          </p:nvPr>
        </p:nvSpPr>
        <p:spPr bwMode="auto">
          <a:xfrm>
            <a:off x="1897063" y="570547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90E84412-9A7B-4BA0-8A90-3D3AF10132DD}" type="datetime'''''''''''''''''''''''''''''1'''''''''''''''''''''''''''''">
              <a:rPr lang="en-US" sz="1400">
                <a:solidFill>
                  <a:srgbClr val="C00000"/>
                </a:solidFill>
              </a:rPr>
              <a:pPr/>
              <a:t>1</a:t>
            </a:fld>
            <a:endParaRPr lang="en-US" sz="1400" dirty="0">
              <a:solidFill>
                <a:srgbClr val="C00000"/>
              </a:solidFill>
              <a:latin typeface="Arial"/>
              <a:sym typeface="Arial"/>
            </a:endParaRPr>
          </a:p>
        </p:txBody>
      </p:sp>
      <p:sp>
        <p:nvSpPr>
          <p:cNvPr id="95" name="Text Placeholder 56"/>
          <p:cNvSpPr>
            <a:spLocks noGrp="1"/>
          </p:cNvSpPr>
          <p:nvPr>
            <p:custDataLst>
              <p:tags r:id="rId23"/>
            </p:custDataLst>
          </p:nvPr>
        </p:nvSpPr>
        <p:spPr bwMode="auto">
          <a:xfrm>
            <a:off x="1258888" y="5705475"/>
            <a:ext cx="11112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B58E57EE-0906-4041-A3AB-DB97973AE36F}" type="datetime'''''''''''''''''''''''''''''''''''0'''''''''''''''''''''''">
              <a:rPr lang="en-US" sz="1400">
                <a:solidFill>
                  <a:srgbClr val="C00000"/>
                </a:solidFill>
              </a:rPr>
              <a:pPr/>
              <a:t>0</a:t>
            </a:fld>
            <a:endParaRPr lang="en-US" sz="1400" dirty="0">
              <a:solidFill>
                <a:srgbClr val="C00000"/>
              </a:solidFill>
              <a:latin typeface="Arial"/>
              <a:sym typeface="Arial"/>
            </a:endParaRPr>
          </a:p>
        </p:txBody>
      </p:sp>
      <p:sp>
        <p:nvSpPr>
          <p:cNvPr id="103" name="Text Placeholder 4"/>
          <p:cNvSpPr>
            <a:spLocks noGrp="1"/>
          </p:cNvSpPr>
          <p:nvPr>
            <p:custDataLst>
              <p:tags r:id="rId24"/>
            </p:custDataLst>
          </p:nvPr>
        </p:nvSpPr>
        <p:spPr bwMode="auto">
          <a:xfrm>
            <a:off x="7970838" y="5330825"/>
            <a:ext cx="819150" cy="42545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b="1" dirty="0" smtClean="0">
                <a:solidFill>
                  <a:srgbClr val="C00000"/>
                </a:solidFill>
                <a:latin typeface="Arial"/>
                <a:sym typeface="Arial"/>
              </a:rPr>
              <a:t>Farm size</a:t>
            </a:r>
          </a:p>
          <a:p>
            <a:pPr marL="0" indent="0">
              <a:spcBef>
                <a:spcPct val="0"/>
              </a:spcBef>
              <a:spcAft>
                <a:spcPct val="0"/>
              </a:spcAft>
              <a:buNone/>
            </a:pPr>
            <a:r>
              <a:rPr lang="en-US" sz="1400" dirty="0" smtClean="0">
                <a:solidFill>
                  <a:srgbClr val="C00000"/>
                </a:solidFill>
                <a:latin typeface="Arial"/>
                <a:sym typeface="Arial"/>
              </a:rPr>
              <a:t>Hectares</a:t>
            </a:r>
            <a:endParaRPr lang="en-US" sz="1400" dirty="0">
              <a:solidFill>
                <a:srgbClr val="C00000"/>
              </a:solidFill>
              <a:latin typeface="Arial"/>
              <a:sym typeface="Arial"/>
            </a:endParaRPr>
          </a:p>
        </p:txBody>
      </p:sp>
      <p:sp>
        <p:nvSpPr>
          <p:cNvPr id="3" name="Rectangle 2"/>
          <p:cNvSpPr/>
          <p:nvPr/>
        </p:nvSpPr>
        <p:spPr>
          <a:xfrm>
            <a:off x="2114868" y="2333624"/>
            <a:ext cx="731520" cy="3195177"/>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710050" y="2054454"/>
            <a:ext cx="1521773" cy="215444"/>
          </a:xfrm>
          <a:prstGeom prst="rect">
            <a:avLst/>
          </a:prstGeom>
          <a:noFill/>
        </p:spPr>
        <p:txBody>
          <a:bodyPr wrap="square" lIns="0" tIns="0" rIns="0" bIns="0" rtlCol="0">
            <a:spAutoFit/>
          </a:bodyPr>
          <a:lstStyle/>
          <a:p>
            <a:pPr algn="ctr"/>
            <a:r>
              <a:rPr lang="en-US" sz="1400" dirty="0" smtClean="0">
                <a:solidFill>
                  <a:schemeClr val="tx2">
                    <a:lumMod val="50000"/>
                    <a:lumOff val="50000"/>
                  </a:schemeClr>
                </a:solidFill>
              </a:rPr>
              <a:t>Average farm size </a:t>
            </a:r>
            <a:endParaRPr lang="en-US" sz="1400" dirty="0">
              <a:solidFill>
                <a:schemeClr val="tx2">
                  <a:lumMod val="50000"/>
                  <a:lumOff val="50000"/>
                </a:schemeClr>
              </a:solidFill>
            </a:endParaRPr>
          </a:p>
        </p:txBody>
      </p:sp>
    </p:spTree>
    <p:extLst>
      <p:ext uri="{BB962C8B-B14F-4D97-AF65-F5344CB8AC3E}">
        <p14:creationId xmlns:p14="http://schemas.microsoft.com/office/powerpoint/2010/main" val="39700083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p:custDataLst>
              <p:tags r:id="rId2"/>
            </p:custDataLst>
            <p:extLst>
              <p:ext uri="{D42A27DB-BD31-4B8C-83A1-F6EECF244321}">
                <p14:modId xmlns:p14="http://schemas.microsoft.com/office/powerpoint/2010/main" val="28729725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3007"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cs typeface="Arial"/>
              <a:sym typeface="Arial"/>
            </a:endParaRPr>
          </a:p>
        </p:txBody>
      </p:sp>
      <p:sp>
        <p:nvSpPr>
          <p:cNvPr id="57" name="TextBox 56"/>
          <p:cNvSpPr txBox="1"/>
          <p:nvPr/>
        </p:nvSpPr>
        <p:spPr>
          <a:xfrm>
            <a:off x="619177" y="6190116"/>
            <a:ext cx="7543517" cy="646331"/>
          </a:xfrm>
          <a:prstGeom prst="rect">
            <a:avLst/>
          </a:prstGeom>
          <a:noFill/>
        </p:spPr>
        <p:txBody>
          <a:bodyPr wrap="square" rtlCol="0" anchor="b">
            <a:spAutoFit/>
          </a:bodyPr>
          <a:lstStyle/>
          <a:p>
            <a:r>
              <a:rPr lang="en-US" sz="900" dirty="0" smtClean="0">
                <a:solidFill>
                  <a:schemeClr val="tx1">
                    <a:lumMod val="65000"/>
                    <a:lumOff val="35000"/>
                  </a:schemeClr>
                </a:solidFill>
              </a:rPr>
              <a:t>Note: Usage of average altitude range of 1,600m for specialty coffee; does not account for fact that altitudes might have different meanings in different departments </a:t>
            </a:r>
          </a:p>
          <a:p>
            <a:r>
              <a:rPr lang="en-US" sz="900" dirty="0" smtClean="0">
                <a:solidFill>
                  <a:schemeClr val="tx1">
                    <a:lumMod val="65000"/>
                    <a:lumOff val="35000"/>
                  </a:schemeClr>
                </a:solidFill>
              </a:rPr>
              <a:t>* Low: &lt; 1,200m; medium: 1,200 – 1,600m; high: &gt; 1,600m</a:t>
            </a:r>
            <a:endParaRPr lang="en-US" sz="900" dirty="0">
              <a:solidFill>
                <a:schemeClr val="tx1">
                  <a:lumMod val="65000"/>
                  <a:lumOff val="35000"/>
                </a:schemeClr>
              </a:solidFill>
            </a:endParaRPr>
          </a:p>
          <a:p>
            <a:r>
              <a:rPr lang="en-US" sz="900" dirty="0" smtClean="0">
                <a:solidFill>
                  <a:schemeClr val="tx1">
                    <a:lumMod val="65000"/>
                    <a:lumOff val="35000"/>
                  </a:schemeClr>
                </a:solidFill>
              </a:rPr>
              <a:t>Source: AGRONET, FNC, TechnoServe analysis</a:t>
            </a:r>
            <a:endParaRPr lang="en-US" sz="900" dirty="0">
              <a:solidFill>
                <a:schemeClr val="tx1">
                  <a:lumMod val="65000"/>
                  <a:lumOff val="35000"/>
                </a:schemeClr>
              </a:solidFill>
            </a:endParaRPr>
          </a:p>
        </p:txBody>
      </p:sp>
      <p:sp>
        <p:nvSpPr>
          <p:cNvPr id="11" name="Title 10"/>
          <p:cNvSpPr>
            <a:spLocks noGrp="1"/>
          </p:cNvSpPr>
          <p:nvPr>
            <p:ph type="title"/>
          </p:nvPr>
        </p:nvSpPr>
        <p:spPr/>
        <p:txBody>
          <a:bodyPr/>
          <a:lstStyle/>
          <a:p>
            <a:pPr marL="271463"/>
            <a:r>
              <a:rPr lang="en-US" sz="1600" b="0" dirty="0"/>
              <a:t>ALTITUDINAL ARCHETYPES</a:t>
            </a:r>
            <a:r>
              <a:rPr lang="en-US" b="0" dirty="0"/>
              <a:t/>
            </a:r>
            <a:br>
              <a:rPr lang="en-US" b="0" dirty="0"/>
            </a:br>
            <a:r>
              <a:rPr lang="en-US" b="0" dirty="0" smtClean="0"/>
              <a:t>Most of Colombia’s major growing regions exhibit a range of altitudes</a:t>
            </a:r>
            <a:endParaRPr lang="en-US" b="0" dirty="0"/>
          </a:p>
        </p:txBody>
      </p:sp>
      <p:sp>
        <p:nvSpPr>
          <p:cNvPr id="9" name="Oval 8"/>
          <p:cNvSpPr/>
          <p:nvPr/>
        </p:nvSpPr>
        <p:spPr bwMode="auto">
          <a:xfrm>
            <a:off x="139822" y="304799"/>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dirty="0" smtClean="0">
                <a:ln>
                  <a:noFill/>
                </a:ln>
                <a:solidFill>
                  <a:schemeClr val="bg1"/>
                </a:solidFill>
                <a:effectLst/>
                <a:latin typeface="Arial" charset="0"/>
              </a:rPr>
              <a:t>C</a:t>
            </a:r>
          </a:p>
        </p:txBody>
      </p:sp>
      <p:pic>
        <p:nvPicPr>
          <p:cNvPr id="112996" name="Picture 3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1853" y="1394604"/>
            <a:ext cx="7835280" cy="4889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 name="TextBox 62"/>
          <p:cNvSpPr txBox="1"/>
          <p:nvPr/>
        </p:nvSpPr>
        <p:spPr>
          <a:xfrm>
            <a:off x="711661" y="1321086"/>
            <a:ext cx="2722915" cy="307777"/>
          </a:xfrm>
          <a:prstGeom prst="rect">
            <a:avLst/>
          </a:prstGeom>
          <a:solidFill>
            <a:schemeClr val="bg1"/>
          </a:solidFill>
        </p:spPr>
        <p:txBody>
          <a:bodyPr wrap="square" rtlCol="0">
            <a:spAutoFit/>
          </a:bodyPr>
          <a:lstStyle/>
          <a:p>
            <a:r>
              <a:rPr lang="en-US" sz="1400" b="1" dirty="0" smtClean="0">
                <a:solidFill>
                  <a:schemeClr val="accent1"/>
                </a:solidFill>
              </a:rPr>
              <a:t>Major coffee growing regions </a:t>
            </a:r>
            <a:endParaRPr lang="en-US" sz="1400" b="1" dirty="0">
              <a:solidFill>
                <a:schemeClr val="accent1"/>
              </a:solidFill>
            </a:endParaRPr>
          </a:p>
        </p:txBody>
      </p:sp>
    </p:spTree>
    <p:extLst>
      <p:ext uri="{BB962C8B-B14F-4D97-AF65-F5344CB8AC3E}">
        <p14:creationId xmlns:p14="http://schemas.microsoft.com/office/powerpoint/2010/main" val="20329212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2"/>
            </p:custDataLst>
            <p:extLst>
              <p:ext uri="{D42A27DB-BD31-4B8C-83A1-F6EECF244321}">
                <p14:modId xmlns:p14="http://schemas.microsoft.com/office/powerpoint/2010/main" val="18843506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0727"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4" name="Rectangle 3"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sym typeface="+mn-lt"/>
            </a:endParaRPr>
          </a:p>
        </p:txBody>
      </p:sp>
      <p:cxnSp>
        <p:nvCxnSpPr>
          <p:cNvPr id="10" name="Straight Connector 9"/>
          <p:cNvCxnSpPr/>
          <p:nvPr>
            <p:custDataLst>
              <p:tags r:id="rId4"/>
            </p:custDataLst>
          </p:nvPr>
        </p:nvCxnSpPr>
        <p:spPr bwMode="auto">
          <a:xfrm>
            <a:off x="457200" y="1943100"/>
            <a:ext cx="7477125" cy="0"/>
          </a:xfrm>
          <a:prstGeom prst="line">
            <a:avLst/>
          </a:prstGeom>
          <a:ln w="31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custDataLst>
              <p:tags r:id="rId5"/>
            </p:custDataLst>
          </p:nvPr>
        </p:nvCxnSpPr>
        <p:spPr bwMode="gray">
          <a:xfrm>
            <a:off x="457200" y="2809875"/>
            <a:ext cx="7477125" cy="0"/>
          </a:xfrm>
          <a:prstGeom prst="line">
            <a:avLst/>
          </a:prstGeom>
          <a:ln w="317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custDataLst>
              <p:tags r:id="rId6"/>
            </p:custDataLst>
          </p:nvPr>
        </p:nvCxnSpPr>
        <p:spPr bwMode="gray">
          <a:xfrm>
            <a:off x="457200" y="3676650"/>
            <a:ext cx="7477125" cy="0"/>
          </a:xfrm>
          <a:prstGeom prst="line">
            <a:avLst/>
          </a:prstGeom>
          <a:ln w="317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 name="Straight Connector 1"/>
          <p:cNvCxnSpPr/>
          <p:nvPr>
            <p:custDataLst>
              <p:tags r:id="rId7"/>
            </p:custDataLst>
          </p:nvPr>
        </p:nvCxnSpPr>
        <p:spPr bwMode="gray">
          <a:xfrm>
            <a:off x="457200" y="4543425"/>
            <a:ext cx="7477125" cy="0"/>
          </a:xfrm>
          <a:prstGeom prst="line">
            <a:avLst/>
          </a:prstGeom>
          <a:ln w="317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7" name="Object 6"/>
          <p:cNvGraphicFramePr>
            <a:graphicFrameLocks/>
          </p:cNvGraphicFramePr>
          <p:nvPr>
            <p:custDataLst>
              <p:tags r:id="rId8"/>
            </p:custDataLst>
            <p:extLst>
              <p:ext uri="{D42A27DB-BD31-4B8C-83A1-F6EECF244321}">
                <p14:modId xmlns:p14="http://schemas.microsoft.com/office/powerpoint/2010/main" val="1772628345"/>
              </p:ext>
            </p:extLst>
          </p:nvPr>
        </p:nvGraphicFramePr>
        <p:xfrm>
          <a:off x="342900" y="1828800"/>
          <a:ext cx="7753485" cy="3733890"/>
        </p:xfrm>
        <a:graphic>
          <a:graphicData uri="http://schemas.openxmlformats.org/presentationml/2006/ole">
            <mc:AlternateContent xmlns:mc="http://schemas.openxmlformats.org/markup-compatibility/2006">
              <mc:Choice xmlns:v="urn:schemas-microsoft-com:vml" Requires="v">
                <p:oleObj spid="_x0000_s180728" name="Chart" r:id="rId30" imgW="7753485" imgH="3733890" progId="MSGraph.Chart.8">
                  <p:embed followColorScheme="full"/>
                </p:oleObj>
              </mc:Choice>
              <mc:Fallback>
                <p:oleObj name="Chart" r:id="rId30" imgW="7753485" imgH="3733890" progId="MSGraph.Chart.8">
                  <p:embed followColorScheme="full"/>
                  <p:pic>
                    <p:nvPicPr>
                      <p:cNvPr id="0" name=""/>
                      <p:cNvPicPr/>
                      <p:nvPr/>
                    </p:nvPicPr>
                    <p:blipFill>
                      <a:blip r:embed="rId31"/>
                      <a:stretch>
                        <a:fillRect/>
                      </a:stretch>
                    </p:blipFill>
                    <p:spPr>
                      <a:xfrm>
                        <a:off x="342900" y="1828800"/>
                        <a:ext cx="7753485" cy="3733890"/>
                      </a:xfrm>
                      <a:prstGeom prst="rect">
                        <a:avLst/>
                      </a:prstGeom>
                    </p:spPr>
                  </p:pic>
                </p:oleObj>
              </mc:Fallback>
            </mc:AlternateContent>
          </a:graphicData>
        </a:graphic>
      </p:graphicFrame>
      <p:sp>
        <p:nvSpPr>
          <p:cNvPr id="28" name="Text Placeholder 124"/>
          <p:cNvSpPr>
            <a:spLocks noGrp="1"/>
          </p:cNvSpPr>
          <p:nvPr>
            <p:custDataLst>
              <p:tags r:id="rId9"/>
            </p:custDataLst>
          </p:nvPr>
        </p:nvSpPr>
        <p:spPr bwMode="gray">
          <a:xfrm>
            <a:off x="8074025" y="1836738"/>
            <a:ext cx="4429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0A9385E5-B1FF-4093-A239-815C2750F348}" type="datetime'''''''''''''''''2,''''''''''''''''''''''0''0''''''''''''''0'''">
              <a:rPr lang="en-US" sz="1400">
                <a:solidFill>
                  <a:schemeClr val="accent1"/>
                </a:solidFill>
                <a:latin typeface="Arial"/>
                <a:sym typeface="Arial"/>
              </a:rPr>
              <a:pPr marL="0" indent="0">
                <a:spcBef>
                  <a:spcPct val="0"/>
                </a:spcBef>
                <a:spcAft>
                  <a:spcPct val="0"/>
                </a:spcAft>
                <a:buNone/>
              </a:pPr>
              <a:t>2,000</a:t>
            </a:fld>
            <a:endParaRPr lang="en-US" sz="1400" dirty="0">
              <a:solidFill>
                <a:schemeClr val="accent1"/>
              </a:solidFill>
              <a:latin typeface="Arial"/>
              <a:sym typeface="Arial"/>
            </a:endParaRPr>
          </a:p>
        </p:txBody>
      </p:sp>
      <p:sp>
        <p:nvSpPr>
          <p:cNvPr id="25" name="Text Placeholder 121"/>
          <p:cNvSpPr>
            <a:spLocks noGrp="1"/>
          </p:cNvSpPr>
          <p:nvPr>
            <p:custDataLst>
              <p:tags r:id="rId10"/>
            </p:custDataLst>
          </p:nvPr>
        </p:nvSpPr>
        <p:spPr bwMode="gray">
          <a:xfrm>
            <a:off x="8074025" y="4437063"/>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2CC4D519-6B05-46AF-BAD8-002E94D5E07C}" type="datetime'''''''8''0''''''''''''''''''''0'''''''''''''''''">
              <a:rPr lang="en-US" sz="1400">
                <a:solidFill>
                  <a:schemeClr val="accent1"/>
                </a:solidFill>
                <a:latin typeface="Arial"/>
                <a:sym typeface="Arial"/>
              </a:rPr>
              <a:pPr marL="0" indent="0">
                <a:spcBef>
                  <a:spcPct val="0"/>
                </a:spcBef>
                <a:spcAft>
                  <a:spcPct val="0"/>
                </a:spcAft>
                <a:buNone/>
              </a:pPr>
              <a:t>800</a:t>
            </a:fld>
            <a:endParaRPr lang="en-US" sz="1400" dirty="0">
              <a:solidFill>
                <a:schemeClr val="accent1"/>
              </a:solidFill>
              <a:latin typeface="Arial"/>
              <a:sym typeface="Arial"/>
            </a:endParaRPr>
          </a:p>
        </p:txBody>
      </p:sp>
      <p:sp>
        <p:nvSpPr>
          <p:cNvPr id="27" name="Text Placeholder 123"/>
          <p:cNvSpPr>
            <a:spLocks noGrp="1"/>
          </p:cNvSpPr>
          <p:nvPr>
            <p:custDataLst>
              <p:tags r:id="rId11"/>
            </p:custDataLst>
          </p:nvPr>
        </p:nvSpPr>
        <p:spPr bwMode="gray">
          <a:xfrm>
            <a:off x="8074025" y="2703513"/>
            <a:ext cx="4429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D423F0D3-9B05-4182-9D8B-A7A7C8CE750F}" type="datetime'''''''''''''''''1'''''''''''''',''''''''''600'">
              <a:rPr lang="en-US" sz="1400">
                <a:solidFill>
                  <a:schemeClr val="accent1"/>
                </a:solidFill>
                <a:latin typeface="Arial"/>
                <a:sym typeface="Arial"/>
              </a:rPr>
              <a:pPr marL="0" indent="0">
                <a:spcBef>
                  <a:spcPct val="0"/>
                </a:spcBef>
                <a:spcAft>
                  <a:spcPct val="0"/>
                </a:spcAft>
                <a:buNone/>
              </a:pPr>
              <a:t>1,600</a:t>
            </a:fld>
            <a:endParaRPr lang="en-US" sz="1400" dirty="0">
              <a:solidFill>
                <a:schemeClr val="accent1"/>
              </a:solidFill>
              <a:latin typeface="Arial"/>
              <a:sym typeface="Arial"/>
            </a:endParaRPr>
          </a:p>
        </p:txBody>
      </p:sp>
      <p:sp>
        <p:nvSpPr>
          <p:cNvPr id="26" name="Text Placeholder 122"/>
          <p:cNvSpPr>
            <a:spLocks noGrp="1"/>
          </p:cNvSpPr>
          <p:nvPr>
            <p:custDataLst>
              <p:tags r:id="rId12"/>
            </p:custDataLst>
          </p:nvPr>
        </p:nvSpPr>
        <p:spPr bwMode="gray">
          <a:xfrm>
            <a:off x="8074025" y="3570288"/>
            <a:ext cx="4429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2D7EC9B3-7085-4FDB-B703-936B52D7C443}" type="datetime'''''''''1'''',''''''''''''2''''''0''''''''''0'''''''">
              <a:rPr lang="en-US" sz="1400">
                <a:solidFill>
                  <a:schemeClr val="accent1"/>
                </a:solidFill>
                <a:latin typeface="Arial"/>
                <a:sym typeface="Arial"/>
              </a:rPr>
              <a:pPr marL="0" indent="0">
                <a:spcBef>
                  <a:spcPct val="0"/>
                </a:spcBef>
                <a:spcAft>
                  <a:spcPct val="0"/>
                </a:spcAft>
                <a:buNone/>
              </a:pPr>
              <a:t>1,200</a:t>
            </a:fld>
            <a:endParaRPr lang="en-US" sz="1400" dirty="0">
              <a:solidFill>
                <a:schemeClr val="accent1"/>
              </a:solidFill>
              <a:latin typeface="Arial"/>
              <a:sym typeface="Arial"/>
            </a:endParaRPr>
          </a:p>
        </p:txBody>
      </p:sp>
      <p:sp>
        <p:nvSpPr>
          <p:cNvPr id="24" name="Text Placeholder 120"/>
          <p:cNvSpPr>
            <a:spLocks noGrp="1"/>
          </p:cNvSpPr>
          <p:nvPr>
            <p:custDataLst>
              <p:tags r:id="rId13"/>
            </p:custDataLst>
          </p:nvPr>
        </p:nvSpPr>
        <p:spPr bwMode="gray">
          <a:xfrm>
            <a:off x="8074025" y="5303838"/>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27B6F38B-E828-4032-A4A9-6F839BC1DC04}" type="datetime'''''''4''''0''''''''''''''''''''''''''''''''''''''''''''0'''">
              <a:rPr lang="en-US" sz="1400">
                <a:solidFill>
                  <a:schemeClr val="accent1"/>
                </a:solidFill>
                <a:latin typeface="Arial"/>
                <a:sym typeface="Arial"/>
              </a:rPr>
              <a:pPr marL="0" indent="0">
                <a:spcBef>
                  <a:spcPct val="0"/>
                </a:spcBef>
                <a:spcAft>
                  <a:spcPct val="0"/>
                </a:spcAft>
                <a:buNone/>
              </a:pPr>
              <a:t>400</a:t>
            </a:fld>
            <a:endParaRPr lang="en-US" sz="1400" dirty="0">
              <a:solidFill>
                <a:schemeClr val="accent1"/>
              </a:solidFill>
              <a:latin typeface="Arial"/>
              <a:sym typeface="Arial"/>
            </a:endParaRPr>
          </a:p>
        </p:txBody>
      </p:sp>
      <p:sp>
        <p:nvSpPr>
          <p:cNvPr id="46" name="Text Placeholder 82"/>
          <p:cNvSpPr>
            <a:spLocks noGrp="1"/>
          </p:cNvSpPr>
          <p:nvPr>
            <p:custDataLst>
              <p:tags r:id="rId14"/>
            </p:custDataLst>
          </p:nvPr>
        </p:nvSpPr>
        <p:spPr bwMode="gray">
          <a:xfrm>
            <a:off x="7786688" y="5572125"/>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100</a:t>
            </a:r>
            <a:endParaRPr lang="en-US" sz="1400" dirty="0">
              <a:solidFill>
                <a:schemeClr val="accent1"/>
              </a:solidFill>
              <a:latin typeface="Arial"/>
              <a:sym typeface="Arial"/>
            </a:endParaRPr>
          </a:p>
        </p:txBody>
      </p:sp>
      <p:sp>
        <p:nvSpPr>
          <p:cNvPr id="45" name="Text Placeholder 81"/>
          <p:cNvSpPr>
            <a:spLocks noGrp="1"/>
          </p:cNvSpPr>
          <p:nvPr>
            <p:custDataLst>
              <p:tags r:id="rId15"/>
            </p:custDataLst>
          </p:nvPr>
        </p:nvSpPr>
        <p:spPr bwMode="gray">
          <a:xfrm>
            <a:off x="7092950" y="5572125"/>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90</a:t>
            </a:r>
            <a:endParaRPr lang="en-US" sz="1400" dirty="0">
              <a:solidFill>
                <a:schemeClr val="accent1"/>
              </a:solidFill>
              <a:latin typeface="Arial"/>
              <a:sym typeface="Arial"/>
            </a:endParaRPr>
          </a:p>
        </p:txBody>
      </p:sp>
      <p:sp>
        <p:nvSpPr>
          <p:cNvPr id="43" name="Text Placeholder 80"/>
          <p:cNvSpPr>
            <a:spLocks noGrp="1"/>
          </p:cNvSpPr>
          <p:nvPr>
            <p:custDataLst>
              <p:tags r:id="rId16"/>
            </p:custDataLst>
          </p:nvPr>
        </p:nvSpPr>
        <p:spPr bwMode="gray">
          <a:xfrm>
            <a:off x="6340475" y="5572125"/>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80</a:t>
            </a:r>
            <a:endParaRPr lang="en-US" sz="1400" dirty="0">
              <a:solidFill>
                <a:schemeClr val="accent1"/>
              </a:solidFill>
              <a:latin typeface="Arial"/>
              <a:sym typeface="Arial"/>
            </a:endParaRPr>
          </a:p>
        </p:txBody>
      </p:sp>
      <p:sp>
        <p:nvSpPr>
          <p:cNvPr id="42" name="Text Placeholder 79"/>
          <p:cNvSpPr>
            <a:spLocks noGrp="1"/>
          </p:cNvSpPr>
          <p:nvPr>
            <p:custDataLst>
              <p:tags r:id="rId17"/>
            </p:custDataLst>
          </p:nvPr>
        </p:nvSpPr>
        <p:spPr bwMode="gray">
          <a:xfrm>
            <a:off x="5597525" y="5572125"/>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70</a:t>
            </a:r>
            <a:endParaRPr lang="en-US" sz="1400" dirty="0">
              <a:solidFill>
                <a:schemeClr val="accent1"/>
              </a:solidFill>
              <a:latin typeface="Arial"/>
              <a:sym typeface="Arial"/>
            </a:endParaRPr>
          </a:p>
        </p:txBody>
      </p:sp>
      <p:sp>
        <p:nvSpPr>
          <p:cNvPr id="41" name="Text Placeholder 78"/>
          <p:cNvSpPr>
            <a:spLocks noGrp="1"/>
          </p:cNvSpPr>
          <p:nvPr>
            <p:custDataLst>
              <p:tags r:id="rId18"/>
            </p:custDataLst>
          </p:nvPr>
        </p:nvSpPr>
        <p:spPr bwMode="gray">
          <a:xfrm>
            <a:off x="4845050" y="5572125"/>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60</a:t>
            </a:r>
            <a:endParaRPr lang="en-US" sz="1400" dirty="0">
              <a:solidFill>
                <a:schemeClr val="accent1"/>
              </a:solidFill>
              <a:latin typeface="Arial"/>
              <a:sym typeface="Arial"/>
            </a:endParaRPr>
          </a:p>
        </p:txBody>
      </p:sp>
      <p:sp>
        <p:nvSpPr>
          <p:cNvPr id="40" name="Text Placeholder 77"/>
          <p:cNvSpPr>
            <a:spLocks noGrp="1"/>
          </p:cNvSpPr>
          <p:nvPr>
            <p:custDataLst>
              <p:tags r:id="rId19"/>
            </p:custDataLst>
          </p:nvPr>
        </p:nvSpPr>
        <p:spPr bwMode="gray">
          <a:xfrm>
            <a:off x="4102100" y="5572125"/>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50</a:t>
            </a:r>
            <a:endParaRPr lang="en-US" sz="1400" dirty="0">
              <a:solidFill>
                <a:schemeClr val="accent1"/>
              </a:solidFill>
              <a:latin typeface="Arial"/>
              <a:sym typeface="Arial"/>
            </a:endParaRPr>
          </a:p>
        </p:txBody>
      </p:sp>
      <p:sp>
        <p:nvSpPr>
          <p:cNvPr id="39" name="Text Placeholder 76"/>
          <p:cNvSpPr>
            <a:spLocks noGrp="1"/>
          </p:cNvSpPr>
          <p:nvPr>
            <p:custDataLst>
              <p:tags r:id="rId20"/>
            </p:custDataLst>
          </p:nvPr>
        </p:nvSpPr>
        <p:spPr bwMode="gray">
          <a:xfrm>
            <a:off x="3349625" y="5572125"/>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40</a:t>
            </a:r>
            <a:endParaRPr lang="en-US" sz="1400" dirty="0">
              <a:solidFill>
                <a:schemeClr val="accent1"/>
              </a:solidFill>
              <a:latin typeface="Arial"/>
              <a:sym typeface="Arial"/>
            </a:endParaRPr>
          </a:p>
        </p:txBody>
      </p:sp>
      <p:sp>
        <p:nvSpPr>
          <p:cNvPr id="38" name="Text Placeholder 75"/>
          <p:cNvSpPr>
            <a:spLocks noGrp="1"/>
          </p:cNvSpPr>
          <p:nvPr>
            <p:custDataLst>
              <p:tags r:id="rId21"/>
            </p:custDataLst>
          </p:nvPr>
        </p:nvSpPr>
        <p:spPr bwMode="gray">
          <a:xfrm>
            <a:off x="2606675" y="5572125"/>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30</a:t>
            </a:r>
            <a:endParaRPr lang="en-US" sz="1400" dirty="0">
              <a:solidFill>
                <a:schemeClr val="accent1"/>
              </a:solidFill>
              <a:latin typeface="Arial"/>
              <a:sym typeface="Arial"/>
            </a:endParaRPr>
          </a:p>
        </p:txBody>
      </p:sp>
      <p:sp>
        <p:nvSpPr>
          <p:cNvPr id="37" name="Text Placeholder 74"/>
          <p:cNvSpPr>
            <a:spLocks noGrp="1"/>
          </p:cNvSpPr>
          <p:nvPr>
            <p:custDataLst>
              <p:tags r:id="rId22"/>
            </p:custDataLst>
          </p:nvPr>
        </p:nvSpPr>
        <p:spPr bwMode="gray">
          <a:xfrm>
            <a:off x="1854200" y="5572125"/>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20</a:t>
            </a:r>
            <a:endParaRPr lang="en-US" sz="1400" dirty="0">
              <a:solidFill>
                <a:schemeClr val="accent1"/>
              </a:solidFill>
              <a:latin typeface="Arial"/>
              <a:sym typeface="Arial"/>
            </a:endParaRPr>
          </a:p>
        </p:txBody>
      </p:sp>
      <p:sp>
        <p:nvSpPr>
          <p:cNvPr id="32" name="Text Placeholder 73"/>
          <p:cNvSpPr>
            <a:spLocks noGrp="1"/>
          </p:cNvSpPr>
          <p:nvPr>
            <p:custDataLst>
              <p:tags r:id="rId23"/>
            </p:custDataLst>
          </p:nvPr>
        </p:nvSpPr>
        <p:spPr bwMode="gray">
          <a:xfrm>
            <a:off x="1111250" y="5572125"/>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10</a:t>
            </a:r>
            <a:endParaRPr lang="en-US" sz="1400" dirty="0">
              <a:solidFill>
                <a:schemeClr val="accent1"/>
              </a:solidFill>
              <a:latin typeface="Arial"/>
              <a:sym typeface="Arial"/>
            </a:endParaRPr>
          </a:p>
        </p:txBody>
      </p:sp>
      <p:sp>
        <p:nvSpPr>
          <p:cNvPr id="30" name="Text Placeholder 72"/>
          <p:cNvSpPr>
            <a:spLocks noGrp="1"/>
          </p:cNvSpPr>
          <p:nvPr>
            <p:custDataLst>
              <p:tags r:id="rId24"/>
            </p:custDataLst>
          </p:nvPr>
        </p:nvSpPr>
        <p:spPr bwMode="gray">
          <a:xfrm>
            <a:off x="407988" y="5572125"/>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0</a:t>
            </a:r>
            <a:endParaRPr lang="en-US" sz="1400" dirty="0">
              <a:solidFill>
                <a:schemeClr val="accent1"/>
              </a:solidFill>
              <a:latin typeface="Arial"/>
              <a:sym typeface="Arial"/>
            </a:endParaRPr>
          </a:p>
        </p:txBody>
      </p:sp>
      <p:sp>
        <p:nvSpPr>
          <p:cNvPr id="6" name="Rectangle 5"/>
          <p:cNvSpPr/>
          <p:nvPr>
            <p:custDataLst>
              <p:tags r:id="rId25"/>
            </p:custDataLst>
          </p:nvPr>
        </p:nvSpPr>
        <p:spPr bwMode="auto">
          <a:xfrm>
            <a:off x="7605713" y="1270000"/>
            <a:ext cx="658813" cy="42545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b" anchorCtr="0" compatLnSpc="1">
            <a:prstTxWarp prst="textNoShape">
              <a:avLst/>
            </a:prstTxWarp>
          </a:bodyPr>
          <a:lstStyle/>
          <a:p>
            <a:pPr algn="r" fontAlgn="base">
              <a:spcBef>
                <a:spcPct val="0"/>
              </a:spcBef>
              <a:spcAft>
                <a:spcPct val="0"/>
              </a:spcAft>
            </a:pPr>
            <a:r>
              <a:rPr lang="en-US" sz="1400" b="1" dirty="0" smtClean="0">
                <a:solidFill>
                  <a:schemeClr val="accent1"/>
                </a:solidFill>
                <a:effectLst/>
                <a:sym typeface="+mn-lt"/>
              </a:rPr>
              <a:t>Altitude</a:t>
            </a:r>
          </a:p>
          <a:p>
            <a:pPr algn="r" fontAlgn="base">
              <a:spcBef>
                <a:spcPct val="0"/>
              </a:spcBef>
              <a:spcAft>
                <a:spcPct val="0"/>
              </a:spcAft>
            </a:pPr>
            <a:r>
              <a:rPr lang="en-US" sz="1400" strike="noStrike" cap="none" normalizeH="0" dirty="0" smtClean="0">
                <a:ln>
                  <a:noFill/>
                </a:ln>
                <a:solidFill>
                  <a:schemeClr val="accent1"/>
                </a:solidFill>
                <a:sym typeface="+mn-lt"/>
              </a:rPr>
              <a:t>Meters</a:t>
            </a:r>
            <a:endParaRPr lang="en-US" sz="1400" strike="noStrike" cap="none" normalizeH="0" dirty="0" smtClean="0">
              <a:ln>
                <a:noFill/>
              </a:ln>
              <a:solidFill>
                <a:schemeClr val="accent1"/>
              </a:solidFill>
              <a:effectLst/>
              <a:sym typeface="+mn-lt"/>
            </a:endParaRPr>
          </a:p>
        </p:txBody>
      </p:sp>
      <p:sp>
        <p:nvSpPr>
          <p:cNvPr id="5" name="Rectangle 4"/>
          <p:cNvSpPr/>
          <p:nvPr>
            <p:custDataLst>
              <p:tags r:id="rId26"/>
            </p:custDataLst>
          </p:nvPr>
        </p:nvSpPr>
        <p:spPr bwMode="auto">
          <a:xfrm>
            <a:off x="2794000" y="5926138"/>
            <a:ext cx="2805113"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t" anchorCtr="0" compatLnSpc="1">
            <a:prstTxWarp prst="textNoShape">
              <a:avLst/>
            </a:prstTxWarp>
          </a:bodyPr>
          <a:lstStyle/>
          <a:p>
            <a:pPr algn="ctr" fontAlgn="base">
              <a:spcBef>
                <a:spcPct val="0"/>
              </a:spcBef>
              <a:spcAft>
                <a:spcPct val="0"/>
              </a:spcAft>
            </a:pPr>
            <a:r>
              <a:rPr lang="en-US" sz="1400" b="1" dirty="0" smtClean="0">
                <a:solidFill>
                  <a:schemeClr val="accent1"/>
                </a:solidFill>
                <a:effectLst/>
                <a:sym typeface="+mn-lt"/>
              </a:rPr>
              <a:t>Percent of Colombian production</a:t>
            </a:r>
            <a:endParaRPr lang="en-US" sz="1400" b="1" strike="noStrike" cap="none" normalizeH="0" dirty="0" smtClean="0">
              <a:ln>
                <a:noFill/>
              </a:ln>
              <a:solidFill>
                <a:schemeClr val="accent1"/>
              </a:solidFill>
              <a:effectLst/>
              <a:sym typeface="+mn-lt"/>
            </a:endParaRPr>
          </a:p>
        </p:txBody>
      </p:sp>
      <p:sp>
        <p:nvSpPr>
          <p:cNvPr id="48" name="Freeform 47"/>
          <p:cNvSpPr/>
          <p:nvPr/>
        </p:nvSpPr>
        <p:spPr>
          <a:xfrm>
            <a:off x="455425" y="1936312"/>
            <a:ext cx="7455012" cy="3257404"/>
          </a:xfrm>
          <a:custGeom>
            <a:avLst/>
            <a:gdLst>
              <a:gd name="connsiteX0" fmla="*/ 0 w 7280694"/>
              <a:gd name="connsiteY0" fmla="*/ 8627 h 2812212"/>
              <a:gd name="connsiteX1" fmla="*/ 465826 w 7280694"/>
              <a:gd name="connsiteY1" fmla="*/ 0 h 2812212"/>
              <a:gd name="connsiteX2" fmla="*/ 638354 w 7280694"/>
              <a:gd name="connsiteY2" fmla="*/ 215661 h 2812212"/>
              <a:gd name="connsiteX3" fmla="*/ 1078301 w 7280694"/>
              <a:gd name="connsiteY3" fmla="*/ 422695 h 2812212"/>
              <a:gd name="connsiteX4" fmla="*/ 1785668 w 7280694"/>
              <a:gd name="connsiteY4" fmla="*/ 638355 h 2812212"/>
              <a:gd name="connsiteX5" fmla="*/ 2458528 w 7280694"/>
              <a:gd name="connsiteY5" fmla="*/ 836763 h 2812212"/>
              <a:gd name="connsiteX6" fmla="*/ 3269411 w 7280694"/>
              <a:gd name="connsiteY6" fmla="*/ 1078302 h 2812212"/>
              <a:gd name="connsiteX7" fmla="*/ 4347713 w 7280694"/>
              <a:gd name="connsiteY7" fmla="*/ 1285336 h 2812212"/>
              <a:gd name="connsiteX8" fmla="*/ 5391509 w 7280694"/>
              <a:gd name="connsiteY8" fmla="*/ 1509623 h 2812212"/>
              <a:gd name="connsiteX9" fmla="*/ 5736566 w 7280694"/>
              <a:gd name="connsiteY9" fmla="*/ 1725283 h 2812212"/>
              <a:gd name="connsiteX10" fmla="*/ 6167886 w 7280694"/>
              <a:gd name="connsiteY10" fmla="*/ 1940944 h 2812212"/>
              <a:gd name="connsiteX11" fmla="*/ 6573328 w 7280694"/>
              <a:gd name="connsiteY11" fmla="*/ 2147978 h 2812212"/>
              <a:gd name="connsiteX12" fmla="*/ 7021901 w 7280694"/>
              <a:gd name="connsiteY12" fmla="*/ 2363638 h 2812212"/>
              <a:gd name="connsiteX13" fmla="*/ 7220309 w 7280694"/>
              <a:gd name="connsiteY13" fmla="*/ 2587925 h 2812212"/>
              <a:gd name="connsiteX14" fmla="*/ 7280694 w 7280694"/>
              <a:gd name="connsiteY14" fmla="*/ 2812212 h 2812212"/>
              <a:gd name="connsiteX15" fmla="*/ 7108166 w 7280694"/>
              <a:gd name="connsiteY15" fmla="*/ 2794959 h 2812212"/>
              <a:gd name="connsiteX0" fmla="*/ 0 w 7461849"/>
              <a:gd name="connsiteY0" fmla="*/ 8627 h 3234906"/>
              <a:gd name="connsiteX1" fmla="*/ 465826 w 7461849"/>
              <a:gd name="connsiteY1" fmla="*/ 0 h 3234906"/>
              <a:gd name="connsiteX2" fmla="*/ 638354 w 7461849"/>
              <a:gd name="connsiteY2" fmla="*/ 215661 h 3234906"/>
              <a:gd name="connsiteX3" fmla="*/ 1078301 w 7461849"/>
              <a:gd name="connsiteY3" fmla="*/ 422695 h 3234906"/>
              <a:gd name="connsiteX4" fmla="*/ 1785668 w 7461849"/>
              <a:gd name="connsiteY4" fmla="*/ 638355 h 3234906"/>
              <a:gd name="connsiteX5" fmla="*/ 2458528 w 7461849"/>
              <a:gd name="connsiteY5" fmla="*/ 836763 h 3234906"/>
              <a:gd name="connsiteX6" fmla="*/ 3269411 w 7461849"/>
              <a:gd name="connsiteY6" fmla="*/ 1078302 h 3234906"/>
              <a:gd name="connsiteX7" fmla="*/ 4347713 w 7461849"/>
              <a:gd name="connsiteY7" fmla="*/ 1285336 h 3234906"/>
              <a:gd name="connsiteX8" fmla="*/ 5391509 w 7461849"/>
              <a:gd name="connsiteY8" fmla="*/ 1509623 h 3234906"/>
              <a:gd name="connsiteX9" fmla="*/ 5736566 w 7461849"/>
              <a:gd name="connsiteY9" fmla="*/ 1725283 h 3234906"/>
              <a:gd name="connsiteX10" fmla="*/ 6167886 w 7461849"/>
              <a:gd name="connsiteY10" fmla="*/ 1940944 h 3234906"/>
              <a:gd name="connsiteX11" fmla="*/ 6573328 w 7461849"/>
              <a:gd name="connsiteY11" fmla="*/ 2147978 h 3234906"/>
              <a:gd name="connsiteX12" fmla="*/ 7021901 w 7461849"/>
              <a:gd name="connsiteY12" fmla="*/ 2363638 h 3234906"/>
              <a:gd name="connsiteX13" fmla="*/ 7220309 w 7461849"/>
              <a:gd name="connsiteY13" fmla="*/ 2587925 h 3234906"/>
              <a:gd name="connsiteX14" fmla="*/ 7280694 w 7461849"/>
              <a:gd name="connsiteY14" fmla="*/ 2812212 h 3234906"/>
              <a:gd name="connsiteX15" fmla="*/ 7461849 w 7461849"/>
              <a:gd name="connsiteY15" fmla="*/ 3234906 h 3234906"/>
              <a:gd name="connsiteX0" fmla="*/ 0 w 7461849"/>
              <a:gd name="connsiteY0" fmla="*/ 8627 h 3234906"/>
              <a:gd name="connsiteX1" fmla="*/ 465826 w 7461849"/>
              <a:gd name="connsiteY1" fmla="*/ 0 h 3234906"/>
              <a:gd name="connsiteX2" fmla="*/ 638354 w 7461849"/>
              <a:gd name="connsiteY2" fmla="*/ 215661 h 3234906"/>
              <a:gd name="connsiteX3" fmla="*/ 1078301 w 7461849"/>
              <a:gd name="connsiteY3" fmla="*/ 422695 h 3234906"/>
              <a:gd name="connsiteX4" fmla="*/ 1785668 w 7461849"/>
              <a:gd name="connsiteY4" fmla="*/ 638355 h 3234906"/>
              <a:gd name="connsiteX5" fmla="*/ 2458528 w 7461849"/>
              <a:gd name="connsiteY5" fmla="*/ 836763 h 3234906"/>
              <a:gd name="connsiteX6" fmla="*/ 3269411 w 7461849"/>
              <a:gd name="connsiteY6" fmla="*/ 1078302 h 3234906"/>
              <a:gd name="connsiteX7" fmla="*/ 4347713 w 7461849"/>
              <a:gd name="connsiteY7" fmla="*/ 1285336 h 3234906"/>
              <a:gd name="connsiteX8" fmla="*/ 5391509 w 7461849"/>
              <a:gd name="connsiteY8" fmla="*/ 1509623 h 3234906"/>
              <a:gd name="connsiteX9" fmla="*/ 5736566 w 7461849"/>
              <a:gd name="connsiteY9" fmla="*/ 1725283 h 3234906"/>
              <a:gd name="connsiteX10" fmla="*/ 6167886 w 7461849"/>
              <a:gd name="connsiteY10" fmla="*/ 1940944 h 3234906"/>
              <a:gd name="connsiteX11" fmla="*/ 6573328 w 7461849"/>
              <a:gd name="connsiteY11" fmla="*/ 2147978 h 3234906"/>
              <a:gd name="connsiteX12" fmla="*/ 7021901 w 7461849"/>
              <a:gd name="connsiteY12" fmla="*/ 2363638 h 3234906"/>
              <a:gd name="connsiteX13" fmla="*/ 7220309 w 7461849"/>
              <a:gd name="connsiteY13" fmla="*/ 2587925 h 3234906"/>
              <a:gd name="connsiteX14" fmla="*/ 7280694 w 7461849"/>
              <a:gd name="connsiteY14" fmla="*/ 2812212 h 3234906"/>
              <a:gd name="connsiteX15" fmla="*/ 7366958 w 7461849"/>
              <a:gd name="connsiteY15" fmla="*/ 3027872 h 3234906"/>
              <a:gd name="connsiteX16" fmla="*/ 7461849 w 7461849"/>
              <a:gd name="connsiteY16" fmla="*/ 3234906 h 3234906"/>
              <a:gd name="connsiteX0" fmla="*/ 0 w 7461849"/>
              <a:gd name="connsiteY0" fmla="*/ 8627 h 3234906"/>
              <a:gd name="connsiteX1" fmla="*/ 465826 w 7461849"/>
              <a:gd name="connsiteY1" fmla="*/ 0 h 3234906"/>
              <a:gd name="connsiteX2" fmla="*/ 638354 w 7461849"/>
              <a:gd name="connsiteY2" fmla="*/ 215661 h 3234906"/>
              <a:gd name="connsiteX3" fmla="*/ 1078301 w 7461849"/>
              <a:gd name="connsiteY3" fmla="*/ 422695 h 3234906"/>
              <a:gd name="connsiteX4" fmla="*/ 1785668 w 7461849"/>
              <a:gd name="connsiteY4" fmla="*/ 638355 h 3234906"/>
              <a:gd name="connsiteX5" fmla="*/ 2458528 w 7461849"/>
              <a:gd name="connsiteY5" fmla="*/ 836763 h 3234906"/>
              <a:gd name="connsiteX6" fmla="*/ 3269411 w 7461849"/>
              <a:gd name="connsiteY6" fmla="*/ 1078302 h 3234906"/>
              <a:gd name="connsiteX7" fmla="*/ 4347713 w 7461849"/>
              <a:gd name="connsiteY7" fmla="*/ 1285336 h 3234906"/>
              <a:gd name="connsiteX8" fmla="*/ 5391509 w 7461849"/>
              <a:gd name="connsiteY8" fmla="*/ 1509623 h 3234906"/>
              <a:gd name="connsiteX9" fmla="*/ 5736566 w 7461849"/>
              <a:gd name="connsiteY9" fmla="*/ 1725283 h 3234906"/>
              <a:gd name="connsiteX10" fmla="*/ 6167886 w 7461849"/>
              <a:gd name="connsiteY10" fmla="*/ 1940944 h 3234906"/>
              <a:gd name="connsiteX11" fmla="*/ 6573328 w 7461849"/>
              <a:gd name="connsiteY11" fmla="*/ 2147978 h 3234906"/>
              <a:gd name="connsiteX12" fmla="*/ 7021901 w 7461849"/>
              <a:gd name="connsiteY12" fmla="*/ 2363638 h 3234906"/>
              <a:gd name="connsiteX13" fmla="*/ 7220309 w 7461849"/>
              <a:gd name="connsiteY13" fmla="*/ 2587925 h 3234906"/>
              <a:gd name="connsiteX14" fmla="*/ 7280694 w 7461849"/>
              <a:gd name="connsiteY14" fmla="*/ 2812212 h 3234906"/>
              <a:gd name="connsiteX15" fmla="*/ 7410090 w 7461849"/>
              <a:gd name="connsiteY15" fmla="*/ 3045125 h 3234906"/>
              <a:gd name="connsiteX16" fmla="*/ 7461849 w 7461849"/>
              <a:gd name="connsiteY16" fmla="*/ 3234906 h 3234906"/>
              <a:gd name="connsiteX0" fmla="*/ 0 w 7438099"/>
              <a:gd name="connsiteY0" fmla="*/ 0 h 3238155"/>
              <a:gd name="connsiteX1" fmla="*/ 442076 w 7438099"/>
              <a:gd name="connsiteY1" fmla="*/ 3249 h 3238155"/>
              <a:gd name="connsiteX2" fmla="*/ 614604 w 7438099"/>
              <a:gd name="connsiteY2" fmla="*/ 218910 h 3238155"/>
              <a:gd name="connsiteX3" fmla="*/ 1054551 w 7438099"/>
              <a:gd name="connsiteY3" fmla="*/ 425944 h 3238155"/>
              <a:gd name="connsiteX4" fmla="*/ 1761918 w 7438099"/>
              <a:gd name="connsiteY4" fmla="*/ 641604 h 3238155"/>
              <a:gd name="connsiteX5" fmla="*/ 2434778 w 7438099"/>
              <a:gd name="connsiteY5" fmla="*/ 840012 h 3238155"/>
              <a:gd name="connsiteX6" fmla="*/ 3245661 w 7438099"/>
              <a:gd name="connsiteY6" fmla="*/ 1081551 h 3238155"/>
              <a:gd name="connsiteX7" fmla="*/ 4323963 w 7438099"/>
              <a:gd name="connsiteY7" fmla="*/ 1288585 h 3238155"/>
              <a:gd name="connsiteX8" fmla="*/ 5367759 w 7438099"/>
              <a:gd name="connsiteY8" fmla="*/ 1512872 h 3238155"/>
              <a:gd name="connsiteX9" fmla="*/ 5712816 w 7438099"/>
              <a:gd name="connsiteY9" fmla="*/ 1728532 h 3238155"/>
              <a:gd name="connsiteX10" fmla="*/ 6144136 w 7438099"/>
              <a:gd name="connsiteY10" fmla="*/ 1944193 h 3238155"/>
              <a:gd name="connsiteX11" fmla="*/ 6549578 w 7438099"/>
              <a:gd name="connsiteY11" fmla="*/ 2151227 h 3238155"/>
              <a:gd name="connsiteX12" fmla="*/ 6998151 w 7438099"/>
              <a:gd name="connsiteY12" fmla="*/ 2366887 h 3238155"/>
              <a:gd name="connsiteX13" fmla="*/ 7196559 w 7438099"/>
              <a:gd name="connsiteY13" fmla="*/ 2591174 h 3238155"/>
              <a:gd name="connsiteX14" fmla="*/ 7256944 w 7438099"/>
              <a:gd name="connsiteY14" fmla="*/ 2815461 h 3238155"/>
              <a:gd name="connsiteX15" fmla="*/ 7386340 w 7438099"/>
              <a:gd name="connsiteY15" fmla="*/ 3048374 h 3238155"/>
              <a:gd name="connsiteX16" fmla="*/ 7438099 w 7438099"/>
              <a:gd name="connsiteY16" fmla="*/ 3238155 h 3238155"/>
              <a:gd name="connsiteX0" fmla="*/ 0 w 7449974"/>
              <a:gd name="connsiteY0" fmla="*/ 0 h 3238155"/>
              <a:gd name="connsiteX1" fmla="*/ 453951 w 7449974"/>
              <a:gd name="connsiteY1" fmla="*/ 3249 h 3238155"/>
              <a:gd name="connsiteX2" fmla="*/ 626479 w 7449974"/>
              <a:gd name="connsiteY2" fmla="*/ 218910 h 3238155"/>
              <a:gd name="connsiteX3" fmla="*/ 1066426 w 7449974"/>
              <a:gd name="connsiteY3" fmla="*/ 425944 h 3238155"/>
              <a:gd name="connsiteX4" fmla="*/ 1773793 w 7449974"/>
              <a:gd name="connsiteY4" fmla="*/ 641604 h 3238155"/>
              <a:gd name="connsiteX5" fmla="*/ 2446653 w 7449974"/>
              <a:gd name="connsiteY5" fmla="*/ 840012 h 3238155"/>
              <a:gd name="connsiteX6" fmla="*/ 3257536 w 7449974"/>
              <a:gd name="connsiteY6" fmla="*/ 1081551 h 3238155"/>
              <a:gd name="connsiteX7" fmla="*/ 4335838 w 7449974"/>
              <a:gd name="connsiteY7" fmla="*/ 1288585 h 3238155"/>
              <a:gd name="connsiteX8" fmla="*/ 5379634 w 7449974"/>
              <a:gd name="connsiteY8" fmla="*/ 1512872 h 3238155"/>
              <a:gd name="connsiteX9" fmla="*/ 5724691 w 7449974"/>
              <a:gd name="connsiteY9" fmla="*/ 1728532 h 3238155"/>
              <a:gd name="connsiteX10" fmla="*/ 6156011 w 7449974"/>
              <a:gd name="connsiteY10" fmla="*/ 1944193 h 3238155"/>
              <a:gd name="connsiteX11" fmla="*/ 6561453 w 7449974"/>
              <a:gd name="connsiteY11" fmla="*/ 2151227 h 3238155"/>
              <a:gd name="connsiteX12" fmla="*/ 7010026 w 7449974"/>
              <a:gd name="connsiteY12" fmla="*/ 2366887 h 3238155"/>
              <a:gd name="connsiteX13" fmla="*/ 7208434 w 7449974"/>
              <a:gd name="connsiteY13" fmla="*/ 2591174 h 3238155"/>
              <a:gd name="connsiteX14" fmla="*/ 7268819 w 7449974"/>
              <a:gd name="connsiteY14" fmla="*/ 2815461 h 3238155"/>
              <a:gd name="connsiteX15" fmla="*/ 7398215 w 7449974"/>
              <a:gd name="connsiteY15" fmla="*/ 3048374 h 3238155"/>
              <a:gd name="connsiteX16" fmla="*/ 7449974 w 7449974"/>
              <a:gd name="connsiteY16" fmla="*/ 3238155 h 3238155"/>
              <a:gd name="connsiteX0" fmla="*/ 0 w 7449974"/>
              <a:gd name="connsiteY0" fmla="*/ 8626 h 3234906"/>
              <a:gd name="connsiteX1" fmla="*/ 453951 w 7449974"/>
              <a:gd name="connsiteY1" fmla="*/ 0 h 3234906"/>
              <a:gd name="connsiteX2" fmla="*/ 626479 w 7449974"/>
              <a:gd name="connsiteY2" fmla="*/ 215661 h 3234906"/>
              <a:gd name="connsiteX3" fmla="*/ 1066426 w 7449974"/>
              <a:gd name="connsiteY3" fmla="*/ 422695 h 3234906"/>
              <a:gd name="connsiteX4" fmla="*/ 1773793 w 7449974"/>
              <a:gd name="connsiteY4" fmla="*/ 638355 h 3234906"/>
              <a:gd name="connsiteX5" fmla="*/ 2446653 w 7449974"/>
              <a:gd name="connsiteY5" fmla="*/ 836763 h 3234906"/>
              <a:gd name="connsiteX6" fmla="*/ 3257536 w 7449974"/>
              <a:gd name="connsiteY6" fmla="*/ 1078302 h 3234906"/>
              <a:gd name="connsiteX7" fmla="*/ 4335838 w 7449974"/>
              <a:gd name="connsiteY7" fmla="*/ 1285336 h 3234906"/>
              <a:gd name="connsiteX8" fmla="*/ 5379634 w 7449974"/>
              <a:gd name="connsiteY8" fmla="*/ 1509623 h 3234906"/>
              <a:gd name="connsiteX9" fmla="*/ 5724691 w 7449974"/>
              <a:gd name="connsiteY9" fmla="*/ 1725283 h 3234906"/>
              <a:gd name="connsiteX10" fmla="*/ 6156011 w 7449974"/>
              <a:gd name="connsiteY10" fmla="*/ 1940944 h 3234906"/>
              <a:gd name="connsiteX11" fmla="*/ 6561453 w 7449974"/>
              <a:gd name="connsiteY11" fmla="*/ 2147978 h 3234906"/>
              <a:gd name="connsiteX12" fmla="*/ 7010026 w 7449974"/>
              <a:gd name="connsiteY12" fmla="*/ 2363638 h 3234906"/>
              <a:gd name="connsiteX13" fmla="*/ 7208434 w 7449974"/>
              <a:gd name="connsiteY13" fmla="*/ 2587925 h 3234906"/>
              <a:gd name="connsiteX14" fmla="*/ 7268819 w 7449974"/>
              <a:gd name="connsiteY14" fmla="*/ 2812212 h 3234906"/>
              <a:gd name="connsiteX15" fmla="*/ 7398215 w 7449974"/>
              <a:gd name="connsiteY15" fmla="*/ 3045125 h 3234906"/>
              <a:gd name="connsiteX16" fmla="*/ 7449974 w 7449974"/>
              <a:gd name="connsiteY16" fmla="*/ 3234906 h 3234906"/>
              <a:gd name="connsiteX0" fmla="*/ 0 w 7449974"/>
              <a:gd name="connsiteY0" fmla="*/ 0 h 3244093"/>
              <a:gd name="connsiteX1" fmla="*/ 453951 w 7449974"/>
              <a:gd name="connsiteY1" fmla="*/ 9187 h 3244093"/>
              <a:gd name="connsiteX2" fmla="*/ 626479 w 7449974"/>
              <a:gd name="connsiteY2" fmla="*/ 224848 h 3244093"/>
              <a:gd name="connsiteX3" fmla="*/ 1066426 w 7449974"/>
              <a:gd name="connsiteY3" fmla="*/ 431882 h 3244093"/>
              <a:gd name="connsiteX4" fmla="*/ 1773793 w 7449974"/>
              <a:gd name="connsiteY4" fmla="*/ 647542 h 3244093"/>
              <a:gd name="connsiteX5" fmla="*/ 2446653 w 7449974"/>
              <a:gd name="connsiteY5" fmla="*/ 845950 h 3244093"/>
              <a:gd name="connsiteX6" fmla="*/ 3257536 w 7449974"/>
              <a:gd name="connsiteY6" fmla="*/ 1087489 h 3244093"/>
              <a:gd name="connsiteX7" fmla="*/ 4335838 w 7449974"/>
              <a:gd name="connsiteY7" fmla="*/ 1294523 h 3244093"/>
              <a:gd name="connsiteX8" fmla="*/ 5379634 w 7449974"/>
              <a:gd name="connsiteY8" fmla="*/ 1518810 h 3244093"/>
              <a:gd name="connsiteX9" fmla="*/ 5724691 w 7449974"/>
              <a:gd name="connsiteY9" fmla="*/ 1734470 h 3244093"/>
              <a:gd name="connsiteX10" fmla="*/ 6156011 w 7449974"/>
              <a:gd name="connsiteY10" fmla="*/ 1950131 h 3244093"/>
              <a:gd name="connsiteX11" fmla="*/ 6561453 w 7449974"/>
              <a:gd name="connsiteY11" fmla="*/ 2157165 h 3244093"/>
              <a:gd name="connsiteX12" fmla="*/ 7010026 w 7449974"/>
              <a:gd name="connsiteY12" fmla="*/ 2372825 h 3244093"/>
              <a:gd name="connsiteX13" fmla="*/ 7208434 w 7449974"/>
              <a:gd name="connsiteY13" fmla="*/ 2597112 h 3244093"/>
              <a:gd name="connsiteX14" fmla="*/ 7268819 w 7449974"/>
              <a:gd name="connsiteY14" fmla="*/ 2821399 h 3244093"/>
              <a:gd name="connsiteX15" fmla="*/ 7398215 w 7449974"/>
              <a:gd name="connsiteY15" fmla="*/ 3054312 h 3244093"/>
              <a:gd name="connsiteX16" fmla="*/ 7449974 w 7449974"/>
              <a:gd name="connsiteY16" fmla="*/ 3244093 h 3244093"/>
              <a:gd name="connsiteX0" fmla="*/ 0 w 7449974"/>
              <a:gd name="connsiteY0" fmla="*/ 8626 h 3234906"/>
              <a:gd name="connsiteX1" fmla="*/ 453951 w 7449974"/>
              <a:gd name="connsiteY1" fmla="*/ 0 h 3234906"/>
              <a:gd name="connsiteX2" fmla="*/ 626479 w 7449974"/>
              <a:gd name="connsiteY2" fmla="*/ 215661 h 3234906"/>
              <a:gd name="connsiteX3" fmla="*/ 1066426 w 7449974"/>
              <a:gd name="connsiteY3" fmla="*/ 422695 h 3234906"/>
              <a:gd name="connsiteX4" fmla="*/ 1773793 w 7449974"/>
              <a:gd name="connsiteY4" fmla="*/ 638355 h 3234906"/>
              <a:gd name="connsiteX5" fmla="*/ 2446653 w 7449974"/>
              <a:gd name="connsiteY5" fmla="*/ 836763 h 3234906"/>
              <a:gd name="connsiteX6" fmla="*/ 3257536 w 7449974"/>
              <a:gd name="connsiteY6" fmla="*/ 1078302 h 3234906"/>
              <a:gd name="connsiteX7" fmla="*/ 4335838 w 7449974"/>
              <a:gd name="connsiteY7" fmla="*/ 1285336 h 3234906"/>
              <a:gd name="connsiteX8" fmla="*/ 5379634 w 7449974"/>
              <a:gd name="connsiteY8" fmla="*/ 1509623 h 3234906"/>
              <a:gd name="connsiteX9" fmla="*/ 5724691 w 7449974"/>
              <a:gd name="connsiteY9" fmla="*/ 1725283 h 3234906"/>
              <a:gd name="connsiteX10" fmla="*/ 6156011 w 7449974"/>
              <a:gd name="connsiteY10" fmla="*/ 1940944 h 3234906"/>
              <a:gd name="connsiteX11" fmla="*/ 6561453 w 7449974"/>
              <a:gd name="connsiteY11" fmla="*/ 2147978 h 3234906"/>
              <a:gd name="connsiteX12" fmla="*/ 7010026 w 7449974"/>
              <a:gd name="connsiteY12" fmla="*/ 2363638 h 3234906"/>
              <a:gd name="connsiteX13" fmla="*/ 7208434 w 7449974"/>
              <a:gd name="connsiteY13" fmla="*/ 2587925 h 3234906"/>
              <a:gd name="connsiteX14" fmla="*/ 7268819 w 7449974"/>
              <a:gd name="connsiteY14" fmla="*/ 2812212 h 3234906"/>
              <a:gd name="connsiteX15" fmla="*/ 7398215 w 7449974"/>
              <a:gd name="connsiteY15" fmla="*/ 3045125 h 3234906"/>
              <a:gd name="connsiteX16" fmla="*/ 7449974 w 7449974"/>
              <a:gd name="connsiteY16" fmla="*/ 3234906 h 3234906"/>
              <a:gd name="connsiteX0" fmla="*/ 0 w 7449974"/>
              <a:gd name="connsiteY0" fmla="*/ 0 h 3238155"/>
              <a:gd name="connsiteX1" fmla="*/ 453951 w 7449974"/>
              <a:gd name="connsiteY1" fmla="*/ 3249 h 3238155"/>
              <a:gd name="connsiteX2" fmla="*/ 626479 w 7449974"/>
              <a:gd name="connsiteY2" fmla="*/ 218910 h 3238155"/>
              <a:gd name="connsiteX3" fmla="*/ 1066426 w 7449974"/>
              <a:gd name="connsiteY3" fmla="*/ 425944 h 3238155"/>
              <a:gd name="connsiteX4" fmla="*/ 1773793 w 7449974"/>
              <a:gd name="connsiteY4" fmla="*/ 641604 h 3238155"/>
              <a:gd name="connsiteX5" fmla="*/ 2446653 w 7449974"/>
              <a:gd name="connsiteY5" fmla="*/ 840012 h 3238155"/>
              <a:gd name="connsiteX6" fmla="*/ 3257536 w 7449974"/>
              <a:gd name="connsiteY6" fmla="*/ 1081551 h 3238155"/>
              <a:gd name="connsiteX7" fmla="*/ 4335838 w 7449974"/>
              <a:gd name="connsiteY7" fmla="*/ 1288585 h 3238155"/>
              <a:gd name="connsiteX8" fmla="*/ 5379634 w 7449974"/>
              <a:gd name="connsiteY8" fmla="*/ 1512872 h 3238155"/>
              <a:gd name="connsiteX9" fmla="*/ 5724691 w 7449974"/>
              <a:gd name="connsiteY9" fmla="*/ 1728532 h 3238155"/>
              <a:gd name="connsiteX10" fmla="*/ 6156011 w 7449974"/>
              <a:gd name="connsiteY10" fmla="*/ 1944193 h 3238155"/>
              <a:gd name="connsiteX11" fmla="*/ 6561453 w 7449974"/>
              <a:gd name="connsiteY11" fmla="*/ 2151227 h 3238155"/>
              <a:gd name="connsiteX12" fmla="*/ 7010026 w 7449974"/>
              <a:gd name="connsiteY12" fmla="*/ 2366887 h 3238155"/>
              <a:gd name="connsiteX13" fmla="*/ 7208434 w 7449974"/>
              <a:gd name="connsiteY13" fmla="*/ 2591174 h 3238155"/>
              <a:gd name="connsiteX14" fmla="*/ 7268819 w 7449974"/>
              <a:gd name="connsiteY14" fmla="*/ 2815461 h 3238155"/>
              <a:gd name="connsiteX15" fmla="*/ 7398215 w 7449974"/>
              <a:gd name="connsiteY15" fmla="*/ 3048374 h 3238155"/>
              <a:gd name="connsiteX16" fmla="*/ 7449974 w 7449974"/>
              <a:gd name="connsiteY16" fmla="*/ 3238155 h 3238155"/>
              <a:gd name="connsiteX0" fmla="*/ 0 w 7454998"/>
              <a:gd name="connsiteY0" fmla="*/ 6799 h 3234906"/>
              <a:gd name="connsiteX1" fmla="*/ 458975 w 7454998"/>
              <a:gd name="connsiteY1" fmla="*/ 0 h 3234906"/>
              <a:gd name="connsiteX2" fmla="*/ 631503 w 7454998"/>
              <a:gd name="connsiteY2" fmla="*/ 215661 h 3234906"/>
              <a:gd name="connsiteX3" fmla="*/ 1071450 w 7454998"/>
              <a:gd name="connsiteY3" fmla="*/ 422695 h 3234906"/>
              <a:gd name="connsiteX4" fmla="*/ 1778817 w 7454998"/>
              <a:gd name="connsiteY4" fmla="*/ 638355 h 3234906"/>
              <a:gd name="connsiteX5" fmla="*/ 2451677 w 7454998"/>
              <a:gd name="connsiteY5" fmla="*/ 836763 h 3234906"/>
              <a:gd name="connsiteX6" fmla="*/ 3262560 w 7454998"/>
              <a:gd name="connsiteY6" fmla="*/ 1078302 h 3234906"/>
              <a:gd name="connsiteX7" fmla="*/ 4340862 w 7454998"/>
              <a:gd name="connsiteY7" fmla="*/ 1285336 h 3234906"/>
              <a:gd name="connsiteX8" fmla="*/ 5384658 w 7454998"/>
              <a:gd name="connsiteY8" fmla="*/ 1509623 h 3234906"/>
              <a:gd name="connsiteX9" fmla="*/ 5729715 w 7454998"/>
              <a:gd name="connsiteY9" fmla="*/ 1725283 h 3234906"/>
              <a:gd name="connsiteX10" fmla="*/ 6161035 w 7454998"/>
              <a:gd name="connsiteY10" fmla="*/ 1940944 h 3234906"/>
              <a:gd name="connsiteX11" fmla="*/ 6566477 w 7454998"/>
              <a:gd name="connsiteY11" fmla="*/ 2147978 h 3234906"/>
              <a:gd name="connsiteX12" fmla="*/ 7015050 w 7454998"/>
              <a:gd name="connsiteY12" fmla="*/ 2363638 h 3234906"/>
              <a:gd name="connsiteX13" fmla="*/ 7213458 w 7454998"/>
              <a:gd name="connsiteY13" fmla="*/ 2587925 h 3234906"/>
              <a:gd name="connsiteX14" fmla="*/ 7273843 w 7454998"/>
              <a:gd name="connsiteY14" fmla="*/ 2812212 h 3234906"/>
              <a:gd name="connsiteX15" fmla="*/ 7403239 w 7454998"/>
              <a:gd name="connsiteY15" fmla="*/ 3045125 h 3234906"/>
              <a:gd name="connsiteX16" fmla="*/ 7454998 w 7454998"/>
              <a:gd name="connsiteY16" fmla="*/ 3234906 h 3234906"/>
              <a:gd name="connsiteX0" fmla="*/ 0 w 7454998"/>
              <a:gd name="connsiteY0" fmla="*/ 0 h 3239537"/>
              <a:gd name="connsiteX1" fmla="*/ 458975 w 7454998"/>
              <a:gd name="connsiteY1" fmla="*/ 463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 name="connsiteX0" fmla="*/ 0 w 7454998"/>
              <a:gd name="connsiteY0" fmla="*/ 0 h 3239537"/>
              <a:gd name="connsiteX1" fmla="*/ 458975 w 7454998"/>
              <a:gd name="connsiteY1" fmla="*/ 82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 name="connsiteX0" fmla="*/ 0 w 7475126"/>
              <a:gd name="connsiteY0" fmla="*/ 0 h 3250063"/>
              <a:gd name="connsiteX1" fmla="*/ 458975 w 7475126"/>
              <a:gd name="connsiteY1" fmla="*/ 821 h 3250063"/>
              <a:gd name="connsiteX2" fmla="*/ 631503 w 7475126"/>
              <a:gd name="connsiteY2" fmla="*/ 220292 h 3250063"/>
              <a:gd name="connsiteX3" fmla="*/ 1071450 w 7475126"/>
              <a:gd name="connsiteY3" fmla="*/ 427326 h 3250063"/>
              <a:gd name="connsiteX4" fmla="*/ 1778817 w 7475126"/>
              <a:gd name="connsiteY4" fmla="*/ 642986 h 3250063"/>
              <a:gd name="connsiteX5" fmla="*/ 2451677 w 7475126"/>
              <a:gd name="connsiteY5" fmla="*/ 841394 h 3250063"/>
              <a:gd name="connsiteX6" fmla="*/ 3262560 w 7475126"/>
              <a:gd name="connsiteY6" fmla="*/ 1082933 h 3250063"/>
              <a:gd name="connsiteX7" fmla="*/ 4340862 w 7475126"/>
              <a:gd name="connsiteY7" fmla="*/ 1289967 h 3250063"/>
              <a:gd name="connsiteX8" fmla="*/ 5384658 w 7475126"/>
              <a:gd name="connsiteY8" fmla="*/ 1514254 h 3250063"/>
              <a:gd name="connsiteX9" fmla="*/ 5729715 w 7475126"/>
              <a:gd name="connsiteY9" fmla="*/ 1729914 h 3250063"/>
              <a:gd name="connsiteX10" fmla="*/ 6161035 w 7475126"/>
              <a:gd name="connsiteY10" fmla="*/ 1945575 h 3250063"/>
              <a:gd name="connsiteX11" fmla="*/ 6566477 w 7475126"/>
              <a:gd name="connsiteY11" fmla="*/ 2152609 h 3250063"/>
              <a:gd name="connsiteX12" fmla="*/ 7015050 w 7475126"/>
              <a:gd name="connsiteY12" fmla="*/ 2368269 h 3250063"/>
              <a:gd name="connsiteX13" fmla="*/ 7213458 w 7475126"/>
              <a:gd name="connsiteY13" fmla="*/ 2592556 h 3250063"/>
              <a:gd name="connsiteX14" fmla="*/ 7273843 w 7475126"/>
              <a:gd name="connsiteY14" fmla="*/ 2816843 h 3250063"/>
              <a:gd name="connsiteX15" fmla="*/ 7403239 w 7475126"/>
              <a:gd name="connsiteY15" fmla="*/ 3049756 h 3250063"/>
              <a:gd name="connsiteX16" fmla="*/ 7454998 w 7475126"/>
              <a:gd name="connsiteY16" fmla="*/ 3239537 h 3250063"/>
              <a:gd name="connsiteX17" fmla="*/ 7475126 w 7475126"/>
              <a:gd name="connsiteY17" fmla="*/ 3225161 h 3250063"/>
              <a:gd name="connsiteX0" fmla="*/ 0 w 7455012"/>
              <a:gd name="connsiteY0" fmla="*/ 0 h 3250063"/>
              <a:gd name="connsiteX1" fmla="*/ 458975 w 7455012"/>
              <a:gd name="connsiteY1" fmla="*/ 821 h 3250063"/>
              <a:gd name="connsiteX2" fmla="*/ 631503 w 7455012"/>
              <a:gd name="connsiteY2" fmla="*/ 220292 h 3250063"/>
              <a:gd name="connsiteX3" fmla="*/ 1071450 w 7455012"/>
              <a:gd name="connsiteY3" fmla="*/ 427326 h 3250063"/>
              <a:gd name="connsiteX4" fmla="*/ 1778817 w 7455012"/>
              <a:gd name="connsiteY4" fmla="*/ 642986 h 3250063"/>
              <a:gd name="connsiteX5" fmla="*/ 2451677 w 7455012"/>
              <a:gd name="connsiteY5" fmla="*/ 841394 h 3250063"/>
              <a:gd name="connsiteX6" fmla="*/ 3262560 w 7455012"/>
              <a:gd name="connsiteY6" fmla="*/ 1082933 h 3250063"/>
              <a:gd name="connsiteX7" fmla="*/ 4340862 w 7455012"/>
              <a:gd name="connsiteY7" fmla="*/ 1289967 h 3250063"/>
              <a:gd name="connsiteX8" fmla="*/ 5384658 w 7455012"/>
              <a:gd name="connsiteY8" fmla="*/ 1514254 h 3250063"/>
              <a:gd name="connsiteX9" fmla="*/ 5729715 w 7455012"/>
              <a:gd name="connsiteY9" fmla="*/ 1729914 h 3250063"/>
              <a:gd name="connsiteX10" fmla="*/ 6161035 w 7455012"/>
              <a:gd name="connsiteY10" fmla="*/ 1945575 h 3250063"/>
              <a:gd name="connsiteX11" fmla="*/ 6566477 w 7455012"/>
              <a:gd name="connsiteY11" fmla="*/ 2152609 h 3250063"/>
              <a:gd name="connsiteX12" fmla="*/ 7015050 w 7455012"/>
              <a:gd name="connsiteY12" fmla="*/ 2368269 h 3250063"/>
              <a:gd name="connsiteX13" fmla="*/ 7213458 w 7455012"/>
              <a:gd name="connsiteY13" fmla="*/ 2592556 h 3250063"/>
              <a:gd name="connsiteX14" fmla="*/ 7273843 w 7455012"/>
              <a:gd name="connsiteY14" fmla="*/ 2816843 h 3250063"/>
              <a:gd name="connsiteX15" fmla="*/ 7403239 w 7455012"/>
              <a:gd name="connsiteY15" fmla="*/ 3049756 h 3250063"/>
              <a:gd name="connsiteX16" fmla="*/ 7454998 w 7455012"/>
              <a:gd name="connsiteY16" fmla="*/ 3239537 h 3250063"/>
              <a:gd name="connsiteX17" fmla="*/ 194432 w 7455012"/>
              <a:gd name="connsiteY17" fmla="*/ 3225161 h 3250063"/>
              <a:gd name="connsiteX0" fmla="*/ 0 w 7455012"/>
              <a:gd name="connsiteY0" fmla="*/ 0 h 3250063"/>
              <a:gd name="connsiteX1" fmla="*/ 458975 w 7455012"/>
              <a:gd name="connsiteY1" fmla="*/ 821 h 3250063"/>
              <a:gd name="connsiteX2" fmla="*/ 631503 w 7455012"/>
              <a:gd name="connsiteY2" fmla="*/ 220292 h 3250063"/>
              <a:gd name="connsiteX3" fmla="*/ 1071450 w 7455012"/>
              <a:gd name="connsiteY3" fmla="*/ 427326 h 3250063"/>
              <a:gd name="connsiteX4" fmla="*/ 1778817 w 7455012"/>
              <a:gd name="connsiteY4" fmla="*/ 642986 h 3250063"/>
              <a:gd name="connsiteX5" fmla="*/ 2451677 w 7455012"/>
              <a:gd name="connsiteY5" fmla="*/ 841394 h 3250063"/>
              <a:gd name="connsiteX6" fmla="*/ 3262560 w 7455012"/>
              <a:gd name="connsiteY6" fmla="*/ 1082933 h 3250063"/>
              <a:gd name="connsiteX7" fmla="*/ 4340862 w 7455012"/>
              <a:gd name="connsiteY7" fmla="*/ 1289967 h 3250063"/>
              <a:gd name="connsiteX8" fmla="*/ 5384658 w 7455012"/>
              <a:gd name="connsiteY8" fmla="*/ 1514254 h 3250063"/>
              <a:gd name="connsiteX9" fmla="*/ 5729715 w 7455012"/>
              <a:gd name="connsiteY9" fmla="*/ 1729914 h 3250063"/>
              <a:gd name="connsiteX10" fmla="*/ 6161035 w 7455012"/>
              <a:gd name="connsiteY10" fmla="*/ 1945575 h 3250063"/>
              <a:gd name="connsiteX11" fmla="*/ 6566477 w 7455012"/>
              <a:gd name="connsiteY11" fmla="*/ 2152609 h 3250063"/>
              <a:gd name="connsiteX12" fmla="*/ 7015050 w 7455012"/>
              <a:gd name="connsiteY12" fmla="*/ 2368269 h 3250063"/>
              <a:gd name="connsiteX13" fmla="*/ 7213458 w 7455012"/>
              <a:gd name="connsiteY13" fmla="*/ 2592556 h 3250063"/>
              <a:gd name="connsiteX14" fmla="*/ 7273843 w 7455012"/>
              <a:gd name="connsiteY14" fmla="*/ 2816843 h 3250063"/>
              <a:gd name="connsiteX15" fmla="*/ 7403239 w 7455012"/>
              <a:gd name="connsiteY15" fmla="*/ 3049756 h 3250063"/>
              <a:gd name="connsiteX16" fmla="*/ 7454998 w 7455012"/>
              <a:gd name="connsiteY16" fmla="*/ 3239537 h 3250063"/>
              <a:gd name="connsiteX17" fmla="*/ 194432 w 7455012"/>
              <a:gd name="connsiteY17" fmla="*/ 3225161 h 3250063"/>
              <a:gd name="connsiteX18" fmla="*/ 0 w 7455012"/>
              <a:gd name="connsiteY18" fmla="*/ 0 h 3250063"/>
              <a:gd name="connsiteX0" fmla="*/ 0 w 7455012"/>
              <a:gd name="connsiteY0" fmla="*/ 0 h 3257404"/>
              <a:gd name="connsiteX1" fmla="*/ 458975 w 7455012"/>
              <a:gd name="connsiteY1" fmla="*/ 821 h 3257404"/>
              <a:gd name="connsiteX2" fmla="*/ 631503 w 7455012"/>
              <a:gd name="connsiteY2" fmla="*/ 220292 h 3257404"/>
              <a:gd name="connsiteX3" fmla="*/ 1071450 w 7455012"/>
              <a:gd name="connsiteY3" fmla="*/ 427326 h 3257404"/>
              <a:gd name="connsiteX4" fmla="*/ 1778817 w 7455012"/>
              <a:gd name="connsiteY4" fmla="*/ 642986 h 3257404"/>
              <a:gd name="connsiteX5" fmla="*/ 2451677 w 7455012"/>
              <a:gd name="connsiteY5" fmla="*/ 841394 h 3257404"/>
              <a:gd name="connsiteX6" fmla="*/ 3262560 w 7455012"/>
              <a:gd name="connsiteY6" fmla="*/ 1082933 h 3257404"/>
              <a:gd name="connsiteX7" fmla="*/ 4340862 w 7455012"/>
              <a:gd name="connsiteY7" fmla="*/ 1289967 h 3257404"/>
              <a:gd name="connsiteX8" fmla="*/ 5384658 w 7455012"/>
              <a:gd name="connsiteY8" fmla="*/ 1514254 h 3257404"/>
              <a:gd name="connsiteX9" fmla="*/ 5729715 w 7455012"/>
              <a:gd name="connsiteY9" fmla="*/ 1729914 h 3257404"/>
              <a:gd name="connsiteX10" fmla="*/ 6161035 w 7455012"/>
              <a:gd name="connsiteY10" fmla="*/ 1945575 h 3257404"/>
              <a:gd name="connsiteX11" fmla="*/ 6566477 w 7455012"/>
              <a:gd name="connsiteY11" fmla="*/ 2152609 h 3257404"/>
              <a:gd name="connsiteX12" fmla="*/ 7015050 w 7455012"/>
              <a:gd name="connsiteY12" fmla="*/ 2368269 h 3257404"/>
              <a:gd name="connsiteX13" fmla="*/ 7213458 w 7455012"/>
              <a:gd name="connsiteY13" fmla="*/ 2592556 h 3257404"/>
              <a:gd name="connsiteX14" fmla="*/ 7273843 w 7455012"/>
              <a:gd name="connsiteY14" fmla="*/ 2816843 h 3257404"/>
              <a:gd name="connsiteX15" fmla="*/ 7403239 w 7455012"/>
              <a:gd name="connsiteY15" fmla="*/ 3049756 h 3257404"/>
              <a:gd name="connsiteX16" fmla="*/ 7454998 w 7455012"/>
              <a:gd name="connsiteY16" fmla="*/ 3239537 h 3257404"/>
              <a:gd name="connsiteX17" fmla="*/ 13277 w 7455012"/>
              <a:gd name="connsiteY17" fmla="*/ 3251041 h 3257404"/>
              <a:gd name="connsiteX18" fmla="*/ 0 w 7455012"/>
              <a:gd name="connsiteY18" fmla="*/ 0 h 3257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55012" h="3257404">
                <a:moveTo>
                  <a:pt x="0" y="0"/>
                </a:moveTo>
                <a:lnTo>
                  <a:pt x="458975" y="821"/>
                </a:lnTo>
                <a:lnTo>
                  <a:pt x="631503" y="220292"/>
                </a:lnTo>
                <a:lnTo>
                  <a:pt x="1071450" y="427326"/>
                </a:lnTo>
                <a:lnTo>
                  <a:pt x="1778817" y="642986"/>
                </a:lnTo>
                <a:lnTo>
                  <a:pt x="2451677" y="841394"/>
                </a:lnTo>
                <a:lnTo>
                  <a:pt x="3262560" y="1082933"/>
                </a:lnTo>
                <a:lnTo>
                  <a:pt x="4340862" y="1289967"/>
                </a:lnTo>
                <a:lnTo>
                  <a:pt x="5384658" y="1514254"/>
                </a:lnTo>
                <a:lnTo>
                  <a:pt x="5729715" y="1729914"/>
                </a:lnTo>
                <a:lnTo>
                  <a:pt x="6161035" y="1945575"/>
                </a:lnTo>
                <a:lnTo>
                  <a:pt x="6566477" y="2152609"/>
                </a:lnTo>
                <a:lnTo>
                  <a:pt x="7015050" y="2368269"/>
                </a:lnTo>
                <a:lnTo>
                  <a:pt x="7213458" y="2592556"/>
                </a:lnTo>
                <a:lnTo>
                  <a:pt x="7273843" y="2816843"/>
                </a:lnTo>
                <a:lnTo>
                  <a:pt x="7403239" y="3049756"/>
                </a:lnTo>
                <a:lnTo>
                  <a:pt x="7454998" y="3239537"/>
                </a:lnTo>
                <a:cubicBezTo>
                  <a:pt x="7466979" y="3268771"/>
                  <a:pt x="9084" y="3254036"/>
                  <a:pt x="13277" y="3251041"/>
                </a:cubicBezTo>
                <a:cubicBezTo>
                  <a:pt x="8851" y="2167361"/>
                  <a:pt x="4426" y="1083680"/>
                  <a:pt x="0" y="0"/>
                </a:cubicBezTo>
                <a:close/>
              </a:path>
            </a:pathLst>
          </a:custGeom>
          <a:gradFill flip="none" rotWithShape="1">
            <a:gsLst>
              <a:gs pos="0">
                <a:schemeClr val="accent4"/>
              </a:gs>
              <a:gs pos="42000">
                <a:schemeClr val="accent1">
                  <a:tint val="44500"/>
                  <a:satMod val="160000"/>
                </a:schemeClr>
              </a:gs>
              <a:gs pos="74000">
                <a:schemeClr val="bg1"/>
              </a:gs>
            </a:gsLst>
            <a:lin ang="5400000" scaled="1"/>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342503" y="1265238"/>
            <a:ext cx="6228160" cy="307777"/>
          </a:xfrm>
          <a:prstGeom prst="rect">
            <a:avLst/>
          </a:prstGeom>
        </p:spPr>
        <p:txBody>
          <a:bodyPr wrap="square">
            <a:spAutoFit/>
          </a:bodyPr>
          <a:lstStyle/>
          <a:p>
            <a:r>
              <a:rPr lang="en-US" sz="1400" b="1" dirty="0" smtClean="0">
                <a:solidFill>
                  <a:schemeClr val="accent1"/>
                </a:solidFill>
              </a:rPr>
              <a:t>Potential for top specialty production (by altitude)</a:t>
            </a:r>
            <a:endParaRPr lang="en-US" sz="1400" b="1" dirty="0">
              <a:solidFill>
                <a:schemeClr val="accent1"/>
              </a:solidFill>
            </a:endParaRPr>
          </a:p>
        </p:txBody>
      </p:sp>
      <p:sp>
        <p:nvSpPr>
          <p:cNvPr id="34" name="Rectangle 33"/>
          <p:cNvSpPr/>
          <p:nvPr/>
        </p:nvSpPr>
        <p:spPr bwMode="auto">
          <a:xfrm>
            <a:off x="901000" y="1647825"/>
            <a:ext cx="2066925" cy="160338"/>
          </a:xfrm>
          <a:prstGeom prst="rect">
            <a:avLst/>
          </a:prstGeom>
          <a:gradFill flip="none" rotWithShape="1">
            <a:gsLst>
              <a:gs pos="100000">
                <a:schemeClr val="accent4"/>
              </a:gs>
              <a:gs pos="0">
                <a:schemeClr val="bg1"/>
              </a:gs>
            </a:gsLst>
            <a:lin ang="0" scaled="1"/>
            <a:tileRect/>
          </a:gra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accent1"/>
              </a:solidFill>
              <a:effectLst/>
              <a:latin typeface="Arial" charset="0"/>
            </a:endParaRPr>
          </a:p>
        </p:txBody>
      </p:sp>
      <p:sp>
        <p:nvSpPr>
          <p:cNvPr id="35" name="TextBox 34"/>
          <p:cNvSpPr txBox="1"/>
          <p:nvPr/>
        </p:nvSpPr>
        <p:spPr>
          <a:xfrm>
            <a:off x="362838" y="1576388"/>
            <a:ext cx="533400" cy="307777"/>
          </a:xfrm>
          <a:prstGeom prst="rect">
            <a:avLst/>
          </a:prstGeom>
          <a:noFill/>
        </p:spPr>
        <p:txBody>
          <a:bodyPr wrap="square" rtlCol="0">
            <a:spAutoFit/>
          </a:bodyPr>
          <a:lstStyle/>
          <a:p>
            <a:r>
              <a:rPr lang="en-US" sz="1400" dirty="0" smtClean="0">
                <a:solidFill>
                  <a:schemeClr val="accent1"/>
                </a:solidFill>
              </a:rPr>
              <a:t>Low</a:t>
            </a:r>
            <a:endParaRPr lang="en-US" sz="1400" dirty="0">
              <a:solidFill>
                <a:schemeClr val="accent1"/>
              </a:solidFill>
            </a:endParaRPr>
          </a:p>
        </p:txBody>
      </p:sp>
      <p:sp>
        <p:nvSpPr>
          <p:cNvPr id="36" name="TextBox 35"/>
          <p:cNvSpPr txBox="1"/>
          <p:nvPr/>
        </p:nvSpPr>
        <p:spPr>
          <a:xfrm>
            <a:off x="2986719" y="1576388"/>
            <a:ext cx="679054" cy="307777"/>
          </a:xfrm>
          <a:prstGeom prst="rect">
            <a:avLst/>
          </a:prstGeom>
          <a:noFill/>
        </p:spPr>
        <p:txBody>
          <a:bodyPr wrap="square" rtlCol="0">
            <a:spAutoFit/>
          </a:bodyPr>
          <a:lstStyle/>
          <a:p>
            <a:r>
              <a:rPr lang="en-US" sz="1400" dirty="0" smtClean="0">
                <a:solidFill>
                  <a:schemeClr val="accent1"/>
                </a:solidFill>
              </a:rPr>
              <a:t>High</a:t>
            </a:r>
            <a:endParaRPr lang="en-US" sz="1400" dirty="0">
              <a:solidFill>
                <a:schemeClr val="accent1"/>
              </a:solidFill>
            </a:endParaRPr>
          </a:p>
        </p:txBody>
      </p:sp>
      <p:sp>
        <p:nvSpPr>
          <p:cNvPr id="31" name="TextBox 30"/>
          <p:cNvSpPr txBox="1"/>
          <p:nvPr/>
        </p:nvSpPr>
        <p:spPr>
          <a:xfrm>
            <a:off x="607236" y="6242977"/>
            <a:ext cx="8715404" cy="215444"/>
          </a:xfrm>
          <a:prstGeom prst="rect">
            <a:avLst/>
          </a:prstGeom>
          <a:noFill/>
        </p:spPr>
        <p:txBody>
          <a:bodyPr wrap="square" rtlCol="0" anchor="b">
            <a:spAutoFit/>
          </a:bodyPr>
          <a:lstStyle/>
          <a:p>
            <a:r>
              <a:rPr lang="en-US" sz="800" dirty="0" smtClean="0">
                <a:solidFill>
                  <a:schemeClr val="tx1">
                    <a:lumMod val="65000"/>
                    <a:lumOff val="35000"/>
                  </a:schemeClr>
                </a:solidFill>
              </a:rPr>
              <a:t>Source: AGRONET, FNC, TechnoServe analysis</a:t>
            </a:r>
            <a:endParaRPr lang="en-US" sz="800" dirty="0">
              <a:solidFill>
                <a:schemeClr val="tx1">
                  <a:lumMod val="65000"/>
                  <a:lumOff val="35000"/>
                </a:schemeClr>
              </a:solidFill>
            </a:endParaRPr>
          </a:p>
        </p:txBody>
      </p:sp>
      <p:sp>
        <p:nvSpPr>
          <p:cNvPr id="3" name="Title 2"/>
          <p:cNvSpPr>
            <a:spLocks noGrp="1"/>
          </p:cNvSpPr>
          <p:nvPr>
            <p:ph type="title"/>
          </p:nvPr>
        </p:nvSpPr>
        <p:spPr/>
        <p:txBody>
          <a:bodyPr/>
          <a:lstStyle/>
          <a:p>
            <a:pPr marL="271463"/>
            <a:r>
              <a:rPr lang="en-US" sz="1600" b="0" dirty="0" smtClean="0"/>
              <a:t>ALTITUDINAL ARCHETYPES</a:t>
            </a:r>
            <a:r>
              <a:rPr lang="en-US" sz="2800" b="0" dirty="0"/>
              <a:t/>
            </a:r>
            <a:br>
              <a:rPr lang="en-US" sz="2800" b="0" dirty="0"/>
            </a:br>
            <a:r>
              <a:rPr lang="en-US" sz="2000" b="0" dirty="0" smtClean="0"/>
              <a:t>Higher altitude farms have opportunities to focus </a:t>
            </a:r>
            <a:r>
              <a:rPr lang="en-US" sz="2000" b="0" dirty="0"/>
              <a:t>o</a:t>
            </a:r>
            <a:r>
              <a:rPr lang="en-US" sz="2000" b="0" dirty="0" smtClean="0"/>
              <a:t>n top specialty production while lower </a:t>
            </a:r>
            <a:r>
              <a:rPr lang="en-US" sz="2000" b="0" dirty="0"/>
              <a:t>altitude farms are more </a:t>
            </a:r>
            <a:r>
              <a:rPr lang="en-US" sz="2000" b="0" dirty="0" smtClean="0"/>
              <a:t>vulnerable</a:t>
            </a:r>
            <a:endParaRPr lang="en-US" sz="2000" b="0" dirty="0"/>
          </a:p>
        </p:txBody>
      </p:sp>
      <p:sp>
        <p:nvSpPr>
          <p:cNvPr id="44" name="Oval 43"/>
          <p:cNvSpPr/>
          <p:nvPr/>
        </p:nvSpPr>
        <p:spPr bwMode="auto">
          <a:xfrm>
            <a:off x="139822" y="304799"/>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C</a:t>
            </a:r>
            <a:endParaRPr kumimoji="0" lang="en-US" sz="2400" i="0" u="none" strike="noStrike" cap="none" normalizeH="0" baseline="0" dirty="0" smtClean="0">
              <a:ln>
                <a:noFill/>
              </a:ln>
              <a:solidFill>
                <a:schemeClr val="bg1"/>
              </a:solidFill>
              <a:effectLst/>
              <a:latin typeface="Arial" charset="0"/>
            </a:endParaRPr>
          </a:p>
        </p:txBody>
      </p:sp>
      <p:sp>
        <p:nvSpPr>
          <p:cNvPr id="13" name="Freeform 12"/>
          <p:cNvSpPr/>
          <p:nvPr/>
        </p:nvSpPr>
        <p:spPr>
          <a:xfrm>
            <a:off x="455425" y="1936311"/>
            <a:ext cx="7454998" cy="3239537"/>
          </a:xfrm>
          <a:custGeom>
            <a:avLst/>
            <a:gdLst>
              <a:gd name="connsiteX0" fmla="*/ 0 w 7280694"/>
              <a:gd name="connsiteY0" fmla="*/ 8627 h 2812212"/>
              <a:gd name="connsiteX1" fmla="*/ 465826 w 7280694"/>
              <a:gd name="connsiteY1" fmla="*/ 0 h 2812212"/>
              <a:gd name="connsiteX2" fmla="*/ 638354 w 7280694"/>
              <a:gd name="connsiteY2" fmla="*/ 215661 h 2812212"/>
              <a:gd name="connsiteX3" fmla="*/ 1078301 w 7280694"/>
              <a:gd name="connsiteY3" fmla="*/ 422695 h 2812212"/>
              <a:gd name="connsiteX4" fmla="*/ 1785668 w 7280694"/>
              <a:gd name="connsiteY4" fmla="*/ 638355 h 2812212"/>
              <a:gd name="connsiteX5" fmla="*/ 2458528 w 7280694"/>
              <a:gd name="connsiteY5" fmla="*/ 836763 h 2812212"/>
              <a:gd name="connsiteX6" fmla="*/ 3269411 w 7280694"/>
              <a:gd name="connsiteY6" fmla="*/ 1078302 h 2812212"/>
              <a:gd name="connsiteX7" fmla="*/ 4347713 w 7280694"/>
              <a:gd name="connsiteY7" fmla="*/ 1285336 h 2812212"/>
              <a:gd name="connsiteX8" fmla="*/ 5391509 w 7280694"/>
              <a:gd name="connsiteY8" fmla="*/ 1509623 h 2812212"/>
              <a:gd name="connsiteX9" fmla="*/ 5736566 w 7280694"/>
              <a:gd name="connsiteY9" fmla="*/ 1725283 h 2812212"/>
              <a:gd name="connsiteX10" fmla="*/ 6167886 w 7280694"/>
              <a:gd name="connsiteY10" fmla="*/ 1940944 h 2812212"/>
              <a:gd name="connsiteX11" fmla="*/ 6573328 w 7280694"/>
              <a:gd name="connsiteY11" fmla="*/ 2147978 h 2812212"/>
              <a:gd name="connsiteX12" fmla="*/ 7021901 w 7280694"/>
              <a:gd name="connsiteY12" fmla="*/ 2363638 h 2812212"/>
              <a:gd name="connsiteX13" fmla="*/ 7220309 w 7280694"/>
              <a:gd name="connsiteY13" fmla="*/ 2587925 h 2812212"/>
              <a:gd name="connsiteX14" fmla="*/ 7280694 w 7280694"/>
              <a:gd name="connsiteY14" fmla="*/ 2812212 h 2812212"/>
              <a:gd name="connsiteX15" fmla="*/ 7108166 w 7280694"/>
              <a:gd name="connsiteY15" fmla="*/ 2794959 h 2812212"/>
              <a:gd name="connsiteX0" fmla="*/ 0 w 7461849"/>
              <a:gd name="connsiteY0" fmla="*/ 8627 h 3234906"/>
              <a:gd name="connsiteX1" fmla="*/ 465826 w 7461849"/>
              <a:gd name="connsiteY1" fmla="*/ 0 h 3234906"/>
              <a:gd name="connsiteX2" fmla="*/ 638354 w 7461849"/>
              <a:gd name="connsiteY2" fmla="*/ 215661 h 3234906"/>
              <a:gd name="connsiteX3" fmla="*/ 1078301 w 7461849"/>
              <a:gd name="connsiteY3" fmla="*/ 422695 h 3234906"/>
              <a:gd name="connsiteX4" fmla="*/ 1785668 w 7461849"/>
              <a:gd name="connsiteY4" fmla="*/ 638355 h 3234906"/>
              <a:gd name="connsiteX5" fmla="*/ 2458528 w 7461849"/>
              <a:gd name="connsiteY5" fmla="*/ 836763 h 3234906"/>
              <a:gd name="connsiteX6" fmla="*/ 3269411 w 7461849"/>
              <a:gd name="connsiteY6" fmla="*/ 1078302 h 3234906"/>
              <a:gd name="connsiteX7" fmla="*/ 4347713 w 7461849"/>
              <a:gd name="connsiteY7" fmla="*/ 1285336 h 3234906"/>
              <a:gd name="connsiteX8" fmla="*/ 5391509 w 7461849"/>
              <a:gd name="connsiteY8" fmla="*/ 1509623 h 3234906"/>
              <a:gd name="connsiteX9" fmla="*/ 5736566 w 7461849"/>
              <a:gd name="connsiteY9" fmla="*/ 1725283 h 3234906"/>
              <a:gd name="connsiteX10" fmla="*/ 6167886 w 7461849"/>
              <a:gd name="connsiteY10" fmla="*/ 1940944 h 3234906"/>
              <a:gd name="connsiteX11" fmla="*/ 6573328 w 7461849"/>
              <a:gd name="connsiteY11" fmla="*/ 2147978 h 3234906"/>
              <a:gd name="connsiteX12" fmla="*/ 7021901 w 7461849"/>
              <a:gd name="connsiteY12" fmla="*/ 2363638 h 3234906"/>
              <a:gd name="connsiteX13" fmla="*/ 7220309 w 7461849"/>
              <a:gd name="connsiteY13" fmla="*/ 2587925 h 3234906"/>
              <a:gd name="connsiteX14" fmla="*/ 7280694 w 7461849"/>
              <a:gd name="connsiteY14" fmla="*/ 2812212 h 3234906"/>
              <a:gd name="connsiteX15" fmla="*/ 7461849 w 7461849"/>
              <a:gd name="connsiteY15" fmla="*/ 3234906 h 3234906"/>
              <a:gd name="connsiteX0" fmla="*/ 0 w 7461849"/>
              <a:gd name="connsiteY0" fmla="*/ 8627 h 3234906"/>
              <a:gd name="connsiteX1" fmla="*/ 465826 w 7461849"/>
              <a:gd name="connsiteY1" fmla="*/ 0 h 3234906"/>
              <a:gd name="connsiteX2" fmla="*/ 638354 w 7461849"/>
              <a:gd name="connsiteY2" fmla="*/ 215661 h 3234906"/>
              <a:gd name="connsiteX3" fmla="*/ 1078301 w 7461849"/>
              <a:gd name="connsiteY3" fmla="*/ 422695 h 3234906"/>
              <a:gd name="connsiteX4" fmla="*/ 1785668 w 7461849"/>
              <a:gd name="connsiteY4" fmla="*/ 638355 h 3234906"/>
              <a:gd name="connsiteX5" fmla="*/ 2458528 w 7461849"/>
              <a:gd name="connsiteY5" fmla="*/ 836763 h 3234906"/>
              <a:gd name="connsiteX6" fmla="*/ 3269411 w 7461849"/>
              <a:gd name="connsiteY6" fmla="*/ 1078302 h 3234906"/>
              <a:gd name="connsiteX7" fmla="*/ 4347713 w 7461849"/>
              <a:gd name="connsiteY7" fmla="*/ 1285336 h 3234906"/>
              <a:gd name="connsiteX8" fmla="*/ 5391509 w 7461849"/>
              <a:gd name="connsiteY8" fmla="*/ 1509623 h 3234906"/>
              <a:gd name="connsiteX9" fmla="*/ 5736566 w 7461849"/>
              <a:gd name="connsiteY9" fmla="*/ 1725283 h 3234906"/>
              <a:gd name="connsiteX10" fmla="*/ 6167886 w 7461849"/>
              <a:gd name="connsiteY10" fmla="*/ 1940944 h 3234906"/>
              <a:gd name="connsiteX11" fmla="*/ 6573328 w 7461849"/>
              <a:gd name="connsiteY11" fmla="*/ 2147978 h 3234906"/>
              <a:gd name="connsiteX12" fmla="*/ 7021901 w 7461849"/>
              <a:gd name="connsiteY12" fmla="*/ 2363638 h 3234906"/>
              <a:gd name="connsiteX13" fmla="*/ 7220309 w 7461849"/>
              <a:gd name="connsiteY13" fmla="*/ 2587925 h 3234906"/>
              <a:gd name="connsiteX14" fmla="*/ 7280694 w 7461849"/>
              <a:gd name="connsiteY14" fmla="*/ 2812212 h 3234906"/>
              <a:gd name="connsiteX15" fmla="*/ 7366958 w 7461849"/>
              <a:gd name="connsiteY15" fmla="*/ 3027872 h 3234906"/>
              <a:gd name="connsiteX16" fmla="*/ 7461849 w 7461849"/>
              <a:gd name="connsiteY16" fmla="*/ 3234906 h 3234906"/>
              <a:gd name="connsiteX0" fmla="*/ 0 w 7461849"/>
              <a:gd name="connsiteY0" fmla="*/ 8627 h 3234906"/>
              <a:gd name="connsiteX1" fmla="*/ 465826 w 7461849"/>
              <a:gd name="connsiteY1" fmla="*/ 0 h 3234906"/>
              <a:gd name="connsiteX2" fmla="*/ 638354 w 7461849"/>
              <a:gd name="connsiteY2" fmla="*/ 215661 h 3234906"/>
              <a:gd name="connsiteX3" fmla="*/ 1078301 w 7461849"/>
              <a:gd name="connsiteY3" fmla="*/ 422695 h 3234906"/>
              <a:gd name="connsiteX4" fmla="*/ 1785668 w 7461849"/>
              <a:gd name="connsiteY4" fmla="*/ 638355 h 3234906"/>
              <a:gd name="connsiteX5" fmla="*/ 2458528 w 7461849"/>
              <a:gd name="connsiteY5" fmla="*/ 836763 h 3234906"/>
              <a:gd name="connsiteX6" fmla="*/ 3269411 w 7461849"/>
              <a:gd name="connsiteY6" fmla="*/ 1078302 h 3234906"/>
              <a:gd name="connsiteX7" fmla="*/ 4347713 w 7461849"/>
              <a:gd name="connsiteY7" fmla="*/ 1285336 h 3234906"/>
              <a:gd name="connsiteX8" fmla="*/ 5391509 w 7461849"/>
              <a:gd name="connsiteY8" fmla="*/ 1509623 h 3234906"/>
              <a:gd name="connsiteX9" fmla="*/ 5736566 w 7461849"/>
              <a:gd name="connsiteY9" fmla="*/ 1725283 h 3234906"/>
              <a:gd name="connsiteX10" fmla="*/ 6167886 w 7461849"/>
              <a:gd name="connsiteY10" fmla="*/ 1940944 h 3234906"/>
              <a:gd name="connsiteX11" fmla="*/ 6573328 w 7461849"/>
              <a:gd name="connsiteY11" fmla="*/ 2147978 h 3234906"/>
              <a:gd name="connsiteX12" fmla="*/ 7021901 w 7461849"/>
              <a:gd name="connsiteY12" fmla="*/ 2363638 h 3234906"/>
              <a:gd name="connsiteX13" fmla="*/ 7220309 w 7461849"/>
              <a:gd name="connsiteY13" fmla="*/ 2587925 h 3234906"/>
              <a:gd name="connsiteX14" fmla="*/ 7280694 w 7461849"/>
              <a:gd name="connsiteY14" fmla="*/ 2812212 h 3234906"/>
              <a:gd name="connsiteX15" fmla="*/ 7410090 w 7461849"/>
              <a:gd name="connsiteY15" fmla="*/ 3045125 h 3234906"/>
              <a:gd name="connsiteX16" fmla="*/ 7461849 w 7461849"/>
              <a:gd name="connsiteY16" fmla="*/ 3234906 h 3234906"/>
              <a:gd name="connsiteX0" fmla="*/ 0 w 7438099"/>
              <a:gd name="connsiteY0" fmla="*/ 0 h 3238155"/>
              <a:gd name="connsiteX1" fmla="*/ 442076 w 7438099"/>
              <a:gd name="connsiteY1" fmla="*/ 3249 h 3238155"/>
              <a:gd name="connsiteX2" fmla="*/ 614604 w 7438099"/>
              <a:gd name="connsiteY2" fmla="*/ 218910 h 3238155"/>
              <a:gd name="connsiteX3" fmla="*/ 1054551 w 7438099"/>
              <a:gd name="connsiteY3" fmla="*/ 425944 h 3238155"/>
              <a:gd name="connsiteX4" fmla="*/ 1761918 w 7438099"/>
              <a:gd name="connsiteY4" fmla="*/ 641604 h 3238155"/>
              <a:gd name="connsiteX5" fmla="*/ 2434778 w 7438099"/>
              <a:gd name="connsiteY5" fmla="*/ 840012 h 3238155"/>
              <a:gd name="connsiteX6" fmla="*/ 3245661 w 7438099"/>
              <a:gd name="connsiteY6" fmla="*/ 1081551 h 3238155"/>
              <a:gd name="connsiteX7" fmla="*/ 4323963 w 7438099"/>
              <a:gd name="connsiteY7" fmla="*/ 1288585 h 3238155"/>
              <a:gd name="connsiteX8" fmla="*/ 5367759 w 7438099"/>
              <a:gd name="connsiteY8" fmla="*/ 1512872 h 3238155"/>
              <a:gd name="connsiteX9" fmla="*/ 5712816 w 7438099"/>
              <a:gd name="connsiteY9" fmla="*/ 1728532 h 3238155"/>
              <a:gd name="connsiteX10" fmla="*/ 6144136 w 7438099"/>
              <a:gd name="connsiteY10" fmla="*/ 1944193 h 3238155"/>
              <a:gd name="connsiteX11" fmla="*/ 6549578 w 7438099"/>
              <a:gd name="connsiteY11" fmla="*/ 2151227 h 3238155"/>
              <a:gd name="connsiteX12" fmla="*/ 6998151 w 7438099"/>
              <a:gd name="connsiteY12" fmla="*/ 2366887 h 3238155"/>
              <a:gd name="connsiteX13" fmla="*/ 7196559 w 7438099"/>
              <a:gd name="connsiteY13" fmla="*/ 2591174 h 3238155"/>
              <a:gd name="connsiteX14" fmla="*/ 7256944 w 7438099"/>
              <a:gd name="connsiteY14" fmla="*/ 2815461 h 3238155"/>
              <a:gd name="connsiteX15" fmla="*/ 7386340 w 7438099"/>
              <a:gd name="connsiteY15" fmla="*/ 3048374 h 3238155"/>
              <a:gd name="connsiteX16" fmla="*/ 7438099 w 7438099"/>
              <a:gd name="connsiteY16" fmla="*/ 3238155 h 3238155"/>
              <a:gd name="connsiteX0" fmla="*/ 0 w 7449974"/>
              <a:gd name="connsiteY0" fmla="*/ 0 h 3238155"/>
              <a:gd name="connsiteX1" fmla="*/ 453951 w 7449974"/>
              <a:gd name="connsiteY1" fmla="*/ 3249 h 3238155"/>
              <a:gd name="connsiteX2" fmla="*/ 626479 w 7449974"/>
              <a:gd name="connsiteY2" fmla="*/ 218910 h 3238155"/>
              <a:gd name="connsiteX3" fmla="*/ 1066426 w 7449974"/>
              <a:gd name="connsiteY3" fmla="*/ 425944 h 3238155"/>
              <a:gd name="connsiteX4" fmla="*/ 1773793 w 7449974"/>
              <a:gd name="connsiteY4" fmla="*/ 641604 h 3238155"/>
              <a:gd name="connsiteX5" fmla="*/ 2446653 w 7449974"/>
              <a:gd name="connsiteY5" fmla="*/ 840012 h 3238155"/>
              <a:gd name="connsiteX6" fmla="*/ 3257536 w 7449974"/>
              <a:gd name="connsiteY6" fmla="*/ 1081551 h 3238155"/>
              <a:gd name="connsiteX7" fmla="*/ 4335838 w 7449974"/>
              <a:gd name="connsiteY7" fmla="*/ 1288585 h 3238155"/>
              <a:gd name="connsiteX8" fmla="*/ 5379634 w 7449974"/>
              <a:gd name="connsiteY8" fmla="*/ 1512872 h 3238155"/>
              <a:gd name="connsiteX9" fmla="*/ 5724691 w 7449974"/>
              <a:gd name="connsiteY9" fmla="*/ 1728532 h 3238155"/>
              <a:gd name="connsiteX10" fmla="*/ 6156011 w 7449974"/>
              <a:gd name="connsiteY10" fmla="*/ 1944193 h 3238155"/>
              <a:gd name="connsiteX11" fmla="*/ 6561453 w 7449974"/>
              <a:gd name="connsiteY11" fmla="*/ 2151227 h 3238155"/>
              <a:gd name="connsiteX12" fmla="*/ 7010026 w 7449974"/>
              <a:gd name="connsiteY12" fmla="*/ 2366887 h 3238155"/>
              <a:gd name="connsiteX13" fmla="*/ 7208434 w 7449974"/>
              <a:gd name="connsiteY13" fmla="*/ 2591174 h 3238155"/>
              <a:gd name="connsiteX14" fmla="*/ 7268819 w 7449974"/>
              <a:gd name="connsiteY14" fmla="*/ 2815461 h 3238155"/>
              <a:gd name="connsiteX15" fmla="*/ 7398215 w 7449974"/>
              <a:gd name="connsiteY15" fmla="*/ 3048374 h 3238155"/>
              <a:gd name="connsiteX16" fmla="*/ 7449974 w 7449974"/>
              <a:gd name="connsiteY16" fmla="*/ 3238155 h 3238155"/>
              <a:gd name="connsiteX0" fmla="*/ 0 w 7449974"/>
              <a:gd name="connsiteY0" fmla="*/ 8626 h 3234906"/>
              <a:gd name="connsiteX1" fmla="*/ 453951 w 7449974"/>
              <a:gd name="connsiteY1" fmla="*/ 0 h 3234906"/>
              <a:gd name="connsiteX2" fmla="*/ 626479 w 7449974"/>
              <a:gd name="connsiteY2" fmla="*/ 215661 h 3234906"/>
              <a:gd name="connsiteX3" fmla="*/ 1066426 w 7449974"/>
              <a:gd name="connsiteY3" fmla="*/ 422695 h 3234906"/>
              <a:gd name="connsiteX4" fmla="*/ 1773793 w 7449974"/>
              <a:gd name="connsiteY4" fmla="*/ 638355 h 3234906"/>
              <a:gd name="connsiteX5" fmla="*/ 2446653 w 7449974"/>
              <a:gd name="connsiteY5" fmla="*/ 836763 h 3234906"/>
              <a:gd name="connsiteX6" fmla="*/ 3257536 w 7449974"/>
              <a:gd name="connsiteY6" fmla="*/ 1078302 h 3234906"/>
              <a:gd name="connsiteX7" fmla="*/ 4335838 w 7449974"/>
              <a:gd name="connsiteY7" fmla="*/ 1285336 h 3234906"/>
              <a:gd name="connsiteX8" fmla="*/ 5379634 w 7449974"/>
              <a:gd name="connsiteY8" fmla="*/ 1509623 h 3234906"/>
              <a:gd name="connsiteX9" fmla="*/ 5724691 w 7449974"/>
              <a:gd name="connsiteY9" fmla="*/ 1725283 h 3234906"/>
              <a:gd name="connsiteX10" fmla="*/ 6156011 w 7449974"/>
              <a:gd name="connsiteY10" fmla="*/ 1940944 h 3234906"/>
              <a:gd name="connsiteX11" fmla="*/ 6561453 w 7449974"/>
              <a:gd name="connsiteY11" fmla="*/ 2147978 h 3234906"/>
              <a:gd name="connsiteX12" fmla="*/ 7010026 w 7449974"/>
              <a:gd name="connsiteY12" fmla="*/ 2363638 h 3234906"/>
              <a:gd name="connsiteX13" fmla="*/ 7208434 w 7449974"/>
              <a:gd name="connsiteY13" fmla="*/ 2587925 h 3234906"/>
              <a:gd name="connsiteX14" fmla="*/ 7268819 w 7449974"/>
              <a:gd name="connsiteY14" fmla="*/ 2812212 h 3234906"/>
              <a:gd name="connsiteX15" fmla="*/ 7398215 w 7449974"/>
              <a:gd name="connsiteY15" fmla="*/ 3045125 h 3234906"/>
              <a:gd name="connsiteX16" fmla="*/ 7449974 w 7449974"/>
              <a:gd name="connsiteY16" fmla="*/ 3234906 h 3234906"/>
              <a:gd name="connsiteX0" fmla="*/ 0 w 7449974"/>
              <a:gd name="connsiteY0" fmla="*/ 0 h 3244093"/>
              <a:gd name="connsiteX1" fmla="*/ 453951 w 7449974"/>
              <a:gd name="connsiteY1" fmla="*/ 9187 h 3244093"/>
              <a:gd name="connsiteX2" fmla="*/ 626479 w 7449974"/>
              <a:gd name="connsiteY2" fmla="*/ 224848 h 3244093"/>
              <a:gd name="connsiteX3" fmla="*/ 1066426 w 7449974"/>
              <a:gd name="connsiteY3" fmla="*/ 431882 h 3244093"/>
              <a:gd name="connsiteX4" fmla="*/ 1773793 w 7449974"/>
              <a:gd name="connsiteY4" fmla="*/ 647542 h 3244093"/>
              <a:gd name="connsiteX5" fmla="*/ 2446653 w 7449974"/>
              <a:gd name="connsiteY5" fmla="*/ 845950 h 3244093"/>
              <a:gd name="connsiteX6" fmla="*/ 3257536 w 7449974"/>
              <a:gd name="connsiteY6" fmla="*/ 1087489 h 3244093"/>
              <a:gd name="connsiteX7" fmla="*/ 4335838 w 7449974"/>
              <a:gd name="connsiteY7" fmla="*/ 1294523 h 3244093"/>
              <a:gd name="connsiteX8" fmla="*/ 5379634 w 7449974"/>
              <a:gd name="connsiteY8" fmla="*/ 1518810 h 3244093"/>
              <a:gd name="connsiteX9" fmla="*/ 5724691 w 7449974"/>
              <a:gd name="connsiteY9" fmla="*/ 1734470 h 3244093"/>
              <a:gd name="connsiteX10" fmla="*/ 6156011 w 7449974"/>
              <a:gd name="connsiteY10" fmla="*/ 1950131 h 3244093"/>
              <a:gd name="connsiteX11" fmla="*/ 6561453 w 7449974"/>
              <a:gd name="connsiteY11" fmla="*/ 2157165 h 3244093"/>
              <a:gd name="connsiteX12" fmla="*/ 7010026 w 7449974"/>
              <a:gd name="connsiteY12" fmla="*/ 2372825 h 3244093"/>
              <a:gd name="connsiteX13" fmla="*/ 7208434 w 7449974"/>
              <a:gd name="connsiteY13" fmla="*/ 2597112 h 3244093"/>
              <a:gd name="connsiteX14" fmla="*/ 7268819 w 7449974"/>
              <a:gd name="connsiteY14" fmla="*/ 2821399 h 3244093"/>
              <a:gd name="connsiteX15" fmla="*/ 7398215 w 7449974"/>
              <a:gd name="connsiteY15" fmla="*/ 3054312 h 3244093"/>
              <a:gd name="connsiteX16" fmla="*/ 7449974 w 7449974"/>
              <a:gd name="connsiteY16" fmla="*/ 3244093 h 3244093"/>
              <a:gd name="connsiteX0" fmla="*/ 0 w 7449974"/>
              <a:gd name="connsiteY0" fmla="*/ 8626 h 3234906"/>
              <a:gd name="connsiteX1" fmla="*/ 453951 w 7449974"/>
              <a:gd name="connsiteY1" fmla="*/ 0 h 3234906"/>
              <a:gd name="connsiteX2" fmla="*/ 626479 w 7449974"/>
              <a:gd name="connsiteY2" fmla="*/ 215661 h 3234906"/>
              <a:gd name="connsiteX3" fmla="*/ 1066426 w 7449974"/>
              <a:gd name="connsiteY3" fmla="*/ 422695 h 3234906"/>
              <a:gd name="connsiteX4" fmla="*/ 1773793 w 7449974"/>
              <a:gd name="connsiteY4" fmla="*/ 638355 h 3234906"/>
              <a:gd name="connsiteX5" fmla="*/ 2446653 w 7449974"/>
              <a:gd name="connsiteY5" fmla="*/ 836763 h 3234906"/>
              <a:gd name="connsiteX6" fmla="*/ 3257536 w 7449974"/>
              <a:gd name="connsiteY6" fmla="*/ 1078302 h 3234906"/>
              <a:gd name="connsiteX7" fmla="*/ 4335838 w 7449974"/>
              <a:gd name="connsiteY7" fmla="*/ 1285336 h 3234906"/>
              <a:gd name="connsiteX8" fmla="*/ 5379634 w 7449974"/>
              <a:gd name="connsiteY8" fmla="*/ 1509623 h 3234906"/>
              <a:gd name="connsiteX9" fmla="*/ 5724691 w 7449974"/>
              <a:gd name="connsiteY9" fmla="*/ 1725283 h 3234906"/>
              <a:gd name="connsiteX10" fmla="*/ 6156011 w 7449974"/>
              <a:gd name="connsiteY10" fmla="*/ 1940944 h 3234906"/>
              <a:gd name="connsiteX11" fmla="*/ 6561453 w 7449974"/>
              <a:gd name="connsiteY11" fmla="*/ 2147978 h 3234906"/>
              <a:gd name="connsiteX12" fmla="*/ 7010026 w 7449974"/>
              <a:gd name="connsiteY12" fmla="*/ 2363638 h 3234906"/>
              <a:gd name="connsiteX13" fmla="*/ 7208434 w 7449974"/>
              <a:gd name="connsiteY13" fmla="*/ 2587925 h 3234906"/>
              <a:gd name="connsiteX14" fmla="*/ 7268819 w 7449974"/>
              <a:gd name="connsiteY14" fmla="*/ 2812212 h 3234906"/>
              <a:gd name="connsiteX15" fmla="*/ 7398215 w 7449974"/>
              <a:gd name="connsiteY15" fmla="*/ 3045125 h 3234906"/>
              <a:gd name="connsiteX16" fmla="*/ 7449974 w 7449974"/>
              <a:gd name="connsiteY16" fmla="*/ 3234906 h 3234906"/>
              <a:gd name="connsiteX0" fmla="*/ 0 w 7449974"/>
              <a:gd name="connsiteY0" fmla="*/ 0 h 3238155"/>
              <a:gd name="connsiteX1" fmla="*/ 453951 w 7449974"/>
              <a:gd name="connsiteY1" fmla="*/ 3249 h 3238155"/>
              <a:gd name="connsiteX2" fmla="*/ 626479 w 7449974"/>
              <a:gd name="connsiteY2" fmla="*/ 218910 h 3238155"/>
              <a:gd name="connsiteX3" fmla="*/ 1066426 w 7449974"/>
              <a:gd name="connsiteY3" fmla="*/ 425944 h 3238155"/>
              <a:gd name="connsiteX4" fmla="*/ 1773793 w 7449974"/>
              <a:gd name="connsiteY4" fmla="*/ 641604 h 3238155"/>
              <a:gd name="connsiteX5" fmla="*/ 2446653 w 7449974"/>
              <a:gd name="connsiteY5" fmla="*/ 840012 h 3238155"/>
              <a:gd name="connsiteX6" fmla="*/ 3257536 w 7449974"/>
              <a:gd name="connsiteY6" fmla="*/ 1081551 h 3238155"/>
              <a:gd name="connsiteX7" fmla="*/ 4335838 w 7449974"/>
              <a:gd name="connsiteY7" fmla="*/ 1288585 h 3238155"/>
              <a:gd name="connsiteX8" fmla="*/ 5379634 w 7449974"/>
              <a:gd name="connsiteY8" fmla="*/ 1512872 h 3238155"/>
              <a:gd name="connsiteX9" fmla="*/ 5724691 w 7449974"/>
              <a:gd name="connsiteY9" fmla="*/ 1728532 h 3238155"/>
              <a:gd name="connsiteX10" fmla="*/ 6156011 w 7449974"/>
              <a:gd name="connsiteY10" fmla="*/ 1944193 h 3238155"/>
              <a:gd name="connsiteX11" fmla="*/ 6561453 w 7449974"/>
              <a:gd name="connsiteY11" fmla="*/ 2151227 h 3238155"/>
              <a:gd name="connsiteX12" fmla="*/ 7010026 w 7449974"/>
              <a:gd name="connsiteY12" fmla="*/ 2366887 h 3238155"/>
              <a:gd name="connsiteX13" fmla="*/ 7208434 w 7449974"/>
              <a:gd name="connsiteY13" fmla="*/ 2591174 h 3238155"/>
              <a:gd name="connsiteX14" fmla="*/ 7268819 w 7449974"/>
              <a:gd name="connsiteY14" fmla="*/ 2815461 h 3238155"/>
              <a:gd name="connsiteX15" fmla="*/ 7398215 w 7449974"/>
              <a:gd name="connsiteY15" fmla="*/ 3048374 h 3238155"/>
              <a:gd name="connsiteX16" fmla="*/ 7449974 w 7449974"/>
              <a:gd name="connsiteY16" fmla="*/ 3238155 h 3238155"/>
              <a:gd name="connsiteX0" fmla="*/ 0 w 7454998"/>
              <a:gd name="connsiteY0" fmla="*/ 6799 h 3234906"/>
              <a:gd name="connsiteX1" fmla="*/ 458975 w 7454998"/>
              <a:gd name="connsiteY1" fmla="*/ 0 h 3234906"/>
              <a:gd name="connsiteX2" fmla="*/ 631503 w 7454998"/>
              <a:gd name="connsiteY2" fmla="*/ 215661 h 3234906"/>
              <a:gd name="connsiteX3" fmla="*/ 1071450 w 7454998"/>
              <a:gd name="connsiteY3" fmla="*/ 422695 h 3234906"/>
              <a:gd name="connsiteX4" fmla="*/ 1778817 w 7454998"/>
              <a:gd name="connsiteY4" fmla="*/ 638355 h 3234906"/>
              <a:gd name="connsiteX5" fmla="*/ 2451677 w 7454998"/>
              <a:gd name="connsiteY5" fmla="*/ 836763 h 3234906"/>
              <a:gd name="connsiteX6" fmla="*/ 3262560 w 7454998"/>
              <a:gd name="connsiteY6" fmla="*/ 1078302 h 3234906"/>
              <a:gd name="connsiteX7" fmla="*/ 4340862 w 7454998"/>
              <a:gd name="connsiteY7" fmla="*/ 1285336 h 3234906"/>
              <a:gd name="connsiteX8" fmla="*/ 5384658 w 7454998"/>
              <a:gd name="connsiteY8" fmla="*/ 1509623 h 3234906"/>
              <a:gd name="connsiteX9" fmla="*/ 5729715 w 7454998"/>
              <a:gd name="connsiteY9" fmla="*/ 1725283 h 3234906"/>
              <a:gd name="connsiteX10" fmla="*/ 6161035 w 7454998"/>
              <a:gd name="connsiteY10" fmla="*/ 1940944 h 3234906"/>
              <a:gd name="connsiteX11" fmla="*/ 6566477 w 7454998"/>
              <a:gd name="connsiteY11" fmla="*/ 2147978 h 3234906"/>
              <a:gd name="connsiteX12" fmla="*/ 7015050 w 7454998"/>
              <a:gd name="connsiteY12" fmla="*/ 2363638 h 3234906"/>
              <a:gd name="connsiteX13" fmla="*/ 7213458 w 7454998"/>
              <a:gd name="connsiteY13" fmla="*/ 2587925 h 3234906"/>
              <a:gd name="connsiteX14" fmla="*/ 7273843 w 7454998"/>
              <a:gd name="connsiteY14" fmla="*/ 2812212 h 3234906"/>
              <a:gd name="connsiteX15" fmla="*/ 7403239 w 7454998"/>
              <a:gd name="connsiteY15" fmla="*/ 3045125 h 3234906"/>
              <a:gd name="connsiteX16" fmla="*/ 7454998 w 7454998"/>
              <a:gd name="connsiteY16" fmla="*/ 3234906 h 3234906"/>
              <a:gd name="connsiteX0" fmla="*/ 0 w 7454998"/>
              <a:gd name="connsiteY0" fmla="*/ 0 h 3239537"/>
              <a:gd name="connsiteX1" fmla="*/ 458975 w 7454998"/>
              <a:gd name="connsiteY1" fmla="*/ 463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 name="connsiteX0" fmla="*/ 0 w 7454998"/>
              <a:gd name="connsiteY0" fmla="*/ 0 h 3239537"/>
              <a:gd name="connsiteX1" fmla="*/ 458975 w 7454998"/>
              <a:gd name="connsiteY1" fmla="*/ 82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 name="connsiteX0" fmla="*/ 0 w 7454998"/>
              <a:gd name="connsiteY0" fmla="*/ 0 h 3239537"/>
              <a:gd name="connsiteX1" fmla="*/ 458975 w 7454998"/>
              <a:gd name="connsiteY1" fmla="*/ 82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 name="connsiteX0" fmla="*/ 0 w 7454998"/>
              <a:gd name="connsiteY0" fmla="*/ 0 h 3239537"/>
              <a:gd name="connsiteX1" fmla="*/ 458975 w 7454998"/>
              <a:gd name="connsiteY1" fmla="*/ 82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 name="connsiteX0" fmla="*/ 0 w 7454998"/>
              <a:gd name="connsiteY0" fmla="*/ 0 h 3239537"/>
              <a:gd name="connsiteX1" fmla="*/ 458975 w 7454998"/>
              <a:gd name="connsiteY1" fmla="*/ 82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 name="connsiteX0" fmla="*/ 0 w 7454998"/>
              <a:gd name="connsiteY0" fmla="*/ 0 h 3239537"/>
              <a:gd name="connsiteX1" fmla="*/ 458975 w 7454998"/>
              <a:gd name="connsiteY1" fmla="*/ 82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 name="connsiteX0" fmla="*/ 0 w 7454998"/>
              <a:gd name="connsiteY0" fmla="*/ 0 h 3239537"/>
              <a:gd name="connsiteX1" fmla="*/ 458975 w 7454998"/>
              <a:gd name="connsiteY1" fmla="*/ 82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 name="connsiteX0" fmla="*/ 0 w 7454998"/>
              <a:gd name="connsiteY0" fmla="*/ 0 h 3239537"/>
              <a:gd name="connsiteX1" fmla="*/ 458975 w 7454998"/>
              <a:gd name="connsiteY1" fmla="*/ 82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 name="connsiteX0" fmla="*/ 0 w 7454998"/>
              <a:gd name="connsiteY0" fmla="*/ 0 h 3239537"/>
              <a:gd name="connsiteX1" fmla="*/ 458975 w 7454998"/>
              <a:gd name="connsiteY1" fmla="*/ 821 h 3239537"/>
              <a:gd name="connsiteX2" fmla="*/ 631503 w 7454998"/>
              <a:gd name="connsiteY2" fmla="*/ 220292 h 3239537"/>
              <a:gd name="connsiteX3" fmla="*/ 1071450 w 7454998"/>
              <a:gd name="connsiteY3" fmla="*/ 427326 h 3239537"/>
              <a:gd name="connsiteX4" fmla="*/ 1778817 w 7454998"/>
              <a:gd name="connsiteY4" fmla="*/ 642986 h 3239537"/>
              <a:gd name="connsiteX5" fmla="*/ 2451677 w 7454998"/>
              <a:gd name="connsiteY5" fmla="*/ 841394 h 3239537"/>
              <a:gd name="connsiteX6" fmla="*/ 3262560 w 7454998"/>
              <a:gd name="connsiteY6" fmla="*/ 1082933 h 3239537"/>
              <a:gd name="connsiteX7" fmla="*/ 4340862 w 7454998"/>
              <a:gd name="connsiteY7" fmla="*/ 1289967 h 3239537"/>
              <a:gd name="connsiteX8" fmla="*/ 5384658 w 7454998"/>
              <a:gd name="connsiteY8" fmla="*/ 1514254 h 3239537"/>
              <a:gd name="connsiteX9" fmla="*/ 5729715 w 7454998"/>
              <a:gd name="connsiteY9" fmla="*/ 1729914 h 3239537"/>
              <a:gd name="connsiteX10" fmla="*/ 6161035 w 7454998"/>
              <a:gd name="connsiteY10" fmla="*/ 1945575 h 3239537"/>
              <a:gd name="connsiteX11" fmla="*/ 6566477 w 7454998"/>
              <a:gd name="connsiteY11" fmla="*/ 2152609 h 3239537"/>
              <a:gd name="connsiteX12" fmla="*/ 7015050 w 7454998"/>
              <a:gd name="connsiteY12" fmla="*/ 2368269 h 3239537"/>
              <a:gd name="connsiteX13" fmla="*/ 7213458 w 7454998"/>
              <a:gd name="connsiteY13" fmla="*/ 2592556 h 3239537"/>
              <a:gd name="connsiteX14" fmla="*/ 7273843 w 7454998"/>
              <a:gd name="connsiteY14" fmla="*/ 2816843 h 3239537"/>
              <a:gd name="connsiteX15" fmla="*/ 7403239 w 7454998"/>
              <a:gd name="connsiteY15" fmla="*/ 3049756 h 3239537"/>
              <a:gd name="connsiteX16" fmla="*/ 7454998 w 7454998"/>
              <a:gd name="connsiteY16" fmla="*/ 3239537 h 323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54998" h="3239537">
                <a:moveTo>
                  <a:pt x="0" y="0"/>
                </a:moveTo>
                <a:lnTo>
                  <a:pt x="458975" y="821"/>
                </a:lnTo>
                <a:cubicBezTo>
                  <a:pt x="564225" y="37536"/>
                  <a:pt x="529424" y="149208"/>
                  <a:pt x="631503" y="220292"/>
                </a:cubicBezTo>
                <a:cubicBezTo>
                  <a:pt x="733582" y="291376"/>
                  <a:pt x="880231" y="356877"/>
                  <a:pt x="1071450" y="427326"/>
                </a:cubicBezTo>
                <a:lnTo>
                  <a:pt x="1778817" y="642986"/>
                </a:lnTo>
                <a:cubicBezTo>
                  <a:pt x="2014606" y="714873"/>
                  <a:pt x="2204387" y="768070"/>
                  <a:pt x="2451677" y="841394"/>
                </a:cubicBezTo>
                <a:lnTo>
                  <a:pt x="3262560" y="1082933"/>
                </a:lnTo>
                <a:lnTo>
                  <a:pt x="4340862" y="1289967"/>
                </a:lnTo>
                <a:cubicBezTo>
                  <a:pt x="4694545" y="1361854"/>
                  <a:pt x="5153183" y="1440930"/>
                  <a:pt x="5384658" y="1514254"/>
                </a:cubicBezTo>
                <a:cubicBezTo>
                  <a:pt x="5616133" y="1587578"/>
                  <a:pt x="5585942" y="1658027"/>
                  <a:pt x="5729715" y="1729914"/>
                </a:cubicBezTo>
                <a:lnTo>
                  <a:pt x="6161035" y="1945575"/>
                </a:lnTo>
                <a:lnTo>
                  <a:pt x="6566477" y="2152609"/>
                </a:lnTo>
                <a:cubicBezTo>
                  <a:pt x="6708813" y="2223058"/>
                  <a:pt x="6907220" y="2294945"/>
                  <a:pt x="7015050" y="2368269"/>
                </a:cubicBezTo>
                <a:cubicBezTo>
                  <a:pt x="7122880" y="2441594"/>
                  <a:pt x="7193330" y="2517794"/>
                  <a:pt x="7213458" y="2592556"/>
                </a:cubicBezTo>
                <a:lnTo>
                  <a:pt x="7273843" y="2816843"/>
                </a:lnTo>
                <a:cubicBezTo>
                  <a:pt x="7305473" y="2893043"/>
                  <a:pt x="7373047" y="2979307"/>
                  <a:pt x="7403239" y="3049756"/>
                </a:cubicBezTo>
                <a:cubicBezTo>
                  <a:pt x="7433432" y="3120205"/>
                  <a:pt x="7437745" y="3176277"/>
                  <a:pt x="7454998" y="3239537"/>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ular Callout 53"/>
          <p:cNvSpPr/>
          <p:nvPr/>
        </p:nvSpPr>
        <p:spPr>
          <a:xfrm>
            <a:off x="1975476" y="1995167"/>
            <a:ext cx="2139326" cy="744350"/>
          </a:xfrm>
          <a:prstGeom prst="wedgeRectCallout">
            <a:avLst>
              <a:gd name="adj1" fmla="val -69765"/>
              <a:gd name="adj2" fmla="val 36014"/>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p:cNvSpPr txBox="1"/>
          <p:nvPr/>
        </p:nvSpPr>
        <p:spPr>
          <a:xfrm>
            <a:off x="2080512" y="2078173"/>
            <a:ext cx="1977137" cy="600164"/>
          </a:xfrm>
          <a:prstGeom prst="rect">
            <a:avLst/>
          </a:prstGeom>
          <a:noFill/>
        </p:spPr>
        <p:txBody>
          <a:bodyPr wrap="square" lIns="0" tIns="0" rIns="0" bIns="0" rtlCol="0">
            <a:spAutoFit/>
          </a:bodyPr>
          <a:lstStyle/>
          <a:p>
            <a:r>
              <a:rPr lang="en-US" sz="1300" b="1" dirty="0" smtClean="0">
                <a:solidFill>
                  <a:schemeClr val="accent1"/>
                </a:solidFill>
              </a:rPr>
              <a:t>Opportunities in specialty coffee </a:t>
            </a:r>
            <a:r>
              <a:rPr lang="en-US" sz="1300" dirty="0" smtClean="0">
                <a:solidFill>
                  <a:schemeClr val="accent1"/>
                </a:solidFill>
              </a:rPr>
              <a:t>(achieving higher prices)</a:t>
            </a:r>
            <a:endParaRPr lang="en-US" sz="1300" dirty="0">
              <a:solidFill>
                <a:schemeClr val="accent1"/>
              </a:solidFill>
            </a:endParaRPr>
          </a:p>
        </p:txBody>
      </p:sp>
      <p:grpSp>
        <p:nvGrpSpPr>
          <p:cNvPr id="21" name="Group 20"/>
          <p:cNvGrpSpPr/>
          <p:nvPr/>
        </p:nvGrpSpPr>
        <p:grpSpPr>
          <a:xfrm>
            <a:off x="5390526" y="3728433"/>
            <a:ext cx="2360273" cy="744350"/>
            <a:chOff x="9526137" y="2240827"/>
            <a:chExt cx="2360273" cy="744350"/>
          </a:xfrm>
        </p:grpSpPr>
        <p:sp>
          <p:nvSpPr>
            <p:cNvPr id="22" name="Rectangular Callout 21"/>
            <p:cNvSpPr/>
            <p:nvPr/>
          </p:nvSpPr>
          <p:spPr>
            <a:xfrm>
              <a:off x="9526137" y="2240827"/>
              <a:ext cx="2360273" cy="744350"/>
            </a:xfrm>
            <a:prstGeom prst="wedgeRectCallout">
              <a:avLst>
                <a:gd name="adj1" fmla="val -69765"/>
                <a:gd name="adj2" fmla="val 36014"/>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3" name="TextBox 22"/>
            <p:cNvSpPr txBox="1"/>
            <p:nvPr/>
          </p:nvSpPr>
          <p:spPr>
            <a:xfrm>
              <a:off x="9526137" y="2340216"/>
              <a:ext cx="2360273" cy="600164"/>
            </a:xfrm>
            <a:prstGeom prst="rect">
              <a:avLst/>
            </a:prstGeom>
            <a:noFill/>
          </p:spPr>
          <p:txBody>
            <a:bodyPr wrap="square" lIns="0" tIns="0" rIns="0" bIns="0" rtlCol="0">
              <a:spAutoFit/>
            </a:bodyPr>
            <a:lstStyle/>
            <a:p>
              <a:pPr algn="ctr"/>
              <a:r>
                <a:rPr lang="en-US" sz="1300" b="1" dirty="0" smtClean="0">
                  <a:solidFill>
                    <a:schemeClr val="accent1"/>
                  </a:solidFill>
                </a:rPr>
                <a:t>More vulnerable to disease/pest epidemics, climate change</a:t>
              </a:r>
              <a:endParaRPr lang="en-US" sz="1300" b="1" dirty="0">
                <a:solidFill>
                  <a:schemeClr val="accent1"/>
                </a:solidFill>
              </a:endParaRPr>
            </a:p>
          </p:txBody>
        </p:sp>
      </p:grpSp>
    </p:spTree>
    <p:extLst>
      <p:ext uri="{BB962C8B-B14F-4D97-AF65-F5344CB8AC3E}">
        <p14:creationId xmlns:p14="http://schemas.microsoft.com/office/powerpoint/2010/main" val="2437554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p:cNvGraphicFramePr>
          <p:nvPr>
            <p:custDataLst>
              <p:tags r:id="rId2"/>
            </p:custDataLst>
            <p:extLst>
              <p:ext uri="{D42A27DB-BD31-4B8C-83A1-F6EECF244321}">
                <p14:modId xmlns:p14="http://schemas.microsoft.com/office/powerpoint/2010/main" val="515184507"/>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14361" name="think-cell Slide" r:id="rId23" imgW="360" imgH="360" progId="TCLayout.ActiveDocument.1">
                  <p:embed/>
                </p:oleObj>
              </mc:Choice>
              <mc:Fallback>
                <p:oleObj name="think-cell Slide" r:id="rId23" imgW="360" imgH="360" progId="TCLayout.ActiveDocument.1">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hidden="1"/>
          <p:cNvSpPr/>
          <p:nvPr>
            <p:custDataLst>
              <p:tags r:id="rId3"/>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US" sz="1400">
              <a:latin typeface="Arial"/>
              <a:sym typeface="Arial"/>
            </a:endParaRPr>
          </a:p>
        </p:txBody>
      </p:sp>
      <p:sp>
        <p:nvSpPr>
          <p:cNvPr id="3" name="Title 2"/>
          <p:cNvSpPr>
            <a:spLocks noGrp="1"/>
          </p:cNvSpPr>
          <p:nvPr>
            <p:ph type="title"/>
          </p:nvPr>
        </p:nvSpPr>
        <p:spPr>
          <a:xfrm>
            <a:off x="400869" y="312738"/>
            <a:ext cx="6714306" cy="951286"/>
          </a:xfrm>
        </p:spPr>
        <p:txBody>
          <a:bodyPr/>
          <a:lstStyle/>
          <a:p>
            <a:r>
              <a:rPr lang="en-US" sz="1600" b="0" dirty="0" smtClean="0"/>
              <a:t>PRIORITIZING ARCHETYPES</a:t>
            </a:r>
            <a:r>
              <a:rPr lang="en-US" b="0" dirty="0"/>
              <a:t/>
            </a:r>
            <a:br>
              <a:rPr lang="en-US" b="0" dirty="0"/>
            </a:br>
            <a:r>
              <a:rPr lang="en-US" b="0" dirty="0"/>
              <a:t>Our </a:t>
            </a:r>
            <a:r>
              <a:rPr lang="en-US" b="0" dirty="0" smtClean="0"/>
              <a:t>solution approach will focus on active farmers in the </a:t>
            </a:r>
            <a:r>
              <a:rPr lang="en-US" b="0" dirty="0" smtClean="0"/>
              <a:t>“mainstream” </a:t>
            </a:r>
            <a:r>
              <a:rPr lang="en-US" b="0" dirty="0" smtClean="0"/>
              <a:t>archetype</a:t>
            </a:r>
            <a:endParaRPr lang="en-US" b="0" dirty="0"/>
          </a:p>
        </p:txBody>
      </p:sp>
      <p:cxnSp>
        <p:nvCxnSpPr>
          <p:cNvPr id="51" name="Straight Connector 50"/>
          <p:cNvCxnSpPr/>
          <p:nvPr>
            <p:custDataLst>
              <p:tags r:id="rId4"/>
            </p:custDataLst>
          </p:nvPr>
        </p:nvCxnSpPr>
        <p:spPr bwMode="gray">
          <a:xfrm>
            <a:off x="6981825" y="4210050"/>
            <a:ext cx="6096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custDataLst>
              <p:tags r:id="rId5"/>
            </p:custDataLst>
          </p:nvPr>
        </p:nvCxnSpPr>
        <p:spPr bwMode="gray">
          <a:xfrm>
            <a:off x="5600700" y="4162425"/>
            <a:ext cx="6096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custDataLst>
              <p:tags r:id="rId6"/>
            </p:custDataLst>
          </p:nvPr>
        </p:nvCxnSpPr>
        <p:spPr bwMode="gray">
          <a:xfrm>
            <a:off x="4229100" y="3695700"/>
            <a:ext cx="6096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custDataLst>
              <p:tags r:id="rId7"/>
            </p:custDataLst>
          </p:nvPr>
        </p:nvCxnSpPr>
        <p:spPr bwMode="gray">
          <a:xfrm>
            <a:off x="2847975" y="3133725"/>
            <a:ext cx="6096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custDataLst>
              <p:tags r:id="rId8"/>
            </p:custDataLst>
          </p:nvPr>
        </p:nvCxnSpPr>
        <p:spPr bwMode="gray">
          <a:xfrm>
            <a:off x="1476375" y="2724150"/>
            <a:ext cx="6096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30" name="Object 29"/>
          <p:cNvGraphicFramePr>
            <a:graphicFrameLocks/>
          </p:cNvGraphicFramePr>
          <p:nvPr>
            <p:custDataLst>
              <p:tags r:id="rId9"/>
            </p:custDataLst>
            <p:extLst>
              <p:ext uri="{D42A27DB-BD31-4B8C-83A1-F6EECF244321}">
                <p14:modId xmlns:p14="http://schemas.microsoft.com/office/powerpoint/2010/main" val="2765917654"/>
              </p:ext>
            </p:extLst>
          </p:nvPr>
        </p:nvGraphicFramePr>
        <p:xfrm>
          <a:off x="266700" y="2628900"/>
          <a:ext cx="8496389" cy="2466923"/>
        </p:xfrm>
        <a:graphic>
          <a:graphicData uri="http://schemas.openxmlformats.org/presentationml/2006/ole">
            <mc:AlternateContent xmlns:mc="http://schemas.openxmlformats.org/markup-compatibility/2006">
              <mc:Choice xmlns:v="urn:schemas-microsoft-com:vml" Requires="v">
                <p:oleObj spid="_x0000_s214362" name="Chart" r:id="rId25" imgW="8496389" imgH="2466923" progId="MSGraph.Chart.8">
                  <p:embed followColorScheme="full"/>
                </p:oleObj>
              </mc:Choice>
              <mc:Fallback>
                <p:oleObj name="Chart" r:id="rId25" imgW="8496389" imgH="2466923" progId="MSGraph.Chart.8">
                  <p:embed followColorScheme="full"/>
                  <p:pic>
                    <p:nvPicPr>
                      <p:cNvPr id="0" name=""/>
                      <p:cNvPicPr/>
                      <p:nvPr/>
                    </p:nvPicPr>
                    <p:blipFill>
                      <a:blip r:embed="rId26"/>
                      <a:stretch>
                        <a:fillRect/>
                      </a:stretch>
                    </p:blipFill>
                    <p:spPr>
                      <a:xfrm>
                        <a:off x="266700" y="2628900"/>
                        <a:ext cx="8496389" cy="2466923"/>
                      </a:xfrm>
                      <a:prstGeom prst="rect">
                        <a:avLst/>
                      </a:prstGeom>
                    </p:spPr>
                  </p:pic>
                </p:oleObj>
              </mc:Fallback>
            </mc:AlternateContent>
          </a:graphicData>
        </a:graphic>
      </p:graphicFrame>
      <p:sp>
        <p:nvSpPr>
          <p:cNvPr id="36" name="Text Placeholder 94"/>
          <p:cNvSpPr>
            <a:spLocks noGrp="1"/>
          </p:cNvSpPr>
          <p:nvPr>
            <p:custDataLst>
              <p:tags r:id="rId10"/>
            </p:custDataLst>
          </p:nvPr>
        </p:nvSpPr>
        <p:spPr bwMode="auto">
          <a:xfrm>
            <a:off x="6283325" y="5162550"/>
            <a:ext cx="627063" cy="63817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933F780-00DC-459F-BE61-D342B8338B3C}" type="datetime'L''a''''''''''''''''''''r''ge''''&#10;''f''''''''a''r''''''ms'''''">
              <a:rPr lang="en-US" sz="1400">
                <a:solidFill>
                  <a:schemeClr val="accent1"/>
                </a:solidFill>
              </a:rPr>
              <a:pPr/>
              <a:t>Large
farms</a:t>
            </a:fld>
            <a:endParaRPr lang="en-US" sz="1400" dirty="0">
              <a:solidFill>
                <a:schemeClr val="accent1"/>
              </a:solidFill>
              <a:latin typeface="Arial"/>
              <a:sym typeface="Arial"/>
            </a:endParaRPr>
          </a:p>
          <a:p>
            <a:pPr marL="0" indent="0" algn="ctr">
              <a:spcBef>
                <a:spcPct val="0"/>
              </a:spcBef>
              <a:spcAft>
                <a:spcPct val="0"/>
              </a:spcAft>
              <a:buNone/>
            </a:pPr>
            <a:r>
              <a:rPr lang="en-US" sz="1400" dirty="0" smtClean="0">
                <a:solidFill>
                  <a:schemeClr val="accent1"/>
                </a:solidFill>
                <a:latin typeface="Arial"/>
                <a:sym typeface="Arial"/>
              </a:rPr>
              <a:t>(&gt; 5 ha)</a:t>
            </a:r>
            <a:endParaRPr lang="en-US" sz="1400" dirty="0">
              <a:solidFill>
                <a:schemeClr val="accent1"/>
              </a:solidFill>
              <a:latin typeface="Arial"/>
              <a:sym typeface="Arial"/>
            </a:endParaRPr>
          </a:p>
        </p:txBody>
      </p:sp>
      <p:sp>
        <p:nvSpPr>
          <p:cNvPr id="43" name="Text Placeholder 4"/>
          <p:cNvSpPr>
            <a:spLocks noGrp="1"/>
          </p:cNvSpPr>
          <p:nvPr>
            <p:custDataLst>
              <p:tags r:id="rId11"/>
            </p:custDataLst>
          </p:nvPr>
        </p:nvSpPr>
        <p:spPr bwMode="gray">
          <a:xfrm>
            <a:off x="7769225" y="397192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35%</a:t>
            </a:r>
            <a:endParaRPr lang="en-US" sz="1400" dirty="0">
              <a:solidFill>
                <a:schemeClr val="accent1"/>
              </a:solidFill>
              <a:latin typeface="Arial"/>
              <a:sym typeface="Arial"/>
            </a:endParaRPr>
          </a:p>
        </p:txBody>
      </p:sp>
      <p:sp useBgFill="1">
        <p:nvSpPr>
          <p:cNvPr id="63" name="Text Placeholder 334"/>
          <p:cNvSpPr>
            <a:spLocks noGrp="1"/>
          </p:cNvSpPr>
          <p:nvPr>
            <p:custDataLst>
              <p:tags r:id="rId12"/>
            </p:custDataLst>
          </p:nvPr>
        </p:nvSpPr>
        <p:spPr bwMode="gray">
          <a:xfrm>
            <a:off x="6442075" y="4079875"/>
            <a:ext cx="307975" cy="212725"/>
          </a:xfrm>
          <a:prstGeom prst="rect">
            <a:avLst/>
          </a:prstGeom>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50D8855-4E66-49FC-9DCD-40F4C9878C96}" type="datetime'''''''''''''''''''''''''''''''''''''2'''''''''''''''">
              <a:rPr lang="en-US" sz="1400" smtClean="0">
                <a:solidFill>
                  <a:schemeClr val="accent1"/>
                </a:solidFill>
                <a:latin typeface="Arial"/>
                <a:sym typeface="Arial"/>
              </a:rPr>
              <a:pPr marL="0" indent="0" algn="ctr">
                <a:spcBef>
                  <a:spcPct val="0"/>
                </a:spcBef>
                <a:spcAft>
                  <a:spcPct val="0"/>
                </a:spcAft>
                <a:buNone/>
              </a:pPr>
              <a:t>2</a:t>
            </a:fld>
            <a:r>
              <a:rPr lang="en-US" sz="1400" dirty="0" smtClean="0">
                <a:solidFill>
                  <a:schemeClr val="accent1"/>
                </a:solidFill>
                <a:latin typeface="Arial"/>
                <a:sym typeface="Arial"/>
              </a:rPr>
              <a:t>%</a:t>
            </a:r>
            <a:endParaRPr lang="en-US" sz="1400" dirty="0">
              <a:solidFill>
                <a:schemeClr val="accent1"/>
              </a:solidFill>
              <a:latin typeface="Arial"/>
              <a:sym typeface="Arial"/>
            </a:endParaRPr>
          </a:p>
        </p:txBody>
      </p:sp>
      <p:sp>
        <p:nvSpPr>
          <p:cNvPr id="33" name="Text Placeholder 93"/>
          <p:cNvSpPr>
            <a:spLocks noGrp="1"/>
          </p:cNvSpPr>
          <p:nvPr>
            <p:custDataLst>
              <p:tags r:id="rId13"/>
            </p:custDataLst>
          </p:nvPr>
        </p:nvSpPr>
        <p:spPr bwMode="auto">
          <a:xfrm>
            <a:off x="4883150" y="5162550"/>
            <a:ext cx="673100"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AED9B54-5FB9-497F-80CB-28C357F9AFF0}" type="datetime'''''''''''''''Low&#10;a''''l''''''''t''i''t''''''ud''es'''">
              <a:rPr lang="en-US" sz="1400">
                <a:solidFill>
                  <a:schemeClr val="accent1"/>
                </a:solidFill>
              </a:rPr>
              <a:pPr/>
              <a:t>Low
altitudes</a:t>
            </a:fld>
            <a:endParaRPr lang="en-US" sz="1400" dirty="0" smtClean="0">
              <a:solidFill>
                <a:schemeClr val="accent1"/>
              </a:solidFill>
            </a:endParaRPr>
          </a:p>
        </p:txBody>
      </p:sp>
      <p:sp>
        <p:nvSpPr>
          <p:cNvPr id="85" name="Text Placeholder 349"/>
          <p:cNvSpPr>
            <a:spLocks noGrp="1"/>
          </p:cNvSpPr>
          <p:nvPr>
            <p:custDataLst>
              <p:tags r:id="rId14"/>
            </p:custDataLst>
          </p:nvPr>
        </p:nvSpPr>
        <p:spPr bwMode="gray">
          <a:xfrm>
            <a:off x="5016500" y="3822700"/>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B58F795-A609-44CB-952A-D7863086C6B3}" type="datetime'''2''''''''''''''''''''''''''1'''''''''''''''''''''''''''">
              <a:rPr lang="en-US" sz="1400">
                <a:solidFill>
                  <a:schemeClr val="accent1"/>
                </a:solidFill>
              </a:rPr>
              <a:pPr/>
              <a:t>21</a:t>
            </a:fld>
            <a:r>
              <a:rPr lang="en-US" sz="1400" smtClean="0">
                <a:solidFill>
                  <a:schemeClr val="accent1"/>
                </a:solidFill>
                <a:latin typeface="Arial"/>
                <a:sym typeface="Arial"/>
              </a:rPr>
              <a:t>%</a:t>
            </a:r>
            <a:endParaRPr lang="en-US" sz="1400" dirty="0">
              <a:solidFill>
                <a:schemeClr val="accent1"/>
              </a:solidFill>
              <a:latin typeface="Arial"/>
              <a:sym typeface="Arial"/>
            </a:endParaRPr>
          </a:p>
        </p:txBody>
      </p:sp>
      <p:sp>
        <p:nvSpPr>
          <p:cNvPr id="32" name="Text Placeholder 92"/>
          <p:cNvSpPr>
            <a:spLocks noGrp="1"/>
          </p:cNvSpPr>
          <p:nvPr>
            <p:custDataLst>
              <p:tags r:id="rId15"/>
            </p:custDataLst>
          </p:nvPr>
        </p:nvSpPr>
        <p:spPr bwMode="auto">
          <a:xfrm>
            <a:off x="3506788" y="5162550"/>
            <a:ext cx="673100"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17290AB-4D30-42B6-AF7A-49F377DD592E}" type="datetime'H''i''gh''''&#10;a''''''''''l''t''it''u''de''''''''''''s'''''''''">
              <a:rPr lang="en-US" sz="1400">
                <a:solidFill>
                  <a:schemeClr val="accent1"/>
                </a:solidFill>
              </a:rPr>
              <a:pPr/>
              <a:t>High
altitudes</a:t>
            </a:fld>
            <a:endParaRPr lang="en-US" sz="1400" dirty="0" smtClean="0">
              <a:solidFill>
                <a:schemeClr val="accent1"/>
              </a:solidFill>
            </a:endParaRPr>
          </a:p>
        </p:txBody>
      </p:sp>
      <p:sp>
        <p:nvSpPr>
          <p:cNvPr id="84" name="Text Placeholder 348"/>
          <p:cNvSpPr>
            <a:spLocks noGrp="1"/>
          </p:cNvSpPr>
          <p:nvPr>
            <p:custDataLst>
              <p:tags r:id="rId16"/>
            </p:custDataLst>
          </p:nvPr>
        </p:nvSpPr>
        <p:spPr bwMode="gray">
          <a:xfrm>
            <a:off x="3640138" y="3308350"/>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53A9629-763C-4051-A87D-527036047323}" type="datetime'''''''''''''''''2''''''''''''''5'''''''''''''''''''''''''''">
              <a:rPr lang="en-US" sz="1400">
                <a:solidFill>
                  <a:schemeClr val="accent1"/>
                </a:solidFill>
              </a:rPr>
              <a:pPr/>
              <a:t>25</a:t>
            </a:fld>
            <a:r>
              <a:rPr lang="en-US" sz="1400" smtClean="0">
                <a:solidFill>
                  <a:schemeClr val="accent1"/>
                </a:solidFill>
                <a:latin typeface="Arial"/>
                <a:sym typeface="Arial"/>
              </a:rPr>
              <a:t>%</a:t>
            </a:r>
            <a:endParaRPr lang="en-US" sz="1400" dirty="0">
              <a:solidFill>
                <a:schemeClr val="accent1"/>
              </a:solidFill>
              <a:latin typeface="Arial"/>
              <a:sym typeface="Arial"/>
            </a:endParaRPr>
          </a:p>
        </p:txBody>
      </p:sp>
      <p:sp>
        <p:nvSpPr>
          <p:cNvPr id="31" name="Text Placeholder 91"/>
          <p:cNvSpPr>
            <a:spLocks noGrp="1"/>
          </p:cNvSpPr>
          <p:nvPr>
            <p:custDataLst>
              <p:tags r:id="rId17"/>
            </p:custDataLst>
          </p:nvPr>
        </p:nvSpPr>
        <p:spPr bwMode="auto">
          <a:xfrm>
            <a:off x="650875" y="5162550"/>
            <a:ext cx="87947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07F145D-3C00-4A85-855A-A67EB8C48294}" type="datetime'''''T''''o''t''al ''f''''arm''''''''''''''''''''''''''''s'">
              <a:rPr lang="en-US" sz="1400">
                <a:solidFill>
                  <a:schemeClr val="accent1"/>
                </a:solidFill>
              </a:rPr>
              <a:pPr/>
              <a:t>Total farms</a:t>
            </a:fld>
            <a:endParaRPr lang="en-US" sz="1400" dirty="0">
              <a:solidFill>
                <a:schemeClr val="accent1"/>
              </a:solidFill>
              <a:sym typeface="+mn-lt"/>
            </a:endParaRPr>
          </a:p>
        </p:txBody>
      </p:sp>
      <p:sp>
        <p:nvSpPr>
          <p:cNvPr id="73" name="Text Placeholder 337"/>
          <p:cNvSpPr>
            <a:spLocks noGrp="1"/>
          </p:cNvSpPr>
          <p:nvPr>
            <p:custDataLst>
              <p:tags r:id="rId18"/>
            </p:custDataLst>
          </p:nvPr>
        </p:nvSpPr>
        <p:spPr bwMode="gray">
          <a:xfrm>
            <a:off x="746125" y="2273300"/>
            <a:ext cx="690563" cy="425450"/>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100%=</a:t>
            </a:r>
          </a:p>
          <a:p>
            <a:pPr marL="0" indent="0" algn="ctr">
              <a:spcBef>
                <a:spcPct val="0"/>
              </a:spcBef>
              <a:spcAft>
                <a:spcPct val="0"/>
              </a:spcAft>
              <a:buNone/>
            </a:pPr>
            <a:r>
              <a:rPr lang="en-US" sz="1400" dirty="0" smtClean="0">
                <a:solidFill>
                  <a:schemeClr val="accent1"/>
                </a:solidFill>
                <a:latin typeface="Arial"/>
                <a:sym typeface="Arial"/>
              </a:rPr>
              <a:t>560,000</a:t>
            </a:r>
            <a:endParaRPr lang="en-US" sz="1400" dirty="0">
              <a:solidFill>
                <a:schemeClr val="accent1"/>
              </a:solidFill>
              <a:latin typeface="Arial"/>
              <a:sym typeface="Arial"/>
            </a:endParaRPr>
          </a:p>
        </p:txBody>
      </p:sp>
      <p:sp>
        <p:nvSpPr>
          <p:cNvPr id="35" name="Text Placeholder 58"/>
          <p:cNvSpPr>
            <a:spLocks noGrp="1"/>
          </p:cNvSpPr>
          <p:nvPr>
            <p:custDataLst>
              <p:tags r:id="rId19"/>
            </p:custDataLst>
          </p:nvPr>
        </p:nvSpPr>
        <p:spPr bwMode="auto">
          <a:xfrm>
            <a:off x="2155825" y="5162549"/>
            <a:ext cx="623888"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0B02831-56DB-4F99-8C96-DDD44F56E450}" type="datetime'''I''''n''''''''''''''''act''''i''''ve''&#10;f''''ar''m''''e''rs'">
              <a:rPr lang="en-US" sz="1400">
                <a:solidFill>
                  <a:schemeClr val="accent1"/>
                </a:solidFill>
              </a:rPr>
              <a:pPr/>
              <a:t>Inactive
farmers</a:t>
            </a:fld>
            <a:endParaRPr lang="en-US" sz="1400" dirty="0">
              <a:solidFill>
                <a:schemeClr val="accent1"/>
              </a:solidFill>
              <a:latin typeface="Arial"/>
              <a:sym typeface="Arial"/>
            </a:endParaRPr>
          </a:p>
        </p:txBody>
      </p:sp>
      <p:sp>
        <p:nvSpPr>
          <p:cNvPr id="39" name="Text Placeholder 60"/>
          <p:cNvSpPr>
            <a:spLocks noGrp="1"/>
          </p:cNvSpPr>
          <p:nvPr>
            <p:custDataLst>
              <p:tags r:id="rId20"/>
            </p:custDataLst>
          </p:nvPr>
        </p:nvSpPr>
        <p:spPr bwMode="gray">
          <a:xfrm>
            <a:off x="2263775" y="2822575"/>
            <a:ext cx="4064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18%</a:t>
            </a:r>
            <a:endParaRPr lang="en-US" sz="1400" dirty="0">
              <a:solidFill>
                <a:schemeClr val="accent1"/>
              </a:solidFill>
              <a:latin typeface="Arial"/>
              <a:sym typeface="Arial"/>
            </a:endParaRPr>
          </a:p>
        </p:txBody>
      </p:sp>
      <p:sp>
        <p:nvSpPr>
          <p:cNvPr id="52" name="Rectangular Callout 51"/>
          <p:cNvSpPr/>
          <p:nvPr/>
        </p:nvSpPr>
        <p:spPr>
          <a:xfrm>
            <a:off x="3056582" y="1860233"/>
            <a:ext cx="1258940" cy="772431"/>
          </a:xfrm>
          <a:prstGeom prst="wedgeRectCallout">
            <a:avLst>
              <a:gd name="adj1" fmla="val -9563"/>
              <a:gd name="adj2" fmla="val 125032"/>
            </a:avLst>
          </a:prstGeom>
          <a:solidFill>
            <a:schemeClr val="bg1"/>
          </a:solidFill>
          <a:ln w="9525">
            <a:solidFill>
              <a:srgbClr val="2124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Identify specialty opportunities</a:t>
            </a:r>
            <a:endParaRPr lang="en-US" sz="1400" dirty="0">
              <a:solidFill>
                <a:schemeClr val="tx1"/>
              </a:solidFill>
            </a:endParaRPr>
          </a:p>
        </p:txBody>
      </p:sp>
      <p:sp>
        <p:nvSpPr>
          <p:cNvPr id="53" name="Rectangular Callout 52"/>
          <p:cNvSpPr/>
          <p:nvPr/>
        </p:nvSpPr>
        <p:spPr>
          <a:xfrm>
            <a:off x="4447278" y="1860233"/>
            <a:ext cx="1340209" cy="772431"/>
          </a:xfrm>
          <a:prstGeom prst="wedgeRectCallout">
            <a:avLst>
              <a:gd name="adj1" fmla="val -3756"/>
              <a:gd name="adj2" fmla="val 200816"/>
            </a:avLst>
          </a:prstGeom>
          <a:solidFill>
            <a:schemeClr val="bg1"/>
          </a:solidFill>
          <a:ln w="9525">
            <a:solidFill>
              <a:srgbClr val="2124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Identify diversification opportunities</a:t>
            </a:r>
            <a:endParaRPr lang="en-US" sz="1400" dirty="0">
              <a:solidFill>
                <a:schemeClr val="tx1"/>
              </a:solidFill>
            </a:endParaRPr>
          </a:p>
        </p:txBody>
      </p:sp>
      <p:sp>
        <p:nvSpPr>
          <p:cNvPr id="54" name="Rectangle 53"/>
          <p:cNvSpPr/>
          <p:nvPr/>
        </p:nvSpPr>
        <p:spPr>
          <a:xfrm>
            <a:off x="7263159" y="1781949"/>
            <a:ext cx="1449080" cy="4094744"/>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5" name="Rectangular Callout 54"/>
          <p:cNvSpPr/>
          <p:nvPr/>
        </p:nvSpPr>
        <p:spPr>
          <a:xfrm>
            <a:off x="5915305" y="1872933"/>
            <a:ext cx="1292801" cy="772431"/>
          </a:xfrm>
          <a:prstGeom prst="wedgeRectCallout">
            <a:avLst>
              <a:gd name="adj1" fmla="val -7402"/>
              <a:gd name="adj2" fmla="val 231172"/>
            </a:avLst>
          </a:prstGeom>
          <a:solidFill>
            <a:schemeClr val="bg1"/>
          </a:solidFill>
          <a:ln w="9525">
            <a:solidFill>
              <a:srgbClr val="2124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Identify ways to technify farms</a:t>
            </a:r>
            <a:endParaRPr lang="en-US" sz="1400" dirty="0">
              <a:solidFill>
                <a:schemeClr val="tx1"/>
              </a:solidFill>
            </a:endParaRPr>
          </a:p>
        </p:txBody>
      </p:sp>
      <p:sp>
        <p:nvSpPr>
          <p:cNvPr id="56" name="Rectangular Callout 55"/>
          <p:cNvSpPr/>
          <p:nvPr/>
        </p:nvSpPr>
        <p:spPr>
          <a:xfrm>
            <a:off x="7324961" y="1860233"/>
            <a:ext cx="1278904" cy="772431"/>
          </a:xfrm>
          <a:prstGeom prst="wedgeRectCallout">
            <a:avLst>
              <a:gd name="adj1" fmla="val 835"/>
              <a:gd name="adj2" fmla="val 215889"/>
            </a:avLst>
          </a:prstGeom>
          <a:solidFill>
            <a:schemeClr val="bg1"/>
          </a:solidFill>
          <a:ln w="9525">
            <a:solidFill>
              <a:srgbClr val="2124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rPr>
              <a:t>Improve farms’ efficiency</a:t>
            </a:r>
            <a:endParaRPr lang="en-US" sz="1400" b="1" dirty="0">
              <a:solidFill>
                <a:schemeClr val="tx1"/>
              </a:solidFill>
            </a:endParaRPr>
          </a:p>
        </p:txBody>
      </p:sp>
      <p:grpSp>
        <p:nvGrpSpPr>
          <p:cNvPr id="16" name="Group 15"/>
          <p:cNvGrpSpPr/>
          <p:nvPr/>
        </p:nvGrpSpPr>
        <p:grpSpPr>
          <a:xfrm>
            <a:off x="7330849" y="338606"/>
            <a:ext cx="1805296" cy="307777"/>
            <a:chOff x="7338704" y="1092303"/>
            <a:chExt cx="1805296" cy="307777"/>
          </a:xfrm>
        </p:grpSpPr>
        <p:sp>
          <p:nvSpPr>
            <p:cNvPr id="68" name="Rectangular Callout 67"/>
            <p:cNvSpPr/>
            <p:nvPr/>
          </p:nvSpPr>
          <p:spPr>
            <a:xfrm>
              <a:off x="7338704" y="1121972"/>
              <a:ext cx="375211" cy="256452"/>
            </a:xfrm>
            <a:prstGeom prst="wedgeRectCallout">
              <a:avLst>
                <a:gd name="adj1" fmla="val 10902"/>
                <a:gd name="adj2" fmla="val 109144"/>
              </a:avLst>
            </a:prstGeom>
            <a:solidFill>
              <a:schemeClr val="bg1"/>
            </a:solidFill>
            <a:ln w="9525">
              <a:solidFill>
                <a:srgbClr val="2124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accent1"/>
                </a:solidFill>
              </a:endParaRPr>
            </a:p>
          </p:txBody>
        </p:sp>
        <p:sp>
          <p:nvSpPr>
            <p:cNvPr id="69" name="TextBox 68"/>
            <p:cNvSpPr txBox="1"/>
            <p:nvPr/>
          </p:nvSpPr>
          <p:spPr>
            <a:xfrm>
              <a:off x="7783109" y="1092303"/>
              <a:ext cx="1360891" cy="307777"/>
            </a:xfrm>
            <a:prstGeom prst="rect">
              <a:avLst/>
            </a:prstGeom>
            <a:noFill/>
          </p:spPr>
          <p:txBody>
            <a:bodyPr wrap="square" lIns="0" tIns="0" rIns="0" bIns="0" rtlCol="0">
              <a:spAutoFit/>
            </a:bodyPr>
            <a:lstStyle/>
            <a:p>
              <a:r>
                <a:rPr lang="en-US" sz="1000" dirty="0" smtClean="0">
                  <a:solidFill>
                    <a:schemeClr val="accent1"/>
                  </a:solidFill>
                </a:rPr>
                <a:t>Key intervention opportunity</a:t>
              </a:r>
              <a:endParaRPr lang="en-US" sz="1000" dirty="0">
                <a:solidFill>
                  <a:schemeClr val="accent1"/>
                </a:solidFill>
              </a:endParaRPr>
            </a:p>
          </p:txBody>
        </p:sp>
      </p:grpSp>
      <p:sp>
        <p:nvSpPr>
          <p:cNvPr id="17" name="TextBox 16"/>
          <p:cNvSpPr txBox="1"/>
          <p:nvPr/>
        </p:nvSpPr>
        <p:spPr>
          <a:xfrm>
            <a:off x="7287194" y="5176838"/>
            <a:ext cx="1269730" cy="646331"/>
          </a:xfrm>
          <a:prstGeom prst="rect">
            <a:avLst/>
          </a:prstGeom>
          <a:noFill/>
        </p:spPr>
        <p:txBody>
          <a:bodyPr wrap="square" lIns="0" tIns="0" rIns="0" bIns="0" rtlCol="0">
            <a:spAutoFit/>
          </a:bodyPr>
          <a:lstStyle/>
          <a:p>
            <a:pPr algn="ctr"/>
            <a:r>
              <a:rPr lang="en-US" sz="1400" b="1" dirty="0" smtClean="0">
                <a:solidFill>
                  <a:schemeClr val="accent1"/>
                </a:solidFill>
              </a:rPr>
              <a:t>Small </a:t>
            </a:r>
            <a:r>
              <a:rPr lang="en-US" sz="1400" b="1" dirty="0">
                <a:solidFill>
                  <a:schemeClr val="accent1"/>
                </a:solidFill>
              </a:rPr>
              <a:t>farms at medium altitudes</a:t>
            </a:r>
          </a:p>
        </p:txBody>
      </p:sp>
      <p:sp>
        <p:nvSpPr>
          <p:cNvPr id="42" name="TextBox 41"/>
          <p:cNvSpPr txBox="1"/>
          <p:nvPr/>
        </p:nvSpPr>
        <p:spPr>
          <a:xfrm>
            <a:off x="562632" y="6246822"/>
            <a:ext cx="8715404" cy="230832"/>
          </a:xfrm>
          <a:prstGeom prst="rect">
            <a:avLst/>
          </a:prstGeom>
          <a:noFill/>
        </p:spPr>
        <p:txBody>
          <a:bodyPr wrap="square" rtlCol="0" anchor="b">
            <a:spAutoFit/>
          </a:bodyPr>
          <a:lstStyle/>
          <a:p>
            <a:r>
              <a:rPr lang="en-US" sz="900" dirty="0" smtClean="0">
                <a:solidFill>
                  <a:schemeClr val="tx1">
                    <a:lumMod val="65000"/>
                    <a:lumOff val="35000"/>
                  </a:schemeClr>
                </a:solidFill>
              </a:rPr>
              <a:t>Source: TechnoServe analysis</a:t>
            </a:r>
            <a:endParaRPr lang="en-US" sz="900" dirty="0">
              <a:solidFill>
                <a:schemeClr val="tx1">
                  <a:lumMod val="65000"/>
                  <a:lumOff val="35000"/>
                </a:schemeClr>
              </a:solidFill>
            </a:endParaRPr>
          </a:p>
        </p:txBody>
      </p:sp>
      <p:sp>
        <p:nvSpPr>
          <p:cNvPr id="38" name="TextBox 37"/>
          <p:cNvSpPr txBox="1"/>
          <p:nvPr/>
        </p:nvSpPr>
        <p:spPr>
          <a:xfrm>
            <a:off x="7081991" y="5954215"/>
            <a:ext cx="1715118" cy="215444"/>
          </a:xfrm>
          <a:prstGeom prst="rect">
            <a:avLst/>
          </a:prstGeom>
          <a:solidFill>
            <a:schemeClr val="bg1"/>
          </a:solidFill>
        </p:spPr>
        <p:txBody>
          <a:bodyPr wrap="square" lIns="0" tIns="0" rIns="0" bIns="0" rtlCol="0">
            <a:spAutoFit/>
          </a:bodyPr>
          <a:lstStyle/>
          <a:p>
            <a:pPr algn="ctr"/>
            <a:r>
              <a:rPr lang="en-US" sz="1400" b="1" dirty="0" smtClean="0">
                <a:solidFill>
                  <a:schemeClr val="accent1"/>
                </a:solidFill>
              </a:rPr>
              <a:t>Focus archetype</a:t>
            </a:r>
            <a:endParaRPr lang="en-US" sz="1400" b="1" dirty="0">
              <a:solidFill>
                <a:schemeClr val="accent1"/>
              </a:solidFill>
            </a:endParaRPr>
          </a:p>
        </p:txBody>
      </p:sp>
    </p:spTree>
    <p:extLst>
      <p:ext uri="{BB962C8B-B14F-4D97-AF65-F5344CB8AC3E}">
        <p14:creationId xmlns:p14="http://schemas.microsoft.com/office/powerpoint/2010/main" val="22428207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33" hidden="1"/>
          <p:cNvGraphicFramePr>
            <a:graphicFrameLocks/>
          </p:cNvGraphicFramePr>
          <p:nvPr>
            <p:custDataLst>
              <p:tags r:id="rId2"/>
            </p:custDataLst>
            <p:extLst>
              <p:ext uri="{D42A27DB-BD31-4B8C-83A1-F6EECF244321}">
                <p14:modId xmlns:p14="http://schemas.microsoft.com/office/powerpoint/2010/main" val="852699255"/>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61233" name="think-cell Slide" r:id="rId11" imgW="360" imgH="360" progId="TCLayout.ActiveDocument.1">
                  <p:embed/>
                </p:oleObj>
              </mc:Choice>
              <mc:Fallback>
                <p:oleObj name="think-cell Slide" r:id="rId11" imgW="360" imgH="360" progId="TCLayout.ActiveDocument.1">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noAutofit/>
          </a:bodyPr>
          <a:lstStyle/>
          <a:p>
            <a:pPr fontAlgn="base">
              <a:spcBef>
                <a:spcPct val="0"/>
              </a:spcBef>
              <a:spcAft>
                <a:spcPct val="0"/>
              </a:spcAft>
            </a:pPr>
            <a:endParaRPr kumimoji="0" lang="en-US" sz="1400" b="1" u="none" strike="noStrike" cap="none" normalizeH="0" smtClean="0">
              <a:ln>
                <a:noFill/>
              </a:ln>
              <a:solidFill>
                <a:schemeClr val="tx1"/>
              </a:solidFill>
              <a:effectLst/>
              <a:latin typeface="Arial"/>
              <a:sym typeface="Arial"/>
            </a:endParaRPr>
          </a:p>
        </p:txBody>
      </p:sp>
      <p:sp>
        <p:nvSpPr>
          <p:cNvPr id="10" name="TextBox 8"/>
          <p:cNvSpPr txBox="1">
            <a:spLocks/>
          </p:cNvSpPr>
          <p:nvPr>
            <p:custDataLst>
              <p:tags r:id="rId4"/>
            </p:custDataLst>
          </p:nvPr>
        </p:nvSpPr>
        <p:spPr>
          <a:xfrm>
            <a:off x="252639" y="1594379"/>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85725" indent="0">
              <a:buNone/>
            </a:pPr>
            <a:r>
              <a:rPr lang="en-US" sz="1200" b="1" dirty="0" smtClean="0">
                <a:solidFill>
                  <a:schemeClr val="accent1"/>
                </a:solidFill>
              </a:rPr>
              <a:t>Farmers can increase yields through improved agronomy and technical assistance</a:t>
            </a:r>
            <a:endParaRPr lang="en-US" sz="1200" b="1" dirty="0">
              <a:solidFill>
                <a:schemeClr val="accent1"/>
              </a:solidFill>
            </a:endParaRPr>
          </a:p>
        </p:txBody>
      </p:sp>
      <p:sp>
        <p:nvSpPr>
          <p:cNvPr id="11" name="TextBox 8"/>
          <p:cNvSpPr txBox="1">
            <a:spLocks/>
          </p:cNvSpPr>
          <p:nvPr>
            <p:custDataLst>
              <p:tags r:id="rId5"/>
            </p:custDataLst>
          </p:nvPr>
        </p:nvSpPr>
        <p:spPr>
          <a:xfrm>
            <a:off x="252639" y="3226988"/>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defPPr>
              <a:defRPr lang="en-US"/>
            </a:defPPr>
            <a:lvl1pPr marL="85725" lvl="0" indent="0" defTabSz="913332" fontAlgn="base">
              <a:spcBef>
                <a:spcPct val="0"/>
              </a:spcBef>
              <a:spcAft>
                <a:spcPct val="0"/>
              </a:spcAft>
              <a:buSzPct val="120000"/>
              <a:buNone/>
              <a:defRPr sz="1200" b="1">
                <a:solidFill>
                  <a:schemeClr val="bg1"/>
                </a:solidFill>
              </a:defRPr>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r>
              <a:rPr lang="en-US" dirty="0" smtClean="0">
                <a:solidFill>
                  <a:schemeClr val="accent1"/>
                </a:solidFill>
              </a:rPr>
              <a:t>Production costs could be reduced modestly through various sector efficiencies</a:t>
            </a:r>
            <a:endParaRPr lang="en-US" dirty="0">
              <a:solidFill>
                <a:schemeClr val="accent1"/>
              </a:solidFill>
            </a:endParaRPr>
          </a:p>
        </p:txBody>
      </p:sp>
      <p:sp>
        <p:nvSpPr>
          <p:cNvPr id="12" name="TextBox 8"/>
          <p:cNvSpPr txBox="1">
            <a:spLocks/>
          </p:cNvSpPr>
          <p:nvPr>
            <p:custDataLst>
              <p:tags r:id="rId6"/>
            </p:custDataLst>
          </p:nvPr>
        </p:nvSpPr>
        <p:spPr>
          <a:xfrm>
            <a:off x="252639" y="4880352"/>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defPPr>
              <a:defRPr lang="en-US"/>
            </a:defPPr>
            <a:lvl1pPr marL="85725" lvl="0" indent="0" defTabSz="913332" fontAlgn="base">
              <a:spcBef>
                <a:spcPct val="0"/>
              </a:spcBef>
              <a:spcAft>
                <a:spcPct val="0"/>
              </a:spcAft>
              <a:buSzPct val="120000"/>
              <a:buNone/>
              <a:defRPr sz="1200" b="1">
                <a:solidFill>
                  <a:schemeClr val="bg1"/>
                </a:solidFill>
              </a:defRPr>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a:lnSpc>
                <a:spcPct val="90000"/>
              </a:lnSpc>
            </a:pPr>
            <a:r>
              <a:rPr lang="en-US" dirty="0" smtClean="0">
                <a:solidFill>
                  <a:schemeClr val="accent1"/>
                </a:solidFill>
              </a:rPr>
              <a:t>Supply chains can meet stricter environmental standards with minimal added cost</a:t>
            </a:r>
            <a:endParaRPr lang="en-US" dirty="0">
              <a:solidFill>
                <a:schemeClr val="accent1"/>
              </a:solidFill>
            </a:endParaRPr>
          </a:p>
        </p:txBody>
      </p:sp>
      <p:sp>
        <p:nvSpPr>
          <p:cNvPr id="3" name="Rectangle 4"/>
          <p:cNvSpPr txBox="1"/>
          <p:nvPr/>
        </p:nvSpPr>
        <p:spPr>
          <a:xfrm>
            <a:off x="3345830" y="1553936"/>
            <a:ext cx="5515144" cy="15234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82563" indent="-182563"/>
            <a:r>
              <a:rPr lang="en-US" sz="1100" dirty="0"/>
              <a:t>Colombia’s farm yields could be increased by </a:t>
            </a:r>
            <a:r>
              <a:rPr lang="en-US" sz="1100" dirty="0" smtClean="0"/>
              <a:t>20 to 30% by transferring improved agronomy practices to farmers, in particular effective fertilizer usage</a:t>
            </a:r>
          </a:p>
          <a:p>
            <a:pPr marL="182563" indent="-182563"/>
            <a:r>
              <a:rPr lang="en-US" sz="1100" dirty="0"/>
              <a:t>Achieving yield improvement requires high adoption level of best </a:t>
            </a:r>
            <a:r>
              <a:rPr lang="en-US" sz="1100" dirty="0" smtClean="0"/>
              <a:t>practices; high average age of farmer population could pose a challenge</a:t>
            </a:r>
          </a:p>
          <a:p>
            <a:pPr marL="182563" indent="-182563"/>
            <a:r>
              <a:rPr lang="en-US" sz="1100" dirty="0" smtClean="0"/>
              <a:t>Higher yields contribute to a 5% cost reduction and net income increase of 30-50%</a:t>
            </a:r>
          </a:p>
          <a:p>
            <a:pPr marL="182563" indent="-182563"/>
            <a:r>
              <a:rPr lang="en-US" sz="1100" dirty="0" smtClean="0"/>
              <a:t>Overall, production would increase by 1.5M bags and exports by US$ 260M per year</a:t>
            </a:r>
          </a:p>
          <a:p>
            <a:pPr marL="182563" indent="-182563"/>
            <a:r>
              <a:rPr lang="en-US" sz="1100" kern="0" dirty="0" smtClean="0"/>
              <a:t>Cost of US$ 200M to train 50% of active farmers (230,000) over 10 years</a:t>
            </a:r>
          </a:p>
          <a:p>
            <a:pPr marL="182563" indent="-182563"/>
            <a:r>
              <a:rPr lang="en-US" sz="1100" kern="0" dirty="0" smtClean="0"/>
              <a:t>Training should complement FNC’s individual farm extension visit s with a “farmer field schools” methodology and should actively try to involve the youth</a:t>
            </a:r>
          </a:p>
        </p:txBody>
      </p:sp>
      <p:sp>
        <p:nvSpPr>
          <p:cNvPr id="17" name="Rectangle 4"/>
          <p:cNvSpPr txBox="1"/>
          <p:nvPr/>
        </p:nvSpPr>
        <p:spPr>
          <a:xfrm>
            <a:off x="3345830" y="4902883"/>
            <a:ext cx="5515144" cy="129266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66688" indent="-166688">
              <a:buFont typeface="Arial" pitchFamily="34" charset="0"/>
              <a:buChar char="•"/>
            </a:pPr>
            <a:r>
              <a:rPr lang="en-US" sz="1100" dirty="0" smtClean="0"/>
              <a:t>Challenging for farms to meet new, stricter environmental regulations – requires new wastewater treatment systems that are complicated and expensive</a:t>
            </a:r>
          </a:p>
          <a:p>
            <a:pPr marL="166688" indent="-166688">
              <a:buFont typeface="Arial" pitchFamily="34" charset="0"/>
              <a:buChar char="•"/>
            </a:pPr>
            <a:r>
              <a:rPr lang="en-US" sz="1100" dirty="0" smtClean="0"/>
              <a:t>Ensure </a:t>
            </a:r>
            <a:r>
              <a:rPr lang="en-US" sz="1100" dirty="0"/>
              <a:t>compliance with environmental laws cost-effectively through central wet </a:t>
            </a:r>
            <a:r>
              <a:rPr lang="en-US" sz="1100" dirty="0" smtClean="0"/>
              <a:t>mills; a single system now benefits many farms</a:t>
            </a:r>
            <a:endParaRPr lang="en-US" sz="1100" dirty="0"/>
          </a:p>
          <a:p>
            <a:pPr marL="166688" indent="-166688">
              <a:buFont typeface="Arial" pitchFamily="34" charset="0"/>
              <a:buChar char="•"/>
            </a:pPr>
            <a:endParaRPr lang="en-US" sz="700" dirty="0" smtClean="0"/>
          </a:p>
          <a:p>
            <a:pPr marL="166688" indent="-166688">
              <a:buFont typeface="Arial" pitchFamily="34" charset="0"/>
              <a:buChar char="•"/>
            </a:pPr>
            <a:r>
              <a:rPr lang="en-US" sz="1100" i="1" dirty="0" smtClean="0"/>
              <a:t>The combination of all three business cases would increase net income by more than 50%  and reduce time spent for coffee farmers, enabling them to earn more from coffee than other rural employment options</a:t>
            </a:r>
            <a:endParaRPr lang="en-US" sz="1100" i="1" dirty="0"/>
          </a:p>
        </p:txBody>
      </p:sp>
      <p:cxnSp>
        <p:nvCxnSpPr>
          <p:cNvPr id="8" name="Straight Connector 7"/>
          <p:cNvCxnSpPr/>
          <p:nvPr/>
        </p:nvCxnSpPr>
        <p:spPr bwMode="auto">
          <a:xfrm>
            <a:off x="252639" y="4753147"/>
            <a:ext cx="8497661"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grpSp>
        <p:nvGrpSpPr>
          <p:cNvPr id="20" name="ACET"/>
          <p:cNvGrpSpPr>
            <a:grpSpLocks/>
          </p:cNvGrpSpPr>
          <p:nvPr/>
        </p:nvGrpSpPr>
        <p:grpSpPr bwMode="auto">
          <a:xfrm>
            <a:off x="252639" y="1272585"/>
            <a:ext cx="8497660" cy="203200"/>
            <a:chOff x="915" y="902"/>
            <a:chExt cx="2686" cy="128"/>
          </a:xfrm>
        </p:grpSpPr>
        <p:cxnSp>
          <p:nvCxnSpPr>
            <p:cNvPr id="21" name="AutoShape 70"/>
            <p:cNvCxnSpPr>
              <a:cxnSpLocks noChangeShapeType="1"/>
              <a:stCxn id="22" idx="4"/>
              <a:endCxn id="22" idx="6"/>
            </p:cNvCxnSpPr>
            <p:nvPr/>
          </p:nvCxnSpPr>
          <p:spPr bwMode="auto">
            <a:xfrm>
              <a:off x="915" y="1030"/>
              <a:ext cx="2686"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AutoShape 71"/>
            <p:cNvSpPr>
              <a:spLocks noChangeArrowheads="1"/>
            </p:cNvSpPr>
            <p:nvPr/>
          </p:nvSpPr>
          <p:spPr bwMode="auto">
            <a:xfrm>
              <a:off x="915" y="902"/>
              <a:ext cx="2686" cy="128"/>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200" b="1" dirty="0" smtClean="0">
                  <a:solidFill>
                    <a:schemeClr val="accent1"/>
                  </a:solidFill>
                </a:rPr>
                <a:t>Business cases and key challenges</a:t>
              </a:r>
              <a:endParaRPr lang="en-US" sz="1200" dirty="0">
                <a:solidFill>
                  <a:schemeClr val="accent1"/>
                </a:solidFill>
              </a:endParaRPr>
            </a:p>
          </p:txBody>
        </p:sp>
      </p:grpSp>
      <p:cxnSp>
        <p:nvCxnSpPr>
          <p:cNvPr id="23" name="Straight Connector 22"/>
          <p:cNvCxnSpPr/>
          <p:nvPr/>
        </p:nvCxnSpPr>
        <p:spPr bwMode="auto">
          <a:xfrm>
            <a:off x="252639" y="3142483"/>
            <a:ext cx="8497661"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sp>
        <p:nvSpPr>
          <p:cNvPr id="5" name="TextBox 8"/>
          <p:cNvSpPr txBox="1"/>
          <p:nvPr>
            <p:custDataLst>
              <p:tags r:id="rId7"/>
            </p:custDataLst>
          </p:nvPr>
        </p:nvSpPr>
        <p:spPr>
          <a:xfrm>
            <a:off x="121491" y="2144591"/>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smtClean="0">
                <a:solidFill>
                  <a:schemeClr val="bg1"/>
                </a:solidFill>
              </a:rPr>
              <a:t>1</a:t>
            </a:r>
            <a:endParaRPr lang="en-US" sz="1200" b="1" dirty="0">
              <a:solidFill>
                <a:schemeClr val="bg1"/>
              </a:solidFill>
            </a:endParaRPr>
          </a:p>
        </p:txBody>
      </p:sp>
      <p:sp>
        <p:nvSpPr>
          <p:cNvPr id="33" name="TextBox 8"/>
          <p:cNvSpPr txBox="1"/>
          <p:nvPr>
            <p:custDataLst>
              <p:tags r:id="rId8"/>
            </p:custDataLst>
          </p:nvPr>
        </p:nvSpPr>
        <p:spPr>
          <a:xfrm>
            <a:off x="121491" y="3822217"/>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a:solidFill>
                  <a:schemeClr val="bg1"/>
                </a:solidFill>
              </a:rPr>
              <a:t>2</a:t>
            </a:r>
          </a:p>
        </p:txBody>
      </p:sp>
      <p:sp>
        <p:nvSpPr>
          <p:cNvPr id="35" name="TextBox 8"/>
          <p:cNvSpPr txBox="1"/>
          <p:nvPr>
            <p:custDataLst>
              <p:tags r:id="rId9"/>
            </p:custDataLst>
          </p:nvPr>
        </p:nvSpPr>
        <p:spPr>
          <a:xfrm>
            <a:off x="121491" y="5434067"/>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a:solidFill>
                  <a:schemeClr val="bg1"/>
                </a:solidFill>
              </a:rPr>
              <a:t>3</a:t>
            </a:r>
          </a:p>
        </p:txBody>
      </p:sp>
      <p:pic>
        <p:nvPicPr>
          <p:cNvPr id="24" name="Picture 6" descr="http://bcassets.starbucks.com/1612549662/201403/3860/1612549662_3391264781001_cafe-video-732x412-HP.jpg?pubId=1612549662"/>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35188" r="7875"/>
          <a:stretch/>
        </p:blipFill>
        <p:spPr bwMode="auto">
          <a:xfrm>
            <a:off x="1820357" y="1594379"/>
            <a:ext cx="1479993" cy="146304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0" name="Picture 10" descr="CapacitacionTNS_Page_19"/>
          <p:cNvPicPr>
            <a:picLocks noChangeArrowheads="1"/>
          </p:cNvPicPr>
          <p:nvPr/>
        </p:nvPicPr>
        <p:blipFill rotWithShape="1">
          <a:blip r:embed="rId14">
            <a:extLst>
              <a:ext uri="{28A0092B-C50C-407E-A947-70E740481C1C}">
                <a14:useLocalDpi xmlns:a14="http://schemas.microsoft.com/office/drawing/2010/main" val="0"/>
              </a:ext>
            </a:extLst>
          </a:blip>
          <a:srcRect l="-83" t="5780" r="3586" b="4212"/>
          <a:stretch/>
        </p:blipFill>
        <p:spPr bwMode="auto">
          <a:xfrm>
            <a:off x="1820357" y="3226988"/>
            <a:ext cx="1481328" cy="146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Imagen 3" descr="IMG_0702.JPG"/>
          <p:cNvPicPr>
            <a:picLocks/>
          </p:cNvPicPr>
          <p:nvPr/>
        </p:nvPicPr>
        <p:blipFill rotWithShape="1">
          <a:blip r:embed="rId15" cstate="email">
            <a:extLst/>
          </a:blip>
          <a:srcRect r="25051"/>
          <a:stretch/>
        </p:blipFill>
        <p:spPr>
          <a:xfrm>
            <a:off x="1820357" y="4880352"/>
            <a:ext cx="1468088" cy="1463040"/>
          </a:xfrm>
          <a:prstGeom prst="rect">
            <a:avLst/>
          </a:prstGeom>
          <a:noFill/>
          <a:ln>
            <a:noFill/>
          </a:ln>
        </p:spPr>
      </p:pic>
      <p:sp>
        <p:nvSpPr>
          <p:cNvPr id="6" name="Title 5"/>
          <p:cNvSpPr>
            <a:spLocks noGrp="1"/>
          </p:cNvSpPr>
          <p:nvPr>
            <p:ph type="title"/>
          </p:nvPr>
        </p:nvSpPr>
        <p:spPr/>
        <p:txBody>
          <a:bodyPr/>
          <a:lstStyle/>
          <a:p>
            <a:r>
              <a:rPr lang="en-US" sz="1600" b="0" dirty="0"/>
              <a:t>ESTABLISHING THE BUSINESS CASE STUDIES</a:t>
            </a:r>
            <a:r>
              <a:rPr lang="en-US" b="0" dirty="0"/>
              <a:t/>
            </a:r>
            <a:br>
              <a:rPr lang="en-US" b="0" dirty="0"/>
            </a:br>
            <a:r>
              <a:rPr lang="en-US" b="0" dirty="0"/>
              <a:t>Three business cases were analyzed in </a:t>
            </a:r>
            <a:r>
              <a:rPr lang="en-US" b="0" dirty="0" smtClean="0"/>
              <a:t>depth targeted at mainstream archetype </a:t>
            </a:r>
            <a:endParaRPr lang="en-US" b="0" dirty="0"/>
          </a:p>
        </p:txBody>
      </p:sp>
      <p:sp>
        <p:nvSpPr>
          <p:cNvPr id="25" name="Rectangle 4"/>
          <p:cNvSpPr txBox="1"/>
          <p:nvPr/>
        </p:nvSpPr>
        <p:spPr>
          <a:xfrm>
            <a:off x="3345831" y="3217918"/>
            <a:ext cx="5515143" cy="15234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74625" indent="-174625">
              <a:spcBef>
                <a:spcPts val="0"/>
              </a:spcBef>
              <a:spcAft>
                <a:spcPts val="0"/>
              </a:spcAft>
              <a:buFont typeface="Arial" panose="020B0604020202020204" pitchFamily="34" charset="0"/>
              <a:buChar char="•"/>
            </a:pPr>
            <a:r>
              <a:rPr lang="en-US" sz="1100" dirty="0" smtClean="0"/>
              <a:t>Colombia’s coffee farming is already quite sophisticated and shows limited potential for reducing production costs</a:t>
            </a:r>
          </a:p>
          <a:p>
            <a:pPr marL="174625" indent="-174625">
              <a:spcBef>
                <a:spcPts val="0"/>
              </a:spcBef>
              <a:spcAft>
                <a:spcPts val="0"/>
              </a:spcAft>
              <a:buFont typeface="Arial" panose="020B0604020202020204" pitchFamily="34" charset="0"/>
              <a:buChar char="•"/>
            </a:pPr>
            <a:r>
              <a:rPr lang="en-US" sz="1100" dirty="0" smtClean="0"/>
              <a:t>By reducing </a:t>
            </a:r>
            <a:r>
              <a:rPr lang="en-US" sz="1100" dirty="0"/>
              <a:t>farmers’ labor </a:t>
            </a:r>
            <a:r>
              <a:rPr lang="en-US" sz="1100" dirty="0" smtClean="0"/>
              <a:t>requirements for harvesting and in particular home wet-milling, production costs could be reduced by up to 10%</a:t>
            </a:r>
            <a:endParaRPr lang="en-US" sz="1100" dirty="0"/>
          </a:p>
          <a:p>
            <a:pPr marL="174625" indent="-174625">
              <a:spcBef>
                <a:spcPts val="0"/>
              </a:spcBef>
              <a:spcAft>
                <a:spcPts val="0"/>
              </a:spcAft>
              <a:buFont typeface="Arial" panose="020B0604020202020204" pitchFamily="34" charset="0"/>
              <a:buChar char="•"/>
            </a:pPr>
            <a:r>
              <a:rPr lang="en-US" sz="1100" dirty="0" smtClean="0"/>
              <a:t>For harvesting, there are conceptually opportunities </a:t>
            </a:r>
            <a:r>
              <a:rPr lang="en-US" sz="1100" dirty="0"/>
              <a:t>for </a:t>
            </a:r>
            <a:r>
              <a:rPr lang="en-US" sz="1100" dirty="0" smtClean="0"/>
              <a:t>improving productivity; however, implementation will be difficult and results may not justify costs</a:t>
            </a:r>
          </a:p>
          <a:p>
            <a:pPr marL="174625" indent="-174625">
              <a:spcBef>
                <a:spcPts val="0"/>
              </a:spcBef>
              <a:spcAft>
                <a:spcPts val="0"/>
              </a:spcAft>
              <a:buFont typeface="Arial" panose="020B0604020202020204" pitchFamily="34" charset="0"/>
              <a:buChar char="•"/>
            </a:pPr>
            <a:r>
              <a:rPr lang="en-US" sz="1100" dirty="0" smtClean="0"/>
              <a:t>For wet-milling, the introduction of central milling could reduce labor requirements by 50-70% and produce other financial and nonfinancial benefits</a:t>
            </a:r>
          </a:p>
          <a:p>
            <a:pPr marL="174625" indent="-174625">
              <a:spcBef>
                <a:spcPts val="0"/>
              </a:spcBef>
              <a:spcAft>
                <a:spcPts val="0"/>
              </a:spcAft>
              <a:buFont typeface="Arial" panose="020B0604020202020204" pitchFamily="34" charset="0"/>
              <a:buChar char="•"/>
            </a:pPr>
            <a:r>
              <a:rPr lang="en-US" sz="1100" dirty="0" smtClean="0"/>
              <a:t>Farmers facing the highest opportunity costs to time and labor should be prioritized</a:t>
            </a:r>
          </a:p>
        </p:txBody>
      </p:sp>
    </p:spTree>
    <p:extLst>
      <p:ext uri="{BB962C8B-B14F-4D97-AF65-F5344CB8AC3E}">
        <p14:creationId xmlns:p14="http://schemas.microsoft.com/office/powerpoint/2010/main" val="33722237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p:cNvGraphicFramePr>
          <p:nvPr>
            <p:custDataLst>
              <p:tags r:id="rId2"/>
            </p:custDataLst>
            <p:extLst>
              <p:ext uri="{D42A27DB-BD31-4B8C-83A1-F6EECF244321}">
                <p14:modId xmlns:p14="http://schemas.microsoft.com/office/powerpoint/2010/main" val="3561981207"/>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81497"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bwMode="auto">
          <a:xfrm>
            <a:off x="985837" y="3493542"/>
            <a:ext cx="7000875" cy="385763"/>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10" name="TextBox 9"/>
          <p:cNvSpPr txBox="1"/>
          <p:nvPr/>
        </p:nvSpPr>
        <p:spPr>
          <a:xfrm>
            <a:off x="1471614" y="1843086"/>
            <a:ext cx="6372225" cy="2031325"/>
          </a:xfrm>
          <a:prstGeom prst="rect">
            <a:avLst/>
          </a:prstGeom>
          <a:noFill/>
        </p:spPr>
        <p:txBody>
          <a:bodyPr wrap="square" rtlCol="0">
            <a:spAutoFit/>
          </a:bodyPr>
          <a:lstStyle/>
          <a:p>
            <a:pPr>
              <a:buFont typeface="Wingdings" pitchFamily="2" charset="2"/>
              <a:buChar char="q"/>
            </a:pPr>
            <a:r>
              <a:rPr lang="en-US" dirty="0" smtClean="0">
                <a:solidFill>
                  <a:schemeClr val="accent1"/>
                </a:solidFill>
              </a:rPr>
              <a:t> Colombia coffee industry primer</a:t>
            </a:r>
          </a:p>
          <a:p>
            <a:pPr>
              <a:buFont typeface="Wingdings" pitchFamily="2" charset="2"/>
              <a:buChar char="q"/>
            </a:pPr>
            <a:endParaRPr lang="en-US" dirty="0" smtClean="0">
              <a:solidFill>
                <a:schemeClr val="accent1"/>
              </a:solidFill>
            </a:endParaRPr>
          </a:p>
          <a:p>
            <a:pPr>
              <a:buFont typeface="Wingdings" pitchFamily="2" charset="2"/>
              <a:buChar char="q"/>
            </a:pPr>
            <a:endParaRPr lang="en-US" dirty="0" smtClean="0">
              <a:solidFill>
                <a:schemeClr val="accent1"/>
              </a:solidFill>
            </a:endParaRPr>
          </a:p>
          <a:p>
            <a:pPr>
              <a:buFont typeface="Wingdings" pitchFamily="2" charset="2"/>
              <a:buChar char="q"/>
            </a:pPr>
            <a:r>
              <a:rPr lang="en-US" dirty="0" smtClean="0">
                <a:solidFill>
                  <a:schemeClr val="accent1"/>
                </a:solidFill>
              </a:rPr>
              <a:t> Analytical framework</a:t>
            </a:r>
          </a:p>
          <a:p>
            <a:pPr>
              <a:buFont typeface="Wingdings" pitchFamily="2" charset="2"/>
              <a:buChar char="q"/>
            </a:pPr>
            <a:endParaRPr lang="en-US" dirty="0" smtClean="0"/>
          </a:p>
          <a:p>
            <a:pPr>
              <a:buFont typeface="Wingdings" pitchFamily="2" charset="2"/>
              <a:buChar char="q"/>
            </a:pPr>
            <a:endParaRPr lang="en-US" dirty="0" smtClean="0"/>
          </a:p>
          <a:p>
            <a:pPr>
              <a:buFont typeface="Wingdings" pitchFamily="2" charset="2"/>
              <a:buChar char="q"/>
            </a:pPr>
            <a:r>
              <a:rPr lang="en-US" b="1" dirty="0" smtClean="0">
                <a:solidFill>
                  <a:schemeClr val="bg1"/>
                </a:solidFill>
              </a:rPr>
              <a:t> Colombia business case discussion</a:t>
            </a:r>
          </a:p>
        </p:txBody>
      </p:sp>
      <p:sp>
        <p:nvSpPr>
          <p:cNvPr id="3" name="Title 2"/>
          <p:cNvSpPr>
            <a:spLocks noGrp="1"/>
          </p:cNvSpPr>
          <p:nvPr>
            <p:ph type="title"/>
          </p:nvPr>
        </p:nvSpPr>
        <p:spPr/>
        <p:txBody>
          <a:bodyPr/>
          <a:lstStyle/>
          <a:p>
            <a:r>
              <a:rPr lang="en-US" b="0" dirty="0" smtClean="0"/>
              <a:t>Contents</a:t>
            </a:r>
            <a:endParaRPr lang="en-US" b="0" dirty="0"/>
          </a:p>
        </p:txBody>
      </p:sp>
    </p:spTree>
    <p:extLst>
      <p:ext uri="{BB962C8B-B14F-4D97-AF65-F5344CB8AC3E}">
        <p14:creationId xmlns:p14="http://schemas.microsoft.com/office/powerpoint/2010/main" val="284912296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33" hidden="1"/>
          <p:cNvGraphicFramePr>
            <a:graphicFrameLocks/>
          </p:cNvGraphicFramePr>
          <p:nvPr>
            <p:custDataLst>
              <p:tags r:id="rId2"/>
            </p:custDataLst>
            <p:extLst>
              <p:ext uri="{D42A27DB-BD31-4B8C-83A1-F6EECF244321}">
                <p14:modId xmlns:p14="http://schemas.microsoft.com/office/powerpoint/2010/main" val="3442915954"/>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81667" name="think-cell Slide" r:id="rId11" imgW="360" imgH="360" progId="TCLayout.ActiveDocument.1">
                  <p:embed/>
                </p:oleObj>
              </mc:Choice>
              <mc:Fallback>
                <p:oleObj name="think-cell Slide" r:id="rId11" imgW="360" imgH="360" progId="TCLayout.ActiveDocument.1">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noAutofit/>
          </a:bodyPr>
          <a:lstStyle/>
          <a:p>
            <a:pPr fontAlgn="base">
              <a:spcBef>
                <a:spcPct val="0"/>
              </a:spcBef>
              <a:spcAft>
                <a:spcPct val="0"/>
              </a:spcAft>
            </a:pPr>
            <a:endParaRPr kumimoji="0" lang="en-US" sz="1400" b="1" u="none" strike="noStrike" cap="none" normalizeH="0" smtClean="0">
              <a:ln>
                <a:noFill/>
              </a:ln>
              <a:solidFill>
                <a:schemeClr val="tx1"/>
              </a:solidFill>
              <a:effectLst/>
              <a:latin typeface="Arial"/>
              <a:sym typeface="Arial"/>
            </a:endParaRPr>
          </a:p>
        </p:txBody>
      </p:sp>
      <p:sp>
        <p:nvSpPr>
          <p:cNvPr id="26" name="Rectangle 25"/>
          <p:cNvSpPr/>
          <p:nvPr/>
        </p:nvSpPr>
        <p:spPr>
          <a:xfrm>
            <a:off x="121491" y="1530283"/>
            <a:ext cx="8902766" cy="1584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8"/>
          <p:cNvSpPr txBox="1">
            <a:spLocks/>
          </p:cNvSpPr>
          <p:nvPr>
            <p:custDataLst>
              <p:tags r:id="rId4"/>
            </p:custDataLst>
          </p:nvPr>
        </p:nvSpPr>
        <p:spPr>
          <a:xfrm>
            <a:off x="252639" y="1594379"/>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85725" indent="0">
              <a:buNone/>
            </a:pPr>
            <a:r>
              <a:rPr lang="en-US" sz="1200" b="1" dirty="0" smtClean="0">
                <a:solidFill>
                  <a:schemeClr val="accent1"/>
                </a:solidFill>
              </a:rPr>
              <a:t>Farmers can increase yields through improved agronomy and technical assistance</a:t>
            </a:r>
            <a:endParaRPr lang="en-US" sz="1200" b="1" dirty="0">
              <a:solidFill>
                <a:schemeClr val="accent1"/>
              </a:solidFill>
            </a:endParaRPr>
          </a:p>
        </p:txBody>
      </p:sp>
      <p:sp>
        <p:nvSpPr>
          <p:cNvPr id="11" name="TextBox 8"/>
          <p:cNvSpPr txBox="1">
            <a:spLocks/>
          </p:cNvSpPr>
          <p:nvPr>
            <p:custDataLst>
              <p:tags r:id="rId5"/>
            </p:custDataLst>
          </p:nvPr>
        </p:nvSpPr>
        <p:spPr>
          <a:xfrm>
            <a:off x="252639" y="3226988"/>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defPPr>
              <a:defRPr lang="en-US"/>
            </a:defPPr>
            <a:lvl1pPr marL="85725" lvl="0" indent="0" defTabSz="913332" fontAlgn="base">
              <a:spcBef>
                <a:spcPct val="0"/>
              </a:spcBef>
              <a:spcAft>
                <a:spcPct val="0"/>
              </a:spcAft>
              <a:buSzPct val="120000"/>
              <a:buNone/>
              <a:defRPr sz="1200" b="1">
                <a:solidFill>
                  <a:schemeClr val="bg1"/>
                </a:solidFill>
              </a:defRPr>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r>
              <a:rPr lang="en-US" dirty="0" smtClean="0">
                <a:solidFill>
                  <a:schemeClr val="accent1"/>
                </a:solidFill>
              </a:rPr>
              <a:t>Production costs could be reduced modestly through various sector efficiencies</a:t>
            </a:r>
            <a:endParaRPr lang="en-US" dirty="0">
              <a:solidFill>
                <a:schemeClr val="accent1"/>
              </a:solidFill>
            </a:endParaRPr>
          </a:p>
        </p:txBody>
      </p:sp>
      <p:sp>
        <p:nvSpPr>
          <p:cNvPr id="12" name="TextBox 8"/>
          <p:cNvSpPr txBox="1">
            <a:spLocks/>
          </p:cNvSpPr>
          <p:nvPr>
            <p:custDataLst>
              <p:tags r:id="rId6"/>
            </p:custDataLst>
          </p:nvPr>
        </p:nvSpPr>
        <p:spPr>
          <a:xfrm>
            <a:off x="252639" y="4880352"/>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defPPr>
              <a:defRPr lang="en-US"/>
            </a:defPPr>
            <a:lvl1pPr marL="85725" lvl="0" indent="0" defTabSz="913332" fontAlgn="base">
              <a:spcBef>
                <a:spcPct val="0"/>
              </a:spcBef>
              <a:spcAft>
                <a:spcPct val="0"/>
              </a:spcAft>
              <a:buSzPct val="120000"/>
              <a:buNone/>
              <a:defRPr sz="1200" b="1">
                <a:solidFill>
                  <a:schemeClr val="bg1"/>
                </a:solidFill>
              </a:defRPr>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a:lnSpc>
                <a:spcPct val="90000"/>
              </a:lnSpc>
            </a:pPr>
            <a:r>
              <a:rPr lang="en-US" dirty="0" smtClean="0">
                <a:solidFill>
                  <a:schemeClr val="accent1"/>
                </a:solidFill>
              </a:rPr>
              <a:t>Supply chains can meet stricter environmental standards with minimal added cost</a:t>
            </a:r>
            <a:endParaRPr lang="en-US" dirty="0">
              <a:solidFill>
                <a:schemeClr val="accent1"/>
              </a:solidFill>
            </a:endParaRPr>
          </a:p>
        </p:txBody>
      </p:sp>
      <p:sp>
        <p:nvSpPr>
          <p:cNvPr id="3" name="Rectangle 4"/>
          <p:cNvSpPr txBox="1"/>
          <p:nvPr/>
        </p:nvSpPr>
        <p:spPr>
          <a:xfrm>
            <a:off x="3345830" y="1553936"/>
            <a:ext cx="5515144" cy="15234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82563" indent="-182563"/>
            <a:r>
              <a:rPr lang="en-US" sz="1100" dirty="0"/>
              <a:t>Colombia’s farm yields could be increased by 20 to 30% by transferring improved agronomy practices to farmers, in particular effective fertilizer usage</a:t>
            </a:r>
          </a:p>
          <a:p>
            <a:pPr marL="182563" indent="-182563"/>
            <a:r>
              <a:rPr lang="en-US" sz="1100" dirty="0"/>
              <a:t>Achieving yield improvement requires high adoption level of best practices; high average age of farmer population could pose a challenge</a:t>
            </a:r>
          </a:p>
          <a:p>
            <a:pPr marL="182563" indent="-182563"/>
            <a:r>
              <a:rPr lang="en-US" sz="1100" dirty="0"/>
              <a:t>Higher yields contribute to a 5% cost reduction and net income increase of 30-50%</a:t>
            </a:r>
          </a:p>
          <a:p>
            <a:pPr marL="182563" indent="-182563"/>
            <a:r>
              <a:rPr lang="en-US" sz="1100" dirty="0"/>
              <a:t>Overall, production would increase by 1.5M bags and exports by US$ 260M per year</a:t>
            </a:r>
          </a:p>
          <a:p>
            <a:pPr marL="182563" indent="-182563"/>
            <a:r>
              <a:rPr lang="en-US" sz="1100" kern="0" dirty="0"/>
              <a:t>Cost of US$ 200M to train 50% of active farmers (230,000) over 10 years</a:t>
            </a:r>
          </a:p>
          <a:p>
            <a:pPr marL="182563" indent="-182563"/>
            <a:r>
              <a:rPr lang="en-US" sz="1100" kern="0" dirty="0"/>
              <a:t>Training should complement FNC’s individual farm extension visit s with a “farmer field schools” methodology and should actively try to involve the youth</a:t>
            </a:r>
          </a:p>
        </p:txBody>
      </p:sp>
      <p:sp>
        <p:nvSpPr>
          <p:cNvPr id="17" name="Rectangle 4"/>
          <p:cNvSpPr txBox="1"/>
          <p:nvPr/>
        </p:nvSpPr>
        <p:spPr>
          <a:xfrm>
            <a:off x="3345830" y="4902883"/>
            <a:ext cx="5515144" cy="129266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66688" indent="-166688">
              <a:buFont typeface="Arial" pitchFamily="34" charset="0"/>
              <a:buChar char="•"/>
            </a:pPr>
            <a:r>
              <a:rPr lang="en-US" sz="1100" dirty="0"/>
              <a:t>Challenging for farms to meet new, stricter environmental regulations – requires new wastewater treatment systems that are complicated and expensive</a:t>
            </a:r>
          </a:p>
          <a:p>
            <a:pPr marL="166688" indent="-166688">
              <a:buFont typeface="Arial" pitchFamily="34" charset="0"/>
              <a:buChar char="•"/>
            </a:pPr>
            <a:r>
              <a:rPr lang="en-US" sz="1100" dirty="0"/>
              <a:t>Ensure compliance with environmental laws cost-effectively through central wet mills; a single system now benefits many farms</a:t>
            </a:r>
          </a:p>
          <a:p>
            <a:pPr marL="166688" indent="-166688">
              <a:buFont typeface="Arial" pitchFamily="34" charset="0"/>
              <a:buChar char="•"/>
            </a:pPr>
            <a:endParaRPr lang="en-US" sz="700" dirty="0"/>
          </a:p>
          <a:p>
            <a:pPr marL="166688" indent="-166688">
              <a:buFont typeface="Arial" pitchFamily="34" charset="0"/>
              <a:buChar char="•"/>
            </a:pPr>
            <a:r>
              <a:rPr lang="en-US" sz="1100" i="1" dirty="0"/>
              <a:t>The combination of all three business cases would increase net income by more than 50%  and reduce time spent for coffee farmers, enabling them to earn more from coffee than other rural employment options</a:t>
            </a:r>
          </a:p>
        </p:txBody>
      </p:sp>
      <p:cxnSp>
        <p:nvCxnSpPr>
          <p:cNvPr id="8" name="Straight Connector 7"/>
          <p:cNvCxnSpPr/>
          <p:nvPr/>
        </p:nvCxnSpPr>
        <p:spPr bwMode="auto">
          <a:xfrm>
            <a:off x="252639" y="4753147"/>
            <a:ext cx="8497661"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grpSp>
        <p:nvGrpSpPr>
          <p:cNvPr id="20" name="ACET"/>
          <p:cNvGrpSpPr>
            <a:grpSpLocks/>
          </p:cNvGrpSpPr>
          <p:nvPr/>
        </p:nvGrpSpPr>
        <p:grpSpPr bwMode="auto">
          <a:xfrm>
            <a:off x="252639" y="1272585"/>
            <a:ext cx="8497660" cy="203200"/>
            <a:chOff x="915" y="902"/>
            <a:chExt cx="2686" cy="128"/>
          </a:xfrm>
        </p:grpSpPr>
        <p:cxnSp>
          <p:nvCxnSpPr>
            <p:cNvPr id="21" name="AutoShape 70"/>
            <p:cNvCxnSpPr>
              <a:cxnSpLocks noChangeShapeType="1"/>
              <a:stCxn id="22" idx="4"/>
              <a:endCxn id="22" idx="6"/>
            </p:cNvCxnSpPr>
            <p:nvPr/>
          </p:nvCxnSpPr>
          <p:spPr bwMode="auto">
            <a:xfrm>
              <a:off x="915" y="1030"/>
              <a:ext cx="2686"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AutoShape 71"/>
            <p:cNvSpPr>
              <a:spLocks noChangeArrowheads="1"/>
            </p:cNvSpPr>
            <p:nvPr/>
          </p:nvSpPr>
          <p:spPr bwMode="auto">
            <a:xfrm>
              <a:off x="915" y="902"/>
              <a:ext cx="2686" cy="128"/>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200" b="1" dirty="0" smtClean="0">
                  <a:solidFill>
                    <a:schemeClr val="accent1"/>
                  </a:solidFill>
                </a:rPr>
                <a:t>Business cases and key challenges</a:t>
              </a:r>
              <a:endParaRPr lang="en-US" sz="1200" dirty="0">
                <a:solidFill>
                  <a:schemeClr val="accent1"/>
                </a:solidFill>
              </a:endParaRPr>
            </a:p>
          </p:txBody>
        </p:sp>
      </p:grpSp>
      <p:cxnSp>
        <p:nvCxnSpPr>
          <p:cNvPr id="23" name="Straight Connector 22"/>
          <p:cNvCxnSpPr/>
          <p:nvPr/>
        </p:nvCxnSpPr>
        <p:spPr bwMode="auto">
          <a:xfrm>
            <a:off x="252639" y="3142483"/>
            <a:ext cx="8497661"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sp>
        <p:nvSpPr>
          <p:cNvPr id="5" name="TextBox 8"/>
          <p:cNvSpPr txBox="1"/>
          <p:nvPr>
            <p:custDataLst>
              <p:tags r:id="rId7"/>
            </p:custDataLst>
          </p:nvPr>
        </p:nvSpPr>
        <p:spPr>
          <a:xfrm>
            <a:off x="121491" y="2144591"/>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smtClean="0">
                <a:solidFill>
                  <a:schemeClr val="bg1"/>
                </a:solidFill>
              </a:rPr>
              <a:t>1</a:t>
            </a:r>
            <a:endParaRPr lang="en-US" sz="1200" b="1" dirty="0">
              <a:solidFill>
                <a:schemeClr val="bg1"/>
              </a:solidFill>
            </a:endParaRPr>
          </a:p>
        </p:txBody>
      </p:sp>
      <p:sp>
        <p:nvSpPr>
          <p:cNvPr id="33" name="TextBox 8"/>
          <p:cNvSpPr txBox="1"/>
          <p:nvPr>
            <p:custDataLst>
              <p:tags r:id="rId8"/>
            </p:custDataLst>
          </p:nvPr>
        </p:nvSpPr>
        <p:spPr>
          <a:xfrm>
            <a:off x="121491" y="3822217"/>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a:solidFill>
                  <a:schemeClr val="bg1"/>
                </a:solidFill>
              </a:rPr>
              <a:t>2</a:t>
            </a:r>
          </a:p>
        </p:txBody>
      </p:sp>
      <p:sp>
        <p:nvSpPr>
          <p:cNvPr id="35" name="TextBox 8"/>
          <p:cNvSpPr txBox="1"/>
          <p:nvPr>
            <p:custDataLst>
              <p:tags r:id="rId9"/>
            </p:custDataLst>
          </p:nvPr>
        </p:nvSpPr>
        <p:spPr>
          <a:xfrm>
            <a:off x="121491" y="5434067"/>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a:solidFill>
                  <a:schemeClr val="bg1"/>
                </a:solidFill>
              </a:rPr>
              <a:t>3</a:t>
            </a:r>
          </a:p>
        </p:txBody>
      </p:sp>
      <p:pic>
        <p:nvPicPr>
          <p:cNvPr id="24" name="Picture 6" descr="http://bcassets.starbucks.com/1612549662/201403/3860/1612549662_3391264781001_cafe-video-732x412-HP.jpg?pubId=1612549662"/>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35188" r="7875"/>
          <a:stretch/>
        </p:blipFill>
        <p:spPr bwMode="auto">
          <a:xfrm>
            <a:off x="1820357" y="1594379"/>
            <a:ext cx="1479993" cy="146304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0" name="Picture 10" descr="CapacitacionTNS_Page_19"/>
          <p:cNvPicPr>
            <a:picLocks noChangeArrowheads="1"/>
          </p:cNvPicPr>
          <p:nvPr/>
        </p:nvPicPr>
        <p:blipFill rotWithShape="1">
          <a:blip r:embed="rId14">
            <a:extLst>
              <a:ext uri="{28A0092B-C50C-407E-A947-70E740481C1C}">
                <a14:useLocalDpi xmlns:a14="http://schemas.microsoft.com/office/drawing/2010/main" val="0"/>
              </a:ext>
            </a:extLst>
          </a:blip>
          <a:srcRect l="-83" t="5780" r="3586" b="4212"/>
          <a:stretch/>
        </p:blipFill>
        <p:spPr bwMode="auto">
          <a:xfrm>
            <a:off x="1820357" y="3226988"/>
            <a:ext cx="1481328" cy="146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Imagen 3" descr="IMG_0702.JPG"/>
          <p:cNvPicPr>
            <a:picLocks/>
          </p:cNvPicPr>
          <p:nvPr/>
        </p:nvPicPr>
        <p:blipFill rotWithShape="1">
          <a:blip r:embed="rId15" cstate="email">
            <a:extLst/>
          </a:blip>
          <a:srcRect r="25051"/>
          <a:stretch/>
        </p:blipFill>
        <p:spPr>
          <a:xfrm>
            <a:off x="1820357" y="4880352"/>
            <a:ext cx="1468088" cy="1463040"/>
          </a:xfrm>
          <a:prstGeom prst="rect">
            <a:avLst/>
          </a:prstGeom>
          <a:noFill/>
          <a:ln>
            <a:noFill/>
          </a:ln>
        </p:spPr>
      </p:pic>
      <p:sp>
        <p:nvSpPr>
          <p:cNvPr id="6" name="Title 5"/>
          <p:cNvSpPr>
            <a:spLocks noGrp="1"/>
          </p:cNvSpPr>
          <p:nvPr>
            <p:ph type="title"/>
          </p:nvPr>
        </p:nvSpPr>
        <p:spPr/>
        <p:txBody>
          <a:bodyPr/>
          <a:lstStyle/>
          <a:p>
            <a:r>
              <a:rPr lang="en-US" sz="1600" b="0" dirty="0"/>
              <a:t>BUSINESS CASE DISCUSSION</a:t>
            </a:r>
            <a:br>
              <a:rPr lang="en-US" sz="1600" b="0" dirty="0"/>
            </a:br>
            <a:r>
              <a:rPr lang="en-US" sz="2100" b="0" dirty="0"/>
              <a:t>Business case 1: Improving yields</a:t>
            </a:r>
          </a:p>
        </p:txBody>
      </p:sp>
      <p:sp>
        <p:nvSpPr>
          <p:cNvPr id="25" name="Rectangle 4"/>
          <p:cNvSpPr txBox="1"/>
          <p:nvPr/>
        </p:nvSpPr>
        <p:spPr>
          <a:xfrm>
            <a:off x="3345831" y="3217918"/>
            <a:ext cx="5515143" cy="15234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74625" indent="-174625">
              <a:spcBef>
                <a:spcPts val="0"/>
              </a:spcBef>
              <a:spcAft>
                <a:spcPts val="0"/>
              </a:spcAft>
              <a:buFont typeface="Arial" panose="020B0604020202020204" pitchFamily="34" charset="0"/>
              <a:buChar char="•"/>
            </a:pPr>
            <a:r>
              <a:rPr lang="en-US" sz="1100" dirty="0" smtClean="0"/>
              <a:t>Colombia’s coffee farming is already quite sophisticated and shows limited potential for reducing production costs</a:t>
            </a:r>
          </a:p>
          <a:p>
            <a:pPr marL="174625" indent="-174625">
              <a:spcBef>
                <a:spcPts val="0"/>
              </a:spcBef>
              <a:spcAft>
                <a:spcPts val="0"/>
              </a:spcAft>
              <a:buFont typeface="Arial" panose="020B0604020202020204" pitchFamily="34" charset="0"/>
              <a:buChar char="•"/>
            </a:pPr>
            <a:r>
              <a:rPr lang="en-US" sz="1100" dirty="0" smtClean="0"/>
              <a:t>By reducing </a:t>
            </a:r>
            <a:r>
              <a:rPr lang="en-US" sz="1100" dirty="0"/>
              <a:t>farmers’ labor </a:t>
            </a:r>
            <a:r>
              <a:rPr lang="en-US" sz="1100" dirty="0" smtClean="0"/>
              <a:t>requirements for harvesting and in particular home wet-milling, production costs could be reduced by up to 10% </a:t>
            </a:r>
            <a:endParaRPr lang="en-US" sz="1100" dirty="0"/>
          </a:p>
          <a:p>
            <a:pPr marL="174625" indent="-174625">
              <a:spcBef>
                <a:spcPts val="0"/>
              </a:spcBef>
              <a:spcAft>
                <a:spcPts val="0"/>
              </a:spcAft>
              <a:buFont typeface="Arial" panose="020B0604020202020204" pitchFamily="34" charset="0"/>
              <a:buChar char="•"/>
            </a:pPr>
            <a:r>
              <a:rPr lang="en-US" sz="1100" dirty="0" smtClean="0"/>
              <a:t>For harvesting, there are conceptually opportunities </a:t>
            </a:r>
            <a:r>
              <a:rPr lang="en-US" sz="1100" dirty="0"/>
              <a:t>for </a:t>
            </a:r>
            <a:r>
              <a:rPr lang="en-US" sz="1100" dirty="0" smtClean="0"/>
              <a:t>improving productivity; however, implementation will be difficult and results may not justify costs</a:t>
            </a:r>
          </a:p>
          <a:p>
            <a:pPr marL="174625" indent="-174625">
              <a:spcBef>
                <a:spcPts val="0"/>
              </a:spcBef>
              <a:spcAft>
                <a:spcPts val="0"/>
              </a:spcAft>
              <a:buFont typeface="Arial" panose="020B0604020202020204" pitchFamily="34" charset="0"/>
              <a:buChar char="•"/>
            </a:pPr>
            <a:r>
              <a:rPr lang="en-US" sz="1100" dirty="0" smtClean="0"/>
              <a:t>For wet-milling, the introduction of central milling could reduce labor requirements by 50-70% and produce other financial and nonfinancial benefits</a:t>
            </a:r>
          </a:p>
          <a:p>
            <a:pPr marL="174625" indent="-174625">
              <a:spcBef>
                <a:spcPts val="0"/>
              </a:spcBef>
              <a:spcAft>
                <a:spcPts val="0"/>
              </a:spcAft>
              <a:buFont typeface="Arial" panose="020B0604020202020204" pitchFamily="34" charset="0"/>
              <a:buChar char="•"/>
            </a:pPr>
            <a:r>
              <a:rPr lang="en-US" sz="1100" dirty="0" smtClean="0"/>
              <a:t>Farmers facing the highest opportunity costs to time and labor should be prioritized</a:t>
            </a:r>
          </a:p>
        </p:txBody>
      </p:sp>
    </p:spTree>
    <p:extLst>
      <p:ext uri="{BB962C8B-B14F-4D97-AF65-F5344CB8AC3E}">
        <p14:creationId xmlns:p14="http://schemas.microsoft.com/office/powerpoint/2010/main" val="94037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Object 99" hidden="1"/>
          <p:cNvGraphicFramePr>
            <a:graphicFrameLocks/>
          </p:cNvGraphicFramePr>
          <p:nvPr>
            <p:custDataLst>
              <p:tags r:id="rId2"/>
            </p:custDataLst>
            <p:extLst>
              <p:ext uri="{D42A27DB-BD31-4B8C-83A1-F6EECF244321}">
                <p14:modId xmlns:p14="http://schemas.microsoft.com/office/powerpoint/2010/main" val="1985797401"/>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90897" name="think-cell Slide" r:id="rId22" imgW="360" imgH="360" progId="TCLayout.ActiveDocument.1">
                  <p:embed/>
                </p:oleObj>
              </mc:Choice>
              <mc:Fallback>
                <p:oleObj name="think-cell Slide" r:id="rId22" imgW="360" imgH="360" progId="TCLayout.ActiveDocument.1">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 name="Rectangle 9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122" name="McK Footnote"/>
          <p:cNvSpPr txBox="1">
            <a:spLocks noChangeArrowheads="1"/>
          </p:cNvSpPr>
          <p:nvPr/>
        </p:nvSpPr>
        <p:spPr bwMode="auto">
          <a:xfrm>
            <a:off x="635559" y="6245242"/>
            <a:ext cx="8485187" cy="2769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 Drop of yield in recent years due to leaf rust</a:t>
            </a:r>
          </a:p>
          <a:p>
            <a:pPr marL="563563" indent="-563563" defTabSz="895350">
              <a:tabLst>
                <a:tab pos="517525" algn="r"/>
              </a:tabLst>
            </a:pPr>
            <a:r>
              <a:rPr lang="en-US" sz="900" dirty="0" smtClean="0">
                <a:solidFill>
                  <a:schemeClr val="tx1">
                    <a:lumMod val="65000"/>
                    <a:lumOff val="35000"/>
                  </a:schemeClr>
                </a:solidFill>
              </a:rPr>
              <a:t>Source: ICO (production volume), </a:t>
            </a:r>
            <a:r>
              <a:rPr lang="en-US" sz="900" dirty="0">
                <a:solidFill>
                  <a:schemeClr val="tx1">
                    <a:lumMod val="65000"/>
                    <a:lumOff val="35000"/>
                  </a:schemeClr>
                </a:solidFill>
              </a:rPr>
              <a:t> </a:t>
            </a:r>
            <a:r>
              <a:rPr lang="en-US" sz="900" dirty="0" smtClean="0">
                <a:solidFill>
                  <a:schemeClr val="tx1">
                    <a:lumMod val="65000"/>
                    <a:lumOff val="35000"/>
                  </a:schemeClr>
                </a:solidFill>
              </a:rPr>
              <a:t>national coffee associations and stakeholder interviews for coffee area information</a:t>
            </a:r>
          </a:p>
        </p:txBody>
      </p:sp>
      <p:sp>
        <p:nvSpPr>
          <p:cNvPr id="9" name="Title 8"/>
          <p:cNvSpPr>
            <a:spLocks noGrp="1"/>
          </p:cNvSpPr>
          <p:nvPr>
            <p:ph type="title"/>
          </p:nvPr>
        </p:nvSpPr>
        <p:spPr>
          <a:xfrm>
            <a:off x="400869" y="312738"/>
            <a:ext cx="8229600" cy="492480"/>
          </a:xfrm>
        </p:spPr>
        <p:txBody>
          <a:bodyPr/>
          <a:lstStyle/>
          <a:p>
            <a:pPr indent="268288"/>
            <a:r>
              <a:rPr lang="en-US" b="0" dirty="0" smtClean="0"/>
              <a:t>Colombia’s farm yields could be increased by 20 to 30%</a:t>
            </a:r>
            <a:endParaRPr lang="en-US" b="0" dirty="0"/>
          </a:p>
        </p:txBody>
      </p:sp>
      <p:graphicFrame>
        <p:nvGraphicFramePr>
          <p:cNvPr id="30" name="Object 29"/>
          <p:cNvGraphicFramePr>
            <a:graphicFrameLocks/>
          </p:cNvGraphicFramePr>
          <p:nvPr>
            <p:custDataLst>
              <p:tags r:id="rId4"/>
            </p:custDataLst>
            <p:extLst>
              <p:ext uri="{D42A27DB-BD31-4B8C-83A1-F6EECF244321}">
                <p14:modId xmlns:p14="http://schemas.microsoft.com/office/powerpoint/2010/main" val="3955438273"/>
              </p:ext>
            </p:extLst>
          </p:nvPr>
        </p:nvGraphicFramePr>
        <p:xfrm>
          <a:off x="419100" y="1752600"/>
          <a:ext cx="7458143" cy="3667035"/>
        </p:xfrm>
        <a:graphic>
          <a:graphicData uri="http://schemas.openxmlformats.org/presentationml/2006/ole">
            <mc:AlternateContent xmlns:mc="http://schemas.openxmlformats.org/markup-compatibility/2006">
              <mc:Choice xmlns:v="urn:schemas-microsoft-com:vml" Requires="v">
                <p:oleObj spid="_x0000_s190898" name="Chart" r:id="rId24" imgW="7458143" imgH="3667035" progId="MSGraph.Chart.8">
                  <p:embed followColorScheme="full"/>
                </p:oleObj>
              </mc:Choice>
              <mc:Fallback>
                <p:oleObj name="Chart" r:id="rId24" imgW="7458143" imgH="3667035" progId="MSGraph.Chart.8">
                  <p:embed followColorScheme="full"/>
                  <p:pic>
                    <p:nvPicPr>
                      <p:cNvPr id="0" name=""/>
                      <p:cNvPicPr/>
                      <p:nvPr/>
                    </p:nvPicPr>
                    <p:blipFill>
                      <a:blip r:embed="rId25"/>
                      <a:stretch>
                        <a:fillRect/>
                      </a:stretch>
                    </p:blipFill>
                    <p:spPr>
                      <a:xfrm>
                        <a:off x="419100" y="1752600"/>
                        <a:ext cx="7458143" cy="3667035"/>
                      </a:xfrm>
                      <a:prstGeom prst="rect">
                        <a:avLst/>
                      </a:prstGeom>
                    </p:spPr>
                  </p:pic>
                </p:oleObj>
              </mc:Fallback>
            </mc:AlternateContent>
          </a:graphicData>
        </a:graphic>
      </p:graphicFrame>
      <p:sp>
        <p:nvSpPr>
          <p:cNvPr id="67" name="Text Placeholder 365"/>
          <p:cNvSpPr>
            <a:spLocks noGrp="1"/>
          </p:cNvSpPr>
          <p:nvPr>
            <p:custDataLst>
              <p:tags r:id="rId5"/>
            </p:custDataLst>
          </p:nvPr>
        </p:nvSpPr>
        <p:spPr bwMode="gray">
          <a:xfrm>
            <a:off x="4754563" y="2095500"/>
            <a:ext cx="8636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b="1" dirty="0" smtClean="0">
                <a:solidFill>
                  <a:schemeClr val="accent1"/>
                </a:solidFill>
                <a:sym typeface="+mn-lt"/>
              </a:rPr>
              <a:t>+20 - 30%</a:t>
            </a:r>
            <a:endParaRPr lang="en-US" sz="1400" b="1" dirty="0">
              <a:solidFill>
                <a:schemeClr val="accent1"/>
              </a:solidFill>
              <a:sym typeface="+mn-lt"/>
            </a:endParaRPr>
          </a:p>
        </p:txBody>
      </p:sp>
      <p:sp>
        <p:nvSpPr>
          <p:cNvPr id="38" name="Rectangle 37"/>
          <p:cNvSpPr/>
          <p:nvPr>
            <p:custDataLst>
              <p:tags r:id="rId6"/>
            </p:custDataLst>
          </p:nvPr>
        </p:nvSpPr>
        <p:spPr bwMode="auto">
          <a:xfrm>
            <a:off x="4776788" y="5476875"/>
            <a:ext cx="820738"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43D2E160-0FD2-4EC4-BEBE-FF36CB570C56}" type="datetime'''''''''''''''''C''''''ol''o''''''m''''bi''''a'''''''''''''">
              <a:rPr lang="en-US" sz="1400" b="1">
                <a:solidFill>
                  <a:schemeClr val="accent1"/>
                </a:solidFill>
              </a:rPr>
              <a:pPr/>
              <a:t>Colombia</a:t>
            </a:fld>
            <a:endParaRPr lang="en-US" sz="1400" b="1" strike="noStrike" cap="none" normalizeH="0" dirty="0" smtClean="0">
              <a:ln>
                <a:noFill/>
              </a:ln>
              <a:solidFill>
                <a:schemeClr val="accent1"/>
              </a:solidFill>
              <a:effectLst/>
              <a:latin typeface="Arial"/>
              <a:sym typeface="Arial"/>
            </a:endParaRPr>
          </a:p>
        </p:txBody>
      </p:sp>
      <p:sp>
        <p:nvSpPr>
          <p:cNvPr id="39" name="Text Placeholder 5"/>
          <p:cNvSpPr>
            <a:spLocks noGrp="1"/>
          </p:cNvSpPr>
          <p:nvPr>
            <p:custDataLst>
              <p:tags r:id="rId7"/>
            </p:custDataLst>
          </p:nvPr>
        </p:nvSpPr>
        <p:spPr bwMode="gray">
          <a:xfrm>
            <a:off x="4005263" y="4132263"/>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B471375-2C10-4643-AB69-7FB57EC5B0FB}" type="datetime'0''''''.''''''''''''''''''''''''''''''''8'''''''''''''">
              <a:rPr lang="en-US" sz="1400">
                <a:solidFill>
                  <a:schemeClr val="accent1"/>
                </a:solidFill>
              </a:rPr>
              <a:pPr/>
              <a:t>0.8</a:t>
            </a:fld>
            <a:endParaRPr lang="en-US" sz="1400" dirty="0">
              <a:solidFill>
                <a:schemeClr val="accent1"/>
              </a:solidFill>
              <a:latin typeface="Arial"/>
              <a:sym typeface="Arial"/>
            </a:endParaRPr>
          </a:p>
        </p:txBody>
      </p:sp>
      <p:sp>
        <p:nvSpPr>
          <p:cNvPr id="33" name="Text Placeholder 74"/>
          <p:cNvSpPr>
            <a:spLocks noGrp="1"/>
          </p:cNvSpPr>
          <p:nvPr>
            <p:custDataLst>
              <p:tags r:id="rId8"/>
            </p:custDataLst>
          </p:nvPr>
        </p:nvSpPr>
        <p:spPr bwMode="gray">
          <a:xfrm>
            <a:off x="6072188" y="3665538"/>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793B866-EFCD-4767-BB9A-68E6D9406FE8}" type="datetime'''''''''''''''''1''''''''''.''''''''''''''''''''''''''''''''2'">
              <a:rPr lang="en-US" sz="1400">
                <a:solidFill>
                  <a:schemeClr val="accent1"/>
                </a:solidFill>
                <a:sym typeface="+mn-lt"/>
              </a:rPr>
              <a:pPr marL="0" indent="0" algn="ctr">
                <a:spcBef>
                  <a:spcPct val="0"/>
                </a:spcBef>
                <a:spcAft>
                  <a:spcPct val="0"/>
                </a:spcAft>
                <a:buNone/>
              </a:pPr>
              <a:t>1.2</a:t>
            </a:fld>
            <a:endParaRPr lang="en-US" sz="1400" dirty="0">
              <a:solidFill>
                <a:schemeClr val="accent1"/>
              </a:solidFill>
              <a:sym typeface="+mn-lt"/>
            </a:endParaRPr>
          </a:p>
        </p:txBody>
      </p:sp>
      <p:sp>
        <p:nvSpPr>
          <p:cNvPr id="37" name="Rectangle 36"/>
          <p:cNvSpPr/>
          <p:nvPr>
            <p:custDataLst>
              <p:tags r:id="rId9"/>
            </p:custDataLst>
          </p:nvPr>
        </p:nvSpPr>
        <p:spPr bwMode="auto">
          <a:xfrm>
            <a:off x="5780088" y="5476875"/>
            <a:ext cx="881063"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CC6882BD-0D11-497D-9E15-A9F95838DE63}" type="datetime'''''Co''s''''''''''''ta R''''''''''''i''ca'''''''''''''''''">
              <a:rPr lang="en-US" sz="1400">
                <a:solidFill>
                  <a:schemeClr val="accent1"/>
                </a:solidFill>
              </a:rPr>
              <a:pPr/>
              <a:t>Costa Rica</a:t>
            </a:fld>
            <a:endParaRPr lang="en-US" sz="1400" strike="noStrike" cap="none" normalizeH="0" dirty="0" smtClean="0">
              <a:ln>
                <a:noFill/>
              </a:ln>
              <a:solidFill>
                <a:schemeClr val="accent1"/>
              </a:solidFill>
              <a:effectLst/>
              <a:latin typeface="Arial"/>
              <a:sym typeface="Arial"/>
            </a:endParaRPr>
          </a:p>
        </p:txBody>
      </p:sp>
      <p:sp>
        <p:nvSpPr>
          <p:cNvPr id="36" name="Rectangle 35"/>
          <p:cNvSpPr/>
          <p:nvPr>
            <p:custDataLst>
              <p:tags r:id="rId10"/>
            </p:custDataLst>
          </p:nvPr>
        </p:nvSpPr>
        <p:spPr bwMode="auto">
          <a:xfrm>
            <a:off x="7024688" y="5476875"/>
            <a:ext cx="457200"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DC29B60A-50F8-4969-A31A-3CFFA734780E}" type="datetime'B''''''''r''''''''a''z''i''l'''''''''''">
              <a:rPr lang="en-US" sz="1400">
                <a:solidFill>
                  <a:schemeClr val="accent1"/>
                </a:solidFill>
              </a:rPr>
              <a:pPr/>
              <a:t>Brazil</a:t>
            </a:fld>
            <a:endParaRPr lang="en-US" sz="1400" strike="noStrike" cap="none" normalizeH="0" dirty="0" smtClean="0">
              <a:ln>
                <a:noFill/>
              </a:ln>
              <a:solidFill>
                <a:schemeClr val="accent1"/>
              </a:solidFill>
              <a:effectLst/>
              <a:latin typeface="Arial"/>
              <a:sym typeface="Arial"/>
            </a:endParaRPr>
          </a:p>
        </p:txBody>
      </p:sp>
      <p:sp>
        <p:nvSpPr>
          <p:cNvPr id="35" name="Text Placeholder 75"/>
          <p:cNvSpPr>
            <a:spLocks noGrp="1"/>
          </p:cNvSpPr>
          <p:nvPr>
            <p:custDataLst>
              <p:tags r:id="rId11"/>
            </p:custDataLst>
          </p:nvPr>
        </p:nvSpPr>
        <p:spPr bwMode="gray">
          <a:xfrm>
            <a:off x="7105650" y="3475038"/>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EDD89B3-1FC2-49CD-982F-43D8EC776C99}" type="datetime'''''''''''''''''''1''''''.''''''''''4'">
              <a:rPr lang="en-US" sz="1400">
                <a:solidFill>
                  <a:schemeClr val="accent1"/>
                </a:solidFill>
                <a:sym typeface="+mn-lt"/>
              </a:rPr>
              <a:pPr marL="0" indent="0" algn="ctr">
                <a:spcBef>
                  <a:spcPct val="0"/>
                </a:spcBef>
                <a:spcAft>
                  <a:spcPct val="0"/>
                </a:spcAft>
                <a:buNone/>
              </a:pPr>
              <a:t>1.4</a:t>
            </a:fld>
            <a:endParaRPr lang="en-US" sz="1400" dirty="0">
              <a:solidFill>
                <a:schemeClr val="accent1"/>
              </a:solidFill>
              <a:sym typeface="+mn-lt"/>
            </a:endParaRPr>
          </a:p>
        </p:txBody>
      </p:sp>
      <p:sp>
        <p:nvSpPr>
          <p:cNvPr id="29" name="Text Placeholder 72"/>
          <p:cNvSpPr>
            <a:spLocks noGrp="1"/>
          </p:cNvSpPr>
          <p:nvPr>
            <p:custDataLst>
              <p:tags r:id="rId12"/>
            </p:custDataLst>
          </p:nvPr>
        </p:nvSpPr>
        <p:spPr bwMode="gray">
          <a:xfrm>
            <a:off x="5038725" y="4013200"/>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BE52FB0-B168-4784-AC78-BAF270EDC72C}" type="datetime'''''''''''''''''''0''''''''''.''''''''''9'''''''''''''''''''">
              <a:rPr lang="en-US" sz="1400" b="1">
                <a:solidFill>
                  <a:schemeClr val="bg1"/>
                </a:solidFill>
              </a:rPr>
              <a:pPr/>
              <a:t>0.9</a:t>
            </a:fld>
            <a:endParaRPr lang="en-US" sz="1400" b="1" dirty="0">
              <a:solidFill>
                <a:schemeClr val="bg1"/>
              </a:solidFill>
              <a:latin typeface="Arial"/>
              <a:sym typeface="Arial"/>
            </a:endParaRPr>
          </a:p>
        </p:txBody>
      </p:sp>
      <p:sp>
        <p:nvSpPr>
          <p:cNvPr id="34" name="Rectangle 33"/>
          <p:cNvSpPr/>
          <p:nvPr>
            <p:custDataLst>
              <p:tags r:id="rId13"/>
            </p:custDataLst>
          </p:nvPr>
        </p:nvSpPr>
        <p:spPr bwMode="auto">
          <a:xfrm>
            <a:off x="2890838" y="5476875"/>
            <a:ext cx="457200"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1435D7DB-9BEF-4172-BE55-4537148A6071}" type="datetime'''''P''''''''''''''''''''''''''e''''''''''''r''''u'''''''">
              <a:rPr lang="en-US" sz="1400" smtClean="0">
                <a:solidFill>
                  <a:schemeClr val="accent1"/>
                </a:solidFill>
              </a:rPr>
              <a:pPr/>
              <a:t>Peru</a:t>
            </a:fld>
            <a:r>
              <a:rPr lang="en-US" sz="1400" dirty="0" smtClean="0">
                <a:solidFill>
                  <a:schemeClr val="accent1"/>
                </a:solidFill>
              </a:rPr>
              <a:t>*</a:t>
            </a:r>
            <a:endParaRPr lang="en-US" sz="1400" strike="noStrike" cap="none" normalizeH="0" dirty="0" smtClean="0">
              <a:ln>
                <a:noFill/>
              </a:ln>
              <a:solidFill>
                <a:schemeClr val="accent1"/>
              </a:solidFill>
              <a:effectLst/>
              <a:latin typeface="Arial"/>
              <a:sym typeface="Arial"/>
            </a:endParaRPr>
          </a:p>
        </p:txBody>
      </p:sp>
      <p:sp>
        <p:nvSpPr>
          <p:cNvPr id="28" name="Text Placeholder 71"/>
          <p:cNvSpPr>
            <a:spLocks noGrp="1"/>
          </p:cNvSpPr>
          <p:nvPr>
            <p:custDataLst>
              <p:tags r:id="rId14"/>
            </p:custDataLst>
          </p:nvPr>
        </p:nvSpPr>
        <p:spPr bwMode="gray">
          <a:xfrm>
            <a:off x="2971800" y="4437063"/>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027FF5DA-74D5-4B75-A204-BD2B9C3A2135}" type="datetime'''''''0''''''''.''6'''''''''''''''''''''''''''''''">
              <a:rPr lang="en-US" sz="1400">
                <a:solidFill>
                  <a:schemeClr val="accent1"/>
                </a:solidFill>
              </a:rPr>
              <a:pPr/>
              <a:t>0.6</a:t>
            </a:fld>
            <a:endParaRPr lang="en-US" sz="1400" dirty="0">
              <a:solidFill>
                <a:schemeClr val="accent1"/>
              </a:solidFill>
              <a:sym typeface="+mn-lt"/>
            </a:endParaRPr>
          </a:p>
        </p:txBody>
      </p:sp>
      <p:sp>
        <p:nvSpPr>
          <p:cNvPr id="40" name="Rectangle 39"/>
          <p:cNvSpPr/>
          <p:nvPr>
            <p:custDataLst>
              <p:tags r:id="rId15"/>
            </p:custDataLst>
          </p:nvPr>
        </p:nvSpPr>
        <p:spPr bwMode="auto">
          <a:xfrm>
            <a:off x="1646238" y="5476875"/>
            <a:ext cx="879475"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384EF651-3C04-4EAF-9C87-4AAC95488AE6}" type="datetime'Gu''a''t''''''''''''''ema''''''''''l''''a'''''''''">
              <a:rPr lang="en-US" sz="1400">
                <a:solidFill>
                  <a:schemeClr val="accent1"/>
                </a:solidFill>
              </a:rPr>
              <a:pPr/>
              <a:t>Guatemala</a:t>
            </a:fld>
            <a:endParaRPr lang="en-US" sz="1400" strike="noStrike" cap="none" normalizeH="0" dirty="0" smtClean="0">
              <a:ln>
                <a:noFill/>
              </a:ln>
              <a:solidFill>
                <a:schemeClr val="accent1"/>
              </a:solidFill>
              <a:effectLst/>
              <a:latin typeface="Arial"/>
              <a:sym typeface="Arial"/>
            </a:endParaRPr>
          </a:p>
        </p:txBody>
      </p:sp>
      <p:sp>
        <p:nvSpPr>
          <p:cNvPr id="27" name="Text Placeholder 70"/>
          <p:cNvSpPr>
            <a:spLocks noGrp="1"/>
          </p:cNvSpPr>
          <p:nvPr>
            <p:custDataLst>
              <p:tags r:id="rId16"/>
            </p:custDataLst>
          </p:nvPr>
        </p:nvSpPr>
        <p:spPr bwMode="gray">
          <a:xfrm>
            <a:off x="1938338" y="4413250"/>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D5657BF-C3DC-4D17-A11E-21DC584266D7}" type="datetime'''''''''''''''''''''''''0''''''''''''''.''''''6'''''''''">
              <a:rPr lang="en-US" sz="1400">
                <a:solidFill>
                  <a:schemeClr val="accent1"/>
                </a:solidFill>
                <a:sym typeface="+mn-lt"/>
              </a:rPr>
              <a:pPr marL="0" indent="0" algn="ctr">
                <a:spcBef>
                  <a:spcPct val="0"/>
                </a:spcBef>
                <a:spcAft>
                  <a:spcPct val="0"/>
                </a:spcAft>
                <a:buNone/>
              </a:pPr>
              <a:t>0.6</a:t>
            </a:fld>
            <a:endParaRPr lang="en-US" sz="1400" dirty="0">
              <a:solidFill>
                <a:schemeClr val="accent1"/>
              </a:solidFill>
              <a:sym typeface="+mn-lt"/>
            </a:endParaRPr>
          </a:p>
        </p:txBody>
      </p:sp>
      <p:sp>
        <p:nvSpPr>
          <p:cNvPr id="44" name="Rectangle 43"/>
          <p:cNvSpPr/>
          <p:nvPr>
            <p:custDataLst>
              <p:tags r:id="rId17"/>
            </p:custDataLst>
          </p:nvPr>
        </p:nvSpPr>
        <p:spPr bwMode="auto">
          <a:xfrm>
            <a:off x="725488" y="5476875"/>
            <a:ext cx="654050"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68D820F1-14DF-4BC5-A013-ACA404861C48}" type="datetime'''''''''E''''''''t''''''h''''''''i''o''p''''''''''i''''''a'">
              <a:rPr lang="en-US" sz="1400">
                <a:solidFill>
                  <a:schemeClr val="accent1"/>
                </a:solidFill>
              </a:rPr>
              <a:pPr/>
              <a:t>Ethiopia</a:t>
            </a:fld>
            <a:endParaRPr lang="en-US" sz="1400" strike="noStrike" cap="none" normalizeH="0" dirty="0" smtClean="0">
              <a:ln>
                <a:noFill/>
              </a:ln>
              <a:solidFill>
                <a:schemeClr val="accent1"/>
              </a:solidFill>
              <a:effectLst/>
              <a:sym typeface="+mn-lt"/>
            </a:endParaRPr>
          </a:p>
        </p:txBody>
      </p:sp>
      <p:sp>
        <p:nvSpPr>
          <p:cNvPr id="26" name="Text Placeholder 69"/>
          <p:cNvSpPr>
            <a:spLocks noGrp="1"/>
          </p:cNvSpPr>
          <p:nvPr>
            <p:custDataLst>
              <p:tags r:id="rId18"/>
            </p:custDataLst>
          </p:nvPr>
        </p:nvSpPr>
        <p:spPr bwMode="gray">
          <a:xfrm>
            <a:off x="904875" y="4860925"/>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0FD081F-0A16-45C4-9DF0-2B0574235A38}" type="datetime'''''''''''''''0''''''''''''''''.''''''''''''''''''3'">
              <a:rPr lang="en-US" sz="1400">
                <a:solidFill>
                  <a:schemeClr val="accent1"/>
                </a:solidFill>
                <a:sym typeface="+mn-lt"/>
              </a:rPr>
              <a:pPr marL="0" indent="0" algn="ctr">
                <a:spcBef>
                  <a:spcPct val="0"/>
                </a:spcBef>
                <a:spcAft>
                  <a:spcPct val="0"/>
                </a:spcAft>
                <a:buNone/>
              </a:pPr>
              <a:t>0.3</a:t>
            </a:fld>
            <a:endParaRPr lang="en-US" sz="1400" dirty="0">
              <a:solidFill>
                <a:schemeClr val="accent1"/>
              </a:solidFill>
              <a:sym typeface="+mn-lt"/>
            </a:endParaRPr>
          </a:p>
        </p:txBody>
      </p:sp>
      <p:sp>
        <p:nvSpPr>
          <p:cNvPr id="31" name="Text Placeholder 4"/>
          <p:cNvSpPr>
            <a:spLocks noGrp="1"/>
          </p:cNvSpPr>
          <p:nvPr>
            <p:custDataLst>
              <p:tags r:id="rId19"/>
            </p:custDataLst>
          </p:nvPr>
        </p:nvSpPr>
        <p:spPr bwMode="auto">
          <a:xfrm>
            <a:off x="3727450" y="5476875"/>
            <a:ext cx="850900"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E876E12-A44F-4E46-AA2C-C270C9AFC334}" type="datetime'''''Hon''d''''''''u''''''r''''''''''''''''''''a''''''s'">
              <a:rPr lang="en-US" sz="1400" smtClean="0">
                <a:solidFill>
                  <a:schemeClr val="accent1"/>
                </a:solidFill>
              </a:rPr>
              <a:pPr/>
              <a:t>Honduras</a:t>
            </a:fld>
            <a:r>
              <a:rPr lang="en-US" sz="1400" dirty="0" smtClean="0">
                <a:solidFill>
                  <a:schemeClr val="accent1"/>
                </a:solidFill>
              </a:rPr>
              <a:t>*</a:t>
            </a:r>
            <a:endParaRPr lang="en-US" sz="1400" dirty="0">
              <a:solidFill>
                <a:schemeClr val="accent1"/>
              </a:solidFill>
              <a:latin typeface="Arial"/>
              <a:sym typeface="Arial"/>
            </a:endParaRPr>
          </a:p>
        </p:txBody>
      </p:sp>
      <p:grpSp>
        <p:nvGrpSpPr>
          <p:cNvPr id="46" name="ACET"/>
          <p:cNvGrpSpPr>
            <a:grpSpLocks/>
          </p:cNvGrpSpPr>
          <p:nvPr/>
        </p:nvGrpSpPr>
        <p:grpSpPr bwMode="auto">
          <a:xfrm>
            <a:off x="527050" y="1183703"/>
            <a:ext cx="7245350" cy="449263"/>
            <a:chOff x="290" y="675"/>
            <a:chExt cx="3311" cy="283"/>
          </a:xfrm>
        </p:grpSpPr>
        <p:cxnSp>
          <p:nvCxnSpPr>
            <p:cNvPr id="47" name="AutoShape 70"/>
            <p:cNvCxnSpPr>
              <a:cxnSpLocks noChangeShapeType="1"/>
              <a:stCxn id="48" idx="4"/>
              <a:endCxn id="48" idx="6"/>
            </p:cNvCxnSpPr>
            <p:nvPr/>
          </p:nvCxnSpPr>
          <p:spPr bwMode="auto">
            <a:xfrm>
              <a:off x="290" y="958"/>
              <a:ext cx="3311"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AutoShape 71"/>
            <p:cNvSpPr>
              <a:spLocks noChangeArrowheads="1"/>
            </p:cNvSpPr>
            <p:nvPr/>
          </p:nvSpPr>
          <p:spPr bwMode="auto">
            <a:xfrm>
              <a:off x="290" y="675"/>
              <a:ext cx="3311" cy="283"/>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18288" anchor="b">
              <a:spAutoFit/>
            </a:bodyPr>
            <a:lstStyle/>
            <a:p>
              <a:r>
                <a:rPr lang="en-US" sz="1400" b="1" dirty="0">
                  <a:solidFill>
                    <a:schemeClr val="accent1"/>
                  </a:solidFill>
                </a:rPr>
                <a:t>Average coffee farm </a:t>
              </a:r>
              <a:r>
                <a:rPr lang="en-US" sz="1400" b="1" dirty="0" smtClean="0">
                  <a:solidFill>
                    <a:schemeClr val="accent1"/>
                  </a:solidFill>
                </a:rPr>
                <a:t>yields (Arabica)</a:t>
              </a:r>
              <a:endParaRPr lang="en-US" sz="1400" b="1" dirty="0">
                <a:solidFill>
                  <a:schemeClr val="accent1"/>
                </a:solidFill>
              </a:endParaRPr>
            </a:p>
            <a:p>
              <a:r>
                <a:rPr lang="en-US" sz="1400" dirty="0">
                  <a:solidFill>
                    <a:schemeClr val="accent1"/>
                  </a:solidFill>
                </a:rPr>
                <a:t>Metric tons green coffee per </a:t>
              </a:r>
              <a:r>
                <a:rPr lang="en-US" sz="1400" dirty="0" smtClean="0">
                  <a:solidFill>
                    <a:schemeClr val="accent1"/>
                  </a:solidFill>
                </a:rPr>
                <a:t>ha</a:t>
              </a:r>
              <a:endParaRPr lang="en-US" sz="1400" dirty="0">
                <a:solidFill>
                  <a:schemeClr val="accent1"/>
                </a:solidFill>
              </a:endParaRPr>
            </a:p>
          </p:txBody>
        </p:sp>
      </p:grpSp>
      <p:sp>
        <p:nvSpPr>
          <p:cNvPr id="25" name="Oval 24"/>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13428921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Object 99" hidden="1"/>
          <p:cNvGraphicFramePr>
            <a:graphicFrameLocks/>
          </p:cNvGraphicFramePr>
          <p:nvPr>
            <p:custDataLst>
              <p:tags r:id="rId2"/>
            </p:custDataLst>
            <p:extLst>
              <p:ext uri="{D42A27DB-BD31-4B8C-83A1-F6EECF244321}">
                <p14:modId xmlns:p14="http://schemas.microsoft.com/office/powerpoint/2010/main" val="1706560014"/>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91933" name="think-cell Slide" r:id="rId19" imgW="360" imgH="360" progId="TCLayout.ActiveDocument.1">
                  <p:embed/>
                </p:oleObj>
              </mc:Choice>
              <mc:Fallback>
                <p:oleObj name="think-cell Slide" r:id="rId19" imgW="360" imgH="360" progId="TCLayout.ActiveDocument.1">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 name="Rectangle 9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b="1" u="none" strike="noStrike" cap="none" normalizeH="0" smtClean="0">
              <a:ln>
                <a:noFill/>
              </a:ln>
              <a:solidFill>
                <a:schemeClr val="tx1"/>
              </a:solidFill>
              <a:effectLst/>
              <a:latin typeface="Arial"/>
              <a:sym typeface="Arial"/>
            </a:endParaRPr>
          </a:p>
        </p:txBody>
      </p:sp>
      <p:sp>
        <p:nvSpPr>
          <p:cNvPr id="6" name="Isosceles Triangle 5"/>
          <p:cNvSpPr/>
          <p:nvPr/>
        </p:nvSpPr>
        <p:spPr>
          <a:xfrm rot="10800000">
            <a:off x="5269009" y="4355590"/>
            <a:ext cx="3562740" cy="25060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McK Footnote"/>
          <p:cNvSpPr txBox="1">
            <a:spLocks noChangeArrowheads="1"/>
          </p:cNvSpPr>
          <p:nvPr/>
        </p:nvSpPr>
        <p:spPr bwMode="auto">
          <a:xfrm>
            <a:off x="646710" y="6218253"/>
            <a:ext cx="8485187" cy="415498"/>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 According to stakeholder interviews; yield improvement potential depending on current level of adoption of best practices </a:t>
            </a:r>
          </a:p>
          <a:p>
            <a:pPr marL="563563" indent="-563563" defTabSz="895350">
              <a:tabLst>
                <a:tab pos="517525" algn="r"/>
              </a:tabLst>
            </a:pPr>
            <a:r>
              <a:rPr lang="en-US" sz="900" dirty="0" smtClean="0">
                <a:solidFill>
                  <a:schemeClr val="tx1">
                    <a:lumMod val="65000"/>
                    <a:lumOff val="35000"/>
                  </a:schemeClr>
                </a:solidFill>
              </a:rPr>
              <a:t>** Current yield of 930 kg/ha assumes that a significant  share of renovation has already happened</a:t>
            </a:r>
          </a:p>
          <a:p>
            <a:pPr marL="563563" indent="-563563" defTabSz="895350">
              <a:tabLst>
                <a:tab pos="517525" algn="r"/>
              </a:tabLst>
            </a:pPr>
            <a:r>
              <a:rPr lang="en-US" sz="900" dirty="0" smtClean="0">
                <a:solidFill>
                  <a:schemeClr val="tx1">
                    <a:lumMod val="65000"/>
                    <a:lumOff val="35000"/>
                  </a:schemeClr>
                </a:solidFill>
              </a:rPr>
              <a:t>Source: Stakeholder interviews</a:t>
            </a:r>
          </a:p>
        </p:txBody>
      </p:sp>
      <p:grpSp>
        <p:nvGrpSpPr>
          <p:cNvPr id="21" name="ACET"/>
          <p:cNvGrpSpPr>
            <a:grpSpLocks/>
          </p:cNvGrpSpPr>
          <p:nvPr/>
        </p:nvGrpSpPr>
        <p:grpSpPr bwMode="auto">
          <a:xfrm>
            <a:off x="482601" y="1363783"/>
            <a:ext cx="4429124" cy="449263"/>
            <a:chOff x="915" y="747"/>
            <a:chExt cx="2686" cy="283"/>
          </a:xfrm>
        </p:grpSpPr>
        <p:cxnSp>
          <p:nvCxnSpPr>
            <p:cNvPr id="22" name="AutoShape 70"/>
            <p:cNvCxnSpPr>
              <a:cxnSpLocks noChangeShapeType="1"/>
              <a:stCxn id="23" idx="4"/>
              <a:endCxn id="23" idx="6"/>
            </p:cNvCxnSpPr>
            <p:nvPr/>
          </p:nvCxnSpPr>
          <p:spPr bwMode="auto">
            <a:xfrm>
              <a:off x="915" y="1030"/>
              <a:ext cx="2686"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AutoShape 71"/>
            <p:cNvSpPr>
              <a:spLocks noChangeArrowheads="1"/>
            </p:cNvSpPr>
            <p:nvPr/>
          </p:nvSpPr>
          <p:spPr bwMode="auto">
            <a:xfrm>
              <a:off x="915" y="747"/>
              <a:ext cx="2686" cy="283"/>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400" b="1" dirty="0" smtClean="0">
                  <a:solidFill>
                    <a:schemeClr val="accent1"/>
                  </a:solidFill>
                </a:rPr>
                <a:t>Yields could increase by 20 to 30%*…</a:t>
              </a:r>
            </a:p>
            <a:p>
              <a:r>
                <a:rPr lang="en-US" sz="1400" dirty="0">
                  <a:solidFill>
                    <a:schemeClr val="accent1"/>
                  </a:solidFill>
                </a:rPr>
                <a:t>K</a:t>
              </a:r>
              <a:r>
                <a:rPr lang="en-US" sz="1400" dirty="0" smtClean="0">
                  <a:solidFill>
                    <a:schemeClr val="accent1"/>
                  </a:solidFill>
                </a:rPr>
                <a:t>g green coffee per ha</a:t>
              </a:r>
              <a:endParaRPr lang="en-US" sz="1400" dirty="0">
                <a:solidFill>
                  <a:schemeClr val="accent1"/>
                </a:solidFill>
              </a:endParaRPr>
            </a:p>
          </p:txBody>
        </p:sp>
      </p:grpSp>
      <p:sp>
        <p:nvSpPr>
          <p:cNvPr id="5" name="Rectangle 5"/>
          <p:cNvSpPr txBox="1">
            <a:spLocks/>
          </p:cNvSpPr>
          <p:nvPr/>
        </p:nvSpPr>
        <p:spPr>
          <a:xfrm>
            <a:off x="5279896" y="2023084"/>
            <a:ext cx="3562740" cy="280076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buNone/>
            </a:pPr>
            <a:endParaRPr lang="en-US" sz="1400" dirty="0"/>
          </a:p>
          <a:p>
            <a:r>
              <a:rPr lang="en-US" sz="1400" dirty="0" smtClean="0"/>
              <a:t>Increased and optimized fertilization</a:t>
            </a:r>
          </a:p>
          <a:p>
            <a:endParaRPr lang="en-US" sz="1400" dirty="0"/>
          </a:p>
          <a:p>
            <a:r>
              <a:rPr lang="en-US" sz="1400" dirty="0"/>
              <a:t>Integrated pest management (IPM</a:t>
            </a:r>
            <a:r>
              <a:rPr lang="en-US" sz="1400" dirty="0" smtClean="0"/>
              <a:t>)</a:t>
            </a:r>
          </a:p>
          <a:p>
            <a:endParaRPr lang="en-US" sz="1400" dirty="0"/>
          </a:p>
          <a:p>
            <a:r>
              <a:rPr lang="en-US" sz="1400" dirty="0"/>
              <a:t>C</a:t>
            </a:r>
            <a:r>
              <a:rPr lang="en-US" sz="1400" dirty="0" smtClean="0"/>
              <a:t>ontrol of soil erosion</a:t>
            </a:r>
          </a:p>
          <a:p>
            <a:endParaRPr lang="en-US" sz="1400" dirty="0" smtClean="0"/>
          </a:p>
          <a:p>
            <a:r>
              <a:rPr lang="en-US" sz="1400" dirty="0" smtClean="0"/>
              <a:t>Effective shade management</a:t>
            </a:r>
          </a:p>
          <a:p>
            <a:endParaRPr lang="en-US" sz="1400" dirty="0" smtClean="0"/>
          </a:p>
          <a:p>
            <a:r>
              <a:rPr lang="en-US" sz="1400" dirty="0" smtClean="0"/>
              <a:t>Proper tree establishment and density</a:t>
            </a:r>
            <a:endParaRPr lang="en-US" sz="1400" dirty="0"/>
          </a:p>
          <a:p>
            <a:endParaRPr lang="en-US" sz="1400" dirty="0" smtClean="0"/>
          </a:p>
          <a:p>
            <a:pPr marL="0" indent="0">
              <a:buNone/>
            </a:pPr>
            <a:endParaRPr lang="en-US" sz="1400" dirty="0"/>
          </a:p>
          <a:p>
            <a:endParaRPr lang="en-US" sz="1400" dirty="0"/>
          </a:p>
        </p:txBody>
      </p:sp>
      <p:cxnSp>
        <p:nvCxnSpPr>
          <p:cNvPr id="27" name="AutoShape 70"/>
          <p:cNvCxnSpPr>
            <a:cxnSpLocks noChangeShapeType="1"/>
            <a:stCxn id="28" idx="4"/>
            <a:endCxn id="28" idx="6"/>
          </p:cNvCxnSpPr>
          <p:nvPr/>
        </p:nvCxnSpPr>
        <p:spPr bwMode="auto">
          <a:xfrm>
            <a:off x="5269009" y="1813044"/>
            <a:ext cx="3573627"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AutoShape 71"/>
          <p:cNvSpPr>
            <a:spLocks noChangeArrowheads="1"/>
          </p:cNvSpPr>
          <p:nvPr/>
        </p:nvSpPr>
        <p:spPr bwMode="auto">
          <a:xfrm>
            <a:off x="5269009" y="1363690"/>
            <a:ext cx="3573627" cy="449354"/>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400" b="1" dirty="0" smtClean="0">
                <a:solidFill>
                  <a:schemeClr val="accent1"/>
                </a:solidFill>
              </a:rPr>
              <a:t>… Through improved adoption of agronomic best practices</a:t>
            </a:r>
            <a:endParaRPr lang="en-US" sz="1400" dirty="0">
              <a:solidFill>
                <a:schemeClr val="accent1"/>
              </a:solidFill>
            </a:endParaRPr>
          </a:p>
        </p:txBody>
      </p:sp>
      <p:sp>
        <p:nvSpPr>
          <p:cNvPr id="9" name="Title 8"/>
          <p:cNvSpPr>
            <a:spLocks noGrp="1"/>
          </p:cNvSpPr>
          <p:nvPr>
            <p:ph type="title"/>
          </p:nvPr>
        </p:nvSpPr>
        <p:spPr>
          <a:xfrm>
            <a:off x="400868" y="312738"/>
            <a:ext cx="8351019" cy="951286"/>
          </a:xfrm>
        </p:spPr>
        <p:txBody>
          <a:bodyPr/>
          <a:lstStyle/>
          <a:p>
            <a:pPr indent="268288"/>
            <a:r>
              <a:rPr lang="en-US" b="0" dirty="0" smtClean="0"/>
              <a:t>Improved agronomy can boost yields by 20 to 30%</a:t>
            </a:r>
            <a:endParaRPr lang="en-US" b="0" dirty="0"/>
          </a:p>
        </p:txBody>
      </p:sp>
      <p:cxnSp>
        <p:nvCxnSpPr>
          <p:cNvPr id="15" name="Straight Connector 14"/>
          <p:cNvCxnSpPr/>
          <p:nvPr>
            <p:custDataLst>
              <p:tags r:id="rId4"/>
            </p:custDataLst>
          </p:nvPr>
        </p:nvCxnSpPr>
        <p:spPr bwMode="gray">
          <a:xfrm>
            <a:off x="2667000" y="2324100"/>
            <a:ext cx="561975"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custDataLst>
              <p:tags r:id="rId5"/>
            </p:custDataLst>
          </p:nvPr>
        </p:nvCxnSpPr>
        <p:spPr bwMode="gray">
          <a:xfrm>
            <a:off x="1400175" y="2819400"/>
            <a:ext cx="561975"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2" name="Object 1"/>
          <p:cNvGraphicFramePr>
            <a:graphicFrameLocks/>
          </p:cNvGraphicFramePr>
          <p:nvPr>
            <p:custDataLst>
              <p:tags r:id="rId6"/>
            </p:custDataLst>
            <p:extLst>
              <p:ext uri="{D42A27DB-BD31-4B8C-83A1-F6EECF244321}">
                <p14:modId xmlns:p14="http://schemas.microsoft.com/office/powerpoint/2010/main" val="2299042679"/>
              </p:ext>
            </p:extLst>
          </p:nvPr>
        </p:nvGraphicFramePr>
        <p:xfrm>
          <a:off x="304801" y="2209800"/>
          <a:ext cx="4009957" cy="3200400"/>
        </p:xfrm>
        <a:graphic>
          <a:graphicData uri="http://schemas.openxmlformats.org/presentationml/2006/ole">
            <mc:AlternateContent xmlns:mc="http://schemas.openxmlformats.org/markup-compatibility/2006">
              <mc:Choice xmlns:v="urn:schemas-microsoft-com:vml" Requires="v">
                <p:oleObj spid="_x0000_s191934" name="Chart" r:id="rId21" imgW="4009957" imgH="3200400" progId="MSGraph.Chart.8">
                  <p:embed followColorScheme="full"/>
                </p:oleObj>
              </mc:Choice>
              <mc:Fallback>
                <p:oleObj name="Chart" r:id="rId21" imgW="4009957" imgH="3200400" progId="MSGraph.Chart.8">
                  <p:embed followColorScheme="full"/>
                  <p:pic>
                    <p:nvPicPr>
                      <p:cNvPr id="0" name=""/>
                      <p:cNvPicPr/>
                      <p:nvPr/>
                    </p:nvPicPr>
                    <p:blipFill>
                      <a:blip r:embed="rId22"/>
                      <a:stretch>
                        <a:fillRect/>
                      </a:stretch>
                    </p:blipFill>
                    <p:spPr>
                      <a:xfrm>
                        <a:off x="304801" y="2209800"/>
                        <a:ext cx="4009957" cy="3200400"/>
                      </a:xfrm>
                      <a:prstGeom prst="rect">
                        <a:avLst/>
                      </a:prstGeom>
                    </p:spPr>
                  </p:pic>
                </p:oleObj>
              </mc:Fallback>
            </mc:AlternateContent>
          </a:graphicData>
        </a:graphic>
      </p:graphicFrame>
      <p:cxnSp>
        <p:nvCxnSpPr>
          <p:cNvPr id="52" name="Straight Connector 51"/>
          <p:cNvCxnSpPr/>
          <p:nvPr>
            <p:custDataLst>
              <p:tags r:id="rId7"/>
            </p:custDataLst>
          </p:nvPr>
        </p:nvCxnSpPr>
        <p:spPr bwMode="auto">
          <a:xfrm>
            <a:off x="2667001" y="2819400"/>
            <a:ext cx="1920875" cy="0"/>
          </a:xfrm>
          <a:prstGeom prst="line">
            <a:avLst/>
          </a:prstGeom>
          <a:ln w="63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custDataLst>
              <p:tags r:id="rId8"/>
            </p:custDataLst>
          </p:nvPr>
        </p:nvCxnSpPr>
        <p:spPr bwMode="gray">
          <a:xfrm flipV="1">
            <a:off x="4549775" y="2320926"/>
            <a:ext cx="0" cy="501650"/>
          </a:xfrm>
          <a:prstGeom prst="line">
            <a:avLst/>
          </a:prstGeom>
          <a:ln w="25400">
            <a:solidFill>
              <a:srgbClr val="D52B1E"/>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custDataLst>
              <p:tags r:id="rId9"/>
            </p:custDataLst>
          </p:nvPr>
        </p:nvCxnSpPr>
        <p:spPr bwMode="auto">
          <a:xfrm>
            <a:off x="3935414" y="2324100"/>
            <a:ext cx="652463" cy="0"/>
          </a:xfrm>
          <a:prstGeom prst="line">
            <a:avLst/>
          </a:prstGeom>
          <a:ln w="63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40" name="Text Placeholder 61"/>
          <p:cNvSpPr>
            <a:spLocks noGrp="1"/>
          </p:cNvSpPr>
          <p:nvPr>
            <p:custDataLst>
              <p:tags r:id="rId10"/>
            </p:custDataLst>
          </p:nvPr>
        </p:nvSpPr>
        <p:spPr bwMode="gray">
          <a:xfrm>
            <a:off x="3084513" y="2085975"/>
            <a:ext cx="9953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b="1" dirty="0" smtClean="0">
                <a:solidFill>
                  <a:schemeClr val="accent1"/>
                </a:solidFill>
                <a:sym typeface="+mn-lt"/>
              </a:rPr>
              <a:t>1,120-1,200</a:t>
            </a:r>
            <a:endParaRPr lang="en-US" sz="1400" b="1" dirty="0">
              <a:solidFill>
                <a:schemeClr val="accent1"/>
              </a:solidFill>
              <a:sym typeface="+mn-lt"/>
            </a:endParaRPr>
          </a:p>
        </p:txBody>
      </p:sp>
      <p:sp>
        <p:nvSpPr>
          <p:cNvPr id="35" name="Text Placeholder 58"/>
          <p:cNvSpPr>
            <a:spLocks noGrp="1"/>
          </p:cNvSpPr>
          <p:nvPr>
            <p:custDataLst>
              <p:tags r:id="rId11"/>
            </p:custDataLst>
          </p:nvPr>
        </p:nvSpPr>
        <p:spPr bwMode="auto">
          <a:xfrm>
            <a:off x="1914525" y="5467350"/>
            <a:ext cx="800100"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D3984CF-D506-46D7-B316-335A79BC9D26}" type="datetime'Impr''''''o''ved'''' ''''a''''''g''''''''rono''''m''y'''''''">
              <a:rPr lang="en-US" sz="1400">
                <a:solidFill>
                  <a:schemeClr val="accent1"/>
                </a:solidFill>
              </a:rPr>
              <a:pPr/>
              <a:t>Improved agronomy</a:t>
            </a:fld>
            <a:endParaRPr lang="en-US" sz="1400" dirty="0">
              <a:solidFill>
                <a:schemeClr val="accent1"/>
              </a:solidFill>
              <a:sym typeface="+mn-lt"/>
            </a:endParaRPr>
          </a:p>
        </p:txBody>
      </p:sp>
      <p:sp>
        <p:nvSpPr>
          <p:cNvPr id="56" name="Text Placeholder 67"/>
          <p:cNvSpPr>
            <a:spLocks noGrp="1"/>
          </p:cNvSpPr>
          <p:nvPr>
            <p:custDataLst>
              <p:tags r:id="rId12"/>
            </p:custDataLst>
          </p:nvPr>
        </p:nvSpPr>
        <p:spPr bwMode="auto">
          <a:xfrm>
            <a:off x="4010025" y="2473325"/>
            <a:ext cx="1079500" cy="273050"/>
          </a:xfrm>
          <a:prstGeom prst="ellipse">
            <a:avLst/>
          </a:prstGeom>
          <a:solidFill>
            <a:srgbClr val="FFFFFF"/>
          </a:solidFill>
          <a:ln w="9525">
            <a:solidFill>
              <a:srgbClr val="D52B1E"/>
            </a:solidFill>
          </a:ln>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lnSpc>
                <a:spcPct val="90000"/>
              </a:lnSpc>
              <a:spcBef>
                <a:spcPct val="0"/>
              </a:spcBef>
              <a:spcAft>
                <a:spcPct val="0"/>
              </a:spcAft>
              <a:buNone/>
            </a:pPr>
            <a:r>
              <a:rPr lang="en-US" sz="1400" b="1" dirty="0" smtClean="0">
                <a:sym typeface="+mn-lt"/>
              </a:rPr>
              <a:t> </a:t>
            </a:r>
            <a:r>
              <a:rPr lang="en-US" sz="1400" b="1" dirty="0" smtClean="0">
                <a:solidFill>
                  <a:schemeClr val="accent1"/>
                </a:solidFill>
                <a:sym typeface="+mn-lt"/>
              </a:rPr>
              <a:t>+20-30%</a:t>
            </a:r>
            <a:endParaRPr lang="en-US" sz="1400" b="1" dirty="0">
              <a:solidFill>
                <a:schemeClr val="accent1"/>
              </a:solidFill>
              <a:sym typeface="+mn-lt"/>
            </a:endParaRPr>
          </a:p>
        </p:txBody>
      </p:sp>
      <p:sp>
        <p:nvSpPr>
          <p:cNvPr id="37" name="Text Placeholder 60"/>
          <p:cNvSpPr>
            <a:spLocks noGrp="1"/>
          </p:cNvSpPr>
          <p:nvPr>
            <p:custDataLst>
              <p:tags r:id="rId13"/>
            </p:custDataLst>
          </p:nvPr>
        </p:nvSpPr>
        <p:spPr bwMode="auto">
          <a:xfrm>
            <a:off x="3370263" y="5467350"/>
            <a:ext cx="422275" cy="2127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229C949-EBD9-4CF0-8400-6A086CEEB2B8}" type="datetime'''''''''''''''''T''''''''''o''''''''''t''''a''l'''''''">
              <a:rPr lang="en-US" sz="1400" b="1">
                <a:solidFill>
                  <a:schemeClr val="accent1"/>
                </a:solidFill>
                <a:sym typeface="+mn-lt"/>
              </a:rPr>
              <a:pPr marL="0" indent="0" algn="ctr">
                <a:spcBef>
                  <a:spcPct val="0"/>
                </a:spcBef>
                <a:spcAft>
                  <a:spcPct val="0"/>
                </a:spcAft>
                <a:buNone/>
              </a:pPr>
              <a:t>Total</a:t>
            </a:fld>
            <a:endParaRPr lang="en-US" sz="1400" b="1" dirty="0">
              <a:solidFill>
                <a:schemeClr val="accent1"/>
              </a:solidFill>
              <a:sym typeface="+mn-lt"/>
            </a:endParaRPr>
          </a:p>
        </p:txBody>
      </p:sp>
      <p:sp>
        <p:nvSpPr>
          <p:cNvPr id="44" name="Text Placeholder 63"/>
          <p:cNvSpPr>
            <a:spLocks noGrp="1"/>
          </p:cNvSpPr>
          <p:nvPr>
            <p:custDataLst>
              <p:tags r:id="rId14"/>
            </p:custDataLst>
          </p:nvPr>
        </p:nvSpPr>
        <p:spPr bwMode="gray">
          <a:xfrm>
            <a:off x="2112963" y="2359025"/>
            <a:ext cx="404813" cy="425450"/>
          </a:xfrm>
          <a:prstGeom prst="rect">
            <a:avLst/>
          </a:prstGeom>
          <a:noFill/>
          <a:extLst>
            <a:ext uri="{909E8E84-426E-40DD-AFC4-6F175D3DCCD1}">
              <a14:hiddenFill xmlns:a14="http://schemas.microsoft.com/office/drawing/2010/main">
                <a:solidFill>
                  <a:srgbClr val="212492"/>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bg1"/>
                </a:solidFill>
                <a:sym typeface="+mn-lt"/>
              </a:rPr>
              <a:t>190-</a:t>
            </a:r>
          </a:p>
          <a:p>
            <a:pPr marL="0" indent="0" algn="ctr">
              <a:spcBef>
                <a:spcPct val="0"/>
              </a:spcBef>
              <a:spcAft>
                <a:spcPct val="0"/>
              </a:spcAft>
              <a:buNone/>
            </a:pPr>
            <a:r>
              <a:rPr lang="en-US" sz="1400" dirty="0" smtClean="0">
                <a:solidFill>
                  <a:schemeClr val="bg1"/>
                </a:solidFill>
                <a:sym typeface="+mn-lt"/>
              </a:rPr>
              <a:t>270</a:t>
            </a:r>
            <a:endParaRPr lang="en-US" sz="1400" dirty="0">
              <a:solidFill>
                <a:schemeClr val="bg1"/>
              </a:solidFill>
              <a:sym typeface="+mn-lt"/>
            </a:endParaRPr>
          </a:p>
        </p:txBody>
      </p:sp>
      <p:sp>
        <p:nvSpPr>
          <p:cNvPr id="30" name="Text Placeholder 56"/>
          <p:cNvSpPr>
            <a:spLocks noGrp="1"/>
          </p:cNvSpPr>
          <p:nvPr>
            <p:custDataLst>
              <p:tags r:id="rId15"/>
            </p:custDataLst>
          </p:nvPr>
        </p:nvSpPr>
        <p:spPr bwMode="auto">
          <a:xfrm>
            <a:off x="746125" y="5467350"/>
            <a:ext cx="603250"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3E111A3-3EA6-44B8-AC98-662A81C71933}" type="datetime'''''''''''Cur''''''''r''''''''e''''n''''t''''&#10;yi''e''''''ld'">
              <a:rPr lang="en-US" sz="1400" smtClean="0">
                <a:solidFill>
                  <a:schemeClr val="accent1"/>
                </a:solidFill>
              </a:rPr>
              <a:pPr/>
              <a:t>Current
yield</a:t>
            </a:fld>
            <a:r>
              <a:rPr lang="en-US" sz="1400" dirty="0" smtClean="0">
                <a:solidFill>
                  <a:schemeClr val="accent1"/>
                </a:solidFill>
              </a:rPr>
              <a:t>**</a:t>
            </a:r>
            <a:endParaRPr lang="en-US" sz="1400" dirty="0">
              <a:solidFill>
                <a:schemeClr val="accent1"/>
              </a:solidFill>
              <a:sym typeface="+mn-lt"/>
            </a:endParaRPr>
          </a:p>
        </p:txBody>
      </p:sp>
      <p:sp>
        <p:nvSpPr>
          <p:cNvPr id="29" name="Text Placeholder 83"/>
          <p:cNvSpPr>
            <a:spLocks noGrp="1"/>
          </p:cNvSpPr>
          <p:nvPr>
            <p:custDataLst>
              <p:tags r:id="rId16"/>
            </p:custDataLst>
          </p:nvPr>
        </p:nvSpPr>
        <p:spPr bwMode="gray">
          <a:xfrm>
            <a:off x="874713" y="3956050"/>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930</a:t>
            </a:r>
            <a:endParaRPr lang="en-US" sz="1400" dirty="0">
              <a:solidFill>
                <a:schemeClr val="accent1"/>
              </a:solidFill>
              <a:latin typeface="Arial"/>
              <a:sym typeface="Arial"/>
            </a:endParaRPr>
          </a:p>
        </p:txBody>
      </p:sp>
      <p:grpSp>
        <p:nvGrpSpPr>
          <p:cNvPr id="7" name="Group 6"/>
          <p:cNvGrpSpPr/>
          <p:nvPr/>
        </p:nvGrpSpPr>
        <p:grpSpPr>
          <a:xfrm>
            <a:off x="5233115" y="4665241"/>
            <a:ext cx="3683261" cy="1411357"/>
            <a:chOff x="9138695" y="2511713"/>
            <a:chExt cx="3683261" cy="1411357"/>
          </a:xfrm>
        </p:grpSpPr>
        <p:sp>
          <p:nvSpPr>
            <p:cNvPr id="4" name="Oval 3"/>
            <p:cNvSpPr/>
            <p:nvPr/>
          </p:nvSpPr>
          <p:spPr>
            <a:xfrm>
              <a:off x="9138695" y="2511713"/>
              <a:ext cx="3683261" cy="1411357"/>
            </a:xfrm>
            <a:prstGeom prst="ellipse">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9542207" y="2728655"/>
              <a:ext cx="2772695" cy="1077218"/>
            </a:xfrm>
            <a:prstGeom prst="rect">
              <a:avLst/>
            </a:prstGeom>
            <a:noFill/>
          </p:spPr>
          <p:txBody>
            <a:bodyPr wrap="square" lIns="0" tIns="0" rIns="0" bIns="0" rtlCol="0">
              <a:spAutoFit/>
            </a:bodyPr>
            <a:lstStyle/>
            <a:p>
              <a:pPr algn="ctr"/>
              <a:r>
                <a:rPr lang="en-US" sz="1400" dirty="0" smtClean="0"/>
                <a:t>These practices are well-known (and established by </a:t>
              </a:r>
              <a:r>
                <a:rPr lang="en-US" sz="1400" dirty="0" err="1" smtClean="0"/>
                <a:t>Cenicafé</a:t>
              </a:r>
              <a:r>
                <a:rPr lang="en-US" sz="1400" dirty="0" smtClean="0"/>
                <a:t>), however, the majority of farms have not fully adopted , thus yields are below potential</a:t>
              </a:r>
              <a:endParaRPr lang="en-US" sz="1400" dirty="0"/>
            </a:p>
          </p:txBody>
        </p:sp>
      </p:grpSp>
      <p:sp>
        <p:nvSpPr>
          <p:cNvPr id="12" name="Rectangular Callout 11"/>
          <p:cNvSpPr/>
          <p:nvPr/>
        </p:nvSpPr>
        <p:spPr>
          <a:xfrm>
            <a:off x="3434715" y="3366317"/>
            <a:ext cx="1620839" cy="932123"/>
          </a:xfrm>
          <a:prstGeom prst="wedgeRectCallout">
            <a:avLst>
              <a:gd name="adj1" fmla="val 21314"/>
              <a:gd name="adj2" fmla="val -106720"/>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514250" y="3463568"/>
            <a:ext cx="1485740" cy="738664"/>
          </a:xfrm>
          <a:prstGeom prst="rect">
            <a:avLst/>
          </a:prstGeom>
          <a:noFill/>
        </p:spPr>
        <p:txBody>
          <a:bodyPr wrap="square" lIns="0" tIns="0" rIns="0" bIns="0" rtlCol="0">
            <a:spAutoFit/>
          </a:bodyPr>
          <a:lstStyle/>
          <a:p>
            <a:r>
              <a:rPr lang="en-US" sz="1200" i="1" dirty="0" smtClean="0">
                <a:solidFill>
                  <a:schemeClr val="tx2">
                    <a:lumMod val="65000"/>
                    <a:lumOff val="35000"/>
                  </a:schemeClr>
                </a:solidFill>
              </a:rPr>
              <a:t>Realistic level for smallholders, though research trials show higher potential</a:t>
            </a:r>
            <a:endParaRPr lang="en-US" sz="1200" i="1" dirty="0">
              <a:solidFill>
                <a:schemeClr val="tx2">
                  <a:lumMod val="65000"/>
                  <a:lumOff val="35000"/>
                </a:schemeClr>
              </a:solidFill>
            </a:endParaRPr>
          </a:p>
        </p:txBody>
      </p:sp>
      <p:sp>
        <p:nvSpPr>
          <p:cNvPr id="32" name="Oval 31"/>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831946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extLst>
              <p:ext uri="{D42A27DB-BD31-4B8C-83A1-F6EECF244321}">
                <p14:modId xmlns:p14="http://schemas.microsoft.com/office/powerpoint/2010/main" val="414419813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5003" name="think-cell Slide" r:id="rId27" imgW="270" imgH="270" progId="TCLayout.ActiveDocument.1">
                  <p:embed/>
                </p:oleObj>
              </mc:Choice>
              <mc:Fallback>
                <p:oleObj name="think-cell Slide" r:id="rId27" imgW="270" imgH="270" progId="TCLayout.ActiveDocument.1">
                  <p:embed/>
                  <p:pic>
                    <p:nvPicPr>
                      <p:cNvPr id="0" name=""/>
                      <p:cNvPicPr/>
                      <p:nvPr/>
                    </p:nvPicPr>
                    <p:blipFill>
                      <a:blip r:embed="rId28"/>
                      <a:stretch>
                        <a:fillRect/>
                      </a:stretch>
                    </p:blipFill>
                    <p:spPr>
                      <a:xfrm>
                        <a:off x="1588" y="1588"/>
                        <a:ext cx="1587" cy="1587"/>
                      </a:xfrm>
                      <a:prstGeom prst="rect">
                        <a:avLst/>
                      </a:prstGeom>
                    </p:spPr>
                  </p:pic>
                </p:oleObj>
              </mc:Fallback>
            </mc:AlternateContent>
          </a:graphicData>
        </a:graphic>
      </p:graphicFrame>
      <p:sp>
        <p:nvSpPr>
          <p:cNvPr id="5" name="Rectangle 4"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lang="en-US" sz="1400" smtClean="0">
              <a:solidFill>
                <a:srgbClr val="000000"/>
              </a:solidFill>
              <a:latin typeface="Arial"/>
              <a:cs typeface="Arial"/>
              <a:sym typeface="Arial"/>
            </a:endParaRPr>
          </a:p>
        </p:txBody>
      </p:sp>
      <p:graphicFrame>
        <p:nvGraphicFramePr>
          <p:cNvPr id="170" name="Object 169"/>
          <p:cNvGraphicFramePr>
            <a:graphicFrameLocks noChangeAspect="1"/>
          </p:cNvGraphicFramePr>
          <p:nvPr>
            <p:custDataLst>
              <p:tags r:id="rId4"/>
            </p:custDataLst>
            <p:extLst>
              <p:ext uri="{D42A27DB-BD31-4B8C-83A1-F6EECF244321}">
                <p14:modId xmlns:p14="http://schemas.microsoft.com/office/powerpoint/2010/main" val="4257004231"/>
              </p:ext>
            </p:extLst>
          </p:nvPr>
        </p:nvGraphicFramePr>
        <p:xfrm>
          <a:off x="952500" y="2286000"/>
          <a:ext cx="6400800" cy="3400425"/>
        </p:xfrm>
        <a:graphic>
          <a:graphicData uri="http://schemas.openxmlformats.org/presentationml/2006/ole">
            <mc:AlternateContent xmlns:mc="http://schemas.openxmlformats.org/markup-compatibility/2006">
              <mc:Choice xmlns:v="urn:schemas-microsoft-com:vml" Requires="v">
                <p:oleObj spid="_x0000_s195004" name="Chart" r:id="rId29" imgW="6400800" imgH="3400425" progId="MSGraph.Chart.8">
                  <p:embed followColorScheme="full"/>
                </p:oleObj>
              </mc:Choice>
              <mc:Fallback>
                <p:oleObj name="Chart" r:id="rId29" imgW="6400800" imgH="3400425" progId="MSGraph.Chart.8">
                  <p:embed followColorScheme="full"/>
                  <p:pic>
                    <p:nvPicPr>
                      <p:cNvPr id="0" name=""/>
                      <p:cNvPicPr>
                        <a:picLocks noChangeAspect="1" noChangeArrowheads="1"/>
                      </p:cNvPicPr>
                      <p:nvPr/>
                    </p:nvPicPr>
                    <p:blipFill>
                      <a:blip r:embed="rId30"/>
                      <a:srcRect/>
                      <a:stretch>
                        <a:fillRect/>
                      </a:stretch>
                    </p:blipFill>
                    <p:spPr bwMode="auto">
                      <a:xfrm>
                        <a:off x="952500" y="2286000"/>
                        <a:ext cx="6400800" cy="340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Text Placeholder 102"/>
          <p:cNvSpPr>
            <a:spLocks noGrp="1"/>
          </p:cNvSpPr>
          <p:nvPr>
            <p:custDataLst>
              <p:tags r:id="rId5"/>
            </p:custDataLst>
          </p:nvPr>
        </p:nvSpPr>
        <p:spPr bwMode="gray">
          <a:xfrm>
            <a:off x="531813" y="2293938"/>
            <a:ext cx="4429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C32635A8-838A-4BC7-8DCC-7F532D9B6CBF}" type="datetime'''''''2'''''''',''''''5''''0''''''''''''0'''''''''">
              <a:rPr lang="en-US" sz="1400">
                <a:solidFill>
                  <a:schemeClr val="accent1"/>
                </a:solidFill>
                <a:latin typeface="Arial"/>
                <a:cs typeface="Arial"/>
                <a:sym typeface="Arial"/>
              </a:rPr>
              <a:pPr marL="0" indent="0" algn="r">
                <a:spcBef>
                  <a:spcPct val="0"/>
                </a:spcBef>
                <a:spcAft>
                  <a:spcPct val="0"/>
                </a:spcAft>
                <a:buNone/>
              </a:pPr>
              <a:t>2,500</a:t>
            </a:fld>
            <a:endParaRPr lang="en-US" sz="1400" dirty="0">
              <a:solidFill>
                <a:schemeClr val="accent1"/>
              </a:solidFill>
              <a:latin typeface="Arial"/>
              <a:cs typeface="Arial"/>
              <a:sym typeface="Arial"/>
            </a:endParaRPr>
          </a:p>
        </p:txBody>
      </p:sp>
      <p:sp>
        <p:nvSpPr>
          <p:cNvPr id="32" name="Text Placeholder 101"/>
          <p:cNvSpPr>
            <a:spLocks noGrp="1"/>
          </p:cNvSpPr>
          <p:nvPr>
            <p:custDataLst>
              <p:tags r:id="rId6"/>
            </p:custDataLst>
          </p:nvPr>
        </p:nvSpPr>
        <p:spPr bwMode="gray">
          <a:xfrm>
            <a:off x="531813" y="3074988"/>
            <a:ext cx="4429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CF27045B-5D49-45D2-81A3-448BA1040786}" type="datetime'''''''''''''''''''''''''''''2'''',''00''''''''''''''''''''''0'">
              <a:rPr lang="en-US" sz="1400">
                <a:solidFill>
                  <a:schemeClr val="accent1"/>
                </a:solidFill>
                <a:latin typeface="Arial"/>
                <a:cs typeface="Arial"/>
                <a:sym typeface="Arial"/>
              </a:rPr>
              <a:pPr marL="0" indent="0" algn="r">
                <a:spcBef>
                  <a:spcPct val="0"/>
                </a:spcBef>
                <a:spcAft>
                  <a:spcPct val="0"/>
                </a:spcAft>
                <a:buNone/>
              </a:pPr>
              <a:t>2,000</a:t>
            </a:fld>
            <a:endParaRPr lang="en-US" sz="1400" dirty="0">
              <a:solidFill>
                <a:schemeClr val="accent1"/>
              </a:solidFill>
              <a:latin typeface="Arial"/>
              <a:cs typeface="Arial"/>
              <a:sym typeface="Arial"/>
            </a:endParaRPr>
          </a:p>
        </p:txBody>
      </p:sp>
      <p:sp>
        <p:nvSpPr>
          <p:cNvPr id="29" name="Text Placeholder 98"/>
          <p:cNvSpPr>
            <a:spLocks noGrp="1"/>
          </p:cNvSpPr>
          <p:nvPr>
            <p:custDataLst>
              <p:tags r:id="rId7"/>
            </p:custDataLst>
          </p:nvPr>
        </p:nvSpPr>
        <p:spPr bwMode="gray">
          <a:xfrm>
            <a:off x="679450" y="5427663"/>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418B441C-04BC-485D-973E-E04F98943896}" type="datetime'''''''''''50''''''''''''''0'''''''''''''''''''''''''''''">
              <a:rPr lang="en-US" sz="1400">
                <a:solidFill>
                  <a:schemeClr val="accent1"/>
                </a:solidFill>
                <a:latin typeface="Arial"/>
                <a:cs typeface="Arial"/>
                <a:sym typeface="Arial"/>
              </a:rPr>
              <a:pPr marL="0" indent="0" algn="r">
                <a:spcBef>
                  <a:spcPct val="0"/>
                </a:spcBef>
                <a:spcAft>
                  <a:spcPct val="0"/>
                </a:spcAft>
                <a:buNone/>
              </a:pPr>
              <a:t>500</a:t>
            </a:fld>
            <a:endParaRPr lang="en-US" sz="1400" dirty="0">
              <a:solidFill>
                <a:schemeClr val="accent1"/>
              </a:solidFill>
              <a:latin typeface="Arial"/>
              <a:cs typeface="Arial"/>
              <a:sym typeface="Arial"/>
            </a:endParaRPr>
          </a:p>
        </p:txBody>
      </p:sp>
      <p:sp>
        <p:nvSpPr>
          <p:cNvPr id="31" name="Text Placeholder 100"/>
          <p:cNvSpPr>
            <a:spLocks noGrp="1"/>
          </p:cNvSpPr>
          <p:nvPr>
            <p:custDataLst>
              <p:tags r:id="rId8"/>
            </p:custDataLst>
          </p:nvPr>
        </p:nvSpPr>
        <p:spPr bwMode="gray">
          <a:xfrm>
            <a:off x="531813" y="3865563"/>
            <a:ext cx="4429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8DF43073-E4AA-4DBE-A44C-4C5F0D62663F}" type="datetime'''''''''''1'''''''''''''''''',5''''''''''''''''''''''''00'''">
              <a:rPr lang="en-US" sz="1400">
                <a:solidFill>
                  <a:schemeClr val="accent1"/>
                </a:solidFill>
                <a:latin typeface="Arial"/>
                <a:cs typeface="Arial"/>
                <a:sym typeface="Arial"/>
              </a:rPr>
              <a:pPr marL="0" indent="0" algn="r">
                <a:spcBef>
                  <a:spcPct val="0"/>
                </a:spcBef>
                <a:spcAft>
                  <a:spcPct val="0"/>
                </a:spcAft>
                <a:buNone/>
              </a:pPr>
              <a:t>1,500</a:t>
            </a:fld>
            <a:endParaRPr lang="en-US" sz="1400" dirty="0">
              <a:solidFill>
                <a:schemeClr val="accent1"/>
              </a:solidFill>
              <a:latin typeface="Arial"/>
              <a:cs typeface="Arial"/>
              <a:sym typeface="Arial"/>
            </a:endParaRPr>
          </a:p>
        </p:txBody>
      </p:sp>
      <p:sp>
        <p:nvSpPr>
          <p:cNvPr id="30" name="Text Placeholder 99"/>
          <p:cNvSpPr>
            <a:spLocks noGrp="1"/>
          </p:cNvSpPr>
          <p:nvPr>
            <p:custDataLst>
              <p:tags r:id="rId9"/>
            </p:custDataLst>
          </p:nvPr>
        </p:nvSpPr>
        <p:spPr bwMode="gray">
          <a:xfrm>
            <a:off x="531813" y="4646613"/>
            <a:ext cx="4429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CFEC978F-74E1-4CEE-AF26-E54E39E0240C}" type="datetime'''''''''''''''''1'''''''''''''''''''',0''''00'''''''''''''">
              <a:rPr lang="en-US" sz="1400">
                <a:solidFill>
                  <a:schemeClr val="accent1"/>
                </a:solidFill>
                <a:latin typeface="Arial"/>
                <a:cs typeface="Arial"/>
                <a:sym typeface="Arial"/>
              </a:rPr>
              <a:pPr marL="0" indent="0" algn="r">
                <a:spcBef>
                  <a:spcPct val="0"/>
                </a:spcBef>
                <a:spcAft>
                  <a:spcPct val="0"/>
                </a:spcAft>
                <a:buNone/>
              </a:pPr>
              <a:t>1,000</a:t>
            </a:fld>
            <a:endParaRPr lang="en-US" sz="1400" dirty="0">
              <a:solidFill>
                <a:schemeClr val="accent1"/>
              </a:solidFill>
              <a:latin typeface="Arial"/>
              <a:cs typeface="Arial"/>
              <a:sym typeface="Arial"/>
            </a:endParaRPr>
          </a:p>
        </p:txBody>
      </p:sp>
      <p:cxnSp>
        <p:nvCxnSpPr>
          <p:cNvPr id="4" name="Straight Connector 3"/>
          <p:cNvCxnSpPr/>
          <p:nvPr>
            <p:custDataLst>
              <p:tags r:id="rId10"/>
            </p:custDataLst>
          </p:nvPr>
        </p:nvCxnSpPr>
        <p:spPr bwMode="auto">
          <a:xfrm>
            <a:off x="7248525" y="3324225"/>
            <a:ext cx="114300" cy="0"/>
          </a:xfrm>
          <a:prstGeom prst="line">
            <a:avLst/>
          </a:prstGeom>
          <a:ln w="63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11"/>
            </p:custDataLst>
          </p:nvPr>
        </p:nvCxnSpPr>
        <p:spPr bwMode="auto">
          <a:xfrm>
            <a:off x="1114425" y="4010025"/>
            <a:ext cx="6248400" cy="0"/>
          </a:xfrm>
          <a:prstGeom prst="line">
            <a:avLst/>
          </a:prstGeom>
          <a:ln w="63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custDataLst>
              <p:tags r:id="rId12"/>
            </p:custDataLst>
          </p:nvPr>
        </p:nvCxnSpPr>
        <p:spPr bwMode="gray">
          <a:xfrm>
            <a:off x="7324725" y="3321050"/>
            <a:ext cx="0" cy="692150"/>
          </a:xfrm>
          <a:prstGeom prst="line">
            <a:avLst/>
          </a:prstGeom>
          <a:ln w="25400">
            <a:solidFill>
              <a:srgbClr val="D52B1E"/>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custDataLst>
              <p:tags r:id="rId13"/>
            </p:custDataLst>
          </p:nvPr>
        </p:nvCxnSpPr>
        <p:spPr bwMode="auto">
          <a:xfrm>
            <a:off x="1114425" y="4010025"/>
            <a:ext cx="6248400" cy="0"/>
          </a:xfrm>
          <a:prstGeom prst="line">
            <a:avLst/>
          </a:prstGeom>
          <a:ln w="63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custDataLst>
              <p:tags r:id="rId14"/>
            </p:custDataLst>
          </p:nvPr>
        </p:nvCxnSpPr>
        <p:spPr bwMode="auto">
          <a:xfrm>
            <a:off x="7248525" y="2857500"/>
            <a:ext cx="114300" cy="0"/>
          </a:xfrm>
          <a:prstGeom prst="line">
            <a:avLst/>
          </a:prstGeom>
          <a:ln w="63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custDataLst>
              <p:tags r:id="rId15"/>
            </p:custDataLst>
          </p:nvPr>
        </p:nvCxnSpPr>
        <p:spPr bwMode="gray">
          <a:xfrm flipV="1">
            <a:off x="7324725" y="2854325"/>
            <a:ext cx="0" cy="1158875"/>
          </a:xfrm>
          <a:prstGeom prst="line">
            <a:avLst/>
          </a:prstGeom>
          <a:ln w="25400">
            <a:solidFill>
              <a:srgbClr val="D52B1E"/>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39" name="Text Placeholder 105"/>
          <p:cNvSpPr>
            <a:spLocks noGrp="1"/>
          </p:cNvSpPr>
          <p:nvPr>
            <p:custDataLst>
              <p:tags r:id="rId16"/>
            </p:custDataLst>
          </p:nvPr>
        </p:nvSpPr>
        <p:spPr bwMode="auto">
          <a:xfrm>
            <a:off x="7394575" y="5427663"/>
            <a:ext cx="3587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cs typeface="Arial"/>
                <a:sym typeface="Arial"/>
              </a:rPr>
              <a:t>Year</a:t>
            </a:r>
            <a:endParaRPr lang="en-US" sz="1400" dirty="0">
              <a:solidFill>
                <a:schemeClr val="accent1"/>
              </a:solidFill>
              <a:latin typeface="Arial"/>
              <a:cs typeface="Arial"/>
              <a:sym typeface="Arial"/>
            </a:endParaRPr>
          </a:p>
        </p:txBody>
      </p:sp>
      <p:sp>
        <p:nvSpPr>
          <p:cNvPr id="38" name="Text Placeholder 104"/>
          <p:cNvSpPr>
            <a:spLocks noGrp="1"/>
          </p:cNvSpPr>
          <p:nvPr>
            <p:custDataLst>
              <p:tags r:id="rId17"/>
            </p:custDataLst>
          </p:nvPr>
        </p:nvSpPr>
        <p:spPr bwMode="auto">
          <a:xfrm>
            <a:off x="381000" y="1727200"/>
            <a:ext cx="1468438" cy="42545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cs typeface="Arial"/>
                <a:sym typeface="Arial"/>
              </a:rPr>
              <a:t>Annual net income</a:t>
            </a:r>
          </a:p>
          <a:p>
            <a:pPr marL="0" indent="0">
              <a:spcBef>
                <a:spcPct val="0"/>
              </a:spcBef>
              <a:spcAft>
                <a:spcPct val="0"/>
              </a:spcAft>
              <a:buNone/>
            </a:pPr>
            <a:r>
              <a:rPr lang="en-US" sz="1400" dirty="0" smtClean="0">
                <a:solidFill>
                  <a:schemeClr val="accent1"/>
                </a:solidFill>
                <a:latin typeface="Arial"/>
                <a:cs typeface="Arial"/>
                <a:sym typeface="Arial"/>
              </a:rPr>
              <a:t>US$</a:t>
            </a:r>
            <a:endParaRPr lang="en-US" sz="1400" dirty="0">
              <a:solidFill>
                <a:schemeClr val="accent1"/>
              </a:solidFill>
              <a:latin typeface="Arial"/>
              <a:cs typeface="Arial"/>
              <a:sym typeface="Arial"/>
            </a:endParaRPr>
          </a:p>
        </p:txBody>
      </p:sp>
      <p:sp>
        <p:nvSpPr>
          <p:cNvPr id="176" name="Rectangle 175"/>
          <p:cNvSpPr/>
          <p:nvPr>
            <p:custDataLst>
              <p:tags r:id="rId18"/>
            </p:custDataLst>
          </p:nvPr>
        </p:nvSpPr>
        <p:spPr bwMode="auto">
          <a:xfrm>
            <a:off x="1058863" y="5695950"/>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r>
              <a:rPr lang="en-US" sz="1400" dirty="0" smtClean="0">
                <a:solidFill>
                  <a:schemeClr val="accent1"/>
                </a:solidFill>
                <a:cs typeface="Arial"/>
              </a:rPr>
              <a:t>0</a:t>
            </a:r>
            <a:endParaRPr kumimoji="0" lang="en-US" sz="1400" strike="noStrike" cap="none" normalizeH="0" dirty="0" smtClean="0">
              <a:ln>
                <a:noFill/>
              </a:ln>
              <a:solidFill>
                <a:schemeClr val="accent1"/>
              </a:solidFill>
              <a:effectLst/>
              <a:latin typeface="Arial"/>
              <a:cs typeface="Arial"/>
              <a:sym typeface="Arial"/>
            </a:endParaRPr>
          </a:p>
        </p:txBody>
      </p:sp>
      <p:sp>
        <p:nvSpPr>
          <p:cNvPr id="115" name="Text Placeholder 166"/>
          <p:cNvSpPr>
            <a:spLocks noGrp="1"/>
          </p:cNvSpPr>
          <p:nvPr>
            <p:custDataLst>
              <p:tags r:id="rId19"/>
            </p:custDataLst>
          </p:nvPr>
        </p:nvSpPr>
        <p:spPr bwMode="auto">
          <a:xfrm>
            <a:off x="7410450" y="3297238"/>
            <a:ext cx="1081088" cy="273050"/>
          </a:xfrm>
          <a:prstGeom prst="ellipse">
            <a:avLst/>
          </a:prstGeom>
          <a:solidFill>
            <a:srgbClr val="FFFFFF"/>
          </a:solidFill>
          <a:ln w="9525">
            <a:solidFill>
              <a:srgbClr val="D52B1E"/>
            </a:solidFill>
          </a:ln>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lnSpc>
                <a:spcPct val="90000"/>
              </a:lnSpc>
              <a:spcBef>
                <a:spcPct val="0"/>
              </a:spcBef>
              <a:spcAft>
                <a:spcPct val="0"/>
              </a:spcAft>
              <a:buNone/>
            </a:pPr>
            <a:r>
              <a:rPr lang="en-US" sz="1400" b="1" dirty="0" smtClean="0">
                <a:solidFill>
                  <a:schemeClr val="accent1"/>
                </a:solidFill>
                <a:cs typeface="Arial"/>
                <a:sym typeface="Arial"/>
              </a:rPr>
              <a:t>+30-50% </a:t>
            </a:r>
            <a:endParaRPr lang="en-US" sz="1400" b="1" dirty="0">
              <a:solidFill>
                <a:schemeClr val="accent1"/>
              </a:solidFill>
              <a:latin typeface="Arial"/>
              <a:cs typeface="Arial"/>
              <a:sym typeface="Arial"/>
            </a:endParaRPr>
          </a:p>
        </p:txBody>
      </p:sp>
      <p:sp>
        <p:nvSpPr>
          <p:cNvPr id="184" name="Rectangle 183"/>
          <p:cNvSpPr/>
          <p:nvPr>
            <p:custDataLst>
              <p:tags r:id="rId20"/>
            </p:custDataLst>
          </p:nvPr>
        </p:nvSpPr>
        <p:spPr bwMode="auto">
          <a:xfrm>
            <a:off x="7192963" y="5695950"/>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781E65AC-E6D8-4C00-BB9B-69E4280134B6}" type="datetime'''''''''''5'''''''''''''''''''''''''''''''''''''''''''">
              <a:rPr lang="en-US" sz="1400">
                <a:solidFill>
                  <a:schemeClr val="accent1"/>
                </a:solidFill>
                <a:cs typeface="Arial"/>
              </a:rPr>
              <a:pPr algn="ctr" fontAlgn="base">
                <a:spcBef>
                  <a:spcPct val="0"/>
                </a:spcBef>
                <a:spcAft>
                  <a:spcPct val="0"/>
                </a:spcAft>
              </a:pPr>
              <a:t>5</a:t>
            </a:fld>
            <a:endParaRPr kumimoji="0" lang="en-US" sz="1400" strike="noStrike" cap="none" normalizeH="0" dirty="0" smtClean="0">
              <a:ln>
                <a:noFill/>
              </a:ln>
              <a:solidFill>
                <a:schemeClr val="accent1"/>
              </a:solidFill>
              <a:effectLst/>
              <a:latin typeface="Arial"/>
              <a:cs typeface="Arial"/>
              <a:sym typeface="Arial"/>
            </a:endParaRPr>
          </a:p>
        </p:txBody>
      </p:sp>
      <p:sp>
        <p:nvSpPr>
          <p:cNvPr id="185" name="Rectangle 184"/>
          <p:cNvSpPr/>
          <p:nvPr>
            <p:custDataLst>
              <p:tags r:id="rId21"/>
            </p:custDataLst>
          </p:nvPr>
        </p:nvSpPr>
        <p:spPr bwMode="auto">
          <a:xfrm>
            <a:off x="5964238" y="5695950"/>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F229CF30-71BB-43AF-9380-4763D6B44D2F}" type="datetime'''''''''''''''''''''''''''''''''''4'''''''''''''''''''''''''">
              <a:rPr lang="en-US" sz="1400">
                <a:solidFill>
                  <a:schemeClr val="accent1"/>
                </a:solidFill>
                <a:cs typeface="Arial"/>
              </a:rPr>
              <a:pPr algn="ctr" fontAlgn="base">
                <a:spcBef>
                  <a:spcPct val="0"/>
                </a:spcBef>
                <a:spcAft>
                  <a:spcPct val="0"/>
                </a:spcAft>
              </a:pPr>
              <a:t>4</a:t>
            </a:fld>
            <a:endParaRPr kumimoji="0" lang="en-US" sz="1400" strike="noStrike" cap="none" normalizeH="0" dirty="0" smtClean="0">
              <a:ln>
                <a:noFill/>
              </a:ln>
              <a:solidFill>
                <a:schemeClr val="accent1"/>
              </a:solidFill>
              <a:effectLst/>
              <a:latin typeface="Arial"/>
              <a:cs typeface="Arial"/>
              <a:sym typeface="Arial"/>
            </a:endParaRPr>
          </a:p>
        </p:txBody>
      </p:sp>
      <p:sp>
        <p:nvSpPr>
          <p:cNvPr id="186" name="Rectangle 185"/>
          <p:cNvSpPr/>
          <p:nvPr>
            <p:custDataLst>
              <p:tags r:id="rId22"/>
            </p:custDataLst>
          </p:nvPr>
        </p:nvSpPr>
        <p:spPr bwMode="auto">
          <a:xfrm>
            <a:off x="4735513" y="5695950"/>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EF1E4AE1-BC2A-48B7-9F1F-7063DB6A94D2}" type="datetime'''''''''''''''''3'''''''''''''''''''''''''''''''''''''''''">
              <a:rPr lang="en-US" sz="1400">
                <a:solidFill>
                  <a:schemeClr val="accent1"/>
                </a:solidFill>
                <a:cs typeface="Arial"/>
              </a:rPr>
              <a:pPr algn="ctr" fontAlgn="base">
                <a:spcBef>
                  <a:spcPct val="0"/>
                </a:spcBef>
                <a:spcAft>
                  <a:spcPct val="0"/>
                </a:spcAft>
              </a:pPr>
              <a:t>3</a:t>
            </a:fld>
            <a:endParaRPr kumimoji="0" lang="en-US" sz="1400" strike="noStrike" cap="none" normalizeH="0" dirty="0" smtClean="0">
              <a:ln>
                <a:noFill/>
              </a:ln>
              <a:solidFill>
                <a:schemeClr val="accent1"/>
              </a:solidFill>
              <a:effectLst/>
              <a:latin typeface="Arial"/>
              <a:cs typeface="Arial"/>
              <a:sym typeface="Arial"/>
            </a:endParaRPr>
          </a:p>
        </p:txBody>
      </p:sp>
      <p:sp>
        <p:nvSpPr>
          <p:cNvPr id="187" name="Rectangle 186"/>
          <p:cNvSpPr/>
          <p:nvPr>
            <p:custDataLst>
              <p:tags r:id="rId23"/>
            </p:custDataLst>
          </p:nvPr>
        </p:nvSpPr>
        <p:spPr bwMode="auto">
          <a:xfrm>
            <a:off x="3516313" y="5695950"/>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A0EED59E-0BD2-44A8-B482-7425C7E28F11}" type="datetime'''2'''''''''''">
              <a:rPr lang="en-US" sz="1400">
                <a:solidFill>
                  <a:schemeClr val="accent1"/>
                </a:solidFill>
                <a:cs typeface="Arial"/>
              </a:rPr>
              <a:pPr algn="ctr" fontAlgn="base">
                <a:spcBef>
                  <a:spcPct val="0"/>
                </a:spcBef>
                <a:spcAft>
                  <a:spcPct val="0"/>
                </a:spcAft>
              </a:pPr>
              <a:t>2</a:t>
            </a:fld>
            <a:endParaRPr kumimoji="0" lang="en-US" sz="1400" strike="noStrike" cap="none" normalizeH="0" dirty="0" smtClean="0">
              <a:ln>
                <a:noFill/>
              </a:ln>
              <a:solidFill>
                <a:schemeClr val="accent1"/>
              </a:solidFill>
              <a:effectLst/>
              <a:latin typeface="Arial"/>
              <a:cs typeface="Arial"/>
              <a:sym typeface="Arial"/>
            </a:endParaRPr>
          </a:p>
        </p:txBody>
      </p:sp>
      <p:sp>
        <p:nvSpPr>
          <p:cNvPr id="175" name="Rectangle 174"/>
          <p:cNvSpPr/>
          <p:nvPr>
            <p:custDataLst>
              <p:tags r:id="rId24"/>
            </p:custDataLst>
          </p:nvPr>
        </p:nvSpPr>
        <p:spPr bwMode="auto">
          <a:xfrm>
            <a:off x="2287588" y="5695950"/>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D1BF8F5E-3DDF-4F13-8FB6-B13E9438EA0E}" type="datetime'''''''''1'''''''''''''''''''''''''''''''''''">
              <a:rPr lang="en-US" sz="1400">
                <a:solidFill>
                  <a:schemeClr val="accent1"/>
                </a:solidFill>
                <a:cs typeface="Arial"/>
              </a:rPr>
              <a:pPr algn="ctr" fontAlgn="base">
                <a:spcBef>
                  <a:spcPct val="0"/>
                </a:spcBef>
                <a:spcAft>
                  <a:spcPct val="0"/>
                </a:spcAft>
              </a:pPr>
              <a:t>1</a:t>
            </a:fld>
            <a:endParaRPr kumimoji="0" lang="en-US" sz="1400" strike="noStrike" cap="none" normalizeH="0" dirty="0" smtClean="0">
              <a:ln>
                <a:noFill/>
              </a:ln>
              <a:solidFill>
                <a:schemeClr val="accent1"/>
              </a:solidFill>
              <a:effectLst/>
              <a:latin typeface="Arial"/>
              <a:cs typeface="Arial"/>
              <a:sym typeface="Arial"/>
            </a:endParaRPr>
          </a:p>
        </p:txBody>
      </p:sp>
      <p:sp>
        <p:nvSpPr>
          <p:cNvPr id="12" name="Isosceles Triangle 11"/>
          <p:cNvSpPr/>
          <p:nvPr/>
        </p:nvSpPr>
        <p:spPr>
          <a:xfrm rot="15469155">
            <a:off x="4781412" y="1159143"/>
            <a:ext cx="418164" cy="4853429"/>
          </a:xfrm>
          <a:custGeom>
            <a:avLst/>
            <a:gdLst>
              <a:gd name="connsiteX0" fmla="*/ 0 w 762036"/>
              <a:gd name="connsiteY0" fmla="*/ 4937713 h 4937713"/>
              <a:gd name="connsiteX1" fmla="*/ 244156 w 762036"/>
              <a:gd name="connsiteY1" fmla="*/ 0 h 4937713"/>
              <a:gd name="connsiteX2" fmla="*/ 762036 w 762036"/>
              <a:gd name="connsiteY2" fmla="*/ 4937713 h 4937713"/>
              <a:gd name="connsiteX3" fmla="*/ 0 w 762036"/>
              <a:gd name="connsiteY3" fmla="*/ 4937713 h 4937713"/>
              <a:gd name="connsiteX0" fmla="*/ 0 w 784398"/>
              <a:gd name="connsiteY0" fmla="*/ 4937713 h 5154182"/>
              <a:gd name="connsiteX1" fmla="*/ 244156 w 784398"/>
              <a:gd name="connsiteY1" fmla="*/ 0 h 5154182"/>
              <a:gd name="connsiteX2" fmla="*/ 784398 w 784398"/>
              <a:gd name="connsiteY2" fmla="*/ 5154182 h 5154182"/>
              <a:gd name="connsiteX3" fmla="*/ 0 w 784398"/>
              <a:gd name="connsiteY3" fmla="*/ 4937713 h 5154182"/>
              <a:gd name="connsiteX0" fmla="*/ 0 w 838963"/>
              <a:gd name="connsiteY0" fmla="*/ 4920718 h 5154182"/>
              <a:gd name="connsiteX1" fmla="*/ 298721 w 838963"/>
              <a:gd name="connsiteY1" fmla="*/ 0 h 5154182"/>
              <a:gd name="connsiteX2" fmla="*/ 838963 w 838963"/>
              <a:gd name="connsiteY2" fmla="*/ 5154182 h 5154182"/>
              <a:gd name="connsiteX3" fmla="*/ 0 w 838963"/>
              <a:gd name="connsiteY3" fmla="*/ 4920718 h 5154182"/>
              <a:gd name="connsiteX0" fmla="*/ 0 w 838963"/>
              <a:gd name="connsiteY0" fmla="*/ 5145684 h 5379148"/>
              <a:gd name="connsiteX1" fmla="*/ 249077 w 838963"/>
              <a:gd name="connsiteY1" fmla="*/ 0 h 5379148"/>
              <a:gd name="connsiteX2" fmla="*/ 838963 w 838963"/>
              <a:gd name="connsiteY2" fmla="*/ 5379148 h 5379148"/>
              <a:gd name="connsiteX3" fmla="*/ 0 w 838963"/>
              <a:gd name="connsiteY3" fmla="*/ 5145684 h 5379148"/>
              <a:gd name="connsiteX0" fmla="*/ 0 w 770310"/>
              <a:gd name="connsiteY0" fmla="*/ 4733096 h 5379148"/>
              <a:gd name="connsiteX1" fmla="*/ 180424 w 770310"/>
              <a:gd name="connsiteY1" fmla="*/ 0 h 5379148"/>
              <a:gd name="connsiteX2" fmla="*/ 770310 w 770310"/>
              <a:gd name="connsiteY2" fmla="*/ 5379148 h 5379148"/>
              <a:gd name="connsiteX3" fmla="*/ 0 w 770310"/>
              <a:gd name="connsiteY3" fmla="*/ 4733096 h 5379148"/>
              <a:gd name="connsiteX0" fmla="*/ 0 w 770310"/>
              <a:gd name="connsiteY0" fmla="*/ 4733096 h 5379148"/>
              <a:gd name="connsiteX1" fmla="*/ 941 w 770310"/>
              <a:gd name="connsiteY1" fmla="*/ 4717102 h 5379148"/>
              <a:gd name="connsiteX2" fmla="*/ 180424 w 770310"/>
              <a:gd name="connsiteY2" fmla="*/ 0 h 5379148"/>
              <a:gd name="connsiteX3" fmla="*/ 770310 w 770310"/>
              <a:gd name="connsiteY3" fmla="*/ 5379148 h 5379148"/>
              <a:gd name="connsiteX4" fmla="*/ 0 w 770310"/>
              <a:gd name="connsiteY4" fmla="*/ 4733096 h 5379148"/>
              <a:gd name="connsiteX0" fmla="*/ 0 w 867140"/>
              <a:gd name="connsiteY0" fmla="*/ 5092013 h 5379148"/>
              <a:gd name="connsiteX1" fmla="*/ 97771 w 867140"/>
              <a:gd name="connsiteY1" fmla="*/ 4717102 h 5379148"/>
              <a:gd name="connsiteX2" fmla="*/ 277254 w 867140"/>
              <a:gd name="connsiteY2" fmla="*/ 0 h 5379148"/>
              <a:gd name="connsiteX3" fmla="*/ 867140 w 867140"/>
              <a:gd name="connsiteY3" fmla="*/ 5379148 h 5379148"/>
              <a:gd name="connsiteX4" fmla="*/ 0 w 867140"/>
              <a:gd name="connsiteY4" fmla="*/ 5092013 h 5379148"/>
              <a:gd name="connsiteX0" fmla="*/ 0 w 867140"/>
              <a:gd name="connsiteY0" fmla="*/ 5092013 h 5379148"/>
              <a:gd name="connsiteX1" fmla="*/ 95982 w 867140"/>
              <a:gd name="connsiteY1" fmla="*/ 4626758 h 5379148"/>
              <a:gd name="connsiteX2" fmla="*/ 277254 w 867140"/>
              <a:gd name="connsiteY2" fmla="*/ 0 h 5379148"/>
              <a:gd name="connsiteX3" fmla="*/ 867140 w 867140"/>
              <a:gd name="connsiteY3" fmla="*/ 5379148 h 5379148"/>
              <a:gd name="connsiteX4" fmla="*/ 0 w 867140"/>
              <a:gd name="connsiteY4" fmla="*/ 5092013 h 5379148"/>
              <a:gd name="connsiteX0" fmla="*/ 0 w 870494"/>
              <a:gd name="connsiteY0" fmla="*/ 5150826 h 5379148"/>
              <a:gd name="connsiteX1" fmla="*/ 99336 w 870494"/>
              <a:gd name="connsiteY1" fmla="*/ 4626758 h 5379148"/>
              <a:gd name="connsiteX2" fmla="*/ 280608 w 870494"/>
              <a:gd name="connsiteY2" fmla="*/ 0 h 5379148"/>
              <a:gd name="connsiteX3" fmla="*/ 870494 w 870494"/>
              <a:gd name="connsiteY3" fmla="*/ 5379148 h 5379148"/>
              <a:gd name="connsiteX4" fmla="*/ 0 w 870494"/>
              <a:gd name="connsiteY4" fmla="*/ 5150826 h 5379148"/>
              <a:gd name="connsiteX0" fmla="*/ 0 w 857747"/>
              <a:gd name="connsiteY0" fmla="*/ 5150826 h 5420071"/>
              <a:gd name="connsiteX1" fmla="*/ 99336 w 857747"/>
              <a:gd name="connsiteY1" fmla="*/ 4626758 h 5420071"/>
              <a:gd name="connsiteX2" fmla="*/ 280608 w 857747"/>
              <a:gd name="connsiteY2" fmla="*/ 0 h 5420071"/>
              <a:gd name="connsiteX3" fmla="*/ 857747 w 857747"/>
              <a:gd name="connsiteY3" fmla="*/ 5420071 h 5420071"/>
              <a:gd name="connsiteX4" fmla="*/ 0 w 857747"/>
              <a:gd name="connsiteY4" fmla="*/ 5150826 h 5420071"/>
              <a:gd name="connsiteX0" fmla="*/ 0 w 770966"/>
              <a:gd name="connsiteY0" fmla="*/ 5291869 h 5420071"/>
              <a:gd name="connsiteX1" fmla="*/ 12555 w 770966"/>
              <a:gd name="connsiteY1" fmla="*/ 4626758 h 5420071"/>
              <a:gd name="connsiteX2" fmla="*/ 193827 w 770966"/>
              <a:gd name="connsiteY2" fmla="*/ 0 h 5420071"/>
              <a:gd name="connsiteX3" fmla="*/ 770966 w 770966"/>
              <a:gd name="connsiteY3" fmla="*/ 5420071 h 5420071"/>
              <a:gd name="connsiteX4" fmla="*/ 0 w 770966"/>
              <a:gd name="connsiteY4" fmla="*/ 5291869 h 5420071"/>
              <a:gd name="connsiteX0" fmla="*/ 0 w 793857"/>
              <a:gd name="connsiteY0" fmla="*/ 5291869 h 5357934"/>
              <a:gd name="connsiteX1" fmla="*/ 12555 w 793857"/>
              <a:gd name="connsiteY1" fmla="*/ 4626758 h 5357934"/>
              <a:gd name="connsiteX2" fmla="*/ 193827 w 793857"/>
              <a:gd name="connsiteY2" fmla="*/ 0 h 5357934"/>
              <a:gd name="connsiteX3" fmla="*/ 793858 w 793857"/>
              <a:gd name="connsiteY3" fmla="*/ 5357934 h 5357934"/>
              <a:gd name="connsiteX4" fmla="*/ 0 w 793857"/>
              <a:gd name="connsiteY4" fmla="*/ 5291869 h 5357934"/>
              <a:gd name="connsiteX0" fmla="*/ 0 w 793859"/>
              <a:gd name="connsiteY0" fmla="*/ 5291869 h 5357934"/>
              <a:gd name="connsiteX1" fmla="*/ 12555 w 793859"/>
              <a:gd name="connsiteY1" fmla="*/ 4626758 h 5357934"/>
              <a:gd name="connsiteX2" fmla="*/ 193827 w 793859"/>
              <a:gd name="connsiteY2" fmla="*/ 0 h 5357934"/>
              <a:gd name="connsiteX3" fmla="*/ 793858 w 793859"/>
              <a:gd name="connsiteY3" fmla="*/ 5357934 h 5357934"/>
              <a:gd name="connsiteX4" fmla="*/ 0 w 793859"/>
              <a:gd name="connsiteY4" fmla="*/ 5291869 h 5357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859" h="5357934">
                <a:moveTo>
                  <a:pt x="0" y="5291869"/>
                </a:moveTo>
                <a:cubicBezTo>
                  <a:pt x="314" y="5286538"/>
                  <a:pt x="12241" y="4632089"/>
                  <a:pt x="12555" y="4626758"/>
                </a:cubicBezTo>
                <a:lnTo>
                  <a:pt x="193827" y="0"/>
                </a:lnTo>
                <a:lnTo>
                  <a:pt x="793858" y="5357934"/>
                </a:lnTo>
                <a:lnTo>
                  <a:pt x="0" y="5291869"/>
                </a:lnTo>
                <a:close/>
              </a:path>
            </a:pathLst>
          </a:custGeom>
          <a:solidFill>
            <a:srgbClr val="D52B1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4" name="McK Footnote"/>
          <p:cNvSpPr txBox="1">
            <a:spLocks noChangeArrowheads="1"/>
          </p:cNvSpPr>
          <p:nvPr/>
        </p:nvSpPr>
        <p:spPr bwMode="auto">
          <a:xfrm>
            <a:off x="633826" y="6245225"/>
            <a:ext cx="7203372" cy="276999"/>
          </a:xfrm>
          <a:prstGeom prst="rect">
            <a:avLst/>
          </a:prstGeom>
          <a:noFill/>
          <a:ln w="9525">
            <a:noFill/>
            <a:miter lim="800000"/>
            <a:headEnd/>
            <a:tailEnd/>
          </a:ln>
        </p:spPr>
        <p:txBody>
          <a:bodyPr wrap="square" lIns="0" tIns="0" rIns="0" bIns="0" anchor="b">
            <a:spAutoFit/>
          </a:bodyPr>
          <a:lstStyle/>
          <a:p>
            <a:pPr defTabSz="895350">
              <a:tabLst>
                <a:tab pos="517525" algn="r"/>
              </a:tabLst>
            </a:pPr>
            <a:r>
              <a:rPr lang="en-US" sz="900" dirty="0" smtClean="0">
                <a:solidFill>
                  <a:schemeClr val="tx1">
                    <a:lumMod val="65000"/>
                    <a:lumOff val="35000"/>
                  </a:schemeClr>
                </a:solidFill>
              </a:rPr>
              <a:t>* Assumes farm of 2.0 ha in central region  and farm-gate price of $1.50/lb</a:t>
            </a:r>
          </a:p>
          <a:p>
            <a:pPr defTabSz="895350">
              <a:tabLst>
                <a:tab pos="517525" algn="r"/>
              </a:tabLst>
            </a:pPr>
            <a:r>
              <a:rPr lang="en-US" sz="900" dirty="0" smtClean="0">
                <a:solidFill>
                  <a:schemeClr val="tx1">
                    <a:lumMod val="65000"/>
                    <a:lumOff val="35000"/>
                  </a:schemeClr>
                </a:solidFill>
              </a:rPr>
              <a:t>Source</a:t>
            </a:r>
            <a:r>
              <a:rPr lang="en-US" sz="900" dirty="0">
                <a:solidFill>
                  <a:schemeClr val="tx1">
                    <a:lumMod val="65000"/>
                    <a:lumOff val="35000"/>
                  </a:schemeClr>
                </a:solidFill>
              </a:rPr>
              <a:t>: Interviews with farmers, industry stakeholders and project visits; TechnoServe analysis</a:t>
            </a:r>
          </a:p>
        </p:txBody>
      </p:sp>
      <p:grpSp>
        <p:nvGrpSpPr>
          <p:cNvPr id="103" name="ACET"/>
          <p:cNvGrpSpPr>
            <a:grpSpLocks/>
          </p:cNvGrpSpPr>
          <p:nvPr/>
        </p:nvGrpSpPr>
        <p:grpSpPr bwMode="auto">
          <a:xfrm>
            <a:off x="396665" y="1292227"/>
            <a:ext cx="7970095" cy="233363"/>
            <a:chOff x="915" y="883"/>
            <a:chExt cx="2769" cy="147"/>
          </a:xfrm>
        </p:grpSpPr>
        <p:cxnSp>
          <p:nvCxnSpPr>
            <p:cNvPr id="104" name="AutoShape 70"/>
            <p:cNvCxnSpPr>
              <a:cxnSpLocks noChangeShapeType="1"/>
              <a:stCxn id="105" idx="4"/>
              <a:endCxn id="105" idx="6"/>
            </p:cNvCxnSpPr>
            <p:nvPr/>
          </p:nvCxnSpPr>
          <p:spPr bwMode="auto">
            <a:xfrm>
              <a:off x="915" y="1030"/>
              <a:ext cx="2769"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AutoShape 71"/>
            <p:cNvSpPr>
              <a:spLocks noChangeArrowheads="1"/>
            </p:cNvSpPr>
            <p:nvPr/>
          </p:nvSpPr>
          <p:spPr bwMode="auto">
            <a:xfrm>
              <a:off x="915" y="883"/>
              <a:ext cx="2769" cy="147"/>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18288" anchor="b">
              <a:spAutoFit/>
            </a:bodyPr>
            <a:lstStyle/>
            <a:p>
              <a:r>
                <a:rPr lang="en-US" sz="1400" b="1" dirty="0" smtClean="0">
                  <a:solidFill>
                    <a:schemeClr val="accent1"/>
                  </a:solidFill>
                </a:rPr>
                <a:t>Cash-flow for typical smallholder farmer in central region (excluding </a:t>
              </a:r>
              <a:r>
                <a:rPr lang="en-US" sz="1400" b="1" dirty="0">
                  <a:solidFill>
                    <a:schemeClr val="accent1"/>
                  </a:solidFill>
                </a:rPr>
                <a:t>training costs</a:t>
              </a:r>
              <a:r>
                <a:rPr lang="en-US" sz="1400" b="1" dirty="0" smtClean="0">
                  <a:solidFill>
                    <a:schemeClr val="accent1"/>
                  </a:solidFill>
                </a:rPr>
                <a:t>)*</a:t>
              </a:r>
              <a:endParaRPr lang="en-US" sz="1400" b="1" dirty="0">
                <a:solidFill>
                  <a:schemeClr val="accent1"/>
                </a:solidFill>
              </a:endParaRPr>
            </a:p>
          </p:txBody>
        </p:sp>
      </p:grpSp>
      <p:sp>
        <p:nvSpPr>
          <p:cNvPr id="3" name="Title 2"/>
          <p:cNvSpPr>
            <a:spLocks noGrp="1"/>
          </p:cNvSpPr>
          <p:nvPr>
            <p:ph type="title"/>
          </p:nvPr>
        </p:nvSpPr>
        <p:spPr>
          <a:xfrm>
            <a:off x="400868" y="312738"/>
            <a:ext cx="8377371" cy="732291"/>
          </a:xfrm>
        </p:spPr>
        <p:txBody>
          <a:bodyPr/>
          <a:lstStyle/>
          <a:p>
            <a:pPr indent="268288"/>
            <a:r>
              <a:rPr lang="en-US" b="0" dirty="0" smtClean="0"/>
              <a:t>Overall, farmer net income would increase by 30 to 50%</a:t>
            </a:r>
            <a:endParaRPr lang="en-US" b="0" dirty="0"/>
          </a:p>
        </p:txBody>
      </p:sp>
      <p:sp>
        <p:nvSpPr>
          <p:cNvPr id="14" name="Rectangular Callout 13"/>
          <p:cNvSpPr/>
          <p:nvPr/>
        </p:nvSpPr>
        <p:spPr>
          <a:xfrm>
            <a:off x="1438905" y="2400020"/>
            <a:ext cx="2287833" cy="1027112"/>
          </a:xfrm>
          <a:prstGeom prst="wedgeRectCallout">
            <a:avLst>
              <a:gd name="adj1" fmla="val -5783"/>
              <a:gd name="adj2" fmla="val 118512"/>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TextBox 12"/>
          <p:cNvSpPr txBox="1"/>
          <p:nvPr/>
        </p:nvSpPr>
        <p:spPr>
          <a:xfrm>
            <a:off x="1547762" y="2474315"/>
            <a:ext cx="1998319" cy="861774"/>
          </a:xfrm>
          <a:prstGeom prst="rect">
            <a:avLst/>
          </a:prstGeom>
          <a:noFill/>
        </p:spPr>
        <p:txBody>
          <a:bodyPr wrap="square" lIns="0" tIns="0" rIns="0" bIns="0" rtlCol="0">
            <a:spAutoFit/>
          </a:bodyPr>
          <a:lstStyle/>
          <a:p>
            <a:r>
              <a:rPr lang="en-US" sz="1400" dirty="0" smtClean="0"/>
              <a:t>Investment in fertilizer and other inputs right from the beginning while yields increase over time</a:t>
            </a:r>
            <a:endParaRPr lang="en-US" sz="1400" dirty="0"/>
          </a:p>
        </p:txBody>
      </p:sp>
      <p:sp>
        <p:nvSpPr>
          <p:cNvPr id="37" name="Oval 36"/>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39645033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Object 99" hidden="1"/>
          <p:cNvGraphicFramePr>
            <a:graphicFrameLocks/>
          </p:cNvGraphicFramePr>
          <p:nvPr>
            <p:custDataLst>
              <p:tags r:id="rId2"/>
            </p:custDataLst>
            <p:extLst>
              <p:ext uri="{D42A27DB-BD31-4B8C-83A1-F6EECF244321}">
                <p14:modId xmlns:p14="http://schemas.microsoft.com/office/powerpoint/2010/main" val="962963038"/>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96015" name="think-cell Slide" r:id="rId7" imgW="360" imgH="360" progId="TCLayout.ActiveDocument.1">
                  <p:embed/>
                </p:oleObj>
              </mc:Choice>
              <mc:Fallback>
                <p:oleObj name="think-cell Slide" r:id="rId7" imgW="360" imgH="360" progId="TCLayout.ActiveDocument.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 name="Rectangle 9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122" name="McK Footnote"/>
          <p:cNvSpPr txBox="1">
            <a:spLocks noChangeArrowheads="1"/>
          </p:cNvSpPr>
          <p:nvPr/>
        </p:nvSpPr>
        <p:spPr bwMode="auto">
          <a:xfrm>
            <a:off x="635559" y="6247140"/>
            <a:ext cx="8485187" cy="1384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Adapted from framework developed by </a:t>
            </a:r>
            <a:r>
              <a:rPr lang="en-US" sz="900" dirty="0" err="1" smtClean="0">
                <a:solidFill>
                  <a:schemeClr val="tx1">
                    <a:lumMod val="65000"/>
                    <a:lumOff val="35000"/>
                  </a:schemeClr>
                </a:solidFill>
              </a:rPr>
              <a:t>Yara</a:t>
            </a:r>
            <a:endParaRPr lang="en-US" sz="900" dirty="0" smtClean="0">
              <a:solidFill>
                <a:schemeClr val="tx1">
                  <a:lumMod val="65000"/>
                  <a:lumOff val="35000"/>
                </a:schemeClr>
              </a:solidFill>
            </a:endParaRPr>
          </a:p>
        </p:txBody>
      </p:sp>
      <p:sp>
        <p:nvSpPr>
          <p:cNvPr id="9" name="Title 8"/>
          <p:cNvSpPr>
            <a:spLocks noGrp="1"/>
          </p:cNvSpPr>
          <p:nvPr>
            <p:ph type="title"/>
          </p:nvPr>
        </p:nvSpPr>
        <p:spPr>
          <a:xfrm>
            <a:off x="400868" y="312738"/>
            <a:ext cx="8554443" cy="492480"/>
          </a:xfrm>
        </p:spPr>
        <p:txBody>
          <a:bodyPr/>
          <a:lstStyle/>
          <a:p>
            <a:pPr marL="268288"/>
            <a:r>
              <a:rPr lang="en-US" b="0" dirty="0" smtClean="0"/>
              <a:t>While some farmers require support to increase input usage, further gains require innovation and input optimization</a:t>
            </a:r>
            <a:endParaRPr lang="en-US" b="0" dirty="0"/>
          </a:p>
        </p:txBody>
      </p:sp>
      <p:graphicFrame>
        <p:nvGraphicFramePr>
          <p:cNvPr id="3" name="Object 2"/>
          <p:cNvGraphicFramePr>
            <a:graphicFrameLocks/>
          </p:cNvGraphicFramePr>
          <p:nvPr>
            <p:custDataLst>
              <p:tags r:id="rId4"/>
            </p:custDataLst>
            <p:extLst>
              <p:ext uri="{D42A27DB-BD31-4B8C-83A1-F6EECF244321}">
                <p14:modId xmlns:p14="http://schemas.microsoft.com/office/powerpoint/2010/main" val="4278200477"/>
              </p:ext>
            </p:extLst>
          </p:nvPr>
        </p:nvGraphicFramePr>
        <p:xfrm>
          <a:off x="762000" y="1600200"/>
          <a:ext cx="7819957" cy="3952785"/>
        </p:xfrm>
        <a:graphic>
          <a:graphicData uri="http://schemas.openxmlformats.org/presentationml/2006/ole">
            <mc:AlternateContent xmlns:mc="http://schemas.openxmlformats.org/markup-compatibility/2006">
              <mc:Choice xmlns:v="urn:schemas-microsoft-com:vml" Requires="v">
                <p:oleObj spid="_x0000_s196016" name="Chart" r:id="rId9" imgW="7819957" imgH="3952785" progId="MSGraph.Chart.8">
                  <p:embed followColorScheme="full"/>
                </p:oleObj>
              </mc:Choice>
              <mc:Fallback>
                <p:oleObj name="Chart" r:id="rId9" imgW="7819957" imgH="3952785" progId="MSGraph.Chart.8">
                  <p:embed followColorScheme="full"/>
                  <p:pic>
                    <p:nvPicPr>
                      <p:cNvPr id="0" name=""/>
                      <p:cNvPicPr/>
                      <p:nvPr/>
                    </p:nvPicPr>
                    <p:blipFill>
                      <a:blip r:embed="rId10"/>
                      <a:stretch>
                        <a:fillRect/>
                      </a:stretch>
                    </p:blipFill>
                    <p:spPr>
                      <a:xfrm>
                        <a:off x="762000" y="1600200"/>
                        <a:ext cx="7819957" cy="3952785"/>
                      </a:xfrm>
                      <a:prstGeom prst="rect">
                        <a:avLst/>
                      </a:prstGeom>
                    </p:spPr>
                  </p:pic>
                </p:oleObj>
              </mc:Fallback>
            </mc:AlternateContent>
          </a:graphicData>
        </a:graphic>
      </p:graphicFrame>
      <p:grpSp>
        <p:nvGrpSpPr>
          <p:cNvPr id="6" name="Group 5"/>
          <p:cNvGrpSpPr/>
          <p:nvPr/>
        </p:nvGrpSpPr>
        <p:grpSpPr>
          <a:xfrm>
            <a:off x="1546225" y="4545013"/>
            <a:ext cx="4784092" cy="984885"/>
            <a:chOff x="1692909" y="4598354"/>
            <a:chExt cx="4784092" cy="984885"/>
          </a:xfrm>
        </p:grpSpPr>
        <p:sp>
          <p:nvSpPr>
            <p:cNvPr id="2" name="TextBox 1"/>
            <p:cNvSpPr txBox="1"/>
            <p:nvPr/>
          </p:nvSpPr>
          <p:spPr>
            <a:xfrm>
              <a:off x="1692909" y="4598354"/>
              <a:ext cx="4784092" cy="984885"/>
            </a:xfrm>
            <a:prstGeom prst="rect">
              <a:avLst/>
            </a:prstGeom>
            <a:noFill/>
          </p:spPr>
          <p:txBody>
            <a:bodyPr wrap="square" lIns="0" tIns="0" rIns="0" bIns="0" rtlCol="0">
              <a:spAutoFit/>
            </a:bodyPr>
            <a:lstStyle/>
            <a:p>
              <a:r>
                <a:rPr lang="en-US" sz="1400" b="1" dirty="0" smtClean="0"/>
                <a:t>Increase input usage</a:t>
              </a:r>
            </a:p>
            <a:p>
              <a:endParaRPr lang="en-US" sz="800" b="1" dirty="0" smtClean="0"/>
            </a:p>
            <a:p>
              <a:pPr marL="168275" indent="-168275">
                <a:buFont typeface="Arial" pitchFamily="34" charset="0"/>
                <a:buChar char="•"/>
              </a:pPr>
              <a:r>
                <a:rPr lang="en-US" sz="1400" dirty="0" smtClean="0"/>
                <a:t>Requires models for training, distribution, financing</a:t>
              </a:r>
            </a:p>
            <a:p>
              <a:pPr marL="168275" indent="-168275">
                <a:buFont typeface="Arial" pitchFamily="34" charset="0"/>
                <a:buChar char="•"/>
              </a:pPr>
              <a:r>
                <a:rPr lang="en-US" sz="1400" dirty="0" smtClean="0"/>
                <a:t>Prioritized to farmers with low yield / input usage</a:t>
              </a:r>
            </a:p>
            <a:p>
              <a:endParaRPr lang="en-US" sz="1400" b="1" dirty="0"/>
            </a:p>
          </p:txBody>
        </p:sp>
        <p:cxnSp>
          <p:nvCxnSpPr>
            <p:cNvPr id="12" name="Straight Arrow Connector 11"/>
            <p:cNvCxnSpPr/>
            <p:nvPr/>
          </p:nvCxnSpPr>
          <p:spPr>
            <a:xfrm>
              <a:off x="3596640" y="4717515"/>
              <a:ext cx="2377440" cy="0"/>
            </a:xfrm>
            <a:prstGeom prst="straightConnector1">
              <a:avLst/>
            </a:prstGeom>
            <a:ln w="12700">
              <a:headEnd type="none" w="lg" len="med"/>
              <a:tailEnd type="arrow" w="lg" len="med"/>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a:xfrm>
            <a:off x="5779405" y="2033816"/>
            <a:ext cx="3175907" cy="1216204"/>
            <a:chOff x="5835650" y="2120900"/>
            <a:chExt cx="2865438" cy="1216204"/>
          </a:xfrm>
        </p:grpSpPr>
        <p:sp>
          <p:nvSpPr>
            <p:cNvPr id="7" name="TextBox 6"/>
            <p:cNvSpPr txBox="1"/>
            <p:nvPr/>
          </p:nvSpPr>
          <p:spPr>
            <a:xfrm>
              <a:off x="6002338" y="2136775"/>
              <a:ext cx="2698750" cy="1200329"/>
            </a:xfrm>
            <a:prstGeom prst="rect">
              <a:avLst/>
            </a:prstGeom>
            <a:noFill/>
          </p:spPr>
          <p:txBody>
            <a:bodyPr wrap="square" lIns="0" tIns="0" rIns="0" bIns="0" rtlCol="0">
              <a:spAutoFit/>
            </a:bodyPr>
            <a:lstStyle/>
            <a:p>
              <a:r>
                <a:rPr lang="en-US" sz="1400" b="1" dirty="0" smtClean="0"/>
                <a:t>Optimize input usage</a:t>
              </a:r>
              <a:endParaRPr lang="en-US" sz="1400" dirty="0" smtClean="0"/>
            </a:p>
            <a:p>
              <a:endParaRPr lang="en-US" sz="800" b="1" dirty="0" smtClean="0"/>
            </a:p>
            <a:p>
              <a:pPr marL="168275" indent="-168275">
                <a:buFont typeface="Arial" pitchFamily="34" charset="0"/>
                <a:buChar char="•"/>
              </a:pPr>
              <a:r>
                <a:rPr lang="en-US" sz="1400" dirty="0" smtClean="0"/>
                <a:t>Requires innovation (e.g., new varieties), research</a:t>
              </a:r>
            </a:p>
            <a:p>
              <a:pPr marL="168275" indent="-168275">
                <a:buFont typeface="Arial" pitchFamily="34" charset="0"/>
                <a:buChar char="•"/>
              </a:pPr>
              <a:r>
                <a:rPr lang="en-US" sz="1400" dirty="0" smtClean="0"/>
                <a:t>Prioritized to farmers with higher yields / input usage</a:t>
              </a:r>
              <a:endParaRPr lang="en-US" sz="1400" dirty="0"/>
            </a:p>
          </p:txBody>
        </p:sp>
        <p:cxnSp>
          <p:nvCxnSpPr>
            <p:cNvPr id="11" name="Straight Arrow Connector 10"/>
            <p:cNvCxnSpPr/>
            <p:nvPr/>
          </p:nvCxnSpPr>
          <p:spPr>
            <a:xfrm flipV="1">
              <a:off x="5835650" y="2120900"/>
              <a:ext cx="0" cy="914400"/>
            </a:xfrm>
            <a:prstGeom prst="straightConnector1">
              <a:avLst/>
            </a:prstGeom>
            <a:ln w="12700">
              <a:tailEnd type="arrow" w="lg" len="med"/>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130175" y="1477963"/>
            <a:ext cx="1508760" cy="215444"/>
          </a:xfrm>
          <a:prstGeom prst="rect">
            <a:avLst/>
          </a:prstGeom>
          <a:noFill/>
        </p:spPr>
        <p:txBody>
          <a:bodyPr wrap="square" lIns="0" tIns="0" rIns="0" bIns="0" rtlCol="0">
            <a:spAutoFit/>
          </a:bodyPr>
          <a:lstStyle/>
          <a:p>
            <a:pPr algn="ctr"/>
            <a:r>
              <a:rPr lang="en-US" sz="1400" b="1" dirty="0" smtClean="0">
                <a:solidFill>
                  <a:schemeClr val="accent1"/>
                </a:solidFill>
              </a:rPr>
              <a:t>Yield</a:t>
            </a:r>
            <a:endParaRPr lang="en-US" sz="1400" b="1" dirty="0">
              <a:solidFill>
                <a:schemeClr val="accent1"/>
              </a:solidFill>
            </a:endParaRPr>
          </a:p>
        </p:txBody>
      </p:sp>
      <p:sp>
        <p:nvSpPr>
          <p:cNvPr id="23" name="TextBox 22"/>
          <p:cNvSpPr txBox="1"/>
          <p:nvPr/>
        </p:nvSpPr>
        <p:spPr>
          <a:xfrm>
            <a:off x="3787775" y="5545138"/>
            <a:ext cx="1508760" cy="215444"/>
          </a:xfrm>
          <a:prstGeom prst="rect">
            <a:avLst/>
          </a:prstGeom>
          <a:noFill/>
        </p:spPr>
        <p:txBody>
          <a:bodyPr wrap="square" lIns="0" tIns="0" rIns="0" bIns="0" rtlCol="0">
            <a:spAutoFit/>
          </a:bodyPr>
          <a:lstStyle/>
          <a:p>
            <a:pPr algn="ctr"/>
            <a:r>
              <a:rPr lang="en-US" sz="1400" b="1" dirty="0" smtClean="0">
                <a:solidFill>
                  <a:schemeClr val="accent1"/>
                </a:solidFill>
              </a:rPr>
              <a:t>Input usage</a:t>
            </a:r>
            <a:endParaRPr lang="en-US" sz="1400" b="1" dirty="0">
              <a:solidFill>
                <a:schemeClr val="accent1"/>
              </a:solidFill>
            </a:endParaRPr>
          </a:p>
        </p:txBody>
      </p:sp>
      <p:cxnSp>
        <p:nvCxnSpPr>
          <p:cNvPr id="15" name="Straight Arrow Connector 14"/>
          <p:cNvCxnSpPr/>
          <p:nvPr/>
        </p:nvCxnSpPr>
        <p:spPr>
          <a:xfrm>
            <a:off x="884238" y="5432425"/>
            <a:ext cx="7702551"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869950" y="1693407"/>
            <a:ext cx="317" cy="3741336"/>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7473629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extLst>
              <p:ext uri="{D42A27DB-BD31-4B8C-83A1-F6EECF244321}">
                <p14:modId xmlns:p14="http://schemas.microsoft.com/office/powerpoint/2010/main" val="16551223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2502" name="think-cell Slide" r:id="rId29" imgW="270" imgH="270" progId="TCLayout.ActiveDocument.1">
                  <p:embed/>
                </p:oleObj>
              </mc:Choice>
              <mc:Fallback>
                <p:oleObj name="think-cell Slide" r:id="rId29" imgW="270" imgH="270" progId="TCLayout.ActiveDocument.1">
                  <p:embed/>
                  <p:pic>
                    <p:nvPicPr>
                      <p:cNvPr id="0" name=""/>
                      <p:cNvPicPr/>
                      <p:nvPr/>
                    </p:nvPicPr>
                    <p:blipFill>
                      <a:blip r:embed="rId30"/>
                      <a:stretch>
                        <a:fillRect/>
                      </a:stretch>
                    </p:blipFill>
                    <p:spPr>
                      <a:xfrm>
                        <a:off x="1588" y="1588"/>
                        <a:ext cx="1587" cy="1587"/>
                      </a:xfrm>
                      <a:prstGeom prst="rect">
                        <a:avLst/>
                      </a:prstGeom>
                    </p:spPr>
                  </p:pic>
                </p:oleObj>
              </mc:Fallback>
            </mc:AlternateContent>
          </a:graphicData>
        </a:graphic>
      </p:graphicFrame>
      <p:sp>
        <p:nvSpPr>
          <p:cNvPr id="5" name="Rectangle 4"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lang="en-US" sz="1200" smtClean="0">
              <a:solidFill>
                <a:srgbClr val="000000"/>
              </a:solidFill>
              <a:latin typeface="Arial"/>
              <a:sym typeface="Arial"/>
            </a:endParaRPr>
          </a:p>
        </p:txBody>
      </p:sp>
      <p:sp>
        <p:nvSpPr>
          <p:cNvPr id="8" name="Oval 7"/>
          <p:cNvSpPr/>
          <p:nvPr/>
        </p:nvSpPr>
        <p:spPr>
          <a:xfrm>
            <a:off x="5771115" y="5359297"/>
            <a:ext cx="3136583" cy="588268"/>
          </a:xfrm>
          <a:prstGeom prst="ellips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0" name="Rectangle 20"/>
          <p:cNvSpPr txBox="1"/>
          <p:nvPr/>
        </p:nvSpPr>
        <p:spPr>
          <a:xfrm>
            <a:off x="6045465" y="5468765"/>
            <a:ext cx="2587882"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smtClean="0">
                <a:solidFill>
                  <a:schemeClr val="bg1"/>
                </a:solidFill>
                <a:sym typeface="Wingdings" pitchFamily="2" charset="2"/>
              </a:rPr>
              <a:t>Approx. US$ 200 million*</a:t>
            </a:r>
          </a:p>
          <a:p>
            <a:pPr marL="0" indent="0" algn="ctr">
              <a:buNone/>
            </a:pPr>
            <a:r>
              <a:rPr lang="en-US" sz="1200" b="1" dirty="0" smtClean="0">
                <a:solidFill>
                  <a:schemeClr val="bg1"/>
                </a:solidFill>
                <a:sym typeface="Wingdings" pitchFamily="2" charset="2"/>
              </a:rPr>
              <a:t>over 10 years</a:t>
            </a:r>
            <a:endParaRPr lang="en-US" sz="1200" b="1" dirty="0">
              <a:solidFill>
                <a:schemeClr val="bg1"/>
              </a:solidFill>
            </a:endParaRPr>
          </a:p>
        </p:txBody>
      </p:sp>
      <p:sp>
        <p:nvSpPr>
          <p:cNvPr id="54" name="McK Footnote"/>
          <p:cNvSpPr txBox="1">
            <a:spLocks noChangeArrowheads="1"/>
          </p:cNvSpPr>
          <p:nvPr/>
        </p:nvSpPr>
        <p:spPr bwMode="auto">
          <a:xfrm>
            <a:off x="633636" y="6252833"/>
            <a:ext cx="8485187" cy="2769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a:solidFill>
                  <a:schemeClr val="tx1">
                    <a:lumMod val="65000"/>
                    <a:lumOff val="35000"/>
                  </a:schemeClr>
                </a:solidFill>
              </a:rPr>
              <a:t>*Total cost of about $</a:t>
            </a:r>
            <a:r>
              <a:rPr lang="en-US" sz="900" dirty="0" smtClean="0">
                <a:solidFill>
                  <a:schemeClr val="tx1">
                    <a:lumMod val="65000"/>
                    <a:lumOff val="35000"/>
                  </a:schemeClr>
                </a:solidFill>
              </a:rPr>
              <a:t>800-1,000 per </a:t>
            </a:r>
            <a:r>
              <a:rPr lang="en-US" sz="900" dirty="0">
                <a:solidFill>
                  <a:schemeClr val="tx1">
                    <a:lumMod val="65000"/>
                    <a:lumOff val="35000"/>
                  </a:schemeClr>
                </a:solidFill>
              </a:rPr>
              <a:t>farmer (for </a:t>
            </a:r>
            <a:r>
              <a:rPr lang="en-US" sz="900" dirty="0" smtClean="0">
                <a:solidFill>
                  <a:schemeClr val="tx1">
                    <a:lumMod val="65000"/>
                    <a:lumOff val="35000"/>
                  </a:schemeClr>
                </a:solidFill>
              </a:rPr>
              <a:t>two-year program)  </a:t>
            </a:r>
          </a:p>
          <a:p>
            <a:pPr marL="563563" indent="-563563" defTabSz="895350">
              <a:tabLst>
                <a:tab pos="517525" algn="r"/>
              </a:tabLst>
            </a:pPr>
            <a:r>
              <a:rPr lang="en-US" sz="900" dirty="0" smtClean="0">
                <a:solidFill>
                  <a:schemeClr val="tx1">
                    <a:lumMod val="65000"/>
                    <a:lumOff val="35000"/>
                  </a:schemeClr>
                </a:solidFill>
              </a:rPr>
              <a:t>Source: TechnoServe analysis</a:t>
            </a:r>
          </a:p>
        </p:txBody>
      </p:sp>
      <p:sp>
        <p:nvSpPr>
          <p:cNvPr id="6" name="Title 5"/>
          <p:cNvSpPr>
            <a:spLocks noGrp="1"/>
          </p:cNvSpPr>
          <p:nvPr>
            <p:ph type="title"/>
          </p:nvPr>
        </p:nvSpPr>
        <p:spPr>
          <a:xfrm>
            <a:off x="400869" y="312738"/>
            <a:ext cx="8445058" cy="951286"/>
          </a:xfrm>
        </p:spPr>
        <p:txBody>
          <a:bodyPr/>
          <a:lstStyle/>
          <a:p>
            <a:pPr marL="268288"/>
            <a:r>
              <a:rPr lang="en-US" b="0" dirty="0" smtClean="0"/>
              <a:t>An ambitious program to increase adoption could potentially reach up to 50% of Colombia’s active coffee farmers  </a:t>
            </a:r>
            <a:endParaRPr lang="en-US" b="0" dirty="0"/>
          </a:p>
        </p:txBody>
      </p:sp>
      <p:graphicFrame>
        <p:nvGraphicFramePr>
          <p:cNvPr id="45" name="Object 44"/>
          <p:cNvGraphicFramePr>
            <a:graphicFrameLocks/>
          </p:cNvGraphicFramePr>
          <p:nvPr>
            <p:custDataLst>
              <p:tags r:id="rId4"/>
            </p:custDataLst>
            <p:extLst>
              <p:ext uri="{D42A27DB-BD31-4B8C-83A1-F6EECF244321}">
                <p14:modId xmlns:p14="http://schemas.microsoft.com/office/powerpoint/2010/main" val="574048958"/>
              </p:ext>
            </p:extLst>
          </p:nvPr>
        </p:nvGraphicFramePr>
        <p:xfrm>
          <a:off x="1485900" y="2476500"/>
          <a:ext cx="7486785" cy="971550"/>
        </p:xfrm>
        <a:graphic>
          <a:graphicData uri="http://schemas.openxmlformats.org/presentationml/2006/ole">
            <mc:AlternateContent xmlns:mc="http://schemas.openxmlformats.org/markup-compatibility/2006">
              <mc:Choice xmlns:v="urn:schemas-microsoft-com:vml" Requires="v">
                <p:oleObj spid="_x0000_s72503" name="Chart" r:id="rId31" imgW="7486785" imgH="971550" progId="MSGraph.Chart.8">
                  <p:embed followColorScheme="full"/>
                </p:oleObj>
              </mc:Choice>
              <mc:Fallback>
                <p:oleObj name="Chart" r:id="rId31" imgW="7486785" imgH="971550" progId="MSGraph.Chart.8">
                  <p:embed followColorScheme="full"/>
                  <p:pic>
                    <p:nvPicPr>
                      <p:cNvPr id="0" name=""/>
                      <p:cNvPicPr/>
                      <p:nvPr/>
                    </p:nvPicPr>
                    <p:blipFill>
                      <a:blip r:embed="rId32"/>
                      <a:stretch>
                        <a:fillRect/>
                      </a:stretch>
                    </p:blipFill>
                    <p:spPr>
                      <a:xfrm>
                        <a:off x="1485900" y="2476500"/>
                        <a:ext cx="7486785" cy="971550"/>
                      </a:xfrm>
                      <a:prstGeom prst="rect">
                        <a:avLst/>
                      </a:prstGeom>
                    </p:spPr>
                  </p:pic>
                </p:oleObj>
              </mc:Fallback>
            </mc:AlternateContent>
          </a:graphicData>
        </a:graphic>
      </p:graphicFrame>
      <p:sp>
        <p:nvSpPr>
          <p:cNvPr id="44" name="Text Placeholder 92"/>
          <p:cNvSpPr>
            <a:spLocks noGrp="1"/>
          </p:cNvSpPr>
          <p:nvPr>
            <p:custDataLst>
              <p:tags r:id="rId5"/>
            </p:custDataLst>
          </p:nvPr>
        </p:nvSpPr>
        <p:spPr bwMode="gray">
          <a:xfrm>
            <a:off x="3322638" y="2944813"/>
            <a:ext cx="212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200" dirty="0" smtClean="0">
                <a:solidFill>
                  <a:schemeClr val="accent1"/>
                </a:solidFill>
                <a:latin typeface="Arial"/>
                <a:sym typeface="Arial"/>
              </a:rPr>
              <a:t>60</a:t>
            </a:r>
            <a:endParaRPr lang="en-US" sz="1200" dirty="0">
              <a:solidFill>
                <a:schemeClr val="accent1"/>
              </a:solidFill>
              <a:latin typeface="Arial"/>
              <a:sym typeface="Arial"/>
            </a:endParaRPr>
          </a:p>
        </p:txBody>
      </p:sp>
      <p:sp>
        <p:nvSpPr>
          <p:cNvPr id="46" name="Rectangle 45"/>
          <p:cNvSpPr/>
          <p:nvPr>
            <p:custDataLst>
              <p:tags r:id="rId6"/>
            </p:custDataLst>
          </p:nvPr>
        </p:nvSpPr>
        <p:spPr bwMode="auto">
          <a:xfrm>
            <a:off x="7681913" y="3492500"/>
            <a:ext cx="180975"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0C751A50-2F02-493E-87FF-D8429FB66BDA}" type="datetime'''''''2''3'''''''''''''''''''''''''''''''''">
              <a:rPr lang="en-US" sz="1200">
                <a:solidFill>
                  <a:schemeClr val="accent1"/>
                </a:solidFill>
              </a:rPr>
              <a:pPr/>
              <a:t>23</a:t>
            </a:fld>
            <a:endParaRPr kumimoji="0" lang="en-US" sz="1200" strike="noStrike" cap="none" normalizeH="0" dirty="0" smtClean="0">
              <a:ln>
                <a:noFill/>
              </a:ln>
              <a:solidFill>
                <a:schemeClr val="accent1"/>
              </a:solidFill>
              <a:effectLst/>
              <a:latin typeface="Arial"/>
              <a:sym typeface="Arial"/>
            </a:endParaRPr>
          </a:p>
        </p:txBody>
      </p:sp>
      <p:sp>
        <p:nvSpPr>
          <p:cNvPr id="47" name="Rectangle 46"/>
          <p:cNvSpPr/>
          <p:nvPr>
            <p:custDataLst>
              <p:tags r:id="rId7"/>
            </p:custDataLst>
          </p:nvPr>
        </p:nvSpPr>
        <p:spPr bwMode="auto">
          <a:xfrm>
            <a:off x="8321675" y="3492500"/>
            <a:ext cx="349250"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B81A9395-4FBC-4E2F-A54E-D08A2A8A4398}" type="datetime'''''''''''''''''''''2''''''''''''''''''''''''''0''''2''4'''">
              <a:rPr lang="en-US" sz="1200">
                <a:solidFill>
                  <a:schemeClr val="accent1"/>
                </a:solidFill>
              </a:rPr>
              <a:pPr/>
              <a:t>2024</a:t>
            </a:fld>
            <a:endParaRPr kumimoji="0" lang="en-US" sz="1200" strike="noStrike" cap="none" normalizeH="0" dirty="0" smtClean="0">
              <a:ln>
                <a:noFill/>
              </a:ln>
              <a:solidFill>
                <a:schemeClr val="accent1"/>
              </a:solidFill>
              <a:effectLst/>
              <a:latin typeface="Arial"/>
              <a:sym typeface="Arial"/>
            </a:endParaRPr>
          </a:p>
        </p:txBody>
      </p:sp>
      <p:sp>
        <p:nvSpPr>
          <p:cNvPr id="43" name="Text Placeholder 115"/>
          <p:cNvSpPr>
            <a:spLocks noGrp="1"/>
          </p:cNvSpPr>
          <p:nvPr>
            <p:custDataLst>
              <p:tags r:id="rId8"/>
            </p:custDataLst>
          </p:nvPr>
        </p:nvSpPr>
        <p:spPr bwMode="gray">
          <a:xfrm>
            <a:off x="8348663" y="238283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9F60D72-6AAA-48A6-BB52-734FB6B2FBAE}" type="datetime'''''''2''''''''3''''''0'''''''''''''''''''''''''''''''''">
              <a:rPr lang="en-US" sz="1200">
                <a:solidFill>
                  <a:schemeClr val="accent1"/>
                </a:solidFill>
              </a:rPr>
              <a:pPr/>
              <a:t>230</a:t>
            </a:fld>
            <a:endParaRPr lang="en-US" sz="1200" dirty="0">
              <a:solidFill>
                <a:schemeClr val="accent1"/>
              </a:solidFill>
              <a:latin typeface="Arial"/>
              <a:sym typeface="Arial"/>
            </a:endParaRPr>
          </a:p>
        </p:txBody>
      </p:sp>
      <p:sp>
        <p:nvSpPr>
          <p:cNvPr id="42" name="Text Placeholder 114"/>
          <p:cNvSpPr>
            <a:spLocks noGrp="1"/>
          </p:cNvSpPr>
          <p:nvPr>
            <p:custDataLst>
              <p:tags r:id="rId9"/>
            </p:custDataLst>
          </p:nvPr>
        </p:nvSpPr>
        <p:spPr bwMode="gray">
          <a:xfrm>
            <a:off x="7624763" y="238283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2020739-5AAB-4932-A26B-D44ED171B5FE}" type="datetime'''''''''2''''3''''''''''''''''''''''''''0'''''''''''''''">
              <a:rPr lang="en-US" sz="1200">
                <a:solidFill>
                  <a:schemeClr val="accent1"/>
                </a:solidFill>
              </a:rPr>
              <a:pPr/>
              <a:t>230</a:t>
            </a:fld>
            <a:endParaRPr lang="en-US" sz="1200" dirty="0">
              <a:solidFill>
                <a:schemeClr val="accent1"/>
              </a:solidFill>
              <a:latin typeface="Arial"/>
              <a:sym typeface="Arial"/>
            </a:endParaRPr>
          </a:p>
        </p:txBody>
      </p:sp>
      <p:sp>
        <p:nvSpPr>
          <p:cNvPr id="53" name="Rectangle 52"/>
          <p:cNvSpPr/>
          <p:nvPr>
            <p:custDataLst>
              <p:tags r:id="rId10"/>
            </p:custDataLst>
          </p:nvPr>
        </p:nvSpPr>
        <p:spPr bwMode="auto">
          <a:xfrm>
            <a:off x="6958013" y="3492500"/>
            <a:ext cx="180975"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C8A31A47-0CF3-467C-B8FB-F5AC9B3226FF}" type="datetime'2''''''''''''2'''''''''''''''''''''">
              <a:rPr lang="en-US" sz="1200">
                <a:solidFill>
                  <a:schemeClr val="accent1"/>
                </a:solidFill>
              </a:rPr>
              <a:pPr/>
              <a:t>22</a:t>
            </a:fld>
            <a:endParaRPr kumimoji="0" lang="en-US" sz="1200" strike="noStrike" cap="none" normalizeH="0" dirty="0" smtClean="0">
              <a:ln>
                <a:noFill/>
              </a:ln>
              <a:solidFill>
                <a:schemeClr val="accent1"/>
              </a:solidFill>
              <a:effectLst/>
              <a:latin typeface="Arial"/>
              <a:sym typeface="Arial"/>
            </a:endParaRPr>
          </a:p>
        </p:txBody>
      </p:sp>
      <p:sp>
        <p:nvSpPr>
          <p:cNvPr id="39" name="Text Placeholder 113"/>
          <p:cNvSpPr>
            <a:spLocks noGrp="1"/>
          </p:cNvSpPr>
          <p:nvPr>
            <p:custDataLst>
              <p:tags r:id="rId11"/>
            </p:custDataLst>
          </p:nvPr>
        </p:nvSpPr>
        <p:spPr bwMode="gray">
          <a:xfrm>
            <a:off x="6900863" y="244951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179D108-B78F-4AA1-A969-35C96A1CC5D2}" type="datetime'''''''''''''2''''''''''''''''1''''''''''''0'''">
              <a:rPr lang="en-US" sz="1200">
                <a:solidFill>
                  <a:schemeClr val="accent1"/>
                </a:solidFill>
              </a:rPr>
              <a:pPr/>
              <a:t>210</a:t>
            </a:fld>
            <a:endParaRPr lang="en-US" sz="1200" dirty="0">
              <a:solidFill>
                <a:schemeClr val="accent1"/>
              </a:solidFill>
              <a:latin typeface="Arial"/>
              <a:sym typeface="Arial"/>
            </a:endParaRPr>
          </a:p>
        </p:txBody>
      </p:sp>
      <p:sp>
        <p:nvSpPr>
          <p:cNvPr id="48" name="Rectangle 47"/>
          <p:cNvSpPr/>
          <p:nvPr>
            <p:custDataLst>
              <p:tags r:id="rId12"/>
            </p:custDataLst>
          </p:nvPr>
        </p:nvSpPr>
        <p:spPr bwMode="auto">
          <a:xfrm>
            <a:off x="6234113" y="3492500"/>
            <a:ext cx="180975"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D16C3E18-67A9-4A83-88E1-0932745C3E03}" type="datetime'''2''''''''''''''1'''''''''''''''''''''''''''''''''''''">
              <a:rPr lang="en-US" sz="1200">
                <a:solidFill>
                  <a:schemeClr val="accent1"/>
                </a:solidFill>
              </a:rPr>
              <a:pPr/>
              <a:t>21</a:t>
            </a:fld>
            <a:endParaRPr kumimoji="0" lang="en-US" sz="1200" strike="noStrike" cap="none" normalizeH="0" dirty="0" smtClean="0">
              <a:ln>
                <a:noFill/>
              </a:ln>
              <a:solidFill>
                <a:schemeClr val="accent1"/>
              </a:solidFill>
              <a:effectLst/>
              <a:latin typeface="Arial"/>
              <a:sym typeface="Arial"/>
            </a:endParaRPr>
          </a:p>
        </p:txBody>
      </p:sp>
      <p:sp>
        <p:nvSpPr>
          <p:cNvPr id="38" name="Text Placeholder 112"/>
          <p:cNvSpPr>
            <a:spLocks noGrp="1"/>
          </p:cNvSpPr>
          <p:nvPr>
            <p:custDataLst>
              <p:tags r:id="rId13"/>
            </p:custDataLst>
          </p:nvPr>
        </p:nvSpPr>
        <p:spPr bwMode="gray">
          <a:xfrm>
            <a:off x="6176963" y="2544763"/>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20E2BD3-03D0-420E-B2BA-83950E7FECC5}" type="datetime'1''''''''''''''''''''''''8''''''''''0'''''''''''''''''''">
              <a:rPr lang="en-US" sz="1200">
                <a:solidFill>
                  <a:schemeClr val="accent1"/>
                </a:solidFill>
              </a:rPr>
              <a:pPr/>
              <a:t>180</a:t>
            </a:fld>
            <a:endParaRPr lang="en-US" sz="1200" dirty="0">
              <a:solidFill>
                <a:schemeClr val="accent1"/>
              </a:solidFill>
              <a:latin typeface="Arial"/>
              <a:sym typeface="Arial"/>
            </a:endParaRPr>
          </a:p>
        </p:txBody>
      </p:sp>
      <p:sp>
        <p:nvSpPr>
          <p:cNvPr id="49" name="Rectangle 48"/>
          <p:cNvSpPr/>
          <p:nvPr>
            <p:custDataLst>
              <p:tags r:id="rId14"/>
            </p:custDataLst>
          </p:nvPr>
        </p:nvSpPr>
        <p:spPr bwMode="auto">
          <a:xfrm>
            <a:off x="5510213" y="3492500"/>
            <a:ext cx="180975"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9403E3E3-9AEA-4A22-AEE1-BE6BE4778959}" type="datetime'''''2''''''''0'">
              <a:rPr lang="en-US" sz="1200">
                <a:solidFill>
                  <a:schemeClr val="accent1"/>
                </a:solidFill>
              </a:rPr>
              <a:pPr/>
              <a:t>20</a:t>
            </a:fld>
            <a:endParaRPr kumimoji="0" lang="en-US" sz="1200" strike="noStrike" cap="none" normalizeH="0" dirty="0" smtClean="0">
              <a:ln>
                <a:noFill/>
              </a:ln>
              <a:solidFill>
                <a:schemeClr val="accent1"/>
              </a:solidFill>
              <a:effectLst/>
              <a:latin typeface="Arial"/>
              <a:sym typeface="Arial"/>
            </a:endParaRPr>
          </a:p>
        </p:txBody>
      </p:sp>
      <p:sp>
        <p:nvSpPr>
          <p:cNvPr id="37" name="Text Placeholder 111"/>
          <p:cNvSpPr>
            <a:spLocks noGrp="1"/>
          </p:cNvSpPr>
          <p:nvPr>
            <p:custDataLst>
              <p:tags r:id="rId15"/>
            </p:custDataLst>
          </p:nvPr>
        </p:nvSpPr>
        <p:spPr bwMode="gray">
          <a:xfrm>
            <a:off x="5453063" y="264953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C5103D0E-D155-41DE-AA6B-2C59F43E5663}" type="datetime'''''''''''''15''''''''''''''''''''''''''''0'''''''">
              <a:rPr lang="en-US" sz="1200">
                <a:solidFill>
                  <a:schemeClr val="accent1"/>
                </a:solidFill>
              </a:rPr>
              <a:pPr/>
              <a:t>150</a:t>
            </a:fld>
            <a:endParaRPr lang="en-US" sz="1200" dirty="0">
              <a:solidFill>
                <a:schemeClr val="accent1"/>
              </a:solidFill>
              <a:latin typeface="Arial"/>
              <a:sym typeface="Arial"/>
            </a:endParaRPr>
          </a:p>
        </p:txBody>
      </p:sp>
      <p:sp>
        <p:nvSpPr>
          <p:cNvPr id="50" name="Rectangle 49"/>
          <p:cNvSpPr/>
          <p:nvPr>
            <p:custDataLst>
              <p:tags r:id="rId16"/>
            </p:custDataLst>
          </p:nvPr>
        </p:nvSpPr>
        <p:spPr bwMode="auto">
          <a:xfrm>
            <a:off x="4786313" y="3492500"/>
            <a:ext cx="180975"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21D4C527-CC1D-4B8B-B636-40C4772081EE}" type="datetime'''''''''''''''''''''''''1''''''''''''''''9'''''''''''''''">
              <a:rPr lang="en-US" sz="1200">
                <a:solidFill>
                  <a:schemeClr val="accent1"/>
                </a:solidFill>
              </a:rPr>
              <a:pPr/>
              <a:t>19</a:t>
            </a:fld>
            <a:endParaRPr kumimoji="0" lang="en-US" sz="1200" strike="noStrike" cap="none" normalizeH="0" dirty="0" smtClean="0">
              <a:ln>
                <a:noFill/>
              </a:ln>
              <a:solidFill>
                <a:schemeClr val="accent1"/>
              </a:solidFill>
              <a:effectLst/>
              <a:latin typeface="Arial"/>
              <a:sym typeface="Arial"/>
            </a:endParaRPr>
          </a:p>
        </p:txBody>
      </p:sp>
      <p:sp>
        <p:nvSpPr>
          <p:cNvPr id="36" name="Text Placeholder 110"/>
          <p:cNvSpPr>
            <a:spLocks noGrp="1"/>
          </p:cNvSpPr>
          <p:nvPr>
            <p:custDataLst>
              <p:tags r:id="rId17"/>
            </p:custDataLst>
          </p:nvPr>
        </p:nvSpPr>
        <p:spPr bwMode="gray">
          <a:xfrm>
            <a:off x="4729163" y="2744788"/>
            <a:ext cx="296863"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D518138-7D43-4AD8-9417-FE7619817BEC}" type="datetime'''''''''''''''''''''''''''1''''''''2''0'''''''''''''''">
              <a:rPr lang="en-US" sz="1200">
                <a:solidFill>
                  <a:schemeClr val="accent1"/>
                </a:solidFill>
              </a:rPr>
              <a:pPr/>
              <a:t>120</a:t>
            </a:fld>
            <a:endParaRPr lang="en-US" sz="1200" dirty="0">
              <a:solidFill>
                <a:schemeClr val="accent1"/>
              </a:solidFill>
              <a:latin typeface="Arial"/>
              <a:sym typeface="Arial"/>
            </a:endParaRPr>
          </a:p>
        </p:txBody>
      </p:sp>
      <p:sp>
        <p:nvSpPr>
          <p:cNvPr id="67" name="Rectangle 66"/>
          <p:cNvSpPr/>
          <p:nvPr>
            <p:custDataLst>
              <p:tags r:id="rId18"/>
            </p:custDataLst>
          </p:nvPr>
        </p:nvSpPr>
        <p:spPr bwMode="auto">
          <a:xfrm>
            <a:off x="4062413" y="3492500"/>
            <a:ext cx="180975"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E2F3B676-06D0-4785-9F45-6712F9F8AF0B}" type="datetime'''''''''''''''''''''''1''''''''''''''''''''''''''''''8'''''''">
              <a:rPr lang="en-US" sz="1200">
                <a:solidFill>
                  <a:schemeClr val="accent1"/>
                </a:solidFill>
              </a:rPr>
              <a:pPr/>
              <a:t>18</a:t>
            </a:fld>
            <a:endParaRPr kumimoji="0" lang="en-US" sz="1200" strike="noStrike" cap="none" normalizeH="0" dirty="0" smtClean="0">
              <a:ln>
                <a:noFill/>
              </a:ln>
              <a:solidFill>
                <a:schemeClr val="accent1"/>
              </a:solidFill>
              <a:effectLst/>
              <a:latin typeface="Arial"/>
              <a:sym typeface="Arial"/>
            </a:endParaRPr>
          </a:p>
        </p:txBody>
      </p:sp>
      <p:sp>
        <p:nvSpPr>
          <p:cNvPr id="35" name="Text Placeholder 109"/>
          <p:cNvSpPr>
            <a:spLocks noGrp="1"/>
          </p:cNvSpPr>
          <p:nvPr>
            <p:custDataLst>
              <p:tags r:id="rId19"/>
            </p:custDataLst>
          </p:nvPr>
        </p:nvSpPr>
        <p:spPr bwMode="gray">
          <a:xfrm>
            <a:off x="4046538" y="2830513"/>
            <a:ext cx="212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3909091-573E-4FD9-A8C3-22F5FCE6DEEC}" type="datetime'''''''''''''''9''''''''5'''''''''''''''''''''''''''''''">
              <a:rPr lang="en-US" sz="1200">
                <a:solidFill>
                  <a:schemeClr val="accent1"/>
                </a:solidFill>
              </a:rPr>
              <a:pPr/>
              <a:t>95</a:t>
            </a:fld>
            <a:endParaRPr lang="en-US" sz="1200" dirty="0">
              <a:solidFill>
                <a:schemeClr val="accent1"/>
              </a:solidFill>
              <a:latin typeface="Arial"/>
              <a:sym typeface="Arial"/>
            </a:endParaRPr>
          </a:p>
        </p:txBody>
      </p:sp>
      <p:sp>
        <p:nvSpPr>
          <p:cNvPr id="58" name="Rectangle 57"/>
          <p:cNvSpPr/>
          <p:nvPr>
            <p:custDataLst>
              <p:tags r:id="rId20"/>
            </p:custDataLst>
          </p:nvPr>
        </p:nvSpPr>
        <p:spPr bwMode="auto">
          <a:xfrm>
            <a:off x="3338513" y="3492500"/>
            <a:ext cx="180975"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25196268-EDD3-4627-A9F5-588B04FC22E8}" type="datetime'1''''''''''''''''7'''''''">
              <a:rPr lang="en-US" sz="1200">
                <a:solidFill>
                  <a:schemeClr val="accent1"/>
                </a:solidFill>
              </a:rPr>
              <a:pPr/>
              <a:t>17</a:t>
            </a:fld>
            <a:endParaRPr kumimoji="0" lang="en-US" sz="1200" strike="noStrike" cap="none" normalizeH="0" dirty="0" smtClean="0">
              <a:ln>
                <a:noFill/>
              </a:ln>
              <a:solidFill>
                <a:schemeClr val="accent1"/>
              </a:solidFill>
              <a:effectLst/>
              <a:latin typeface="Arial"/>
              <a:sym typeface="Arial"/>
            </a:endParaRPr>
          </a:p>
        </p:txBody>
      </p:sp>
      <p:sp>
        <p:nvSpPr>
          <p:cNvPr id="56" name="Rectangle 55"/>
          <p:cNvSpPr/>
          <p:nvPr>
            <p:custDataLst>
              <p:tags r:id="rId21"/>
            </p:custDataLst>
          </p:nvPr>
        </p:nvSpPr>
        <p:spPr bwMode="auto">
          <a:xfrm>
            <a:off x="2614613" y="3492500"/>
            <a:ext cx="180975"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90429986-562A-48AF-98BB-5CF0D549CC1C}" type="datetime'''''''''''''1''6'''''''''''''''''''''''''''''''''''''''">
              <a:rPr lang="en-US" sz="1200">
                <a:solidFill>
                  <a:schemeClr val="accent1"/>
                </a:solidFill>
              </a:rPr>
              <a:pPr/>
              <a:t>16</a:t>
            </a:fld>
            <a:endParaRPr kumimoji="0" lang="en-US" sz="1200" strike="noStrike" cap="none" normalizeH="0" dirty="0" smtClean="0">
              <a:ln>
                <a:noFill/>
              </a:ln>
              <a:solidFill>
                <a:schemeClr val="accent1"/>
              </a:solidFill>
              <a:effectLst/>
              <a:latin typeface="Arial"/>
              <a:sym typeface="Arial"/>
            </a:endParaRPr>
          </a:p>
        </p:txBody>
      </p:sp>
      <p:sp>
        <p:nvSpPr>
          <p:cNvPr id="33" name="Text Placeholder 107"/>
          <p:cNvSpPr>
            <a:spLocks noGrp="1"/>
          </p:cNvSpPr>
          <p:nvPr>
            <p:custDataLst>
              <p:tags r:id="rId22"/>
            </p:custDataLst>
          </p:nvPr>
        </p:nvSpPr>
        <p:spPr bwMode="gray">
          <a:xfrm>
            <a:off x="2598738" y="3011488"/>
            <a:ext cx="212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5B3F562-2195-4838-A37F-7F530ACC2A8A}" type="datetime'''''''4''''''''''''''''''''''''''''''''''0'''''">
              <a:rPr lang="en-US" sz="1200">
                <a:solidFill>
                  <a:schemeClr val="accent1"/>
                </a:solidFill>
              </a:rPr>
              <a:pPr/>
              <a:t>40</a:t>
            </a:fld>
            <a:endParaRPr lang="en-US" sz="1200" dirty="0">
              <a:solidFill>
                <a:schemeClr val="accent1"/>
              </a:solidFill>
              <a:latin typeface="Arial"/>
              <a:sym typeface="Arial"/>
            </a:endParaRPr>
          </a:p>
        </p:txBody>
      </p:sp>
      <p:sp>
        <p:nvSpPr>
          <p:cNvPr id="55" name="Rectangle 54"/>
          <p:cNvSpPr/>
          <p:nvPr>
            <p:custDataLst>
              <p:tags r:id="rId23"/>
            </p:custDataLst>
          </p:nvPr>
        </p:nvSpPr>
        <p:spPr bwMode="auto">
          <a:xfrm>
            <a:off x="1806575" y="3492500"/>
            <a:ext cx="349250" cy="182563"/>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0" tIns="0" rIns="0" bIns="0" numCol="1" rtlCol="0" anchor="t" anchorCtr="0" compatLnSpc="1">
            <a:prstTxWarp prst="textNoShape">
              <a:avLst/>
            </a:prstTxWarp>
          </a:bodyPr>
          <a:lstStyle/>
          <a:p>
            <a:pPr algn="ctr" fontAlgn="base">
              <a:spcBef>
                <a:spcPct val="0"/>
              </a:spcBef>
              <a:spcAft>
                <a:spcPct val="0"/>
              </a:spcAft>
            </a:pPr>
            <a:fld id="{E1555983-D743-435D-B404-40FF08A79D0D}" type="datetime'''''''''''''''''''''''''''2''''''0''''''1''''5'''''''''''">
              <a:rPr lang="en-US" sz="1200">
                <a:solidFill>
                  <a:schemeClr val="accent1"/>
                </a:solidFill>
              </a:rPr>
              <a:pPr/>
              <a:t>2015</a:t>
            </a:fld>
            <a:endParaRPr kumimoji="0" lang="en-US" sz="1200" strike="noStrike" cap="none" normalizeH="0" dirty="0" smtClean="0">
              <a:ln>
                <a:noFill/>
              </a:ln>
              <a:solidFill>
                <a:schemeClr val="accent1"/>
              </a:solidFill>
              <a:effectLst/>
              <a:latin typeface="Arial"/>
              <a:sym typeface="Arial"/>
            </a:endParaRPr>
          </a:p>
        </p:txBody>
      </p:sp>
      <p:sp>
        <p:nvSpPr>
          <p:cNvPr id="32" name="Text Placeholder 106"/>
          <p:cNvSpPr>
            <a:spLocks noGrp="1"/>
          </p:cNvSpPr>
          <p:nvPr>
            <p:custDataLst>
              <p:tags r:id="rId24"/>
            </p:custDataLst>
          </p:nvPr>
        </p:nvSpPr>
        <p:spPr bwMode="gray">
          <a:xfrm>
            <a:off x="1874838" y="3078163"/>
            <a:ext cx="212725" cy="182563"/>
          </a:xfrm>
          <a:prstGeom prst="rect">
            <a:avLst/>
          </a:prstGeom>
          <a:noFill/>
          <a:extLst>
            <a:ext uri="{909E8E84-426E-40DD-AFC4-6F175D3DCCD1}">
              <a14:hiddenFill xmlns:a14="http://schemas.microsoft.com/office/drawing/2010/main">
                <a:solidFill>
                  <a:scrgbClr r="0" g="0" b="0"/>
                </a:solidFill>
              </a14:hiddenFill>
            </a:ext>
          </a:extLst>
        </p:spPr>
        <p:txBody>
          <a:bodyPr wrap="none" lIns="22225" tIns="0" rIns="2222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1D9E1E1-AD83-467F-9E70-9267DD2BAF04}" type="datetime'''''''2''''''''''''''''''''''''''''''0'''''''''">
              <a:rPr lang="en-US" sz="1200">
                <a:solidFill>
                  <a:schemeClr val="accent1"/>
                </a:solidFill>
              </a:rPr>
              <a:pPr/>
              <a:t>20</a:t>
            </a:fld>
            <a:endParaRPr lang="en-US" sz="1200" dirty="0">
              <a:solidFill>
                <a:schemeClr val="accent1"/>
              </a:solidFill>
              <a:latin typeface="Arial"/>
              <a:sym typeface="Arial"/>
            </a:endParaRPr>
          </a:p>
        </p:txBody>
      </p:sp>
      <p:sp>
        <p:nvSpPr>
          <p:cNvPr id="89" name="Rectangle 88"/>
          <p:cNvSpPr/>
          <p:nvPr/>
        </p:nvSpPr>
        <p:spPr>
          <a:xfrm>
            <a:off x="192314" y="2596515"/>
            <a:ext cx="1203325" cy="1200329"/>
          </a:xfrm>
          <a:prstGeom prst="rect">
            <a:avLst/>
          </a:prstGeom>
        </p:spPr>
        <p:txBody>
          <a:bodyPr wrap="square">
            <a:spAutoFit/>
          </a:bodyPr>
          <a:lstStyle/>
          <a:p>
            <a:r>
              <a:rPr lang="en-US" sz="1200" b="1" dirty="0">
                <a:solidFill>
                  <a:schemeClr val="accent1"/>
                </a:solidFill>
              </a:rPr>
              <a:t>Number of farmers </a:t>
            </a:r>
            <a:r>
              <a:rPr lang="en-US" sz="1200" b="1" dirty="0" smtClean="0">
                <a:solidFill>
                  <a:schemeClr val="accent1"/>
                </a:solidFill>
              </a:rPr>
              <a:t>trained by </a:t>
            </a:r>
            <a:r>
              <a:rPr lang="en-US" sz="1200" b="1" dirty="0">
                <a:solidFill>
                  <a:schemeClr val="accent1"/>
                </a:solidFill>
              </a:rPr>
              <a:t>the </a:t>
            </a:r>
            <a:r>
              <a:rPr lang="en-US" sz="1200" b="1" dirty="0" smtClean="0">
                <a:solidFill>
                  <a:schemeClr val="accent1"/>
                </a:solidFill>
              </a:rPr>
              <a:t>program (cumulative)</a:t>
            </a:r>
          </a:p>
          <a:p>
            <a:r>
              <a:rPr lang="en-US" sz="1200" dirty="0" smtClean="0">
                <a:solidFill>
                  <a:schemeClr val="accent1"/>
                </a:solidFill>
              </a:rPr>
              <a:t>Thousands</a:t>
            </a:r>
            <a:endParaRPr lang="en-US" sz="1200" dirty="0">
              <a:solidFill>
                <a:schemeClr val="accent1"/>
              </a:solidFill>
            </a:endParaRPr>
          </a:p>
        </p:txBody>
      </p:sp>
      <p:sp>
        <p:nvSpPr>
          <p:cNvPr id="90" name="TextBox 89"/>
          <p:cNvSpPr txBox="1"/>
          <p:nvPr/>
        </p:nvSpPr>
        <p:spPr>
          <a:xfrm>
            <a:off x="1507220" y="4241576"/>
            <a:ext cx="4307535" cy="1200329"/>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Roll out training program with focus on farmers in mainstream archetypes</a:t>
            </a:r>
          </a:p>
          <a:p>
            <a:pPr marL="171450" indent="-171450">
              <a:buFont typeface="Arial" panose="020B0604020202020204" pitchFamily="34" charset="0"/>
              <a:buChar char="•"/>
            </a:pPr>
            <a:r>
              <a:rPr lang="en-US" sz="1200" dirty="0" smtClean="0"/>
              <a:t>Focus on highest-potential areas and farmer groups at the beginning to pilot and test program</a:t>
            </a:r>
            <a:endParaRPr lang="en-US" sz="1200" dirty="0"/>
          </a:p>
          <a:p>
            <a:pPr marL="171450" indent="-171450">
              <a:buFont typeface="Arial" panose="020B0604020202020204" pitchFamily="34" charset="0"/>
              <a:buChar char="•"/>
            </a:pPr>
            <a:r>
              <a:rPr lang="en-US" sz="1200" dirty="0"/>
              <a:t>Scale program to cover </a:t>
            </a:r>
            <a:r>
              <a:rPr lang="en-US" sz="1200" dirty="0" smtClean="0"/>
              <a:t>75% of </a:t>
            </a:r>
            <a:r>
              <a:rPr lang="en-US" sz="1200" dirty="0"/>
              <a:t>farmers in mainstream archetype</a:t>
            </a:r>
          </a:p>
        </p:txBody>
      </p:sp>
      <p:sp>
        <p:nvSpPr>
          <p:cNvPr id="92" name="TextBox 91"/>
          <p:cNvSpPr txBox="1"/>
          <p:nvPr/>
        </p:nvSpPr>
        <p:spPr>
          <a:xfrm>
            <a:off x="6021659" y="4241576"/>
            <a:ext cx="2824268" cy="1200329"/>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Scale up program beyond mainstream archetype to include farmers from  other archetypes</a:t>
            </a:r>
          </a:p>
          <a:p>
            <a:pPr marL="171450" indent="-171450">
              <a:buFont typeface="Arial" panose="020B0604020202020204" pitchFamily="34" charset="0"/>
              <a:buChar char="•"/>
            </a:pPr>
            <a:r>
              <a:rPr lang="en-US" sz="1200" dirty="0" smtClean="0"/>
              <a:t>Overall, reach ~50% of active farmers</a:t>
            </a:r>
          </a:p>
          <a:p>
            <a:endParaRPr lang="en-US" sz="1200" dirty="0"/>
          </a:p>
        </p:txBody>
      </p:sp>
      <p:sp>
        <p:nvSpPr>
          <p:cNvPr id="93" name="Rectangle 92"/>
          <p:cNvSpPr/>
          <p:nvPr/>
        </p:nvSpPr>
        <p:spPr>
          <a:xfrm>
            <a:off x="177800" y="4246338"/>
            <a:ext cx="2092325" cy="461665"/>
          </a:xfrm>
          <a:prstGeom prst="rect">
            <a:avLst/>
          </a:prstGeom>
        </p:spPr>
        <p:txBody>
          <a:bodyPr wrap="square">
            <a:spAutoFit/>
          </a:bodyPr>
          <a:lstStyle/>
          <a:p>
            <a:r>
              <a:rPr lang="en-US" sz="1200" b="1" dirty="0" smtClean="0">
                <a:solidFill>
                  <a:schemeClr val="accent1"/>
                </a:solidFill>
              </a:rPr>
              <a:t>Phase </a:t>
            </a:r>
            <a:br>
              <a:rPr lang="en-US" sz="1200" b="1" dirty="0" smtClean="0">
                <a:solidFill>
                  <a:schemeClr val="accent1"/>
                </a:solidFill>
              </a:rPr>
            </a:br>
            <a:r>
              <a:rPr lang="en-US" sz="1200" b="1" dirty="0" smtClean="0">
                <a:solidFill>
                  <a:schemeClr val="accent1"/>
                </a:solidFill>
              </a:rPr>
              <a:t>description</a:t>
            </a:r>
            <a:endParaRPr lang="en-US" sz="1200" dirty="0">
              <a:solidFill>
                <a:schemeClr val="accent1"/>
              </a:solidFill>
            </a:endParaRPr>
          </a:p>
        </p:txBody>
      </p:sp>
      <p:sp>
        <p:nvSpPr>
          <p:cNvPr id="94" name="TextBox 5"/>
          <p:cNvSpPr txBox="1"/>
          <p:nvPr>
            <p:custDataLst>
              <p:tags r:id="rId25"/>
            </p:custDataLst>
          </p:nvPr>
        </p:nvSpPr>
        <p:spPr>
          <a:xfrm>
            <a:off x="1546453" y="1730375"/>
            <a:ext cx="4397147" cy="468539"/>
          </a:xfrm>
          <a:prstGeom prst="rect">
            <a:avLst/>
          </a:prstGeom>
          <a:solidFill>
            <a:schemeClr val="bg1"/>
          </a:solidFill>
          <a:ln w="9525">
            <a:solidFill>
              <a:schemeClr val="accent1"/>
            </a:solidFill>
            <a:miter lim="800000"/>
            <a:headEnd/>
            <a:tailEnd/>
          </a:ln>
        </p:spPr>
        <p:txBody>
          <a:bodyPr vert="horz" wrap="square" lIns="76200" tIns="76200" rIns="76200" bIns="76200" numCol="1" anchor="t" anchorCtr="0"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smtClean="0">
                <a:solidFill>
                  <a:schemeClr val="accent1"/>
                </a:solidFill>
              </a:rPr>
              <a:t>Phase 1: </a:t>
            </a:r>
          </a:p>
          <a:p>
            <a:pPr marL="0" indent="0" algn="ctr">
              <a:buNone/>
            </a:pPr>
            <a:r>
              <a:rPr lang="en-US" sz="1200" b="1" dirty="0" smtClean="0">
                <a:solidFill>
                  <a:schemeClr val="accent1"/>
                </a:solidFill>
              </a:rPr>
              <a:t>Focus on mainstream archetype</a:t>
            </a:r>
            <a:endParaRPr lang="en-US" sz="1200" dirty="0">
              <a:solidFill>
                <a:schemeClr val="accent1"/>
              </a:solidFill>
            </a:endParaRPr>
          </a:p>
        </p:txBody>
      </p:sp>
      <p:sp>
        <p:nvSpPr>
          <p:cNvPr id="96" name="TextBox 5"/>
          <p:cNvSpPr txBox="1"/>
          <p:nvPr>
            <p:custDataLst>
              <p:tags r:id="rId26"/>
            </p:custDataLst>
          </p:nvPr>
        </p:nvSpPr>
        <p:spPr>
          <a:xfrm>
            <a:off x="6021659" y="1730375"/>
            <a:ext cx="2846570" cy="468539"/>
          </a:xfrm>
          <a:prstGeom prst="rect">
            <a:avLst/>
          </a:prstGeom>
          <a:solidFill>
            <a:schemeClr val="bg1"/>
          </a:solidFill>
          <a:ln w="9525">
            <a:solidFill>
              <a:schemeClr val="accent1"/>
            </a:solidFill>
            <a:miter lim="800000"/>
            <a:headEnd/>
            <a:tailEnd/>
          </a:ln>
        </p:spPr>
        <p:txBody>
          <a:bodyPr vert="horz" wrap="square" lIns="76200" tIns="76200" rIns="76200" bIns="76200" numCol="1" anchor="t" anchorCtr="0"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smtClean="0">
                <a:solidFill>
                  <a:schemeClr val="accent1"/>
                </a:solidFill>
              </a:rPr>
              <a:t>Phase 3: </a:t>
            </a:r>
          </a:p>
          <a:p>
            <a:pPr marL="0" indent="0" algn="ctr">
              <a:buNone/>
            </a:pPr>
            <a:r>
              <a:rPr lang="en-US" sz="1200" b="1" dirty="0" smtClean="0">
                <a:solidFill>
                  <a:schemeClr val="accent1"/>
                </a:solidFill>
              </a:rPr>
              <a:t>Scale up to reach other archetypes</a:t>
            </a:r>
            <a:endParaRPr lang="en-US" sz="1200" dirty="0">
              <a:solidFill>
                <a:schemeClr val="accent1"/>
              </a:solidFill>
            </a:endParaRPr>
          </a:p>
        </p:txBody>
      </p:sp>
      <p:sp>
        <p:nvSpPr>
          <p:cNvPr id="40" name="Oval 39"/>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7885736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p:cNvGraphicFramePr>
          <p:nvPr>
            <p:custDataLst>
              <p:tags r:id="rId2"/>
            </p:custDataLst>
            <p:extLst>
              <p:ext uri="{D42A27DB-BD31-4B8C-83A1-F6EECF244321}">
                <p14:modId xmlns:p14="http://schemas.microsoft.com/office/powerpoint/2010/main" val="1753509961"/>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68377"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p:cNvSpPr/>
          <p:nvPr/>
        </p:nvSpPr>
        <p:spPr>
          <a:xfrm>
            <a:off x="401444" y="1828796"/>
            <a:ext cx="1014761" cy="41371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pPr marL="268288"/>
            <a:r>
              <a:rPr lang="en-US" b="0" dirty="0" smtClean="0"/>
              <a:t>Achieving yield improvement requires high adoption level of best practices that might face several challenges</a:t>
            </a:r>
            <a:endParaRPr lang="en-US" b="0" dirty="0"/>
          </a:p>
        </p:txBody>
      </p:sp>
      <p:sp>
        <p:nvSpPr>
          <p:cNvPr id="6" name="TextBox 5"/>
          <p:cNvSpPr txBox="1"/>
          <p:nvPr/>
        </p:nvSpPr>
        <p:spPr>
          <a:xfrm>
            <a:off x="412593" y="1429744"/>
            <a:ext cx="8106938" cy="215444"/>
          </a:xfrm>
          <a:prstGeom prst="rect">
            <a:avLst/>
          </a:prstGeom>
          <a:noFill/>
        </p:spPr>
        <p:txBody>
          <a:bodyPr wrap="square" lIns="0" tIns="0" rIns="0" bIns="0" rtlCol="0">
            <a:spAutoFit/>
          </a:bodyPr>
          <a:lstStyle/>
          <a:p>
            <a:r>
              <a:rPr lang="en-US" sz="1400" b="1" dirty="0" smtClean="0">
                <a:solidFill>
                  <a:schemeClr val="accent1"/>
                </a:solidFill>
              </a:rPr>
              <a:t>Barriers that might hinder adoption of best practices</a:t>
            </a:r>
            <a:endParaRPr lang="en-US" sz="1400" b="1" dirty="0">
              <a:solidFill>
                <a:schemeClr val="accent1"/>
              </a:solidFill>
            </a:endParaRPr>
          </a:p>
        </p:txBody>
      </p:sp>
      <p:sp>
        <p:nvSpPr>
          <p:cNvPr id="7" name="Rectangle 6"/>
          <p:cNvSpPr/>
          <p:nvPr/>
        </p:nvSpPr>
        <p:spPr>
          <a:xfrm>
            <a:off x="880936" y="2067149"/>
            <a:ext cx="1382751" cy="740665"/>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High age of coffee farmers</a:t>
            </a:r>
            <a:endParaRPr lang="en-US" sz="1400" b="1" dirty="0">
              <a:solidFill>
                <a:schemeClr val="accent1"/>
              </a:solidFill>
            </a:endParaRPr>
          </a:p>
        </p:txBody>
      </p:sp>
      <p:sp>
        <p:nvSpPr>
          <p:cNvPr id="8" name="Rectangle 7"/>
          <p:cNvSpPr/>
          <p:nvPr/>
        </p:nvSpPr>
        <p:spPr>
          <a:xfrm>
            <a:off x="2285991" y="2067149"/>
            <a:ext cx="6233540" cy="954107"/>
          </a:xfrm>
          <a:prstGeom prst="rect">
            <a:avLst/>
          </a:prstGeom>
        </p:spPr>
        <p:txBody>
          <a:bodyPr wrap="square">
            <a:spAutoFit/>
          </a:bodyPr>
          <a:lstStyle/>
          <a:p>
            <a:pPr marL="285750" indent="-285750">
              <a:buFont typeface="Arial" panose="020B0604020202020204" pitchFamily="34" charset="0"/>
              <a:buChar char="•"/>
            </a:pPr>
            <a:r>
              <a:rPr lang="en-US" sz="1400" dirty="0" smtClean="0"/>
              <a:t>Increasing average </a:t>
            </a:r>
            <a:r>
              <a:rPr lang="en-US" sz="1400" dirty="0"/>
              <a:t>age of coffee farmers </a:t>
            </a:r>
            <a:r>
              <a:rPr lang="en-US" sz="1400" dirty="0" smtClean="0"/>
              <a:t>as </a:t>
            </a:r>
            <a:r>
              <a:rPr lang="en-US" sz="1400" dirty="0"/>
              <a:t>younger </a:t>
            </a:r>
            <a:r>
              <a:rPr lang="en-US" sz="1400" dirty="0" smtClean="0"/>
              <a:t>– currently 56 years - generations </a:t>
            </a:r>
            <a:r>
              <a:rPr lang="en-US" sz="1400" dirty="0"/>
              <a:t>leave rural areas and look for income opportunities in urban </a:t>
            </a:r>
            <a:r>
              <a:rPr lang="en-US" sz="1400" dirty="0" smtClean="0"/>
              <a:t>areas</a:t>
            </a:r>
            <a:endParaRPr lang="en-US" sz="1400" dirty="0"/>
          </a:p>
          <a:p>
            <a:pPr marL="285750" indent="-285750">
              <a:buFont typeface="Arial" panose="020B0604020202020204" pitchFamily="34" charset="0"/>
              <a:buChar char="•"/>
            </a:pPr>
            <a:r>
              <a:rPr lang="en-US" sz="1400" dirty="0" smtClean="0"/>
              <a:t>Less likely to adopt new practices and technologies</a:t>
            </a:r>
          </a:p>
        </p:txBody>
      </p:sp>
      <p:sp>
        <p:nvSpPr>
          <p:cNvPr id="9" name="Rectangle 8"/>
          <p:cNvSpPr/>
          <p:nvPr/>
        </p:nvSpPr>
        <p:spPr>
          <a:xfrm>
            <a:off x="880935" y="3397515"/>
            <a:ext cx="1382751" cy="740665"/>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Lower skill levels</a:t>
            </a:r>
            <a:endParaRPr lang="en-US" sz="1400" b="1" dirty="0">
              <a:solidFill>
                <a:schemeClr val="accent1"/>
              </a:solidFill>
            </a:endParaRPr>
          </a:p>
        </p:txBody>
      </p:sp>
      <p:cxnSp>
        <p:nvCxnSpPr>
          <p:cNvPr id="11" name="Straight Connector 10"/>
          <p:cNvCxnSpPr/>
          <p:nvPr/>
        </p:nvCxnSpPr>
        <p:spPr>
          <a:xfrm>
            <a:off x="412593" y="1726819"/>
            <a:ext cx="8106937"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285991" y="3397515"/>
            <a:ext cx="6701882" cy="738664"/>
          </a:xfrm>
          <a:prstGeom prst="rect">
            <a:avLst/>
          </a:prstGeom>
        </p:spPr>
        <p:txBody>
          <a:bodyPr wrap="square">
            <a:spAutoFit/>
          </a:bodyPr>
          <a:lstStyle/>
          <a:p>
            <a:pPr marL="285750" indent="-285750">
              <a:buFont typeface="Arial" panose="020B0604020202020204" pitchFamily="34" charset="0"/>
              <a:buChar char="•"/>
            </a:pPr>
            <a:r>
              <a:rPr lang="en-US" sz="1400" dirty="0" smtClean="0"/>
              <a:t>Lower educational level of many coffee farmers, especially from older generations, </a:t>
            </a:r>
          </a:p>
          <a:p>
            <a:pPr marL="285750" indent="-285750">
              <a:buFont typeface="Arial" panose="020B0604020202020204" pitchFamily="34" charset="0"/>
              <a:buChar char="•"/>
            </a:pPr>
            <a:r>
              <a:rPr lang="en-US" sz="1400" dirty="0" smtClean="0"/>
              <a:t>Might not have the required skill levels to adopt new practices </a:t>
            </a:r>
          </a:p>
        </p:txBody>
      </p:sp>
      <p:sp>
        <p:nvSpPr>
          <p:cNvPr id="13" name="Rectangle 12"/>
          <p:cNvSpPr/>
          <p:nvPr/>
        </p:nvSpPr>
        <p:spPr>
          <a:xfrm>
            <a:off x="880934" y="4765395"/>
            <a:ext cx="1382751" cy="740665"/>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Remoteness / access</a:t>
            </a:r>
            <a:endParaRPr lang="en-US" sz="1400" b="1" dirty="0">
              <a:solidFill>
                <a:schemeClr val="accent1"/>
              </a:solidFill>
            </a:endParaRPr>
          </a:p>
        </p:txBody>
      </p:sp>
      <p:sp>
        <p:nvSpPr>
          <p:cNvPr id="14" name="Rectangle 13"/>
          <p:cNvSpPr/>
          <p:nvPr/>
        </p:nvSpPr>
        <p:spPr>
          <a:xfrm>
            <a:off x="2285991" y="4765395"/>
            <a:ext cx="6701882" cy="738664"/>
          </a:xfrm>
          <a:prstGeom prst="rect">
            <a:avLst/>
          </a:prstGeom>
          <a:noFill/>
        </p:spPr>
        <p:txBody>
          <a:bodyPr wrap="square">
            <a:spAutoFit/>
          </a:bodyPr>
          <a:lstStyle/>
          <a:p>
            <a:pPr marL="285750" indent="-285750">
              <a:buFont typeface="Arial" panose="020B0604020202020204" pitchFamily="34" charset="0"/>
              <a:buChar char="•"/>
            </a:pPr>
            <a:r>
              <a:rPr lang="en-US" sz="1400" dirty="0" smtClean="0"/>
              <a:t>Difficult to reach farmers that are remotely located and face transport challenges (e.g., bad roads) </a:t>
            </a:r>
          </a:p>
          <a:p>
            <a:pPr marL="285750" indent="-285750">
              <a:buFont typeface="Arial" panose="020B0604020202020204" pitchFamily="34" charset="0"/>
              <a:buChar char="•"/>
            </a:pPr>
            <a:r>
              <a:rPr lang="en-US" sz="1400" dirty="0" smtClean="0"/>
              <a:t>Less likely to ensure adequate coverage to achieve high adoption rates</a:t>
            </a:r>
          </a:p>
        </p:txBody>
      </p:sp>
      <p:sp>
        <p:nvSpPr>
          <p:cNvPr id="17" name="McK Footnote"/>
          <p:cNvSpPr txBox="1">
            <a:spLocks noChangeArrowheads="1"/>
          </p:cNvSpPr>
          <p:nvPr/>
        </p:nvSpPr>
        <p:spPr bwMode="auto">
          <a:xfrm>
            <a:off x="633636" y="6257521"/>
            <a:ext cx="8485187" cy="1384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TechnoServe analysis</a:t>
            </a:r>
          </a:p>
        </p:txBody>
      </p:sp>
      <p:sp>
        <p:nvSpPr>
          <p:cNvPr id="15" name="Oval 14"/>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265695139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p:cNvGraphicFramePr>
          <p:nvPr>
            <p:extLst>
              <p:ext uri="{D42A27DB-BD31-4B8C-83A1-F6EECF244321}">
                <p14:modId xmlns:p14="http://schemas.microsoft.com/office/powerpoint/2010/main" val="2704301065"/>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52889" name="think-cell Slide" r:id="rId4" imgW="360" imgH="360" progId="TCLayout.ActiveDocument.1">
                  <p:embed/>
                </p:oleObj>
              </mc:Choice>
              <mc:Fallback>
                <p:oleObj name="think-cell Slide" r:id="rId4" imgW="360" imgH="360" progId="TCLayout.ActiveDocument.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p:custDataLst>
              <p:tags r:id="rId2"/>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noAutofit/>
          </a:bodyPr>
          <a:lstStyle/>
          <a:p>
            <a:pPr fontAlgn="base">
              <a:spcBef>
                <a:spcPct val="0"/>
              </a:spcBef>
              <a:spcAft>
                <a:spcPct val="0"/>
              </a:spcAft>
            </a:pPr>
            <a:endParaRPr kumimoji="0" lang="en-US" sz="1400" b="1" u="none" strike="noStrike" cap="none" normalizeH="0" smtClean="0">
              <a:ln>
                <a:noFill/>
              </a:ln>
              <a:solidFill>
                <a:schemeClr val="tx1"/>
              </a:solidFill>
              <a:effectLst/>
              <a:latin typeface="Arial"/>
              <a:sym typeface="Arial"/>
            </a:endParaRPr>
          </a:p>
        </p:txBody>
      </p:sp>
      <p:sp>
        <p:nvSpPr>
          <p:cNvPr id="14" name="Rounded Rectangle 13"/>
          <p:cNvSpPr/>
          <p:nvPr/>
        </p:nvSpPr>
        <p:spPr>
          <a:xfrm>
            <a:off x="1182370" y="5712452"/>
            <a:ext cx="7199946" cy="482805"/>
          </a:xfrm>
          <a:prstGeom prst="roundRect">
            <a:avLst/>
          </a:prstGeom>
          <a:solidFill>
            <a:srgbClr val="2124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Farmer field schools </a:t>
            </a:r>
            <a:r>
              <a:rPr lang="en-US" sz="1200" b="1" dirty="0" smtClean="0">
                <a:solidFill>
                  <a:schemeClr val="bg1"/>
                </a:solidFill>
              </a:rPr>
              <a:t>are recommended based </a:t>
            </a:r>
            <a:r>
              <a:rPr lang="en-US" sz="1200" b="1" dirty="0">
                <a:solidFill>
                  <a:schemeClr val="bg1"/>
                </a:solidFill>
              </a:rPr>
              <a:t>on scalability,  impact </a:t>
            </a:r>
            <a:r>
              <a:rPr lang="en-US" sz="1200" b="1" dirty="0" smtClean="0">
                <a:solidFill>
                  <a:schemeClr val="bg1"/>
                </a:solidFill>
              </a:rPr>
              <a:t>potential, </a:t>
            </a:r>
            <a:r>
              <a:rPr lang="en-US" sz="1200" b="1" dirty="0">
                <a:solidFill>
                  <a:schemeClr val="bg1"/>
                </a:solidFill>
              </a:rPr>
              <a:t>and </a:t>
            </a:r>
            <a:r>
              <a:rPr lang="en-US" sz="1200" b="1" dirty="0" smtClean="0">
                <a:solidFill>
                  <a:schemeClr val="bg1"/>
                </a:solidFill>
              </a:rPr>
              <a:t>the cost </a:t>
            </a:r>
            <a:r>
              <a:rPr lang="en-US" sz="1200" b="1" dirty="0">
                <a:solidFill>
                  <a:schemeClr val="bg1"/>
                </a:solidFill>
              </a:rPr>
              <a:t>of </a:t>
            </a:r>
            <a:r>
              <a:rPr lang="en-US" sz="1200" b="1" dirty="0" smtClean="0">
                <a:solidFill>
                  <a:schemeClr val="bg1"/>
                </a:solidFill>
              </a:rPr>
              <a:t>the approach </a:t>
            </a:r>
            <a:r>
              <a:rPr lang="en-US" sz="1200" b="1" dirty="0">
                <a:solidFill>
                  <a:schemeClr val="bg1"/>
                </a:solidFill>
              </a:rPr>
              <a:t>to increase outreach and improve adoption rate of farmer training </a:t>
            </a:r>
          </a:p>
        </p:txBody>
      </p:sp>
      <p:sp>
        <p:nvSpPr>
          <p:cNvPr id="7" name="Rectangle 6"/>
          <p:cNvSpPr/>
          <p:nvPr/>
        </p:nvSpPr>
        <p:spPr>
          <a:xfrm>
            <a:off x="297180" y="3572286"/>
            <a:ext cx="8652510" cy="1056957"/>
          </a:xfrm>
          <a:prstGeom prst="rect">
            <a:avLst/>
          </a:prstGeom>
          <a:solidFill>
            <a:srgbClr val="D52B1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2" name="TextBox 41"/>
          <p:cNvSpPr txBox="1"/>
          <p:nvPr/>
        </p:nvSpPr>
        <p:spPr>
          <a:xfrm>
            <a:off x="1988204" y="1727830"/>
            <a:ext cx="2864466" cy="646331"/>
          </a:xfrm>
          <a:prstGeom prst="rect">
            <a:avLst/>
          </a:prstGeom>
          <a:noFill/>
        </p:spPr>
        <p:txBody>
          <a:bodyPr wrap="square" rtlCol="0">
            <a:spAutoFit/>
          </a:bodyPr>
          <a:lstStyle/>
          <a:p>
            <a:r>
              <a:rPr lang="en-US" sz="1200" dirty="0" smtClean="0"/>
              <a:t>1-2 large trainings (50-500 farmers)  organized at meeting venue to create awareness and provide basic training</a:t>
            </a:r>
          </a:p>
        </p:txBody>
      </p:sp>
      <p:sp>
        <p:nvSpPr>
          <p:cNvPr id="43" name="TextBox 42"/>
          <p:cNvSpPr txBox="1"/>
          <p:nvPr/>
        </p:nvSpPr>
        <p:spPr>
          <a:xfrm>
            <a:off x="1988204" y="2592699"/>
            <a:ext cx="2699530" cy="830997"/>
          </a:xfrm>
          <a:prstGeom prst="rect">
            <a:avLst/>
          </a:prstGeom>
          <a:noFill/>
        </p:spPr>
        <p:txBody>
          <a:bodyPr wrap="square" rtlCol="0">
            <a:spAutoFit/>
          </a:bodyPr>
          <a:lstStyle/>
          <a:p>
            <a:r>
              <a:rPr lang="en-US" sz="1200" dirty="0" smtClean="0"/>
              <a:t>Demonstration plots established and several trainings (2-4) organized for smaller groups (50-80 farmers) to show impact of GAPs</a:t>
            </a:r>
          </a:p>
        </p:txBody>
      </p:sp>
      <p:sp>
        <p:nvSpPr>
          <p:cNvPr id="44" name="TextBox 43"/>
          <p:cNvSpPr txBox="1"/>
          <p:nvPr/>
        </p:nvSpPr>
        <p:spPr>
          <a:xfrm>
            <a:off x="1988204" y="3729666"/>
            <a:ext cx="2699530" cy="830997"/>
          </a:xfrm>
          <a:prstGeom prst="rect">
            <a:avLst/>
          </a:prstGeom>
          <a:noFill/>
        </p:spPr>
        <p:txBody>
          <a:bodyPr wrap="square" rtlCol="0">
            <a:spAutoFit/>
          </a:bodyPr>
          <a:lstStyle/>
          <a:p>
            <a:r>
              <a:rPr lang="en-US" sz="1200" dirty="0" smtClean="0"/>
              <a:t>Small demo plots established and frequent trainings (6-12) organized for small groups (20-30) and rigorous data collection and analysis</a:t>
            </a:r>
          </a:p>
        </p:txBody>
      </p:sp>
      <p:sp>
        <p:nvSpPr>
          <p:cNvPr id="36" name="McK Footnote"/>
          <p:cNvSpPr txBox="1">
            <a:spLocks noChangeArrowheads="1"/>
          </p:cNvSpPr>
          <p:nvPr/>
        </p:nvSpPr>
        <p:spPr bwMode="auto">
          <a:xfrm>
            <a:off x="643529" y="6252409"/>
            <a:ext cx="8485187" cy="1384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MEAS report, stakeholder interviews </a:t>
            </a:r>
            <a:endParaRPr lang="en-US" sz="900" dirty="0">
              <a:solidFill>
                <a:schemeClr val="tx1">
                  <a:lumMod val="65000"/>
                  <a:lumOff val="35000"/>
                </a:schemeClr>
              </a:solidFill>
            </a:endParaRPr>
          </a:p>
        </p:txBody>
      </p:sp>
      <p:sp>
        <p:nvSpPr>
          <p:cNvPr id="41" name="Rectangle 40"/>
          <p:cNvSpPr>
            <a:spLocks noChangeArrowheads="1"/>
          </p:cNvSpPr>
          <p:nvPr/>
        </p:nvSpPr>
        <p:spPr bwMode="gray">
          <a:xfrm>
            <a:off x="388620" y="1727830"/>
            <a:ext cx="1341438" cy="540000"/>
          </a:xfrm>
          <a:prstGeom prst="rect">
            <a:avLst/>
          </a:prstGeom>
          <a:solidFill>
            <a:schemeClr val="bg1"/>
          </a:solidFill>
          <a:ln w="9525">
            <a:solidFill>
              <a:schemeClr val="accent1"/>
            </a:solidFill>
            <a:miter lim="800000"/>
            <a:headEnd/>
            <a:tailEnd/>
          </a:ln>
        </p:spPr>
        <p:txBody>
          <a:bodyPr lIns="46644" tIns="46644" rIns="46644" bIns="46644" anchor="ctr"/>
          <a:lstStyle/>
          <a:p>
            <a:pPr algn="ctr" defTabSz="912813"/>
            <a:r>
              <a:rPr lang="en-US" sz="1200" b="1" dirty="0" smtClean="0">
                <a:solidFill>
                  <a:schemeClr val="accent1"/>
                </a:solidFill>
              </a:rPr>
              <a:t>Classroom</a:t>
            </a:r>
            <a:endParaRPr lang="en-US" sz="1200" b="1" dirty="0">
              <a:solidFill>
                <a:schemeClr val="accent1"/>
              </a:solidFill>
            </a:endParaRPr>
          </a:p>
        </p:txBody>
      </p:sp>
      <p:sp>
        <p:nvSpPr>
          <p:cNvPr id="54" name="Rectangle 53"/>
          <p:cNvSpPr>
            <a:spLocks noChangeArrowheads="1"/>
          </p:cNvSpPr>
          <p:nvPr/>
        </p:nvSpPr>
        <p:spPr bwMode="gray">
          <a:xfrm>
            <a:off x="388620" y="2592699"/>
            <a:ext cx="1341438" cy="540000"/>
          </a:xfrm>
          <a:prstGeom prst="rect">
            <a:avLst/>
          </a:prstGeom>
          <a:solidFill>
            <a:schemeClr val="bg1"/>
          </a:solidFill>
          <a:ln w="9525">
            <a:solidFill>
              <a:schemeClr val="accent1"/>
            </a:solidFill>
            <a:miter lim="800000"/>
            <a:headEnd/>
            <a:tailEnd/>
          </a:ln>
        </p:spPr>
        <p:txBody>
          <a:bodyPr lIns="46644" tIns="46644" rIns="46644" bIns="46644" anchor="ctr"/>
          <a:lstStyle/>
          <a:p>
            <a:pPr algn="ctr" defTabSz="912813"/>
            <a:r>
              <a:rPr lang="en-US" sz="1200" b="1" dirty="0" smtClean="0">
                <a:solidFill>
                  <a:schemeClr val="accent1"/>
                </a:solidFill>
              </a:rPr>
              <a:t>Demonstration </a:t>
            </a:r>
            <a:r>
              <a:rPr lang="en-US" sz="1200" b="1" dirty="0">
                <a:solidFill>
                  <a:schemeClr val="accent1"/>
                </a:solidFill>
              </a:rPr>
              <a:t>p</a:t>
            </a:r>
            <a:r>
              <a:rPr lang="en-US" sz="1200" b="1" dirty="0" smtClean="0">
                <a:solidFill>
                  <a:schemeClr val="accent1"/>
                </a:solidFill>
              </a:rPr>
              <a:t>lots</a:t>
            </a:r>
            <a:endParaRPr lang="en-US" sz="1200" b="1" dirty="0">
              <a:solidFill>
                <a:schemeClr val="accent1"/>
              </a:solidFill>
            </a:endParaRPr>
          </a:p>
        </p:txBody>
      </p:sp>
      <p:sp>
        <p:nvSpPr>
          <p:cNvPr id="63" name="Rectangle 62"/>
          <p:cNvSpPr>
            <a:spLocks noChangeArrowheads="1"/>
          </p:cNvSpPr>
          <p:nvPr/>
        </p:nvSpPr>
        <p:spPr bwMode="gray">
          <a:xfrm>
            <a:off x="388620" y="3729666"/>
            <a:ext cx="1341438" cy="540000"/>
          </a:xfrm>
          <a:prstGeom prst="rect">
            <a:avLst/>
          </a:prstGeom>
          <a:solidFill>
            <a:schemeClr val="bg1"/>
          </a:solidFill>
          <a:ln w="9525">
            <a:solidFill>
              <a:schemeClr val="accent1"/>
            </a:solidFill>
            <a:miter lim="800000"/>
            <a:headEnd/>
            <a:tailEnd/>
          </a:ln>
        </p:spPr>
        <p:txBody>
          <a:bodyPr lIns="46644" tIns="46644" rIns="46644" bIns="46644" anchor="ctr"/>
          <a:lstStyle/>
          <a:p>
            <a:pPr algn="ctr" defTabSz="912813"/>
            <a:r>
              <a:rPr lang="en-US" sz="1200" b="1" dirty="0" smtClean="0">
                <a:solidFill>
                  <a:schemeClr val="accent1"/>
                </a:solidFill>
              </a:rPr>
              <a:t>Farmer field </a:t>
            </a:r>
            <a:r>
              <a:rPr lang="en-US" sz="1200" b="1" dirty="0">
                <a:solidFill>
                  <a:schemeClr val="accent1"/>
                </a:solidFill>
              </a:rPr>
              <a:t>s</a:t>
            </a:r>
            <a:r>
              <a:rPr lang="en-US" sz="1200" b="1" dirty="0" smtClean="0">
                <a:solidFill>
                  <a:schemeClr val="accent1"/>
                </a:solidFill>
              </a:rPr>
              <a:t>chools</a:t>
            </a:r>
            <a:endParaRPr lang="en-US" sz="1200" b="1" dirty="0">
              <a:solidFill>
                <a:schemeClr val="accent1"/>
              </a:solidFill>
            </a:endParaRPr>
          </a:p>
        </p:txBody>
      </p:sp>
      <p:sp>
        <p:nvSpPr>
          <p:cNvPr id="74" name="TextBox 73"/>
          <p:cNvSpPr txBox="1"/>
          <p:nvPr/>
        </p:nvSpPr>
        <p:spPr>
          <a:xfrm>
            <a:off x="388620" y="1250944"/>
            <a:ext cx="1587500" cy="276999"/>
          </a:xfrm>
          <a:prstGeom prst="rect">
            <a:avLst/>
          </a:prstGeom>
          <a:noFill/>
        </p:spPr>
        <p:txBody>
          <a:bodyPr wrap="square" rtlCol="0">
            <a:spAutoFit/>
          </a:bodyPr>
          <a:lstStyle/>
          <a:p>
            <a:r>
              <a:rPr lang="en-US" sz="1200" b="1" dirty="0" smtClean="0">
                <a:solidFill>
                  <a:schemeClr val="accent1"/>
                </a:solidFill>
              </a:rPr>
              <a:t>Training model</a:t>
            </a:r>
            <a:endParaRPr lang="en-US" sz="1200" b="1" dirty="0">
              <a:solidFill>
                <a:schemeClr val="accent1"/>
              </a:solidFill>
            </a:endParaRPr>
          </a:p>
        </p:txBody>
      </p:sp>
      <p:sp>
        <p:nvSpPr>
          <p:cNvPr id="76" name="TextBox 75"/>
          <p:cNvSpPr txBox="1"/>
          <p:nvPr/>
        </p:nvSpPr>
        <p:spPr>
          <a:xfrm>
            <a:off x="1988204" y="1250944"/>
            <a:ext cx="1574800" cy="276999"/>
          </a:xfrm>
          <a:prstGeom prst="rect">
            <a:avLst/>
          </a:prstGeom>
          <a:noFill/>
        </p:spPr>
        <p:txBody>
          <a:bodyPr wrap="square" rtlCol="0">
            <a:spAutoFit/>
          </a:bodyPr>
          <a:lstStyle/>
          <a:p>
            <a:r>
              <a:rPr lang="en-US" sz="1200" b="1" dirty="0" smtClean="0">
                <a:solidFill>
                  <a:schemeClr val="accent1"/>
                </a:solidFill>
              </a:rPr>
              <a:t>How it works</a:t>
            </a:r>
            <a:endParaRPr lang="en-US" sz="1200" b="1" dirty="0">
              <a:solidFill>
                <a:schemeClr val="accent1"/>
              </a:solidFill>
            </a:endParaRPr>
          </a:p>
        </p:txBody>
      </p:sp>
      <p:sp>
        <p:nvSpPr>
          <p:cNvPr id="77" name="TextBox 76"/>
          <p:cNvSpPr txBox="1"/>
          <p:nvPr/>
        </p:nvSpPr>
        <p:spPr>
          <a:xfrm>
            <a:off x="4805680" y="1250944"/>
            <a:ext cx="1574800" cy="276999"/>
          </a:xfrm>
          <a:prstGeom prst="rect">
            <a:avLst/>
          </a:prstGeom>
          <a:noFill/>
        </p:spPr>
        <p:txBody>
          <a:bodyPr wrap="square" rtlCol="0">
            <a:spAutoFit/>
          </a:bodyPr>
          <a:lstStyle/>
          <a:p>
            <a:r>
              <a:rPr lang="en-US" sz="1200" b="1" dirty="0" smtClean="0">
                <a:solidFill>
                  <a:schemeClr val="accent1"/>
                </a:solidFill>
              </a:rPr>
              <a:t>Likely impacts</a:t>
            </a:r>
            <a:endParaRPr lang="en-US" sz="1200" b="1" dirty="0">
              <a:solidFill>
                <a:schemeClr val="accent1"/>
              </a:solidFill>
            </a:endParaRPr>
          </a:p>
        </p:txBody>
      </p:sp>
      <p:sp>
        <p:nvSpPr>
          <p:cNvPr id="79" name="TextBox 78"/>
          <p:cNvSpPr txBox="1"/>
          <p:nvPr/>
        </p:nvSpPr>
        <p:spPr>
          <a:xfrm>
            <a:off x="4805680" y="2592699"/>
            <a:ext cx="2818130" cy="830997"/>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Effective at  demonstrating GAPs and reaching quick adopters</a:t>
            </a:r>
          </a:p>
          <a:p>
            <a:pPr marL="171450" indent="-171450">
              <a:buFont typeface="Arial" panose="020B0604020202020204" pitchFamily="34" charset="0"/>
              <a:buChar char="•"/>
            </a:pPr>
            <a:r>
              <a:rPr lang="en-US" sz="1200" dirty="0" smtClean="0"/>
              <a:t>May be less effective in changing behavior of slower adopters</a:t>
            </a:r>
          </a:p>
        </p:txBody>
      </p:sp>
      <p:sp>
        <p:nvSpPr>
          <p:cNvPr id="80" name="TextBox 79"/>
          <p:cNvSpPr txBox="1"/>
          <p:nvPr/>
        </p:nvSpPr>
        <p:spPr>
          <a:xfrm>
            <a:off x="4805680" y="3729666"/>
            <a:ext cx="3035300" cy="830997"/>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Effective at providing hands-on experience for implementation of GAPs</a:t>
            </a:r>
          </a:p>
          <a:p>
            <a:pPr marL="171450" indent="-171450">
              <a:buFont typeface="Arial" panose="020B0604020202020204" pitchFamily="34" charset="0"/>
              <a:buChar char="•"/>
            </a:pPr>
            <a:r>
              <a:rPr lang="en-US" sz="1200" dirty="0" smtClean="0"/>
              <a:t>Typically high adoption rate of farmers with varying skill levels</a:t>
            </a:r>
          </a:p>
        </p:txBody>
      </p:sp>
      <p:cxnSp>
        <p:nvCxnSpPr>
          <p:cNvPr id="85" name="Straight Connector 84"/>
          <p:cNvCxnSpPr/>
          <p:nvPr/>
        </p:nvCxnSpPr>
        <p:spPr bwMode="auto">
          <a:xfrm>
            <a:off x="388620" y="1555744"/>
            <a:ext cx="856107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sp>
        <p:nvSpPr>
          <p:cNvPr id="3" name="Title 2"/>
          <p:cNvSpPr>
            <a:spLocks noGrp="1"/>
          </p:cNvSpPr>
          <p:nvPr>
            <p:ph type="title"/>
          </p:nvPr>
        </p:nvSpPr>
        <p:spPr/>
        <p:txBody>
          <a:bodyPr/>
          <a:lstStyle/>
          <a:p>
            <a:pPr marL="268288"/>
            <a:r>
              <a:rPr lang="en-US" b="0" dirty="0" smtClean="0"/>
              <a:t>There are four common types of farmer training models with varying impact and cost</a:t>
            </a:r>
            <a:endParaRPr lang="en-US" b="0" dirty="0"/>
          </a:p>
        </p:txBody>
      </p:sp>
      <p:sp>
        <p:nvSpPr>
          <p:cNvPr id="27" name="Rectangle 26"/>
          <p:cNvSpPr>
            <a:spLocks noChangeArrowheads="1"/>
          </p:cNvSpPr>
          <p:nvPr/>
        </p:nvSpPr>
        <p:spPr bwMode="gray">
          <a:xfrm>
            <a:off x="388620" y="4822763"/>
            <a:ext cx="1341438" cy="540000"/>
          </a:xfrm>
          <a:prstGeom prst="rect">
            <a:avLst/>
          </a:prstGeom>
          <a:solidFill>
            <a:schemeClr val="bg1"/>
          </a:solidFill>
          <a:ln w="9525">
            <a:solidFill>
              <a:schemeClr val="accent1"/>
            </a:solidFill>
            <a:miter lim="800000"/>
            <a:headEnd/>
            <a:tailEnd/>
          </a:ln>
        </p:spPr>
        <p:txBody>
          <a:bodyPr lIns="46644" tIns="46644" rIns="46644" bIns="46644" anchor="ctr"/>
          <a:lstStyle/>
          <a:p>
            <a:pPr algn="ctr" defTabSz="912813"/>
            <a:r>
              <a:rPr lang="en-US" sz="1200" b="1" dirty="0" smtClean="0">
                <a:solidFill>
                  <a:schemeClr val="accent1"/>
                </a:solidFill>
              </a:rPr>
              <a:t>Individual visits</a:t>
            </a:r>
            <a:endParaRPr lang="en-US" sz="1200" b="1" dirty="0">
              <a:solidFill>
                <a:schemeClr val="accent1"/>
              </a:solidFill>
            </a:endParaRPr>
          </a:p>
        </p:txBody>
      </p:sp>
      <p:sp>
        <p:nvSpPr>
          <p:cNvPr id="28" name="TextBox 27"/>
          <p:cNvSpPr txBox="1"/>
          <p:nvPr/>
        </p:nvSpPr>
        <p:spPr>
          <a:xfrm>
            <a:off x="1988204" y="4822763"/>
            <a:ext cx="2864466" cy="830997"/>
          </a:xfrm>
          <a:prstGeom prst="rect">
            <a:avLst/>
          </a:prstGeom>
          <a:noFill/>
        </p:spPr>
        <p:txBody>
          <a:bodyPr wrap="square" rtlCol="0">
            <a:spAutoFit/>
          </a:bodyPr>
          <a:lstStyle/>
          <a:p>
            <a:r>
              <a:rPr lang="en-US" sz="1200" dirty="0" smtClean="0"/>
              <a:t>Individual, personalized training (4-6 visits/year) organized onsite to demonstrate and directly implement GAPs</a:t>
            </a:r>
          </a:p>
        </p:txBody>
      </p:sp>
      <p:sp>
        <p:nvSpPr>
          <p:cNvPr id="30" name="TextBox 29"/>
          <p:cNvSpPr txBox="1"/>
          <p:nvPr/>
        </p:nvSpPr>
        <p:spPr>
          <a:xfrm>
            <a:off x="7632700" y="1248404"/>
            <a:ext cx="1574800" cy="276999"/>
          </a:xfrm>
          <a:prstGeom prst="rect">
            <a:avLst/>
          </a:prstGeom>
          <a:noFill/>
        </p:spPr>
        <p:txBody>
          <a:bodyPr wrap="square" rtlCol="0">
            <a:spAutoFit/>
          </a:bodyPr>
          <a:lstStyle/>
          <a:p>
            <a:r>
              <a:rPr lang="en-US" sz="1200" b="1" dirty="0" smtClean="0">
                <a:solidFill>
                  <a:schemeClr val="accent1"/>
                </a:solidFill>
              </a:rPr>
              <a:t>Cost per farmer</a:t>
            </a:r>
            <a:endParaRPr lang="en-US" sz="1200" b="1" dirty="0">
              <a:solidFill>
                <a:schemeClr val="accent1"/>
              </a:solidFill>
            </a:endParaRPr>
          </a:p>
        </p:txBody>
      </p:sp>
      <p:sp>
        <p:nvSpPr>
          <p:cNvPr id="32" name="TextBox 31"/>
          <p:cNvSpPr txBox="1"/>
          <p:nvPr/>
        </p:nvSpPr>
        <p:spPr>
          <a:xfrm>
            <a:off x="7734935" y="1727830"/>
            <a:ext cx="1214755" cy="276999"/>
          </a:xfrm>
          <a:prstGeom prst="rect">
            <a:avLst/>
          </a:prstGeom>
          <a:noFill/>
        </p:spPr>
        <p:txBody>
          <a:bodyPr wrap="square" rtlCol="0">
            <a:spAutoFit/>
          </a:bodyPr>
          <a:lstStyle/>
          <a:p>
            <a:pPr algn="ctr"/>
            <a:r>
              <a:rPr lang="en-US" sz="1200" dirty="0" smtClean="0">
                <a:solidFill>
                  <a:schemeClr val="accent1"/>
                </a:solidFill>
              </a:rPr>
              <a:t>$</a:t>
            </a:r>
          </a:p>
        </p:txBody>
      </p:sp>
      <p:sp>
        <p:nvSpPr>
          <p:cNvPr id="33" name="TextBox 32"/>
          <p:cNvSpPr txBox="1"/>
          <p:nvPr/>
        </p:nvSpPr>
        <p:spPr>
          <a:xfrm>
            <a:off x="7734935" y="2592699"/>
            <a:ext cx="1214755" cy="276999"/>
          </a:xfrm>
          <a:prstGeom prst="rect">
            <a:avLst/>
          </a:prstGeom>
          <a:noFill/>
        </p:spPr>
        <p:txBody>
          <a:bodyPr wrap="square" rtlCol="0">
            <a:spAutoFit/>
          </a:bodyPr>
          <a:lstStyle/>
          <a:p>
            <a:pPr algn="ctr"/>
            <a:r>
              <a:rPr lang="en-US" sz="1200" dirty="0">
                <a:solidFill>
                  <a:schemeClr val="accent1"/>
                </a:solidFill>
              </a:rPr>
              <a:t>$</a:t>
            </a:r>
            <a:r>
              <a:rPr lang="en-US" sz="1200" dirty="0" smtClean="0">
                <a:solidFill>
                  <a:schemeClr val="accent1"/>
                </a:solidFill>
              </a:rPr>
              <a:t>$</a:t>
            </a:r>
          </a:p>
        </p:txBody>
      </p:sp>
      <p:sp>
        <p:nvSpPr>
          <p:cNvPr id="34" name="TextBox 33"/>
          <p:cNvSpPr txBox="1"/>
          <p:nvPr/>
        </p:nvSpPr>
        <p:spPr>
          <a:xfrm>
            <a:off x="7734935" y="3729666"/>
            <a:ext cx="1214755" cy="276999"/>
          </a:xfrm>
          <a:prstGeom prst="rect">
            <a:avLst/>
          </a:prstGeom>
          <a:noFill/>
        </p:spPr>
        <p:txBody>
          <a:bodyPr wrap="square" rtlCol="0">
            <a:spAutoFit/>
          </a:bodyPr>
          <a:lstStyle/>
          <a:p>
            <a:pPr algn="ctr"/>
            <a:r>
              <a:rPr lang="en-US" sz="1200" dirty="0" smtClean="0">
                <a:solidFill>
                  <a:schemeClr val="accent1"/>
                </a:solidFill>
              </a:rPr>
              <a:t>$$$</a:t>
            </a:r>
          </a:p>
        </p:txBody>
      </p:sp>
      <p:sp>
        <p:nvSpPr>
          <p:cNvPr id="35" name="TextBox 34"/>
          <p:cNvSpPr txBox="1"/>
          <p:nvPr/>
        </p:nvSpPr>
        <p:spPr>
          <a:xfrm>
            <a:off x="7734935" y="4822763"/>
            <a:ext cx="1214755" cy="276999"/>
          </a:xfrm>
          <a:prstGeom prst="rect">
            <a:avLst/>
          </a:prstGeom>
          <a:noFill/>
        </p:spPr>
        <p:txBody>
          <a:bodyPr wrap="square" rtlCol="0">
            <a:spAutoFit/>
          </a:bodyPr>
          <a:lstStyle/>
          <a:p>
            <a:pPr algn="ctr"/>
            <a:r>
              <a:rPr lang="en-US" sz="1200" dirty="0" smtClean="0">
                <a:solidFill>
                  <a:schemeClr val="accent1"/>
                </a:solidFill>
              </a:rPr>
              <a:t>$$$$</a:t>
            </a:r>
          </a:p>
        </p:txBody>
      </p:sp>
      <p:sp>
        <p:nvSpPr>
          <p:cNvPr id="8" name="Rectangle 7"/>
          <p:cNvSpPr/>
          <p:nvPr/>
        </p:nvSpPr>
        <p:spPr>
          <a:xfrm>
            <a:off x="7166610" y="811530"/>
            <a:ext cx="297180" cy="205740"/>
          </a:xfrm>
          <a:prstGeom prst="rect">
            <a:avLst/>
          </a:prstGeom>
          <a:solidFill>
            <a:srgbClr val="D52B1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TextBox 12"/>
          <p:cNvSpPr txBox="1"/>
          <p:nvPr/>
        </p:nvSpPr>
        <p:spPr>
          <a:xfrm>
            <a:off x="7540624" y="815876"/>
            <a:ext cx="1683385" cy="153888"/>
          </a:xfrm>
          <a:prstGeom prst="rect">
            <a:avLst/>
          </a:prstGeom>
          <a:noFill/>
        </p:spPr>
        <p:txBody>
          <a:bodyPr wrap="square" lIns="0" tIns="0" rIns="0" bIns="0" rtlCol="0">
            <a:spAutoFit/>
          </a:bodyPr>
          <a:lstStyle/>
          <a:p>
            <a:r>
              <a:rPr lang="en-US" sz="1000" dirty="0" smtClean="0">
                <a:solidFill>
                  <a:schemeClr val="accent1"/>
                </a:solidFill>
              </a:rPr>
              <a:t>Recommended approach</a:t>
            </a:r>
            <a:endParaRPr lang="en-US" sz="1000" dirty="0">
              <a:solidFill>
                <a:schemeClr val="accent1"/>
              </a:solidFill>
            </a:endParaRPr>
          </a:p>
        </p:txBody>
      </p:sp>
      <p:sp>
        <p:nvSpPr>
          <p:cNvPr id="78" name="TextBox 77"/>
          <p:cNvSpPr txBox="1"/>
          <p:nvPr/>
        </p:nvSpPr>
        <p:spPr>
          <a:xfrm>
            <a:off x="4805679" y="1727830"/>
            <a:ext cx="2929255" cy="830997"/>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Effective at teaching a small set of concepts</a:t>
            </a:r>
          </a:p>
          <a:p>
            <a:pPr marL="171450" indent="-171450">
              <a:buFont typeface="Arial" panose="020B0604020202020204" pitchFamily="34" charset="0"/>
              <a:buChar char="•"/>
            </a:pPr>
            <a:r>
              <a:rPr lang="en-US" sz="1200" dirty="0" smtClean="0"/>
              <a:t>Typically most useful for preparing for certification</a:t>
            </a:r>
          </a:p>
        </p:txBody>
      </p:sp>
      <p:sp>
        <p:nvSpPr>
          <p:cNvPr id="29" name="TextBox 28"/>
          <p:cNvSpPr txBox="1"/>
          <p:nvPr/>
        </p:nvSpPr>
        <p:spPr>
          <a:xfrm>
            <a:off x="4805680" y="4822763"/>
            <a:ext cx="3035300" cy="830997"/>
          </a:xfrm>
          <a:prstGeom prst="rect">
            <a:avLst/>
          </a:prstGeom>
          <a:noFill/>
        </p:spPr>
        <p:txBody>
          <a:bodyPr wrap="square" rtlCol="0">
            <a:spAutoFit/>
          </a:bodyPr>
          <a:lstStyle/>
          <a:p>
            <a:pPr marL="171450" indent="-171450">
              <a:buFont typeface="Arial" panose="020B0604020202020204" pitchFamily="34" charset="0"/>
              <a:buChar char="•"/>
            </a:pPr>
            <a:r>
              <a:rPr lang="en-US" sz="1200" dirty="0"/>
              <a:t>E</a:t>
            </a:r>
            <a:r>
              <a:rPr lang="en-US" sz="1200" dirty="0" smtClean="0"/>
              <a:t>ffective for more advanced, technically skilled farmers</a:t>
            </a:r>
          </a:p>
          <a:p>
            <a:pPr marL="171450" indent="-171450">
              <a:buFont typeface="Arial" panose="020B0604020202020204" pitchFamily="34" charset="0"/>
              <a:buChar char="•"/>
            </a:pPr>
            <a:r>
              <a:rPr lang="en-US" sz="1200" dirty="0" smtClean="0"/>
              <a:t>May be less effective for farmers who learn better through peer interaction</a:t>
            </a:r>
          </a:p>
        </p:txBody>
      </p:sp>
      <p:cxnSp>
        <p:nvCxnSpPr>
          <p:cNvPr id="37" name="Straight Connector 36"/>
          <p:cNvCxnSpPr/>
          <p:nvPr/>
        </p:nvCxnSpPr>
        <p:spPr bwMode="auto">
          <a:xfrm>
            <a:off x="388620" y="2542534"/>
            <a:ext cx="8561070"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cxnSp>
        <p:nvCxnSpPr>
          <p:cNvPr id="39" name="Straight Connector 38"/>
          <p:cNvCxnSpPr/>
          <p:nvPr/>
        </p:nvCxnSpPr>
        <p:spPr bwMode="auto">
          <a:xfrm>
            <a:off x="388620" y="3483604"/>
            <a:ext cx="8561070"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cxnSp>
        <p:nvCxnSpPr>
          <p:cNvPr id="40" name="Straight Connector 39"/>
          <p:cNvCxnSpPr/>
          <p:nvPr/>
        </p:nvCxnSpPr>
        <p:spPr bwMode="auto">
          <a:xfrm>
            <a:off x="388620" y="4706614"/>
            <a:ext cx="8561070"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sp>
        <p:nvSpPr>
          <p:cNvPr id="38" name="Oval 37"/>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19924412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Object 99" hidden="1"/>
          <p:cNvGraphicFramePr>
            <a:graphicFrameLocks/>
          </p:cNvGraphicFramePr>
          <p:nvPr>
            <p:custDataLst>
              <p:tags r:id="rId2"/>
            </p:custDataLst>
            <p:extLst>
              <p:ext uri="{D42A27DB-BD31-4B8C-83A1-F6EECF244321}">
                <p14:modId xmlns:p14="http://schemas.microsoft.com/office/powerpoint/2010/main" val="4266723247"/>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87778" name="think-cell Slide" r:id="rId6" imgW="360" imgH="360" progId="TCLayout.ActiveDocument.1">
                  <p:embed/>
                </p:oleObj>
              </mc:Choice>
              <mc:Fallback>
                <p:oleObj name="think-cell Slide" r:id="rId6" imgW="360" imgH="360" progId="TCLayout.ActiveDocument.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 name="Rectangle 9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30" name="Rectangle 29"/>
          <p:cNvSpPr/>
          <p:nvPr/>
        </p:nvSpPr>
        <p:spPr>
          <a:xfrm>
            <a:off x="1806499" y="1561620"/>
            <a:ext cx="6768789" cy="4437735"/>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entagon 2"/>
          <p:cNvSpPr/>
          <p:nvPr/>
        </p:nvSpPr>
        <p:spPr>
          <a:xfrm>
            <a:off x="328536" y="2843561"/>
            <a:ext cx="1845956" cy="2036102"/>
          </a:xfrm>
          <a:prstGeom prst="homePlate">
            <a:avLst>
              <a:gd name="adj" fmla="val 10567"/>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p:txBody>
          <a:bodyPr/>
          <a:lstStyle/>
          <a:p>
            <a:pPr marL="268288"/>
            <a:r>
              <a:rPr lang="en-US" b="0" dirty="0" smtClean="0"/>
              <a:t>Innovative strategies to target youth in training program could enhance program’s results</a:t>
            </a:r>
            <a:endParaRPr lang="en-US" b="0" dirty="0"/>
          </a:p>
        </p:txBody>
      </p:sp>
      <p:sp>
        <p:nvSpPr>
          <p:cNvPr id="17" name="McK Footnote"/>
          <p:cNvSpPr txBox="1">
            <a:spLocks noChangeArrowheads="1"/>
          </p:cNvSpPr>
          <p:nvPr/>
        </p:nvSpPr>
        <p:spPr bwMode="auto">
          <a:xfrm>
            <a:off x="700542" y="6248044"/>
            <a:ext cx="8485187" cy="138499"/>
          </a:xfrm>
          <a:prstGeom prst="rect">
            <a:avLst/>
          </a:prstGeom>
          <a:noFill/>
          <a:ln w="9525">
            <a:noFill/>
            <a:miter lim="800000"/>
            <a:headEnd/>
            <a:tailEnd/>
          </a:ln>
        </p:spPr>
        <p:txBody>
          <a:bodyPr lIns="0" tIns="0" rIns="0" bIns="0" anchor="b">
            <a:spAutoFit/>
          </a:bodyPr>
          <a:lstStyle/>
          <a:p>
            <a:pPr marL="563563" indent="-563563" defTabSz="895350">
              <a:spcBef>
                <a:spcPct val="20000"/>
              </a:spcBef>
              <a:tabLst>
                <a:tab pos="517525" algn="r"/>
              </a:tabLst>
            </a:pPr>
            <a:r>
              <a:rPr lang="en-US" sz="900" dirty="0" smtClean="0">
                <a:solidFill>
                  <a:schemeClr val="tx1">
                    <a:lumMod val="65000"/>
                    <a:lumOff val="35000"/>
                  </a:schemeClr>
                </a:solidFill>
              </a:rPr>
              <a:t>Source:  TechnoServe analysis</a:t>
            </a:r>
          </a:p>
        </p:txBody>
      </p:sp>
      <p:sp>
        <p:nvSpPr>
          <p:cNvPr id="34" name="Oval 33"/>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
        <p:nvSpPr>
          <p:cNvPr id="2" name="TextBox 1"/>
          <p:cNvSpPr txBox="1"/>
          <p:nvPr/>
        </p:nvSpPr>
        <p:spPr>
          <a:xfrm>
            <a:off x="472645" y="2988274"/>
            <a:ext cx="1562511" cy="1723549"/>
          </a:xfrm>
          <a:prstGeom prst="rect">
            <a:avLst/>
          </a:prstGeom>
          <a:noFill/>
        </p:spPr>
        <p:txBody>
          <a:bodyPr wrap="square" lIns="0" tIns="0" rIns="0" bIns="0" rtlCol="0">
            <a:spAutoFit/>
          </a:bodyPr>
          <a:lstStyle/>
          <a:p>
            <a:r>
              <a:rPr lang="en-US" sz="1400" dirty="0" smtClean="0"/>
              <a:t>Currently many youth migrate to more urban areas as coffee farming does not constitute an interesting income opportunity for many of them</a:t>
            </a:r>
            <a:endParaRPr lang="en-US" sz="1400" dirty="0"/>
          </a:p>
        </p:txBody>
      </p:sp>
      <p:sp>
        <p:nvSpPr>
          <p:cNvPr id="12" name="Rectangle 11"/>
          <p:cNvSpPr/>
          <p:nvPr/>
        </p:nvSpPr>
        <p:spPr>
          <a:xfrm>
            <a:off x="2419818" y="2620536"/>
            <a:ext cx="858644" cy="3100039"/>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382565" y="2182074"/>
            <a:ext cx="4828478" cy="215444"/>
          </a:xfrm>
          <a:prstGeom prst="rect">
            <a:avLst/>
          </a:prstGeom>
          <a:noFill/>
        </p:spPr>
        <p:txBody>
          <a:bodyPr wrap="square" lIns="0" tIns="0" rIns="0" bIns="0" rtlCol="0">
            <a:spAutoFit/>
          </a:bodyPr>
          <a:lstStyle/>
          <a:p>
            <a:r>
              <a:rPr lang="en-US" sz="1400" b="1" dirty="0" smtClean="0">
                <a:solidFill>
                  <a:schemeClr val="accent1"/>
                </a:solidFill>
              </a:rPr>
              <a:t>Benefits of including youth on farm-level</a:t>
            </a:r>
            <a:endParaRPr lang="en-US" sz="1400" b="1" dirty="0">
              <a:solidFill>
                <a:schemeClr val="accent1"/>
              </a:solidFill>
            </a:endParaRPr>
          </a:p>
        </p:txBody>
      </p:sp>
      <p:sp>
        <p:nvSpPr>
          <p:cNvPr id="15" name="Rectangle 14"/>
          <p:cNvSpPr/>
          <p:nvPr/>
        </p:nvSpPr>
        <p:spPr>
          <a:xfrm>
            <a:off x="2849140" y="2765504"/>
            <a:ext cx="5257800" cy="565850"/>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2849140" y="3506465"/>
            <a:ext cx="5257800" cy="565850"/>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2849140" y="4221168"/>
            <a:ext cx="5257800" cy="565850"/>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Rectangle 50"/>
          <p:cNvSpPr/>
          <p:nvPr/>
        </p:nvSpPr>
        <p:spPr>
          <a:xfrm>
            <a:off x="2849140" y="4976305"/>
            <a:ext cx="5257800" cy="565850"/>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2382565" y="2442122"/>
            <a:ext cx="5724375"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2949499" y="2832986"/>
            <a:ext cx="5157441" cy="430887"/>
          </a:xfrm>
          <a:prstGeom prst="rect">
            <a:avLst/>
          </a:prstGeom>
          <a:noFill/>
        </p:spPr>
        <p:txBody>
          <a:bodyPr wrap="square" lIns="0" tIns="0" rIns="0" bIns="0" rtlCol="0">
            <a:spAutoFit/>
          </a:bodyPr>
          <a:lstStyle/>
          <a:p>
            <a:r>
              <a:rPr lang="en-US" sz="1400" dirty="0"/>
              <a:t>Higher likelihood of adopting new practices and </a:t>
            </a:r>
            <a:r>
              <a:rPr lang="en-US" sz="1400" dirty="0" smtClean="0"/>
              <a:t>technology, leading to more productive and efficient coffee farming</a:t>
            </a:r>
            <a:endParaRPr lang="en-US" sz="1400" dirty="0"/>
          </a:p>
        </p:txBody>
      </p:sp>
      <p:sp>
        <p:nvSpPr>
          <p:cNvPr id="56" name="TextBox 55"/>
          <p:cNvSpPr txBox="1"/>
          <p:nvPr/>
        </p:nvSpPr>
        <p:spPr>
          <a:xfrm>
            <a:off x="2949499" y="3573947"/>
            <a:ext cx="5257800" cy="430887"/>
          </a:xfrm>
          <a:prstGeom prst="rect">
            <a:avLst/>
          </a:prstGeom>
          <a:noFill/>
        </p:spPr>
        <p:txBody>
          <a:bodyPr wrap="square" lIns="0" tIns="0" rIns="0" bIns="0" rtlCol="0">
            <a:spAutoFit/>
          </a:bodyPr>
          <a:lstStyle/>
          <a:p>
            <a:r>
              <a:rPr lang="en-US" sz="1400" dirty="0"/>
              <a:t>Higher likelihood of managing farm as a business and </a:t>
            </a:r>
            <a:r>
              <a:rPr lang="en-US" sz="1400" dirty="0" smtClean="0"/>
              <a:t>applying basic </a:t>
            </a:r>
            <a:r>
              <a:rPr lang="en-US" sz="1400" dirty="0"/>
              <a:t>business </a:t>
            </a:r>
            <a:r>
              <a:rPr lang="en-US" sz="1400" dirty="0" smtClean="0"/>
              <a:t>and financial management skills</a:t>
            </a:r>
            <a:endParaRPr lang="en-US" sz="1400" dirty="0"/>
          </a:p>
        </p:txBody>
      </p:sp>
      <p:sp>
        <p:nvSpPr>
          <p:cNvPr id="57" name="TextBox 56"/>
          <p:cNvSpPr txBox="1"/>
          <p:nvPr/>
        </p:nvSpPr>
        <p:spPr>
          <a:xfrm>
            <a:off x="2949499" y="4396371"/>
            <a:ext cx="5257800" cy="215444"/>
          </a:xfrm>
          <a:prstGeom prst="rect">
            <a:avLst/>
          </a:prstGeom>
          <a:noFill/>
        </p:spPr>
        <p:txBody>
          <a:bodyPr wrap="square" lIns="0" tIns="0" rIns="0" bIns="0" rtlCol="0">
            <a:spAutoFit/>
          </a:bodyPr>
          <a:lstStyle/>
          <a:p>
            <a:r>
              <a:rPr lang="en-US" sz="1400" dirty="0" smtClean="0"/>
              <a:t>More open to invest in coffee farming</a:t>
            </a:r>
            <a:endParaRPr lang="en-US" sz="1400" dirty="0"/>
          </a:p>
        </p:txBody>
      </p:sp>
      <p:sp>
        <p:nvSpPr>
          <p:cNvPr id="58" name="TextBox 57"/>
          <p:cNvSpPr txBox="1"/>
          <p:nvPr/>
        </p:nvSpPr>
        <p:spPr>
          <a:xfrm>
            <a:off x="2949499" y="5051149"/>
            <a:ext cx="4923262" cy="430887"/>
          </a:xfrm>
          <a:prstGeom prst="rect">
            <a:avLst/>
          </a:prstGeom>
          <a:noFill/>
        </p:spPr>
        <p:txBody>
          <a:bodyPr wrap="square" lIns="0" tIns="0" rIns="0" bIns="0" rtlCol="0">
            <a:spAutoFit/>
          </a:bodyPr>
          <a:lstStyle/>
          <a:p>
            <a:r>
              <a:rPr lang="en-US" sz="1400" dirty="0" smtClean="0"/>
              <a:t>Coffee continues to be a key source for rural employment (both for coffee farmers and coffee workers)</a:t>
            </a:r>
            <a:endParaRPr lang="en-US" sz="1400" dirty="0"/>
          </a:p>
        </p:txBody>
      </p:sp>
      <p:sp>
        <p:nvSpPr>
          <p:cNvPr id="33" name="Rectangle 32"/>
          <p:cNvSpPr/>
          <p:nvPr/>
        </p:nvSpPr>
        <p:spPr>
          <a:xfrm>
            <a:off x="1806499" y="1346177"/>
            <a:ext cx="6768789" cy="56068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247864" y="1413083"/>
            <a:ext cx="5959435" cy="430887"/>
          </a:xfrm>
          <a:prstGeom prst="rect">
            <a:avLst/>
          </a:prstGeom>
          <a:noFill/>
        </p:spPr>
        <p:txBody>
          <a:bodyPr wrap="square" lIns="0" tIns="0" rIns="0" bIns="0" rtlCol="0">
            <a:spAutoFit/>
          </a:bodyPr>
          <a:lstStyle/>
          <a:p>
            <a:r>
              <a:rPr lang="en-US" sz="1400" b="1" dirty="0" smtClean="0">
                <a:solidFill>
                  <a:schemeClr val="bg1"/>
                </a:solidFill>
              </a:rPr>
              <a:t>Training program should actively involve the youth to ensure that coffee farming continues to be a key source of rural development</a:t>
            </a:r>
            <a:endParaRPr lang="en-US" sz="1400" b="1" dirty="0">
              <a:solidFill>
                <a:schemeClr val="bg1"/>
              </a:solidFill>
            </a:endParaRPr>
          </a:p>
        </p:txBody>
      </p:sp>
    </p:spTree>
    <p:extLst>
      <p:ext uri="{BB962C8B-B14F-4D97-AF65-F5344CB8AC3E}">
        <p14:creationId xmlns:p14="http://schemas.microsoft.com/office/powerpoint/2010/main" val="22552805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Object 99" hidden="1"/>
          <p:cNvGraphicFramePr>
            <a:graphicFrameLocks/>
          </p:cNvGraphicFramePr>
          <p:nvPr>
            <p:custDataLst>
              <p:tags r:id="rId2"/>
            </p:custDataLst>
            <p:extLst>
              <p:ext uri="{D42A27DB-BD31-4B8C-83A1-F6EECF244321}">
                <p14:modId xmlns:p14="http://schemas.microsoft.com/office/powerpoint/2010/main" val="50841780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03962" name="think-cell Slide" r:id="rId6" imgW="360" imgH="360" progId="TCLayout.ActiveDocument.1">
                  <p:embed/>
                </p:oleObj>
              </mc:Choice>
              <mc:Fallback>
                <p:oleObj name="think-cell Slide" r:id="rId6" imgW="360" imgH="360" progId="TCLayout.ActiveDocument.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 name="Rectangle 9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6" name="Title 5"/>
          <p:cNvSpPr>
            <a:spLocks noGrp="1"/>
          </p:cNvSpPr>
          <p:nvPr>
            <p:ph type="title"/>
          </p:nvPr>
        </p:nvSpPr>
        <p:spPr/>
        <p:txBody>
          <a:bodyPr/>
          <a:lstStyle/>
          <a:p>
            <a:pPr marL="268288"/>
            <a:r>
              <a:rPr lang="en-US" b="0" dirty="0" smtClean="0"/>
              <a:t>Besides engaging the youth on-farm, the coffee industry offers a variety of employment opportunities </a:t>
            </a:r>
            <a:endParaRPr lang="en-US" b="0" dirty="0"/>
          </a:p>
        </p:txBody>
      </p:sp>
      <p:sp>
        <p:nvSpPr>
          <p:cNvPr id="17" name="McK Footnote"/>
          <p:cNvSpPr txBox="1">
            <a:spLocks noChangeArrowheads="1"/>
          </p:cNvSpPr>
          <p:nvPr/>
        </p:nvSpPr>
        <p:spPr bwMode="auto">
          <a:xfrm>
            <a:off x="700542" y="6248044"/>
            <a:ext cx="8485187" cy="138499"/>
          </a:xfrm>
          <a:prstGeom prst="rect">
            <a:avLst/>
          </a:prstGeom>
          <a:noFill/>
          <a:ln w="9525">
            <a:noFill/>
            <a:miter lim="800000"/>
            <a:headEnd/>
            <a:tailEnd/>
          </a:ln>
        </p:spPr>
        <p:txBody>
          <a:bodyPr lIns="0" tIns="0" rIns="0" bIns="0" anchor="b">
            <a:spAutoFit/>
          </a:bodyPr>
          <a:lstStyle/>
          <a:p>
            <a:pPr marL="563563" indent="-563563" defTabSz="895350">
              <a:spcBef>
                <a:spcPct val="20000"/>
              </a:spcBef>
              <a:tabLst>
                <a:tab pos="517525" algn="r"/>
              </a:tabLst>
            </a:pPr>
            <a:r>
              <a:rPr lang="en-US" sz="900" dirty="0" smtClean="0">
                <a:solidFill>
                  <a:schemeClr val="tx1">
                    <a:lumMod val="65000"/>
                    <a:lumOff val="35000"/>
                  </a:schemeClr>
                </a:solidFill>
              </a:rPr>
              <a:t>Source:  TechnoServe analysis</a:t>
            </a:r>
          </a:p>
        </p:txBody>
      </p:sp>
      <p:sp>
        <p:nvSpPr>
          <p:cNvPr id="20" name="3 Elipse"/>
          <p:cNvSpPr/>
          <p:nvPr/>
        </p:nvSpPr>
        <p:spPr>
          <a:xfrm>
            <a:off x="772764" y="1758708"/>
            <a:ext cx="3290587" cy="4343420"/>
          </a:xfrm>
          <a:prstGeom prst="ellipse">
            <a:avLst/>
          </a:prstGeom>
          <a:solidFill>
            <a:srgbClr val="BEBF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r>
              <a:rPr lang="es-CR" dirty="0" err="1">
                <a:solidFill>
                  <a:srgbClr val="FFFFFF"/>
                </a:solidFill>
              </a:rPr>
              <a:t>Direct</a:t>
            </a:r>
            <a:r>
              <a:rPr lang="es-CR" dirty="0">
                <a:solidFill>
                  <a:srgbClr val="FFFFFF"/>
                </a:solidFill>
              </a:rPr>
              <a:t> </a:t>
            </a:r>
            <a:r>
              <a:rPr lang="es-CR" dirty="0" err="1">
                <a:solidFill>
                  <a:srgbClr val="FFFFFF"/>
                </a:solidFill>
              </a:rPr>
              <a:t>Farm</a:t>
            </a:r>
            <a:endParaRPr lang="es-CR" dirty="0">
              <a:solidFill>
                <a:srgbClr val="FFFFFF"/>
              </a:solidFill>
            </a:endParaRPr>
          </a:p>
        </p:txBody>
      </p:sp>
      <p:sp>
        <p:nvSpPr>
          <p:cNvPr id="21" name="4 Elipse"/>
          <p:cNvSpPr/>
          <p:nvPr/>
        </p:nvSpPr>
        <p:spPr>
          <a:xfrm>
            <a:off x="1287682" y="2922764"/>
            <a:ext cx="2260751" cy="3249213"/>
          </a:xfrm>
          <a:prstGeom prst="ellipse">
            <a:avLst/>
          </a:prstGeom>
          <a:solidFill>
            <a:srgbClr val="21249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es-CR" dirty="0">
              <a:solidFill>
                <a:srgbClr val="FFFFFF"/>
              </a:solidFill>
            </a:endParaRPr>
          </a:p>
        </p:txBody>
      </p:sp>
      <p:sp>
        <p:nvSpPr>
          <p:cNvPr id="22" name="5 Elipse"/>
          <p:cNvSpPr/>
          <p:nvPr/>
        </p:nvSpPr>
        <p:spPr>
          <a:xfrm>
            <a:off x="1751681" y="4434325"/>
            <a:ext cx="1332752" cy="173765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es-CR">
              <a:solidFill>
                <a:srgbClr val="FFFFFF"/>
              </a:solidFill>
            </a:endParaRPr>
          </a:p>
        </p:txBody>
      </p:sp>
      <p:sp>
        <p:nvSpPr>
          <p:cNvPr id="23" name="6 CuadroTexto"/>
          <p:cNvSpPr txBox="1">
            <a:spLocks noChangeArrowheads="1"/>
          </p:cNvSpPr>
          <p:nvPr/>
        </p:nvSpPr>
        <p:spPr bwMode="auto">
          <a:xfrm>
            <a:off x="1527723" y="2098177"/>
            <a:ext cx="1777941" cy="523220"/>
          </a:xfrm>
          <a:prstGeom prst="rect">
            <a:avLst/>
          </a:prstGeom>
          <a:noFill/>
          <a:ln w="9525">
            <a:noFill/>
            <a:miter lim="800000"/>
            <a:headEnd/>
            <a:tailEnd/>
          </a:ln>
        </p:spPr>
        <p:txBody>
          <a:bodyPr wrap="square">
            <a:spAutoFit/>
          </a:bodyPr>
          <a:lstStyle/>
          <a:p>
            <a:pPr algn="ctr" defTabSz="914400" fontAlgn="base">
              <a:spcBef>
                <a:spcPct val="0"/>
              </a:spcBef>
              <a:spcAft>
                <a:spcPct val="0"/>
              </a:spcAft>
            </a:pPr>
            <a:r>
              <a:rPr lang="es-CR" sz="1400" b="1" dirty="0" err="1" smtClean="0">
                <a:solidFill>
                  <a:schemeClr val="accent1"/>
                </a:solidFill>
                <a:cs typeface="Arial" charset="0"/>
              </a:rPr>
              <a:t>Wider</a:t>
            </a:r>
            <a:r>
              <a:rPr lang="es-CR" sz="1400" b="1" dirty="0" smtClean="0">
                <a:solidFill>
                  <a:schemeClr val="accent1"/>
                </a:solidFill>
                <a:cs typeface="Arial" charset="0"/>
              </a:rPr>
              <a:t> </a:t>
            </a:r>
            <a:r>
              <a:rPr lang="es-CR" sz="1400" b="1" dirty="0" err="1" smtClean="0">
                <a:solidFill>
                  <a:schemeClr val="accent1"/>
                </a:solidFill>
                <a:cs typeface="Arial" charset="0"/>
              </a:rPr>
              <a:t>coffee</a:t>
            </a:r>
            <a:r>
              <a:rPr lang="es-CR" sz="1400" b="1" dirty="0" smtClean="0">
                <a:solidFill>
                  <a:schemeClr val="accent1"/>
                </a:solidFill>
                <a:cs typeface="Arial" charset="0"/>
              </a:rPr>
              <a:t> sector</a:t>
            </a:r>
            <a:endParaRPr lang="es-CR" sz="1400" b="1" dirty="0">
              <a:solidFill>
                <a:schemeClr val="accent1"/>
              </a:solidFill>
              <a:cs typeface="Arial" charset="0"/>
            </a:endParaRPr>
          </a:p>
        </p:txBody>
      </p:sp>
      <p:sp>
        <p:nvSpPr>
          <p:cNvPr id="24" name="7 CuadroTexto"/>
          <p:cNvSpPr txBox="1">
            <a:spLocks noChangeArrowheads="1"/>
          </p:cNvSpPr>
          <p:nvPr/>
        </p:nvSpPr>
        <p:spPr bwMode="auto">
          <a:xfrm>
            <a:off x="1482582" y="3565665"/>
            <a:ext cx="2062108" cy="523220"/>
          </a:xfrm>
          <a:prstGeom prst="rect">
            <a:avLst/>
          </a:prstGeom>
          <a:noFill/>
          <a:ln w="9525">
            <a:noFill/>
            <a:miter lim="800000"/>
            <a:headEnd/>
            <a:tailEnd/>
          </a:ln>
        </p:spPr>
        <p:txBody>
          <a:bodyPr wrap="square">
            <a:spAutoFit/>
          </a:bodyPr>
          <a:lstStyle/>
          <a:p>
            <a:pPr algn="ctr" defTabSz="914400" fontAlgn="base">
              <a:spcBef>
                <a:spcPct val="0"/>
              </a:spcBef>
              <a:spcAft>
                <a:spcPct val="0"/>
              </a:spcAft>
            </a:pPr>
            <a:r>
              <a:rPr lang="de-DE" sz="1400" b="1" dirty="0" smtClean="0">
                <a:solidFill>
                  <a:schemeClr val="bg1"/>
                </a:solidFill>
                <a:cs typeface="Arial" charset="0"/>
              </a:rPr>
              <a:t>Regional coffee industry</a:t>
            </a:r>
            <a:endParaRPr lang="en-US" sz="1400" b="1" dirty="0">
              <a:solidFill>
                <a:schemeClr val="bg1"/>
              </a:solidFill>
              <a:cs typeface="Arial" charset="0"/>
            </a:endParaRPr>
          </a:p>
        </p:txBody>
      </p:sp>
      <p:sp>
        <p:nvSpPr>
          <p:cNvPr id="25" name="8 CuadroTexto"/>
          <p:cNvSpPr txBox="1">
            <a:spLocks noChangeArrowheads="1"/>
          </p:cNvSpPr>
          <p:nvPr/>
        </p:nvSpPr>
        <p:spPr bwMode="auto">
          <a:xfrm>
            <a:off x="1724241" y="5205054"/>
            <a:ext cx="1353970" cy="307777"/>
          </a:xfrm>
          <a:prstGeom prst="rect">
            <a:avLst/>
          </a:prstGeom>
          <a:noFill/>
          <a:ln w="9525">
            <a:noFill/>
            <a:miter lim="800000"/>
            <a:headEnd/>
            <a:tailEnd/>
          </a:ln>
        </p:spPr>
        <p:txBody>
          <a:bodyPr wrap="square">
            <a:spAutoFit/>
          </a:bodyPr>
          <a:lstStyle/>
          <a:p>
            <a:pPr algn="ctr" defTabSz="914400" fontAlgn="base">
              <a:spcBef>
                <a:spcPct val="0"/>
              </a:spcBef>
              <a:spcAft>
                <a:spcPct val="0"/>
              </a:spcAft>
            </a:pPr>
            <a:r>
              <a:rPr lang="es-CR" sz="1400" b="1" dirty="0" err="1" smtClean="0">
                <a:solidFill>
                  <a:srgbClr val="FFFFFF"/>
                </a:solidFill>
                <a:cs typeface="Arial" charset="0"/>
              </a:rPr>
              <a:t>On-farm</a:t>
            </a:r>
            <a:endParaRPr lang="es-CR" sz="1400" b="1" dirty="0">
              <a:solidFill>
                <a:srgbClr val="FFFFFF"/>
              </a:solidFill>
              <a:cs typeface="Arial" charset="0"/>
            </a:endParaRPr>
          </a:p>
        </p:txBody>
      </p:sp>
      <p:sp>
        <p:nvSpPr>
          <p:cNvPr id="14" name="TextBox 13"/>
          <p:cNvSpPr txBox="1"/>
          <p:nvPr/>
        </p:nvSpPr>
        <p:spPr>
          <a:xfrm>
            <a:off x="690030" y="1239147"/>
            <a:ext cx="8175829" cy="215444"/>
          </a:xfrm>
          <a:prstGeom prst="rect">
            <a:avLst/>
          </a:prstGeom>
          <a:noFill/>
        </p:spPr>
        <p:txBody>
          <a:bodyPr wrap="square" lIns="0" tIns="0" rIns="0" bIns="0" rtlCol="0">
            <a:spAutoFit/>
          </a:bodyPr>
          <a:lstStyle/>
          <a:p>
            <a:r>
              <a:rPr lang="en-US" sz="1400" b="1" dirty="0" smtClean="0">
                <a:solidFill>
                  <a:schemeClr val="accent1"/>
                </a:solidFill>
              </a:rPr>
              <a:t>Potential employment opportunities for the youth</a:t>
            </a:r>
            <a:endParaRPr lang="en-US" sz="1400" b="1" dirty="0">
              <a:solidFill>
                <a:schemeClr val="accent1"/>
              </a:solidFill>
            </a:endParaRPr>
          </a:p>
        </p:txBody>
      </p:sp>
      <p:sp>
        <p:nvSpPr>
          <p:cNvPr id="27" name="TextBox 26"/>
          <p:cNvSpPr txBox="1"/>
          <p:nvPr/>
        </p:nvSpPr>
        <p:spPr>
          <a:xfrm>
            <a:off x="4698933" y="3838898"/>
            <a:ext cx="3850806" cy="861774"/>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400" dirty="0" smtClean="0"/>
              <a:t>Truck driver for collecting coffee</a:t>
            </a:r>
          </a:p>
          <a:p>
            <a:pPr marL="285750" indent="-285750">
              <a:buFont typeface="Arial" panose="020B0604020202020204" pitchFamily="34" charset="0"/>
              <a:buChar char="•"/>
            </a:pPr>
            <a:r>
              <a:rPr lang="en-US" sz="1400" dirty="0" smtClean="0"/>
              <a:t>Cooperative management</a:t>
            </a:r>
          </a:p>
          <a:p>
            <a:pPr marL="285750" indent="-285750">
              <a:buFont typeface="Arial" panose="020B0604020202020204" pitchFamily="34" charset="0"/>
              <a:buChar char="•"/>
            </a:pPr>
            <a:r>
              <a:rPr lang="en-US" sz="1400" dirty="0" smtClean="0"/>
              <a:t>Management of central wet mills</a:t>
            </a:r>
          </a:p>
          <a:p>
            <a:pPr marL="285750" indent="-285750">
              <a:buFont typeface="Arial" panose="020B0604020202020204" pitchFamily="34" charset="0"/>
              <a:buChar char="•"/>
            </a:pPr>
            <a:r>
              <a:rPr lang="en-US" sz="1400" dirty="0" smtClean="0"/>
              <a:t>Regional coffee committees</a:t>
            </a:r>
          </a:p>
        </p:txBody>
      </p:sp>
      <p:sp>
        <p:nvSpPr>
          <p:cNvPr id="28" name="TextBox 27"/>
          <p:cNvSpPr txBox="1"/>
          <p:nvPr/>
        </p:nvSpPr>
        <p:spPr>
          <a:xfrm>
            <a:off x="4698933" y="5238507"/>
            <a:ext cx="2846439" cy="646331"/>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400" dirty="0" smtClean="0"/>
              <a:t>Farm manager </a:t>
            </a:r>
          </a:p>
          <a:p>
            <a:pPr marL="285750" indent="-285750">
              <a:buFont typeface="Arial" panose="020B0604020202020204" pitchFamily="34" charset="0"/>
              <a:buChar char="•"/>
            </a:pPr>
            <a:r>
              <a:rPr lang="en-US" sz="1400" dirty="0"/>
              <a:t>Extension worker</a:t>
            </a:r>
          </a:p>
          <a:p>
            <a:endParaRPr lang="en-US" sz="1400" dirty="0"/>
          </a:p>
        </p:txBody>
      </p:sp>
      <p:sp>
        <p:nvSpPr>
          <p:cNvPr id="29" name="TextBox 28"/>
          <p:cNvSpPr txBox="1"/>
          <p:nvPr/>
        </p:nvSpPr>
        <p:spPr>
          <a:xfrm>
            <a:off x="4698933" y="2060990"/>
            <a:ext cx="3850807" cy="1077218"/>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400" dirty="0" smtClean="0"/>
              <a:t>Cupper</a:t>
            </a:r>
          </a:p>
          <a:p>
            <a:pPr marL="285750" indent="-285750">
              <a:buFont typeface="Arial" panose="020B0604020202020204" pitchFamily="34" charset="0"/>
              <a:buChar char="•"/>
            </a:pPr>
            <a:r>
              <a:rPr lang="en-US" sz="1400" dirty="0" smtClean="0"/>
              <a:t>Barista</a:t>
            </a:r>
          </a:p>
          <a:p>
            <a:pPr marL="285750" indent="-285750">
              <a:buFont typeface="Arial" panose="020B0604020202020204" pitchFamily="34" charset="0"/>
              <a:buChar char="•"/>
            </a:pPr>
            <a:r>
              <a:rPr lang="en-US" sz="1400" dirty="0" smtClean="0"/>
              <a:t>Fertilizer sales/distribution</a:t>
            </a:r>
          </a:p>
          <a:p>
            <a:pPr marL="285750" indent="-285750">
              <a:buFont typeface="Arial" panose="020B0604020202020204" pitchFamily="34" charset="0"/>
              <a:buChar char="•"/>
            </a:pPr>
            <a:r>
              <a:rPr lang="en-US" sz="1400" dirty="0" smtClean="0"/>
              <a:t>Trainer / auditor for certifier</a:t>
            </a:r>
          </a:p>
          <a:p>
            <a:pPr marL="285750" indent="-285750">
              <a:buFont typeface="Arial" panose="020B0604020202020204" pitchFamily="34" charset="0"/>
              <a:buChar char="•"/>
            </a:pPr>
            <a:r>
              <a:rPr lang="en-US" sz="1400" dirty="0" smtClean="0"/>
              <a:t>Researcher / investigator</a:t>
            </a:r>
            <a:endParaRPr lang="en-US" sz="1400" dirty="0"/>
          </a:p>
        </p:txBody>
      </p:sp>
      <p:cxnSp>
        <p:nvCxnSpPr>
          <p:cNvPr id="26" name="Straight Connector 25"/>
          <p:cNvCxnSpPr/>
          <p:nvPr/>
        </p:nvCxnSpPr>
        <p:spPr>
          <a:xfrm>
            <a:off x="4650050" y="5171601"/>
            <a:ext cx="0" cy="54897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90030" y="1527720"/>
            <a:ext cx="746318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02" name="Group 101"/>
          <p:cNvGrpSpPr/>
          <p:nvPr/>
        </p:nvGrpSpPr>
        <p:grpSpPr>
          <a:xfrm>
            <a:off x="2843553" y="5351765"/>
            <a:ext cx="1806495" cy="100361"/>
            <a:chOff x="2609384" y="5351765"/>
            <a:chExt cx="1806495" cy="100361"/>
          </a:xfrm>
        </p:grpSpPr>
        <p:cxnSp>
          <p:nvCxnSpPr>
            <p:cNvPr id="97" name="Straight Connector 96"/>
            <p:cNvCxnSpPr/>
            <p:nvPr/>
          </p:nvCxnSpPr>
          <p:spPr>
            <a:xfrm>
              <a:off x="2653990" y="5401945"/>
              <a:ext cx="176188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8" name="Oval 97"/>
            <p:cNvSpPr/>
            <p:nvPr/>
          </p:nvSpPr>
          <p:spPr>
            <a:xfrm>
              <a:off x="2609384" y="5351765"/>
              <a:ext cx="100361" cy="100361"/>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7" name="Straight Connector 36"/>
          <p:cNvCxnSpPr/>
          <p:nvPr/>
        </p:nvCxnSpPr>
        <p:spPr>
          <a:xfrm>
            <a:off x="4650050" y="3828531"/>
            <a:ext cx="0" cy="87214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650050" y="2061847"/>
            <a:ext cx="0" cy="107636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3" name="Group 42"/>
          <p:cNvGrpSpPr/>
          <p:nvPr/>
        </p:nvGrpSpPr>
        <p:grpSpPr>
          <a:xfrm>
            <a:off x="2843553" y="2632550"/>
            <a:ext cx="1806495" cy="100361"/>
            <a:chOff x="2609384" y="5351765"/>
            <a:chExt cx="1806495" cy="100361"/>
          </a:xfrm>
        </p:grpSpPr>
        <p:cxnSp>
          <p:nvCxnSpPr>
            <p:cNvPr id="44" name="Straight Connector 43"/>
            <p:cNvCxnSpPr/>
            <p:nvPr/>
          </p:nvCxnSpPr>
          <p:spPr>
            <a:xfrm>
              <a:off x="2653990" y="5401945"/>
              <a:ext cx="176188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2609384" y="5351765"/>
              <a:ext cx="100361" cy="100361"/>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p:cNvGrpSpPr/>
          <p:nvPr/>
        </p:nvGrpSpPr>
        <p:grpSpPr>
          <a:xfrm>
            <a:off x="2843553" y="4144397"/>
            <a:ext cx="1806495" cy="100361"/>
            <a:chOff x="2609384" y="5351765"/>
            <a:chExt cx="1806495" cy="100361"/>
          </a:xfrm>
        </p:grpSpPr>
        <p:cxnSp>
          <p:nvCxnSpPr>
            <p:cNvPr id="47" name="Straight Connector 46"/>
            <p:cNvCxnSpPr/>
            <p:nvPr/>
          </p:nvCxnSpPr>
          <p:spPr>
            <a:xfrm>
              <a:off x="2653990" y="5401945"/>
              <a:ext cx="176188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609384" y="5351765"/>
              <a:ext cx="100361" cy="100361"/>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Rectangle 3"/>
          <p:cNvSpPr>
            <a:spLocks noChangeArrowheads="1"/>
          </p:cNvSpPr>
          <p:nvPr/>
        </p:nvSpPr>
        <p:spPr bwMode="auto">
          <a:xfrm>
            <a:off x="6755428" y="1666202"/>
            <a:ext cx="1368243" cy="212349"/>
          </a:xfrm>
          <a:prstGeom prst="leftRightArrow">
            <a:avLst>
              <a:gd name="adj1" fmla="val 100000"/>
              <a:gd name="adj2" fmla="val 0"/>
            </a:avLst>
          </a:prstGeom>
          <a:noFill/>
          <a:ln>
            <a:noFill/>
          </a:ln>
          <a:extLst/>
        </p:spPr>
        <p:txBody>
          <a:bodyPr wrap="none" lIns="27415" tIns="0" rIns="0" bIns="27415">
            <a:spAutoFit/>
          </a:bodyPr>
          <a:lstStyle/>
          <a:p>
            <a:pPr marL="342900" indent="-342900" algn="r" defTabSz="895350" eaLnBrk="0" hangingPunct="0">
              <a:buSzPct val="120000"/>
              <a:defRPr/>
            </a:pPr>
            <a:r>
              <a:rPr lang="en-US" sz="1200" dirty="0" smtClean="0">
                <a:solidFill>
                  <a:schemeClr val="bg1">
                    <a:lumMod val="50000"/>
                  </a:schemeClr>
                </a:solidFill>
                <a:ea typeface="ＭＳ Ｐゴシック" pitchFamily="34" charset="-128"/>
              </a:rPr>
              <a:t>NOT EXHAUSTIVE</a:t>
            </a:r>
            <a:endParaRPr lang="en-US" sz="1200" dirty="0">
              <a:solidFill>
                <a:schemeClr val="bg1">
                  <a:lumMod val="50000"/>
                </a:schemeClr>
              </a:solidFill>
              <a:ea typeface="ＭＳ Ｐゴシック" pitchFamily="34" charset="-128"/>
            </a:endParaRPr>
          </a:p>
        </p:txBody>
      </p:sp>
      <p:cxnSp>
        <p:nvCxnSpPr>
          <p:cNvPr id="53" name="AutoShape 110"/>
          <p:cNvCxnSpPr>
            <a:cxnSpLocks noChangeShapeType="1"/>
            <a:stCxn id="52" idx="2"/>
            <a:endCxn id="52" idx="4"/>
          </p:cNvCxnSpPr>
          <p:nvPr/>
        </p:nvCxnSpPr>
        <p:spPr bwMode="auto">
          <a:xfrm>
            <a:off x="6755428" y="1666202"/>
            <a:ext cx="0" cy="212349"/>
          </a:xfrm>
          <a:prstGeom prst="straightConnector1">
            <a:avLst/>
          </a:prstGeom>
          <a:noFill/>
          <a:ln w="9525">
            <a:solidFill>
              <a:schemeClr val="bg1">
                <a:lumMod val="50000"/>
              </a:schemeClr>
            </a:solidFill>
            <a:round/>
            <a:headEnd/>
            <a:tailEnd/>
          </a:ln>
          <a:extLst/>
        </p:spPr>
      </p:cxnSp>
      <p:cxnSp>
        <p:nvCxnSpPr>
          <p:cNvPr id="54" name="AutoShape 111"/>
          <p:cNvCxnSpPr>
            <a:cxnSpLocks noChangeShapeType="1"/>
            <a:stCxn id="52" idx="4"/>
            <a:endCxn id="52" idx="6"/>
          </p:cNvCxnSpPr>
          <p:nvPr/>
        </p:nvCxnSpPr>
        <p:spPr bwMode="auto">
          <a:xfrm>
            <a:off x="6755428" y="1878551"/>
            <a:ext cx="1368243" cy="0"/>
          </a:xfrm>
          <a:prstGeom prst="straightConnector1">
            <a:avLst/>
          </a:prstGeom>
          <a:noFill/>
          <a:ln w="25400">
            <a:solidFill>
              <a:schemeClr val="bg1">
                <a:lumMod val="50000"/>
              </a:schemeClr>
            </a:solidFill>
            <a:round/>
            <a:headEnd/>
            <a:tailEnd/>
          </a:ln>
          <a:extLst/>
        </p:spPr>
      </p:cxnSp>
      <p:sp>
        <p:nvSpPr>
          <p:cNvPr id="34" name="Oval 33"/>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1082777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Object 99" hidden="1"/>
          <p:cNvGraphicFramePr>
            <a:graphicFrameLocks/>
          </p:cNvGraphicFramePr>
          <p:nvPr>
            <p:custDataLst>
              <p:tags r:id="rId2"/>
            </p:custDataLst>
            <p:extLst>
              <p:ext uri="{D42A27DB-BD31-4B8C-83A1-F6EECF244321}">
                <p14:modId xmlns:p14="http://schemas.microsoft.com/office/powerpoint/2010/main" val="1146569762"/>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54215" name="think-cell Slide" r:id="rId24" imgW="360" imgH="360" progId="TCLayout.ActiveDocument.1">
                  <p:embed/>
                </p:oleObj>
              </mc:Choice>
              <mc:Fallback>
                <p:oleObj name="think-cell Slide" r:id="rId24" imgW="360" imgH="360" progId="TCLayout.ActiveDocument.1">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 name="Rectangle 9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51" name="Rectangle 50"/>
          <p:cNvSpPr/>
          <p:nvPr/>
        </p:nvSpPr>
        <p:spPr>
          <a:xfrm>
            <a:off x="448618" y="3344888"/>
            <a:ext cx="7709537" cy="500062"/>
          </a:xfrm>
          <a:prstGeom prst="rect">
            <a:avLst/>
          </a:prstGeom>
          <a:solidFill>
            <a:schemeClr val="bg1"/>
          </a:solid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2" name="McK Footnote"/>
          <p:cNvSpPr txBox="1">
            <a:spLocks noChangeArrowheads="1"/>
          </p:cNvSpPr>
          <p:nvPr/>
        </p:nvSpPr>
        <p:spPr bwMode="auto">
          <a:xfrm>
            <a:off x="635559" y="6234905"/>
            <a:ext cx="8485187" cy="588623"/>
          </a:xfrm>
          <a:prstGeom prst="rect">
            <a:avLst/>
          </a:prstGeom>
          <a:noFill/>
          <a:ln w="9525">
            <a:noFill/>
            <a:miter lim="800000"/>
            <a:headEnd/>
            <a:tailEnd/>
          </a:ln>
        </p:spPr>
        <p:txBody>
          <a:bodyPr lIns="0" tIns="0" rIns="0" bIns="0" anchor="b">
            <a:spAutoFit/>
          </a:bodyPr>
          <a:lstStyle/>
          <a:p>
            <a:pPr marL="563563" indent="-563563" defTabSz="895350">
              <a:lnSpc>
                <a:spcPct val="85000"/>
              </a:lnSpc>
              <a:tabLst>
                <a:tab pos="517525" algn="r"/>
              </a:tabLst>
            </a:pPr>
            <a:r>
              <a:rPr lang="en-US" sz="900" dirty="0" smtClean="0">
                <a:solidFill>
                  <a:schemeClr val="tx1">
                    <a:lumMod val="65000"/>
                    <a:lumOff val="35000"/>
                  </a:schemeClr>
                </a:solidFill>
              </a:rPr>
              <a:t>Note: Forecast based on expected yield increase of 20%</a:t>
            </a:r>
          </a:p>
          <a:p>
            <a:pPr marL="563563" indent="-563563" defTabSz="895350">
              <a:lnSpc>
                <a:spcPct val="85000"/>
              </a:lnSpc>
              <a:tabLst>
                <a:tab pos="517525" algn="r"/>
              </a:tabLst>
            </a:pPr>
            <a:r>
              <a:rPr lang="en-US" sz="900" dirty="0" smtClean="0">
                <a:solidFill>
                  <a:schemeClr val="tx1">
                    <a:lumMod val="65000"/>
                    <a:lumOff val="35000"/>
                  </a:schemeClr>
                </a:solidFill>
              </a:rPr>
              <a:t>* Production from areas already renovated and not in production yet and  yield increase from areas to be renovated   </a:t>
            </a:r>
          </a:p>
          <a:p>
            <a:pPr marL="563563" indent="-563563" defTabSz="895350">
              <a:lnSpc>
                <a:spcPct val="85000"/>
              </a:lnSpc>
              <a:tabLst>
                <a:tab pos="517525" algn="r"/>
              </a:tabLst>
            </a:pPr>
            <a:r>
              <a:rPr lang="en-US" sz="900" dirty="0" smtClean="0">
                <a:solidFill>
                  <a:schemeClr val="tx1">
                    <a:lumMod val="65000"/>
                    <a:lumOff val="35000"/>
                  </a:schemeClr>
                </a:solidFill>
              </a:rPr>
              <a:t>** Assuming yield increase will be fully achieved in the 3</a:t>
            </a:r>
            <a:r>
              <a:rPr lang="en-US" sz="900" baseline="30000" dirty="0" smtClean="0">
                <a:solidFill>
                  <a:schemeClr val="tx1">
                    <a:lumMod val="65000"/>
                    <a:lumOff val="35000"/>
                  </a:schemeClr>
                </a:solidFill>
              </a:rPr>
              <a:t>rd</a:t>
            </a:r>
            <a:r>
              <a:rPr lang="en-US" sz="900" dirty="0" smtClean="0">
                <a:solidFill>
                  <a:schemeClr val="tx1">
                    <a:lumMod val="65000"/>
                    <a:lumOff val="35000"/>
                  </a:schemeClr>
                </a:solidFill>
              </a:rPr>
              <a:t> year</a:t>
            </a:r>
          </a:p>
          <a:p>
            <a:pPr marL="563563" indent="-563563" defTabSz="895350">
              <a:lnSpc>
                <a:spcPct val="85000"/>
              </a:lnSpc>
              <a:tabLst>
                <a:tab pos="517525" algn="r"/>
              </a:tabLst>
            </a:pPr>
            <a:r>
              <a:rPr lang="en-US" sz="900" dirty="0" smtClean="0">
                <a:solidFill>
                  <a:schemeClr val="tx1">
                    <a:lumMod val="65000"/>
                    <a:lumOff val="35000"/>
                  </a:schemeClr>
                </a:solidFill>
              </a:rPr>
              <a:t>*** Assuming 10% of production does not pass export quality standards and price of US$ 1.50 per </a:t>
            </a:r>
            <a:r>
              <a:rPr lang="en-US" sz="900" dirty="0" err="1" smtClean="0">
                <a:solidFill>
                  <a:schemeClr val="tx1">
                    <a:lumMod val="65000"/>
                    <a:lumOff val="35000"/>
                  </a:schemeClr>
                </a:solidFill>
              </a:rPr>
              <a:t>lb</a:t>
            </a:r>
            <a:r>
              <a:rPr lang="en-US" sz="900" dirty="0" smtClean="0">
                <a:solidFill>
                  <a:schemeClr val="tx1">
                    <a:lumMod val="65000"/>
                    <a:lumOff val="35000"/>
                  </a:schemeClr>
                </a:solidFill>
              </a:rPr>
              <a:t> green</a:t>
            </a:r>
          </a:p>
          <a:p>
            <a:pPr marL="563563" indent="-563563" defTabSz="895350">
              <a:lnSpc>
                <a:spcPct val="85000"/>
              </a:lnSpc>
              <a:tabLst>
                <a:tab pos="517525" algn="r"/>
              </a:tabLst>
            </a:pPr>
            <a:r>
              <a:rPr lang="en-US" sz="900" dirty="0" smtClean="0">
                <a:solidFill>
                  <a:schemeClr val="tx1">
                    <a:lumMod val="65000"/>
                    <a:lumOff val="35000"/>
                  </a:schemeClr>
                </a:solidFill>
              </a:rPr>
              <a:t>Source: FNC; Stakeholder interviews, TechnoServe analysis</a:t>
            </a:r>
          </a:p>
        </p:txBody>
      </p:sp>
      <p:sp>
        <p:nvSpPr>
          <p:cNvPr id="9" name="Title 8"/>
          <p:cNvSpPr>
            <a:spLocks noGrp="1"/>
          </p:cNvSpPr>
          <p:nvPr>
            <p:ph type="title"/>
          </p:nvPr>
        </p:nvSpPr>
        <p:spPr/>
        <p:txBody>
          <a:bodyPr/>
          <a:lstStyle/>
          <a:p>
            <a:pPr marL="268288"/>
            <a:r>
              <a:rPr lang="en-US" b="0" dirty="0" smtClean="0"/>
              <a:t>This intervention could increase production by at least 1.5 million bags and exports by over US$ 260m after 10 years</a:t>
            </a:r>
            <a:endParaRPr lang="en-US" b="0" dirty="0"/>
          </a:p>
        </p:txBody>
      </p:sp>
      <p:cxnSp>
        <p:nvCxnSpPr>
          <p:cNvPr id="18" name="Straight Connector 17"/>
          <p:cNvCxnSpPr/>
          <p:nvPr>
            <p:custDataLst>
              <p:tags r:id="rId4"/>
            </p:custDataLst>
          </p:nvPr>
        </p:nvCxnSpPr>
        <p:spPr bwMode="gray">
          <a:xfrm>
            <a:off x="6191250" y="4933950"/>
            <a:ext cx="0" cy="26670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custDataLst>
              <p:tags r:id="rId5"/>
            </p:custDataLst>
          </p:nvPr>
        </p:nvCxnSpPr>
        <p:spPr bwMode="gray">
          <a:xfrm>
            <a:off x="6524625" y="4343400"/>
            <a:ext cx="0" cy="26670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custDataLst>
              <p:tags r:id="rId6"/>
            </p:custDataLst>
          </p:nvPr>
        </p:nvCxnSpPr>
        <p:spPr bwMode="gray">
          <a:xfrm>
            <a:off x="6524625" y="3752850"/>
            <a:ext cx="0" cy="26670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custDataLst>
              <p:tags r:id="rId7"/>
            </p:custDataLst>
          </p:nvPr>
        </p:nvCxnSpPr>
        <p:spPr bwMode="gray">
          <a:xfrm>
            <a:off x="6248400" y="3152775"/>
            <a:ext cx="0" cy="26670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custDataLst>
              <p:tags r:id="rId8"/>
            </p:custDataLst>
          </p:nvPr>
        </p:nvCxnSpPr>
        <p:spPr bwMode="gray">
          <a:xfrm>
            <a:off x="5762625" y="2562225"/>
            <a:ext cx="0" cy="26670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3" name="Object 2"/>
          <p:cNvGraphicFramePr>
            <a:graphicFrameLocks/>
          </p:cNvGraphicFramePr>
          <p:nvPr>
            <p:custDataLst>
              <p:tags r:id="rId9"/>
            </p:custDataLst>
            <p:extLst>
              <p:ext uri="{D42A27DB-BD31-4B8C-83A1-F6EECF244321}">
                <p14:modId xmlns:p14="http://schemas.microsoft.com/office/powerpoint/2010/main" val="721420195"/>
              </p:ext>
            </p:extLst>
          </p:nvPr>
        </p:nvGraphicFramePr>
        <p:xfrm>
          <a:off x="3543300" y="1981200"/>
          <a:ext cx="3076643" cy="3781335"/>
        </p:xfrm>
        <a:graphic>
          <a:graphicData uri="http://schemas.openxmlformats.org/presentationml/2006/ole">
            <mc:AlternateContent xmlns:mc="http://schemas.openxmlformats.org/markup-compatibility/2006">
              <mc:Choice xmlns:v="urn:schemas-microsoft-com:vml" Requires="v">
                <p:oleObj spid="_x0000_s154216" name="Chart" r:id="rId26" imgW="3076643" imgH="3781335" progId="MSGraph.Chart.8">
                  <p:embed followColorScheme="full"/>
                </p:oleObj>
              </mc:Choice>
              <mc:Fallback>
                <p:oleObj name="Chart" r:id="rId26" imgW="3076643" imgH="3781335" progId="MSGraph.Chart.8">
                  <p:embed followColorScheme="full"/>
                  <p:pic>
                    <p:nvPicPr>
                      <p:cNvPr id="0" name=""/>
                      <p:cNvPicPr/>
                      <p:nvPr/>
                    </p:nvPicPr>
                    <p:blipFill>
                      <a:blip r:embed="rId27"/>
                      <a:stretch>
                        <a:fillRect/>
                      </a:stretch>
                    </p:blipFill>
                    <p:spPr>
                      <a:xfrm>
                        <a:off x="3543300" y="1981200"/>
                        <a:ext cx="3076643" cy="3781335"/>
                      </a:xfrm>
                      <a:prstGeom prst="rect">
                        <a:avLst/>
                      </a:prstGeom>
                    </p:spPr>
                  </p:pic>
                </p:oleObj>
              </mc:Fallback>
            </mc:AlternateContent>
          </a:graphicData>
        </a:graphic>
      </p:graphicFrame>
      <p:sp>
        <p:nvSpPr>
          <p:cNvPr id="19" name="Text Placeholder 81"/>
          <p:cNvSpPr>
            <a:spLocks noGrp="1"/>
          </p:cNvSpPr>
          <p:nvPr>
            <p:custDataLst>
              <p:tags r:id="rId10"/>
            </p:custDataLst>
          </p:nvPr>
        </p:nvSpPr>
        <p:spPr bwMode="auto">
          <a:xfrm>
            <a:off x="557213" y="4665663"/>
            <a:ext cx="2609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57FC0AFC-4DC0-43F1-9D14-A8F1576596C9}" type="datetime'Cof''fe''''''''e below'' ex''''p''o''''r''t sta''ndar''ds'''">
              <a:rPr lang="en-US" sz="1400" smtClean="0">
                <a:solidFill>
                  <a:schemeClr val="accent1"/>
                </a:solidFill>
              </a:rPr>
              <a:pPr/>
              <a:t>Coffee below export standards</a:t>
            </a:fld>
            <a:r>
              <a:rPr lang="en-US" sz="1400" dirty="0" smtClean="0">
                <a:solidFill>
                  <a:schemeClr val="accent1"/>
                </a:solidFill>
              </a:rPr>
              <a:t>***</a:t>
            </a:r>
            <a:endParaRPr lang="en-US" sz="1400" baseline="30000" dirty="0">
              <a:solidFill>
                <a:schemeClr val="accent1"/>
              </a:solidFill>
              <a:latin typeface="Arial"/>
              <a:sym typeface="Arial"/>
            </a:endParaRPr>
          </a:p>
        </p:txBody>
      </p:sp>
      <p:sp>
        <p:nvSpPr>
          <p:cNvPr id="22" name="Text Placeholder 82"/>
          <p:cNvSpPr>
            <a:spLocks noGrp="1"/>
          </p:cNvSpPr>
          <p:nvPr>
            <p:custDataLst>
              <p:tags r:id="rId11"/>
            </p:custDataLst>
          </p:nvPr>
        </p:nvSpPr>
        <p:spPr bwMode="auto">
          <a:xfrm>
            <a:off x="557213" y="5256213"/>
            <a:ext cx="20859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29DB67E3-4C6E-4EEC-9D3E-6A2FB807750D}" type="datetime'Po''''''''te''n''tial'''''' expo''''rts'' ''i''n 202''4'''''''">
              <a:rPr lang="en-US" sz="1400" b="1">
                <a:solidFill>
                  <a:schemeClr val="accent1"/>
                </a:solidFill>
              </a:rPr>
              <a:pPr/>
              <a:t>Potential exports in 2024</a:t>
            </a:fld>
            <a:endParaRPr lang="en-US" sz="1400" b="1" dirty="0">
              <a:solidFill>
                <a:schemeClr val="accent1"/>
              </a:solidFill>
              <a:latin typeface="Arial"/>
              <a:sym typeface="Arial"/>
            </a:endParaRPr>
          </a:p>
        </p:txBody>
      </p:sp>
      <p:sp>
        <p:nvSpPr>
          <p:cNvPr id="50" name="Text Placeholder 94"/>
          <p:cNvSpPr>
            <a:spLocks noGrp="1"/>
          </p:cNvSpPr>
          <p:nvPr>
            <p:custDataLst>
              <p:tags r:id="rId12"/>
            </p:custDataLst>
          </p:nvPr>
        </p:nvSpPr>
        <p:spPr bwMode="gray">
          <a:xfrm>
            <a:off x="6216650" y="5256213"/>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4BC118D3-164A-48C3-838B-D207D480A4F5}" type="datetime'''''1''3''''.''''1'''''''''''''''''''''''''''''">
              <a:rPr lang="en-US" sz="1400" b="1">
                <a:solidFill>
                  <a:schemeClr val="accent1"/>
                </a:solidFill>
              </a:rPr>
              <a:pPr/>
              <a:t>13.1</a:t>
            </a:fld>
            <a:endParaRPr lang="en-US" sz="1400" b="1" dirty="0">
              <a:solidFill>
                <a:schemeClr val="accent1"/>
              </a:solidFill>
              <a:latin typeface="Arial"/>
              <a:sym typeface="Arial"/>
            </a:endParaRPr>
          </a:p>
        </p:txBody>
      </p:sp>
      <p:sp>
        <p:nvSpPr>
          <p:cNvPr id="49" name="Text Placeholder 93"/>
          <p:cNvSpPr>
            <a:spLocks noGrp="1"/>
          </p:cNvSpPr>
          <p:nvPr>
            <p:custDataLst>
              <p:tags r:id="rId13"/>
            </p:custDataLst>
          </p:nvPr>
        </p:nvSpPr>
        <p:spPr bwMode="gray">
          <a:xfrm>
            <a:off x="6210300" y="4665663"/>
            <a:ext cx="296863" cy="212725"/>
          </a:xfrm>
          <a:prstGeom prst="rect">
            <a:avLst/>
          </a:prstGeom>
          <a:noFill/>
          <a:extLst>
            <a:ext uri="{909E8E84-426E-40DD-AFC4-6F175D3DCCD1}">
              <a14:hiddenFill xmlns:a14="http://schemas.microsoft.com/office/drawing/2010/main">
                <a:solidFill>
                  <a:srgbClr val="FFFFFF"/>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297A52E-1CB8-414C-814A-9195126945A6}" type="datetime'''1''''''.''''''''8'''''''''''">
              <a:rPr lang="en-US" sz="1400">
                <a:solidFill>
                  <a:schemeClr val="accent1"/>
                </a:solidFill>
              </a:rPr>
              <a:pPr/>
              <a:t>1.8</a:t>
            </a:fld>
            <a:endParaRPr lang="en-US" sz="1400" dirty="0">
              <a:solidFill>
                <a:schemeClr val="accent1"/>
              </a:solidFill>
              <a:latin typeface="Arial"/>
              <a:sym typeface="Arial"/>
            </a:endParaRPr>
          </a:p>
        </p:txBody>
      </p:sp>
      <p:sp>
        <p:nvSpPr>
          <p:cNvPr id="12" name="Text Placeholder 77"/>
          <p:cNvSpPr>
            <a:spLocks noGrp="1"/>
          </p:cNvSpPr>
          <p:nvPr>
            <p:custDataLst>
              <p:tags r:id="rId14"/>
            </p:custDataLst>
          </p:nvPr>
        </p:nvSpPr>
        <p:spPr bwMode="auto">
          <a:xfrm>
            <a:off x="557213" y="4075113"/>
            <a:ext cx="237013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C4B17A4C-418A-435C-86D0-0C65F451FAF8}" type="datetime'''''''Pote''''n''tial'' produ''ction'' ''in ''''''20''24'''''">
              <a:rPr lang="en-US" sz="1400" b="1">
                <a:solidFill>
                  <a:schemeClr val="accent1"/>
                </a:solidFill>
              </a:rPr>
              <a:pPr marL="0" indent="0">
                <a:spcBef>
                  <a:spcPct val="0"/>
                </a:spcBef>
                <a:spcAft>
                  <a:spcPct val="0"/>
                </a:spcAft>
                <a:buNone/>
              </a:pPr>
              <a:t>Potential production in 2024</a:t>
            </a:fld>
            <a:endParaRPr lang="en-US" sz="1400" b="1" dirty="0">
              <a:solidFill>
                <a:schemeClr val="accent1"/>
              </a:solidFill>
              <a:sym typeface="+mn-lt"/>
            </a:endParaRPr>
          </a:p>
        </p:txBody>
      </p:sp>
      <p:sp>
        <p:nvSpPr>
          <p:cNvPr id="17" name="Text Placeholder 80"/>
          <p:cNvSpPr>
            <a:spLocks noGrp="1"/>
          </p:cNvSpPr>
          <p:nvPr>
            <p:custDataLst>
              <p:tags r:id="rId15"/>
            </p:custDataLst>
          </p:nvPr>
        </p:nvSpPr>
        <p:spPr bwMode="gray">
          <a:xfrm>
            <a:off x="6550025" y="4075113"/>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A8766D67-433C-4703-ACE1-408F1B0A0405}" type="datetime'''''''''''1''''''''''''4''''''.9'''">
              <a:rPr lang="en-US" sz="1400" b="1">
                <a:solidFill>
                  <a:schemeClr val="accent1"/>
                </a:solidFill>
              </a:rPr>
              <a:pPr/>
              <a:t>14.9</a:t>
            </a:fld>
            <a:endParaRPr lang="en-US" sz="1400" b="1" dirty="0">
              <a:solidFill>
                <a:schemeClr val="accent1"/>
              </a:solidFill>
              <a:sym typeface="+mn-lt"/>
            </a:endParaRPr>
          </a:p>
        </p:txBody>
      </p:sp>
      <p:sp>
        <p:nvSpPr>
          <p:cNvPr id="29" name="Text Placeholder 85"/>
          <p:cNvSpPr>
            <a:spLocks noGrp="1"/>
          </p:cNvSpPr>
          <p:nvPr>
            <p:custDataLst>
              <p:tags r:id="rId16"/>
            </p:custDataLst>
          </p:nvPr>
        </p:nvSpPr>
        <p:spPr bwMode="auto">
          <a:xfrm>
            <a:off x="557213" y="3479800"/>
            <a:ext cx="29702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7364C8AE-A89E-41C7-87B7-E595AFAC93ED}" type="datetime'Yield'''' increase'' ex''tension pro''gra''''''''m'''">
              <a:rPr lang="en-US" sz="1400" b="1" smtClean="0">
                <a:solidFill>
                  <a:schemeClr val="accent1"/>
                </a:solidFill>
              </a:rPr>
              <a:pPr marL="0" indent="0">
                <a:spcBef>
                  <a:spcPct val="0"/>
                </a:spcBef>
                <a:spcAft>
                  <a:spcPct val="0"/>
                </a:spcAft>
                <a:buNone/>
              </a:pPr>
              <a:t>Yield increase extension program</a:t>
            </a:fld>
            <a:r>
              <a:rPr lang="en-US" sz="1400" b="1" dirty="0" smtClean="0">
                <a:solidFill>
                  <a:schemeClr val="accent1"/>
                </a:solidFill>
              </a:rPr>
              <a:t>**</a:t>
            </a:r>
            <a:endParaRPr lang="en-US" sz="1400" baseline="30000" dirty="0">
              <a:solidFill>
                <a:schemeClr val="accent1"/>
              </a:solidFill>
              <a:latin typeface="Arial"/>
              <a:sym typeface="Arial"/>
            </a:endParaRPr>
          </a:p>
        </p:txBody>
      </p:sp>
      <p:sp>
        <p:nvSpPr>
          <p:cNvPr id="45" name="Text Placeholder 92"/>
          <p:cNvSpPr>
            <a:spLocks noGrp="1"/>
          </p:cNvSpPr>
          <p:nvPr>
            <p:custDataLst>
              <p:tags r:id="rId17"/>
            </p:custDataLst>
          </p:nvPr>
        </p:nvSpPr>
        <p:spPr bwMode="gray">
          <a:xfrm>
            <a:off x="6238875" y="3479800"/>
            <a:ext cx="296863" cy="212725"/>
          </a:xfrm>
          <a:prstGeom prst="rect">
            <a:avLst/>
          </a:prstGeom>
          <a:noFill/>
          <a:extLst>
            <a:ext uri="{909E8E84-426E-40DD-AFC4-6F175D3DCCD1}">
              <a14:hiddenFill xmlns:a14="http://schemas.microsoft.com/office/drawing/2010/main">
                <a:solidFill>
                  <a:srgbClr val="FFFFFF"/>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D663AC9-42D0-4733-8E2F-B425C978ABD1}" type="datetime'''''''''''''1.''''''''''5'''''''''''''''''''''''''">
              <a:rPr lang="en-US" sz="1400" b="1">
                <a:solidFill>
                  <a:schemeClr val="accent1"/>
                </a:solidFill>
              </a:rPr>
              <a:pPr/>
              <a:t>1.5</a:t>
            </a:fld>
            <a:endParaRPr lang="en-US" sz="1400" b="1" dirty="0">
              <a:solidFill>
                <a:schemeClr val="accent1"/>
              </a:solidFill>
              <a:latin typeface="Arial"/>
              <a:sym typeface="Arial"/>
            </a:endParaRPr>
          </a:p>
        </p:txBody>
      </p:sp>
      <p:sp>
        <p:nvSpPr>
          <p:cNvPr id="30" name="Text Placeholder 24"/>
          <p:cNvSpPr>
            <a:spLocks noGrp="1"/>
          </p:cNvSpPr>
          <p:nvPr>
            <p:custDataLst>
              <p:tags r:id="rId18"/>
            </p:custDataLst>
          </p:nvPr>
        </p:nvSpPr>
        <p:spPr bwMode="auto">
          <a:xfrm>
            <a:off x="557213" y="2884488"/>
            <a:ext cx="9429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E77106BF-B1A1-4CA9-BFD4-6D644EC9EF67}" type="datetime'''R''''''''e''n''''''''o''v''a''t''''i''''''''''''o''''''n'">
              <a:rPr lang="en-US" sz="1400" smtClean="0">
                <a:solidFill>
                  <a:schemeClr val="accent1"/>
                </a:solidFill>
              </a:rPr>
              <a:pPr marL="0" indent="0">
                <a:spcBef>
                  <a:spcPct val="0"/>
                </a:spcBef>
                <a:spcAft>
                  <a:spcPct val="0"/>
                </a:spcAft>
                <a:buNone/>
              </a:pPr>
              <a:t>Renovation</a:t>
            </a:fld>
            <a:r>
              <a:rPr lang="en-US" sz="1400" baseline="30000" dirty="0">
                <a:solidFill>
                  <a:schemeClr val="accent1"/>
                </a:solidFill>
              </a:rPr>
              <a:t>*</a:t>
            </a:r>
            <a:endParaRPr lang="en-US" sz="1400" baseline="30000" dirty="0">
              <a:solidFill>
                <a:schemeClr val="accent1"/>
              </a:solidFill>
              <a:latin typeface="Arial"/>
              <a:sym typeface="Arial"/>
            </a:endParaRPr>
          </a:p>
        </p:txBody>
      </p:sp>
      <p:sp>
        <p:nvSpPr>
          <p:cNvPr id="32" name="Text Placeholder 25"/>
          <p:cNvSpPr>
            <a:spLocks noGrp="1"/>
          </p:cNvSpPr>
          <p:nvPr>
            <p:custDataLst>
              <p:tags r:id="rId19"/>
            </p:custDataLst>
          </p:nvPr>
        </p:nvSpPr>
        <p:spPr bwMode="gray">
          <a:xfrm>
            <a:off x="5857875" y="2884488"/>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09811D32-7382-40E5-8706-58420ABFDF9B}" type="datetime'''2''''''''''''''''''.''''''''''5'''''''''''''''''''''''">
              <a:rPr lang="en-US" sz="1400">
                <a:solidFill>
                  <a:schemeClr val="accent1"/>
                </a:solidFill>
              </a:rPr>
              <a:pPr/>
              <a:t>2.5</a:t>
            </a:fld>
            <a:endParaRPr lang="en-US" sz="1400" dirty="0">
              <a:solidFill>
                <a:schemeClr val="accent1"/>
              </a:solidFill>
              <a:latin typeface="Arial"/>
              <a:sym typeface="Arial"/>
            </a:endParaRPr>
          </a:p>
        </p:txBody>
      </p:sp>
      <p:sp>
        <p:nvSpPr>
          <p:cNvPr id="10" name="Text Placeholder 75"/>
          <p:cNvSpPr>
            <a:spLocks noGrp="1"/>
          </p:cNvSpPr>
          <p:nvPr>
            <p:custDataLst>
              <p:tags r:id="rId20"/>
            </p:custDataLst>
          </p:nvPr>
        </p:nvSpPr>
        <p:spPr bwMode="auto">
          <a:xfrm>
            <a:off x="557213" y="2293938"/>
            <a:ext cx="12700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A1BBC5DF-AD68-415F-81C4-083B26C09268}" type="datetime'2013'''''''' p''r''''''od''''u''''''c''''''tio''''''''''''n'''">
              <a:rPr lang="en-US" sz="1400">
                <a:solidFill>
                  <a:schemeClr val="accent1"/>
                </a:solidFill>
              </a:rPr>
              <a:pPr/>
              <a:t>2013 production</a:t>
            </a:fld>
            <a:endParaRPr lang="en-US" sz="1400" dirty="0">
              <a:solidFill>
                <a:schemeClr val="accent1"/>
              </a:solidFill>
              <a:sym typeface="+mn-lt"/>
            </a:endParaRPr>
          </a:p>
        </p:txBody>
      </p:sp>
      <p:sp>
        <p:nvSpPr>
          <p:cNvPr id="15" name="Text Placeholder 78"/>
          <p:cNvSpPr>
            <a:spLocks noGrp="1"/>
          </p:cNvSpPr>
          <p:nvPr>
            <p:custDataLst>
              <p:tags r:id="rId21"/>
            </p:custDataLst>
          </p:nvPr>
        </p:nvSpPr>
        <p:spPr bwMode="gray">
          <a:xfrm>
            <a:off x="5788025" y="2293938"/>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C93BF521-AB52-4AD4-A7BE-B6B298038535}" type="datetime'''''''''''1''''''''''''''0''''''''''.''''''''9'''">
              <a:rPr lang="en-US" sz="1400">
                <a:solidFill>
                  <a:schemeClr val="accent1"/>
                </a:solidFill>
              </a:rPr>
              <a:pPr/>
              <a:t>10.9</a:t>
            </a:fld>
            <a:endParaRPr lang="en-US" sz="1400" dirty="0">
              <a:solidFill>
                <a:schemeClr val="accent1"/>
              </a:solidFill>
              <a:sym typeface="+mn-lt"/>
            </a:endParaRPr>
          </a:p>
        </p:txBody>
      </p:sp>
      <p:sp>
        <p:nvSpPr>
          <p:cNvPr id="46" name="TextBox 45"/>
          <p:cNvSpPr txBox="1"/>
          <p:nvPr/>
        </p:nvSpPr>
        <p:spPr>
          <a:xfrm>
            <a:off x="517603" y="1556657"/>
            <a:ext cx="5027613" cy="430887"/>
          </a:xfrm>
          <a:prstGeom prst="rect">
            <a:avLst/>
          </a:prstGeom>
          <a:noFill/>
        </p:spPr>
        <p:txBody>
          <a:bodyPr wrap="square" lIns="0" tIns="0" rIns="0" bIns="0" rtlCol="0">
            <a:spAutoFit/>
          </a:bodyPr>
          <a:lstStyle/>
          <a:p>
            <a:r>
              <a:rPr lang="en-US" sz="1400" b="1" dirty="0" smtClean="0">
                <a:solidFill>
                  <a:schemeClr val="accent1"/>
                </a:solidFill>
              </a:rPr>
              <a:t>Nationwide coffee production by 2024</a:t>
            </a:r>
          </a:p>
          <a:p>
            <a:r>
              <a:rPr lang="en-US" sz="1400" dirty="0" smtClean="0">
                <a:solidFill>
                  <a:schemeClr val="accent1"/>
                </a:solidFill>
              </a:rPr>
              <a:t>Million bags green coffee</a:t>
            </a:r>
            <a:endParaRPr lang="en-US" sz="1400" dirty="0">
              <a:solidFill>
                <a:schemeClr val="accent1"/>
              </a:solidFill>
            </a:endParaRPr>
          </a:p>
        </p:txBody>
      </p:sp>
      <p:sp>
        <p:nvSpPr>
          <p:cNvPr id="53" name="Rectangular Callout 52"/>
          <p:cNvSpPr/>
          <p:nvPr/>
        </p:nvSpPr>
        <p:spPr>
          <a:xfrm>
            <a:off x="7132530" y="4917611"/>
            <a:ext cx="1551761" cy="858721"/>
          </a:xfrm>
          <a:prstGeom prst="wedgeRectCallout">
            <a:avLst>
              <a:gd name="adj1" fmla="val -85754"/>
              <a:gd name="adj2" fmla="val -53629"/>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4" name="TextBox 53"/>
          <p:cNvSpPr txBox="1"/>
          <p:nvPr/>
        </p:nvSpPr>
        <p:spPr>
          <a:xfrm>
            <a:off x="7223970" y="5037784"/>
            <a:ext cx="1578430" cy="646331"/>
          </a:xfrm>
          <a:prstGeom prst="rect">
            <a:avLst/>
          </a:prstGeom>
          <a:noFill/>
        </p:spPr>
        <p:txBody>
          <a:bodyPr wrap="square" lIns="0" tIns="0" rIns="0" bIns="0" rtlCol="0">
            <a:spAutoFit/>
          </a:bodyPr>
          <a:lstStyle/>
          <a:p>
            <a:pPr>
              <a:spcAft>
                <a:spcPts val="600"/>
              </a:spcAft>
            </a:pPr>
            <a:r>
              <a:rPr lang="en-US" sz="1400" dirty="0" smtClean="0">
                <a:solidFill>
                  <a:schemeClr val="accent1"/>
                </a:solidFill>
              </a:rPr>
              <a:t>Additional export revenues of          US$ 260 m***</a:t>
            </a:r>
            <a:r>
              <a:rPr lang="en-US" sz="1400" baseline="30000" dirty="0" smtClean="0">
                <a:solidFill>
                  <a:schemeClr val="accent1"/>
                </a:solidFill>
              </a:rPr>
              <a:t> </a:t>
            </a:r>
          </a:p>
        </p:txBody>
      </p:sp>
      <p:cxnSp>
        <p:nvCxnSpPr>
          <p:cNvPr id="5" name="Straight Connector 4"/>
          <p:cNvCxnSpPr/>
          <p:nvPr/>
        </p:nvCxnSpPr>
        <p:spPr>
          <a:xfrm>
            <a:off x="472999" y="2033364"/>
            <a:ext cx="821129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Oval 30"/>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10531328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extLst>
              <p:ext uri="{D42A27DB-BD31-4B8C-83A1-F6EECF244321}">
                <p14:modId xmlns:p14="http://schemas.microsoft.com/office/powerpoint/2010/main" val="22634672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35174" name="think-cell Slide" r:id="rId66" imgW="270" imgH="270" progId="TCLayout.ActiveDocument.1">
                  <p:embed/>
                </p:oleObj>
              </mc:Choice>
              <mc:Fallback>
                <p:oleObj name="think-cell Slide" r:id="rId66" imgW="270" imgH="270" progId="TCLayout.ActiveDocument.1">
                  <p:embed/>
                  <p:pic>
                    <p:nvPicPr>
                      <p:cNvPr id="0" name=""/>
                      <p:cNvPicPr/>
                      <p:nvPr/>
                    </p:nvPicPr>
                    <p:blipFill>
                      <a:blip r:embed="rId67"/>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3"/>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US" sz="900">
              <a:latin typeface="Arial"/>
              <a:sym typeface="Arial"/>
            </a:endParaRPr>
          </a:p>
        </p:txBody>
      </p:sp>
      <p:sp>
        <p:nvSpPr>
          <p:cNvPr id="5" name="Title 4"/>
          <p:cNvSpPr>
            <a:spLocks noGrp="1"/>
          </p:cNvSpPr>
          <p:nvPr>
            <p:ph type="title"/>
          </p:nvPr>
        </p:nvSpPr>
        <p:spPr/>
        <p:txBody>
          <a:bodyPr/>
          <a:lstStyle/>
          <a:p>
            <a:pPr marL="268288"/>
            <a:r>
              <a:rPr lang="en-US" b="0" dirty="0" smtClean="0"/>
              <a:t>Overall, the program could generate additional export earnings of US$ 1.3bn over 10 years</a:t>
            </a:r>
            <a:endParaRPr lang="en-US" b="0" dirty="0"/>
          </a:p>
        </p:txBody>
      </p:sp>
      <p:sp>
        <p:nvSpPr>
          <p:cNvPr id="26" name="Freeform 25"/>
          <p:cNvSpPr/>
          <p:nvPr>
            <p:custDataLst>
              <p:tags r:id="rId4"/>
            </p:custDataLst>
          </p:nvPr>
        </p:nvSpPr>
        <p:spPr bwMode="auto">
          <a:xfrm rot="5400000">
            <a:off x="831554" y="1047555"/>
            <a:ext cx="986316" cy="1515978"/>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4208" y="0"/>
                </a:lnTo>
                <a:lnTo>
                  <a:pt x="1828800" y="457200"/>
                </a:lnTo>
                <a:lnTo>
                  <a:pt x="1664208" y="914400"/>
                </a:lnTo>
                <a:lnTo>
                  <a:pt x="0" y="914400"/>
                </a:lnTo>
                <a:lnTo>
                  <a:pt x="0" y="457200"/>
                </a:lnTo>
                <a:close/>
              </a:path>
            </a:pathLst>
          </a:cu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smtClean="0">
              <a:ln>
                <a:noFill/>
              </a:ln>
              <a:solidFill>
                <a:schemeClr val="accent1"/>
              </a:solidFill>
              <a:effectLst/>
              <a:latin typeface="Arial" charset="0"/>
            </a:endParaRPr>
          </a:p>
        </p:txBody>
      </p:sp>
      <p:sp>
        <p:nvSpPr>
          <p:cNvPr id="27" name="TextBox 5"/>
          <p:cNvSpPr txBox="1"/>
          <p:nvPr>
            <p:custDataLst>
              <p:tags r:id="rId5"/>
            </p:custDataLst>
          </p:nvPr>
        </p:nvSpPr>
        <p:spPr>
          <a:xfrm>
            <a:off x="561779" y="1311731"/>
            <a:ext cx="1515978" cy="707570"/>
          </a:xfrm>
          <a:prstGeom prst="rect">
            <a:avLst/>
          </a:prstGeom>
          <a:noFill/>
          <a:ln w="9525">
            <a:noFill/>
            <a:miter lim="800000"/>
            <a:headEnd/>
            <a:tailEnd/>
          </a:ln>
        </p:spPr>
        <p:txBody>
          <a:bodyPr vert="horz" wrap="square" lIns="76200" tIns="76200" rIns="76200" bIns="76200" numCol="1" anchor="t" anchorCtr="0"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buNone/>
            </a:pPr>
            <a:r>
              <a:rPr lang="en-US" sz="1100" b="1" dirty="0" smtClean="0">
                <a:solidFill>
                  <a:schemeClr val="accent1"/>
                </a:solidFill>
              </a:rPr>
              <a:t>The training of farmers can be scaled up over time, reaching 230,000  farmers</a:t>
            </a:r>
            <a:endParaRPr lang="en-US" sz="1100" dirty="0">
              <a:solidFill>
                <a:schemeClr val="accent1"/>
              </a:solidFill>
            </a:endParaRPr>
          </a:p>
        </p:txBody>
      </p:sp>
      <p:graphicFrame>
        <p:nvGraphicFramePr>
          <p:cNvPr id="31" name="Object 30"/>
          <p:cNvGraphicFramePr>
            <a:graphicFrameLocks/>
          </p:cNvGraphicFramePr>
          <p:nvPr>
            <p:custDataLst>
              <p:tags r:id="rId6"/>
            </p:custDataLst>
            <p:extLst>
              <p:ext uri="{D42A27DB-BD31-4B8C-83A1-F6EECF244321}">
                <p14:modId xmlns:p14="http://schemas.microsoft.com/office/powerpoint/2010/main" val="897230980"/>
              </p:ext>
            </p:extLst>
          </p:nvPr>
        </p:nvGraphicFramePr>
        <p:xfrm>
          <a:off x="2133600" y="1638300"/>
          <a:ext cx="4410143" cy="914400"/>
        </p:xfrm>
        <a:graphic>
          <a:graphicData uri="http://schemas.openxmlformats.org/presentationml/2006/ole">
            <mc:AlternateContent xmlns:mc="http://schemas.openxmlformats.org/markup-compatibility/2006">
              <mc:Choice xmlns:v="urn:schemas-microsoft-com:vml" Requires="v">
                <p:oleObj spid="_x0000_s235175" name="Chart" r:id="rId68" imgW="4410143" imgH="914400" progId="MSGraph.Chart.8">
                  <p:embed followColorScheme="full"/>
                </p:oleObj>
              </mc:Choice>
              <mc:Fallback>
                <p:oleObj name="Chart" r:id="rId68" imgW="4410143" imgH="914400" progId="MSGraph.Chart.8">
                  <p:embed followColorScheme="full"/>
                  <p:pic>
                    <p:nvPicPr>
                      <p:cNvPr id="0" name=""/>
                      <p:cNvPicPr/>
                      <p:nvPr/>
                    </p:nvPicPr>
                    <p:blipFill>
                      <a:blip r:embed="rId69"/>
                      <a:stretch>
                        <a:fillRect/>
                      </a:stretch>
                    </p:blipFill>
                    <p:spPr>
                      <a:xfrm>
                        <a:off x="2133600" y="1638300"/>
                        <a:ext cx="4410143" cy="914400"/>
                      </a:xfrm>
                      <a:prstGeom prst="rect">
                        <a:avLst/>
                      </a:prstGeom>
                    </p:spPr>
                  </p:pic>
                </p:oleObj>
              </mc:Fallback>
            </mc:AlternateContent>
          </a:graphicData>
        </a:graphic>
      </p:graphicFrame>
      <p:sp>
        <p:nvSpPr>
          <p:cNvPr id="36" name="Rectangle 35"/>
          <p:cNvSpPr/>
          <p:nvPr>
            <p:custDataLst>
              <p:tags r:id="rId7"/>
            </p:custDataLst>
          </p:nvPr>
        </p:nvSpPr>
        <p:spPr bwMode="gray">
          <a:xfrm>
            <a:off x="6191250" y="2162175"/>
            <a:ext cx="95250" cy="1365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15875" tIns="0" rIns="15875" bIns="0" numCol="1" rtlCol="0" anchor="b" anchorCtr="0" compatLnSpc="1">
            <a:prstTxWarp prst="textNoShape">
              <a:avLst/>
            </a:prstTxWarp>
            <a:noAutofit/>
          </a:bodyPr>
          <a:lstStyle/>
          <a:p>
            <a:pPr algn="ctr" fontAlgn="base">
              <a:spcBef>
                <a:spcPct val="0"/>
              </a:spcBef>
              <a:spcAft>
                <a:spcPct val="0"/>
              </a:spcAft>
            </a:pPr>
            <a:fld id="{1C93A5D4-612D-47C7-9E44-1EECB983826C}" type="datetime'''''''''0'''''''''''''''''''''''''''">
              <a:rPr lang="en-US" sz="900">
                <a:solidFill>
                  <a:schemeClr val="accent1"/>
                </a:solidFill>
              </a:rPr>
              <a:pPr/>
              <a:t>0</a:t>
            </a:fld>
            <a:endParaRPr kumimoji="0" lang="en-US" sz="900" strike="noStrike" cap="none" normalizeH="0" dirty="0" smtClean="0">
              <a:ln>
                <a:noFill/>
              </a:ln>
              <a:solidFill>
                <a:schemeClr val="accent1"/>
              </a:solidFill>
              <a:effectLst/>
              <a:latin typeface="Arial"/>
              <a:sym typeface="Arial"/>
            </a:endParaRPr>
          </a:p>
        </p:txBody>
      </p:sp>
      <p:sp>
        <p:nvSpPr>
          <p:cNvPr id="110" name="Text Placeholder 9"/>
          <p:cNvSpPr>
            <a:spLocks noGrp="1"/>
          </p:cNvSpPr>
          <p:nvPr>
            <p:custDataLst>
              <p:tags r:id="rId8"/>
            </p:custDataLst>
          </p:nvPr>
        </p:nvSpPr>
        <p:spPr bwMode="gray">
          <a:xfrm>
            <a:off x="5740400" y="1838325"/>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2DE205C-47FC-4976-8318-5C9F7A48F03B}" type="datetime'''''''''''''''''''''''''''''''''2''''''''''''''''''0'''">
              <a:rPr lang="en-US" sz="900">
                <a:solidFill>
                  <a:schemeClr val="accent1"/>
                </a:solidFill>
              </a:rPr>
              <a:pPr/>
              <a:t>20</a:t>
            </a:fld>
            <a:endParaRPr lang="en-US" sz="900" dirty="0">
              <a:solidFill>
                <a:schemeClr val="accent1"/>
              </a:solidFill>
              <a:latin typeface="Arial"/>
              <a:sym typeface="Arial"/>
            </a:endParaRPr>
          </a:p>
        </p:txBody>
      </p:sp>
      <p:sp>
        <p:nvSpPr>
          <p:cNvPr id="109" name="Text Placeholder 8"/>
          <p:cNvSpPr>
            <a:spLocks noGrp="1"/>
          </p:cNvSpPr>
          <p:nvPr>
            <p:custDataLst>
              <p:tags r:id="rId9"/>
            </p:custDataLst>
          </p:nvPr>
        </p:nvSpPr>
        <p:spPr bwMode="gray">
          <a:xfrm>
            <a:off x="5321300" y="1838325"/>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8006A3B-A095-4BC7-880D-CBA9BAFFA564}" type="datetime'''''''''''''''''2''''''''''''''''''''0'''''">
              <a:rPr lang="en-US" sz="900">
                <a:solidFill>
                  <a:schemeClr val="accent1"/>
                </a:solidFill>
                <a:latin typeface="Arial"/>
                <a:sym typeface="Arial"/>
              </a:rPr>
              <a:pPr marL="0" indent="0" algn="ctr">
                <a:spcBef>
                  <a:spcPct val="0"/>
                </a:spcBef>
                <a:spcAft>
                  <a:spcPct val="0"/>
                </a:spcAft>
                <a:buNone/>
              </a:pPr>
              <a:t>20</a:t>
            </a:fld>
            <a:endParaRPr lang="en-US" sz="900" dirty="0">
              <a:solidFill>
                <a:schemeClr val="accent1"/>
              </a:solidFill>
              <a:latin typeface="Arial"/>
              <a:sym typeface="Arial"/>
            </a:endParaRPr>
          </a:p>
        </p:txBody>
      </p:sp>
      <p:sp>
        <p:nvSpPr>
          <p:cNvPr id="98" name="Text Placeholder 7"/>
          <p:cNvSpPr>
            <a:spLocks noGrp="1"/>
          </p:cNvSpPr>
          <p:nvPr>
            <p:custDataLst>
              <p:tags r:id="rId10"/>
            </p:custDataLst>
          </p:nvPr>
        </p:nvSpPr>
        <p:spPr bwMode="gray">
          <a:xfrm>
            <a:off x="4902200" y="1676400"/>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730F336-79B4-4EBD-94E1-1B47DC852145}" type="datetime'''''''''''3''''0'''''''''''''''''''''''''''">
              <a:rPr lang="en-US" sz="900">
                <a:solidFill>
                  <a:schemeClr val="accent1"/>
                </a:solidFill>
                <a:latin typeface="Arial"/>
                <a:sym typeface="Arial"/>
              </a:rPr>
              <a:pPr marL="0" indent="0" algn="ctr">
                <a:spcBef>
                  <a:spcPct val="0"/>
                </a:spcBef>
                <a:spcAft>
                  <a:spcPct val="0"/>
                </a:spcAft>
                <a:buNone/>
              </a:pPr>
              <a:t>30</a:t>
            </a:fld>
            <a:endParaRPr lang="en-US" sz="900" dirty="0">
              <a:solidFill>
                <a:schemeClr val="accent1"/>
              </a:solidFill>
              <a:latin typeface="Arial"/>
              <a:sym typeface="Arial"/>
            </a:endParaRPr>
          </a:p>
        </p:txBody>
      </p:sp>
      <p:sp>
        <p:nvSpPr>
          <p:cNvPr id="93" name="Text Placeholder 6"/>
          <p:cNvSpPr>
            <a:spLocks noGrp="1"/>
          </p:cNvSpPr>
          <p:nvPr>
            <p:custDataLst>
              <p:tags r:id="rId11"/>
            </p:custDataLst>
          </p:nvPr>
        </p:nvSpPr>
        <p:spPr bwMode="gray">
          <a:xfrm>
            <a:off x="4487863" y="1676400"/>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744E9E21-18C0-49D2-BA61-CC28102D57C2}" type="datetime'''''''''''3''''''0'''''''''''''''''">
              <a:rPr lang="en-US" sz="900">
                <a:solidFill>
                  <a:schemeClr val="accent1"/>
                </a:solidFill>
              </a:rPr>
              <a:pPr/>
              <a:t>30</a:t>
            </a:fld>
            <a:endParaRPr lang="en-US" sz="900" dirty="0">
              <a:solidFill>
                <a:schemeClr val="accent1"/>
              </a:solidFill>
              <a:latin typeface="Arial"/>
              <a:sym typeface="Arial"/>
            </a:endParaRPr>
          </a:p>
        </p:txBody>
      </p:sp>
      <p:sp>
        <p:nvSpPr>
          <p:cNvPr id="92" name="Text Placeholder 5"/>
          <p:cNvSpPr>
            <a:spLocks noGrp="1"/>
          </p:cNvSpPr>
          <p:nvPr>
            <p:custDataLst>
              <p:tags r:id="rId12"/>
            </p:custDataLst>
          </p:nvPr>
        </p:nvSpPr>
        <p:spPr bwMode="gray">
          <a:xfrm>
            <a:off x="4073525" y="1600200"/>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900" dirty="0" smtClean="0">
                <a:solidFill>
                  <a:schemeClr val="accent1"/>
                </a:solidFill>
              </a:rPr>
              <a:t>35</a:t>
            </a:r>
            <a:endParaRPr lang="en-US" sz="900" dirty="0">
              <a:solidFill>
                <a:schemeClr val="accent1"/>
              </a:solidFill>
              <a:latin typeface="Arial"/>
              <a:sym typeface="Arial"/>
            </a:endParaRPr>
          </a:p>
        </p:txBody>
      </p:sp>
      <p:sp>
        <p:nvSpPr>
          <p:cNvPr id="38" name="Rectangle 37"/>
          <p:cNvSpPr/>
          <p:nvPr>
            <p:custDataLst>
              <p:tags r:id="rId13"/>
            </p:custDataLst>
          </p:nvPr>
        </p:nvSpPr>
        <p:spPr bwMode="gray">
          <a:xfrm>
            <a:off x="3654425" y="1600200"/>
            <a:ext cx="158750" cy="1365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15875" tIns="0" rIns="15875" bIns="0" numCol="1" rtlCol="0" anchor="b" anchorCtr="0" compatLnSpc="1">
            <a:prstTxWarp prst="textNoShape">
              <a:avLst/>
            </a:prstTxWarp>
            <a:noAutofit/>
          </a:bodyPr>
          <a:lstStyle/>
          <a:p>
            <a:pPr algn="ctr" fontAlgn="base">
              <a:spcBef>
                <a:spcPct val="0"/>
              </a:spcBef>
              <a:spcAft>
                <a:spcPct val="0"/>
              </a:spcAft>
            </a:pPr>
            <a:fld id="{D55574BC-9CAB-41FE-95C4-E0856A3E16EE}" type="datetime'''''''''''35'''''''''''''''''''''">
              <a:rPr lang="en-US" sz="900">
                <a:solidFill>
                  <a:schemeClr val="accent1"/>
                </a:solidFill>
              </a:rPr>
              <a:pPr/>
              <a:t>35</a:t>
            </a:fld>
            <a:endParaRPr kumimoji="0" lang="en-US" sz="900" strike="noStrike" cap="none" normalizeH="0" dirty="0" smtClean="0">
              <a:ln>
                <a:noFill/>
              </a:ln>
              <a:solidFill>
                <a:schemeClr val="accent1"/>
              </a:solidFill>
              <a:effectLst/>
              <a:latin typeface="Arial"/>
              <a:sym typeface="Arial"/>
            </a:endParaRPr>
          </a:p>
        </p:txBody>
      </p:sp>
      <p:sp>
        <p:nvSpPr>
          <p:cNvPr id="39" name="Rectangle 38"/>
          <p:cNvSpPr/>
          <p:nvPr>
            <p:custDataLst>
              <p:tags r:id="rId14"/>
            </p:custDataLst>
          </p:nvPr>
        </p:nvSpPr>
        <p:spPr bwMode="gray">
          <a:xfrm>
            <a:off x="3235325" y="1838325"/>
            <a:ext cx="158750" cy="1365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15875" tIns="0" rIns="15875" bIns="0" numCol="1" rtlCol="0" anchor="b" anchorCtr="0" compatLnSpc="1">
            <a:prstTxWarp prst="textNoShape">
              <a:avLst/>
            </a:prstTxWarp>
            <a:noAutofit/>
          </a:bodyPr>
          <a:lstStyle/>
          <a:p>
            <a:pPr algn="ctr" fontAlgn="base">
              <a:spcBef>
                <a:spcPct val="0"/>
              </a:spcBef>
              <a:spcAft>
                <a:spcPct val="0"/>
              </a:spcAft>
            </a:pPr>
            <a:fld id="{8549B7E8-B319-40D5-96D9-D19404271C26}" type="datetime'''''''''''''''''''''2''''''''''''''''0'''''''''">
              <a:rPr lang="en-US" sz="900">
                <a:solidFill>
                  <a:schemeClr val="accent1"/>
                </a:solidFill>
              </a:rPr>
              <a:pPr/>
              <a:t>20</a:t>
            </a:fld>
            <a:endParaRPr kumimoji="0" lang="en-US" sz="900" strike="noStrike" cap="none" normalizeH="0" dirty="0" smtClean="0">
              <a:ln>
                <a:noFill/>
              </a:ln>
              <a:solidFill>
                <a:schemeClr val="accent1"/>
              </a:solidFill>
              <a:effectLst/>
              <a:latin typeface="Arial"/>
              <a:sym typeface="Arial"/>
            </a:endParaRPr>
          </a:p>
        </p:txBody>
      </p:sp>
      <p:sp>
        <p:nvSpPr>
          <p:cNvPr id="40" name="Rectangle 39"/>
          <p:cNvSpPr/>
          <p:nvPr>
            <p:custDataLst>
              <p:tags r:id="rId15"/>
            </p:custDataLst>
          </p:nvPr>
        </p:nvSpPr>
        <p:spPr bwMode="gray">
          <a:xfrm>
            <a:off x="2816225" y="1838325"/>
            <a:ext cx="158750" cy="1365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15875" tIns="0" rIns="15875" bIns="0" numCol="1" rtlCol="0" anchor="b" anchorCtr="0" compatLnSpc="1">
            <a:prstTxWarp prst="textNoShape">
              <a:avLst/>
            </a:prstTxWarp>
            <a:noAutofit/>
          </a:bodyPr>
          <a:lstStyle/>
          <a:p>
            <a:pPr algn="ctr" fontAlgn="base">
              <a:spcBef>
                <a:spcPct val="0"/>
              </a:spcBef>
              <a:spcAft>
                <a:spcPct val="0"/>
              </a:spcAft>
            </a:pPr>
            <a:fld id="{84AC7454-150D-4B6E-BBAC-60A498C13EB4}" type="datetime'''''2''''''0'''''''''''''''''''''''''''''''''''">
              <a:rPr lang="en-US" sz="900">
                <a:solidFill>
                  <a:schemeClr val="accent1"/>
                </a:solidFill>
              </a:rPr>
              <a:pPr/>
              <a:t>20</a:t>
            </a:fld>
            <a:endParaRPr kumimoji="0" lang="en-US" sz="900" strike="noStrike" cap="none" normalizeH="0" dirty="0" smtClean="0">
              <a:ln>
                <a:noFill/>
              </a:ln>
              <a:solidFill>
                <a:schemeClr val="accent1"/>
              </a:solidFill>
              <a:effectLst/>
              <a:latin typeface="Arial"/>
              <a:sym typeface="Arial"/>
            </a:endParaRPr>
          </a:p>
        </p:txBody>
      </p:sp>
      <p:sp>
        <p:nvSpPr>
          <p:cNvPr id="41" name="Rectangle 40"/>
          <p:cNvSpPr/>
          <p:nvPr>
            <p:custDataLst>
              <p:tags r:id="rId16"/>
            </p:custDataLst>
          </p:nvPr>
        </p:nvSpPr>
        <p:spPr bwMode="gray">
          <a:xfrm>
            <a:off x="2397125" y="1838325"/>
            <a:ext cx="158750" cy="1365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15875" tIns="0" rIns="15875" bIns="0" numCol="1" rtlCol="0" anchor="b" anchorCtr="0" compatLnSpc="1">
            <a:prstTxWarp prst="textNoShape">
              <a:avLst/>
            </a:prstTxWarp>
            <a:noAutofit/>
          </a:bodyPr>
          <a:lstStyle/>
          <a:p>
            <a:pPr algn="ctr" fontAlgn="base">
              <a:spcBef>
                <a:spcPct val="0"/>
              </a:spcBef>
              <a:spcAft>
                <a:spcPct val="0"/>
              </a:spcAft>
            </a:pPr>
            <a:fld id="{02982E1A-A373-4EC1-88AA-D61D9957A98A}" type="datetime'''''''''''''2''''''''''''''''''''0'''''''''''''''''''">
              <a:rPr lang="en-US" sz="900">
                <a:solidFill>
                  <a:schemeClr val="accent1"/>
                </a:solidFill>
              </a:rPr>
              <a:pPr/>
              <a:t>20</a:t>
            </a:fld>
            <a:endParaRPr kumimoji="0" lang="en-US" sz="900" strike="noStrike" cap="none" normalizeH="0" dirty="0" smtClean="0">
              <a:ln>
                <a:noFill/>
              </a:ln>
              <a:solidFill>
                <a:schemeClr val="accent1"/>
              </a:solidFill>
              <a:effectLst/>
              <a:latin typeface="Arial"/>
              <a:sym typeface="Arial"/>
            </a:endParaRPr>
          </a:p>
        </p:txBody>
      </p:sp>
      <p:graphicFrame>
        <p:nvGraphicFramePr>
          <p:cNvPr id="42" name="Object 41"/>
          <p:cNvGraphicFramePr>
            <a:graphicFrameLocks/>
          </p:cNvGraphicFramePr>
          <p:nvPr>
            <p:custDataLst>
              <p:tags r:id="rId17"/>
            </p:custDataLst>
            <p:extLst>
              <p:ext uri="{D42A27DB-BD31-4B8C-83A1-F6EECF244321}">
                <p14:modId xmlns:p14="http://schemas.microsoft.com/office/powerpoint/2010/main" val="945183654"/>
              </p:ext>
            </p:extLst>
          </p:nvPr>
        </p:nvGraphicFramePr>
        <p:xfrm>
          <a:off x="2133600" y="4229100"/>
          <a:ext cx="4410143" cy="914400"/>
        </p:xfrm>
        <a:graphic>
          <a:graphicData uri="http://schemas.openxmlformats.org/presentationml/2006/ole">
            <mc:AlternateContent xmlns:mc="http://schemas.openxmlformats.org/markup-compatibility/2006">
              <mc:Choice xmlns:v="urn:schemas-microsoft-com:vml" Requires="v">
                <p:oleObj spid="_x0000_s235176" name="Chart" r:id="rId70" imgW="4410143" imgH="914400" progId="MSGraph.Chart.8">
                  <p:embed followColorScheme="full"/>
                </p:oleObj>
              </mc:Choice>
              <mc:Fallback>
                <p:oleObj name="Chart" r:id="rId70" imgW="4410143" imgH="914400" progId="MSGraph.Chart.8">
                  <p:embed followColorScheme="full"/>
                  <p:pic>
                    <p:nvPicPr>
                      <p:cNvPr id="0" name=""/>
                      <p:cNvPicPr/>
                      <p:nvPr/>
                    </p:nvPicPr>
                    <p:blipFill>
                      <a:blip r:embed="rId71"/>
                      <a:stretch>
                        <a:fillRect/>
                      </a:stretch>
                    </p:blipFill>
                    <p:spPr>
                      <a:xfrm>
                        <a:off x="2133600" y="4229100"/>
                        <a:ext cx="4410143" cy="914400"/>
                      </a:xfrm>
                      <a:prstGeom prst="rect">
                        <a:avLst/>
                      </a:prstGeom>
                    </p:spPr>
                  </p:pic>
                </p:oleObj>
              </mc:Fallback>
            </mc:AlternateContent>
          </a:graphicData>
        </a:graphic>
      </p:graphicFrame>
      <p:sp>
        <p:nvSpPr>
          <p:cNvPr id="156" name="Text Placeholder 54"/>
          <p:cNvSpPr>
            <a:spLocks noGrp="1"/>
          </p:cNvSpPr>
          <p:nvPr>
            <p:custDataLst>
              <p:tags r:id="rId18"/>
            </p:custDataLst>
          </p:nvPr>
        </p:nvSpPr>
        <p:spPr bwMode="gray">
          <a:xfrm>
            <a:off x="6138863" y="4191000"/>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F85983C-F3E2-4CEC-957B-B1FDED7593B2}" type="datetime'''''''''''''1''.''''''''''''3'''''''''''''''''''''''''''''''">
              <a:rPr lang="en-US" sz="900">
                <a:solidFill>
                  <a:schemeClr val="accent1"/>
                </a:solidFill>
              </a:rPr>
              <a:pPr/>
              <a:t>1.3</a:t>
            </a:fld>
            <a:endParaRPr lang="en-US" sz="900" dirty="0">
              <a:solidFill>
                <a:schemeClr val="accent1"/>
              </a:solidFill>
              <a:latin typeface="Arial"/>
              <a:sym typeface="Arial"/>
            </a:endParaRPr>
          </a:p>
        </p:txBody>
      </p:sp>
      <p:sp>
        <p:nvSpPr>
          <p:cNvPr id="155" name="Text Placeholder 53"/>
          <p:cNvSpPr>
            <a:spLocks noGrp="1"/>
          </p:cNvSpPr>
          <p:nvPr>
            <p:custDataLst>
              <p:tags r:id="rId19"/>
            </p:custDataLst>
          </p:nvPr>
        </p:nvSpPr>
        <p:spPr bwMode="gray">
          <a:xfrm>
            <a:off x="5719763" y="4210050"/>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AB9B963-6B70-47FA-AB4B-D02EDFB63049}" type="datetime'''''''1.''''''''''''2'''''''''''''''''''''''''''''''''''''''">
              <a:rPr lang="en-US" sz="900">
                <a:solidFill>
                  <a:schemeClr val="accent1"/>
                </a:solidFill>
              </a:rPr>
              <a:pPr/>
              <a:t>1.2</a:t>
            </a:fld>
            <a:endParaRPr lang="en-US" sz="900" dirty="0">
              <a:solidFill>
                <a:schemeClr val="accent1"/>
              </a:solidFill>
              <a:latin typeface="Arial"/>
              <a:sym typeface="Arial"/>
            </a:endParaRPr>
          </a:p>
        </p:txBody>
      </p:sp>
      <p:sp>
        <p:nvSpPr>
          <p:cNvPr id="154" name="Text Placeholder 52"/>
          <p:cNvSpPr>
            <a:spLocks noGrp="1"/>
          </p:cNvSpPr>
          <p:nvPr>
            <p:custDataLst>
              <p:tags r:id="rId20"/>
            </p:custDataLst>
          </p:nvPr>
        </p:nvSpPr>
        <p:spPr bwMode="gray">
          <a:xfrm>
            <a:off x="5300663" y="4238625"/>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72F4D83-4DF8-4529-AC33-C1BB12226C64}" type="datetime'''1''.''''''''''''''''''''''''''''''''''''''''''1'''''''''">
              <a:rPr lang="en-US" sz="900">
                <a:solidFill>
                  <a:schemeClr val="accent1"/>
                </a:solidFill>
              </a:rPr>
              <a:pPr/>
              <a:t>1.1</a:t>
            </a:fld>
            <a:endParaRPr lang="en-US" sz="900" dirty="0">
              <a:solidFill>
                <a:schemeClr val="accent1"/>
              </a:solidFill>
              <a:latin typeface="Arial"/>
              <a:sym typeface="Arial"/>
            </a:endParaRPr>
          </a:p>
        </p:txBody>
      </p:sp>
      <p:sp>
        <p:nvSpPr>
          <p:cNvPr id="153" name="Text Placeholder 51"/>
          <p:cNvSpPr>
            <a:spLocks noGrp="1"/>
          </p:cNvSpPr>
          <p:nvPr>
            <p:custDataLst>
              <p:tags r:id="rId21"/>
            </p:custDataLst>
          </p:nvPr>
        </p:nvSpPr>
        <p:spPr bwMode="gray">
          <a:xfrm>
            <a:off x="4881563" y="4276725"/>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FB6DDF1-81B1-4D77-9244-4AEAEB2E8970}" type="datetime'''''''''''''0''''.''''''''''''''''''''''''''9'''''''''''''''">
              <a:rPr lang="en-US" sz="900">
                <a:solidFill>
                  <a:schemeClr val="accent1"/>
                </a:solidFill>
              </a:rPr>
              <a:pPr/>
              <a:t>0.9</a:t>
            </a:fld>
            <a:endParaRPr lang="en-US" sz="900" dirty="0">
              <a:solidFill>
                <a:schemeClr val="accent1"/>
              </a:solidFill>
              <a:latin typeface="Arial"/>
              <a:sym typeface="Arial"/>
            </a:endParaRPr>
          </a:p>
        </p:txBody>
      </p:sp>
      <p:sp>
        <p:nvSpPr>
          <p:cNvPr id="152" name="Text Placeholder 50"/>
          <p:cNvSpPr>
            <a:spLocks noGrp="1"/>
          </p:cNvSpPr>
          <p:nvPr>
            <p:custDataLst>
              <p:tags r:id="rId22"/>
            </p:custDataLst>
          </p:nvPr>
        </p:nvSpPr>
        <p:spPr bwMode="gray">
          <a:xfrm>
            <a:off x="4462463" y="4314825"/>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1D01645-5F6B-4798-84C4-4E713BF8F89C}" type="datetime'''0''''''.''''''8'''''''''''''''''''''''''''''''''''''''''''">
              <a:rPr lang="en-US" sz="900">
                <a:solidFill>
                  <a:schemeClr val="accent1"/>
                </a:solidFill>
              </a:rPr>
              <a:pPr/>
              <a:t>0.8</a:t>
            </a:fld>
            <a:endParaRPr lang="en-US" sz="900" dirty="0">
              <a:solidFill>
                <a:schemeClr val="accent1"/>
              </a:solidFill>
              <a:latin typeface="Arial"/>
              <a:sym typeface="Arial"/>
            </a:endParaRPr>
          </a:p>
        </p:txBody>
      </p:sp>
      <p:sp>
        <p:nvSpPr>
          <p:cNvPr id="151" name="Text Placeholder 49"/>
          <p:cNvSpPr>
            <a:spLocks noGrp="1"/>
          </p:cNvSpPr>
          <p:nvPr>
            <p:custDataLst>
              <p:tags r:id="rId23"/>
            </p:custDataLst>
          </p:nvPr>
        </p:nvSpPr>
        <p:spPr bwMode="gray">
          <a:xfrm>
            <a:off x="4038600" y="4362450"/>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032F4CBF-1F82-458E-8C0A-4BA483E5B960}" type="datetime'''''''0''''''''''''''''.''''''''''6'''''''''''''''''''''''">
              <a:rPr lang="en-US" sz="900">
                <a:solidFill>
                  <a:schemeClr val="accent1"/>
                </a:solidFill>
              </a:rPr>
              <a:pPr/>
              <a:t>0.6</a:t>
            </a:fld>
            <a:endParaRPr lang="en-US" sz="900" dirty="0">
              <a:solidFill>
                <a:schemeClr val="accent1"/>
              </a:solidFill>
              <a:latin typeface="Arial"/>
              <a:sym typeface="Arial"/>
            </a:endParaRPr>
          </a:p>
        </p:txBody>
      </p:sp>
      <p:sp>
        <p:nvSpPr>
          <p:cNvPr id="127" name="Text Placeholder 48"/>
          <p:cNvSpPr>
            <a:spLocks noGrp="1"/>
          </p:cNvSpPr>
          <p:nvPr>
            <p:custDataLst>
              <p:tags r:id="rId24"/>
            </p:custDataLst>
          </p:nvPr>
        </p:nvSpPr>
        <p:spPr bwMode="gray">
          <a:xfrm>
            <a:off x="3614738" y="4400550"/>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21FC178-9916-4B56-B575-E3E4F91E7018}" type="datetime'''0''''''''.''''''''''''''''''''''''4'''''''''''''">
              <a:rPr lang="en-US" sz="900">
                <a:solidFill>
                  <a:schemeClr val="accent1"/>
                </a:solidFill>
              </a:rPr>
              <a:pPr/>
              <a:t>0.4</a:t>
            </a:fld>
            <a:endParaRPr lang="en-US" sz="900" dirty="0">
              <a:solidFill>
                <a:schemeClr val="accent1"/>
              </a:solidFill>
              <a:latin typeface="Arial"/>
              <a:sym typeface="Arial"/>
            </a:endParaRPr>
          </a:p>
        </p:txBody>
      </p:sp>
      <p:sp>
        <p:nvSpPr>
          <p:cNvPr id="126" name="Text Placeholder 47"/>
          <p:cNvSpPr>
            <a:spLocks noGrp="1"/>
          </p:cNvSpPr>
          <p:nvPr>
            <p:custDataLst>
              <p:tags r:id="rId25"/>
            </p:custDataLst>
          </p:nvPr>
        </p:nvSpPr>
        <p:spPr bwMode="gray">
          <a:xfrm>
            <a:off x="3195638" y="4429125"/>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70239A0-7C9D-4A87-BFB5-A67C147F4F44}" type="datetime'''''''''''''''''''''0''''''''''''''''.''''''''''''2'''''''''">
              <a:rPr lang="en-US" sz="900">
                <a:solidFill>
                  <a:schemeClr val="accent1"/>
                </a:solidFill>
              </a:rPr>
              <a:pPr/>
              <a:t>0.2</a:t>
            </a:fld>
            <a:endParaRPr lang="en-US" sz="900" dirty="0">
              <a:solidFill>
                <a:schemeClr val="accent1"/>
              </a:solidFill>
              <a:latin typeface="Arial"/>
              <a:sym typeface="Arial"/>
            </a:endParaRPr>
          </a:p>
        </p:txBody>
      </p:sp>
      <p:sp>
        <p:nvSpPr>
          <p:cNvPr id="125" name="Text Placeholder 46"/>
          <p:cNvSpPr>
            <a:spLocks noGrp="1"/>
          </p:cNvSpPr>
          <p:nvPr>
            <p:custDataLst>
              <p:tags r:id="rId26"/>
            </p:custDataLst>
          </p:nvPr>
        </p:nvSpPr>
        <p:spPr bwMode="gray">
          <a:xfrm>
            <a:off x="2776538" y="4457700"/>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D8408A0-3AB7-4D15-B42A-0A9519E72780}" type="datetime'0''''''.''''''''''''''''''''''''''''''''1'''''''''">
              <a:rPr lang="en-US" sz="900">
                <a:solidFill>
                  <a:schemeClr val="accent1"/>
                </a:solidFill>
              </a:rPr>
              <a:pPr/>
              <a:t>0.1</a:t>
            </a:fld>
            <a:endParaRPr lang="en-US" sz="900" dirty="0">
              <a:solidFill>
                <a:schemeClr val="accent1"/>
              </a:solidFill>
              <a:latin typeface="Arial"/>
              <a:sym typeface="Arial"/>
            </a:endParaRPr>
          </a:p>
        </p:txBody>
      </p:sp>
      <p:sp>
        <p:nvSpPr>
          <p:cNvPr id="123" name="Text Placeholder 45"/>
          <p:cNvSpPr>
            <a:spLocks noGrp="1"/>
          </p:cNvSpPr>
          <p:nvPr>
            <p:custDataLst>
              <p:tags r:id="rId27"/>
            </p:custDataLst>
          </p:nvPr>
        </p:nvSpPr>
        <p:spPr bwMode="gray">
          <a:xfrm>
            <a:off x="2357438" y="4476750"/>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C14EEF2-401B-4DDB-9808-CEF225A98F82}" type="datetime'''0''''''''.''''''''''''0'''''">
              <a:rPr lang="en-US" sz="900">
                <a:solidFill>
                  <a:schemeClr val="accent1"/>
                </a:solidFill>
              </a:rPr>
              <a:pPr/>
              <a:t>0.0</a:t>
            </a:fld>
            <a:endParaRPr lang="en-US" sz="900" dirty="0">
              <a:solidFill>
                <a:schemeClr val="accent1"/>
              </a:solidFill>
              <a:latin typeface="Arial"/>
              <a:sym typeface="Arial"/>
            </a:endParaRPr>
          </a:p>
        </p:txBody>
      </p:sp>
      <p:sp>
        <p:nvSpPr>
          <p:cNvPr id="49" name="Freeform 48"/>
          <p:cNvSpPr/>
          <p:nvPr>
            <p:custDataLst>
              <p:tags r:id="rId28"/>
            </p:custDataLst>
          </p:nvPr>
        </p:nvSpPr>
        <p:spPr bwMode="auto">
          <a:xfrm rot="5400000">
            <a:off x="832513" y="3526053"/>
            <a:ext cx="974509" cy="1515978"/>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4208" y="0"/>
                </a:lnTo>
                <a:lnTo>
                  <a:pt x="1828800" y="457200"/>
                </a:lnTo>
                <a:lnTo>
                  <a:pt x="1664208" y="914400"/>
                </a:lnTo>
                <a:lnTo>
                  <a:pt x="0" y="914400"/>
                </a:lnTo>
                <a:lnTo>
                  <a:pt x="0" y="457200"/>
                </a:lnTo>
                <a:close/>
              </a:path>
            </a:pathLst>
          </a:cu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smtClean="0">
              <a:ln>
                <a:noFill/>
              </a:ln>
              <a:solidFill>
                <a:schemeClr val="accent1"/>
              </a:solidFill>
              <a:effectLst/>
              <a:latin typeface="Arial" charset="0"/>
            </a:endParaRPr>
          </a:p>
        </p:txBody>
      </p:sp>
      <p:sp>
        <p:nvSpPr>
          <p:cNvPr id="50" name="TextBox 5"/>
          <p:cNvSpPr txBox="1"/>
          <p:nvPr>
            <p:custDataLst>
              <p:tags r:id="rId29"/>
            </p:custDataLst>
          </p:nvPr>
        </p:nvSpPr>
        <p:spPr>
          <a:xfrm>
            <a:off x="561779" y="3836961"/>
            <a:ext cx="1515978" cy="837861"/>
          </a:xfrm>
          <a:prstGeom prst="rect">
            <a:avLst/>
          </a:prstGeom>
          <a:noFill/>
          <a:ln w="9525">
            <a:noFill/>
            <a:miter lim="800000"/>
            <a:headEnd/>
            <a:tailEnd/>
          </a:ln>
        </p:spPr>
        <p:txBody>
          <a:bodyPr vert="horz" wrap="square" lIns="76200" tIns="76200" rIns="76200" bIns="76200" numCol="1" anchor="t" anchorCtr="0"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buNone/>
            </a:pPr>
            <a:r>
              <a:rPr lang="en-US" sz="1100" b="1" dirty="0" smtClean="0">
                <a:solidFill>
                  <a:schemeClr val="accent1"/>
                </a:solidFill>
              </a:rPr>
              <a:t>Through improving yields, Colombia’s exports will increase over time</a:t>
            </a:r>
            <a:endParaRPr lang="en-US" sz="1100" dirty="0">
              <a:solidFill>
                <a:schemeClr val="accent1"/>
              </a:solidFill>
            </a:endParaRPr>
          </a:p>
        </p:txBody>
      </p:sp>
      <p:cxnSp>
        <p:nvCxnSpPr>
          <p:cNvPr id="51" name="Straight Connector 50"/>
          <p:cNvCxnSpPr>
            <a:cxnSpLocks/>
          </p:cNvCxnSpPr>
          <p:nvPr/>
        </p:nvCxnSpPr>
        <p:spPr bwMode="auto">
          <a:xfrm>
            <a:off x="566738" y="2441997"/>
            <a:ext cx="8374781" cy="1963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grpSp>
        <p:nvGrpSpPr>
          <p:cNvPr id="54" name="ACET"/>
          <p:cNvGrpSpPr>
            <a:grpSpLocks/>
          </p:cNvGrpSpPr>
          <p:nvPr/>
        </p:nvGrpSpPr>
        <p:grpSpPr bwMode="auto">
          <a:xfrm>
            <a:off x="2250586" y="1272418"/>
            <a:ext cx="4299903" cy="188087"/>
            <a:chOff x="915" y="970"/>
            <a:chExt cx="2686" cy="60"/>
          </a:xfrm>
        </p:grpSpPr>
        <p:cxnSp>
          <p:nvCxnSpPr>
            <p:cNvPr id="55" name="AutoShape 70"/>
            <p:cNvCxnSpPr>
              <a:cxnSpLocks noChangeShapeType="1"/>
              <a:stCxn id="56" idx="4"/>
              <a:endCxn id="56" idx="6"/>
            </p:cNvCxnSpPr>
            <p:nvPr/>
          </p:nvCxnSpPr>
          <p:spPr bwMode="auto">
            <a:xfrm>
              <a:off x="915" y="1030"/>
              <a:ext cx="2686"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AutoShape 71"/>
            <p:cNvSpPr>
              <a:spLocks noChangeArrowheads="1"/>
            </p:cNvSpPr>
            <p:nvPr/>
          </p:nvSpPr>
          <p:spPr bwMode="auto">
            <a:xfrm>
              <a:off x="915" y="970"/>
              <a:ext cx="2686" cy="6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100" dirty="0" smtClean="0">
                  <a:solidFill>
                    <a:schemeClr val="accent1"/>
                  </a:solidFill>
                </a:rPr>
                <a:t>Farmers newly enrolled in program, thousands</a:t>
              </a:r>
              <a:endParaRPr lang="en-US" sz="1100" dirty="0">
                <a:solidFill>
                  <a:schemeClr val="accent1"/>
                </a:solidFill>
              </a:endParaRPr>
            </a:p>
          </p:txBody>
        </p:sp>
      </p:grpSp>
      <p:cxnSp>
        <p:nvCxnSpPr>
          <p:cNvPr id="61" name="AutoShape 70"/>
          <p:cNvCxnSpPr>
            <a:cxnSpLocks noChangeShapeType="1"/>
            <a:stCxn id="62" idx="4"/>
            <a:endCxn id="62" idx="6"/>
          </p:cNvCxnSpPr>
          <p:nvPr/>
        </p:nvCxnSpPr>
        <p:spPr bwMode="auto">
          <a:xfrm>
            <a:off x="2250586" y="3986720"/>
            <a:ext cx="4323716"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AutoShape 71"/>
          <p:cNvSpPr>
            <a:spLocks noChangeArrowheads="1"/>
          </p:cNvSpPr>
          <p:nvPr/>
        </p:nvSpPr>
        <p:spPr bwMode="auto">
          <a:xfrm>
            <a:off x="2250586" y="3798279"/>
            <a:ext cx="4323716" cy="188441"/>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100" dirty="0" smtClean="0">
                <a:solidFill>
                  <a:schemeClr val="accent1"/>
                </a:solidFill>
              </a:rPr>
              <a:t>Incremental export volume, million 60kg bags green*</a:t>
            </a:r>
            <a:endParaRPr lang="en-US" sz="1100" dirty="0">
              <a:solidFill>
                <a:schemeClr val="accent1"/>
              </a:solidFill>
            </a:endParaRPr>
          </a:p>
        </p:txBody>
      </p:sp>
      <p:sp>
        <p:nvSpPr>
          <p:cNvPr id="68" name="Rectangle 20"/>
          <p:cNvSpPr txBox="1"/>
          <p:nvPr/>
        </p:nvSpPr>
        <p:spPr>
          <a:xfrm>
            <a:off x="6787425" y="1245547"/>
            <a:ext cx="1718490" cy="16927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spcAft>
                <a:spcPts val="600"/>
              </a:spcAft>
              <a:buNone/>
            </a:pPr>
            <a:r>
              <a:rPr lang="en-US" sz="1100" dirty="0" smtClean="0">
                <a:solidFill>
                  <a:schemeClr val="accent1"/>
                </a:solidFill>
              </a:rPr>
              <a:t>Total over 10 years</a:t>
            </a:r>
          </a:p>
        </p:txBody>
      </p:sp>
      <p:sp>
        <p:nvSpPr>
          <p:cNvPr id="84" name="McK Footnote"/>
          <p:cNvSpPr txBox="1">
            <a:spLocks noChangeArrowheads="1"/>
          </p:cNvSpPr>
          <p:nvPr/>
        </p:nvSpPr>
        <p:spPr bwMode="auto">
          <a:xfrm>
            <a:off x="633636" y="6260489"/>
            <a:ext cx="8485187" cy="415498"/>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 Assuming yield improvement to be achieved over 3 years</a:t>
            </a:r>
          </a:p>
          <a:p>
            <a:pPr marL="563563" indent="-563563" defTabSz="895350">
              <a:tabLst>
                <a:tab pos="517525" algn="r"/>
              </a:tabLst>
            </a:pPr>
            <a:r>
              <a:rPr lang="en-US" sz="900" dirty="0" smtClean="0">
                <a:solidFill>
                  <a:schemeClr val="tx1">
                    <a:lumMod val="65000"/>
                    <a:lumOff val="35000"/>
                  </a:schemeClr>
                </a:solidFill>
              </a:rPr>
              <a:t>** Assuming price of US$ 1.50/</a:t>
            </a:r>
            <a:r>
              <a:rPr lang="en-US" sz="900" dirty="0" err="1" smtClean="0">
                <a:solidFill>
                  <a:schemeClr val="tx1">
                    <a:lumMod val="65000"/>
                    <a:lumOff val="35000"/>
                  </a:schemeClr>
                </a:solidFill>
              </a:rPr>
              <a:t>lb</a:t>
            </a:r>
            <a:endParaRPr lang="en-US" sz="900" dirty="0">
              <a:solidFill>
                <a:schemeClr val="tx1">
                  <a:lumMod val="65000"/>
                  <a:lumOff val="35000"/>
                </a:schemeClr>
              </a:solidFill>
            </a:endParaRPr>
          </a:p>
          <a:p>
            <a:pPr marL="563563" indent="-563563" defTabSz="895350">
              <a:tabLst>
                <a:tab pos="517525" algn="r"/>
              </a:tabLst>
            </a:pPr>
            <a:r>
              <a:rPr lang="en-US" sz="900" dirty="0" smtClean="0">
                <a:solidFill>
                  <a:schemeClr val="tx1">
                    <a:lumMod val="65000"/>
                    <a:lumOff val="35000"/>
                  </a:schemeClr>
                </a:solidFill>
              </a:rPr>
              <a:t>Source: TechnoServe analysis</a:t>
            </a:r>
          </a:p>
        </p:txBody>
      </p:sp>
      <p:graphicFrame>
        <p:nvGraphicFramePr>
          <p:cNvPr id="124" name="Object 123"/>
          <p:cNvGraphicFramePr>
            <a:graphicFrameLocks/>
          </p:cNvGraphicFramePr>
          <p:nvPr>
            <p:custDataLst>
              <p:tags r:id="rId30"/>
            </p:custDataLst>
            <p:extLst>
              <p:ext uri="{D42A27DB-BD31-4B8C-83A1-F6EECF244321}">
                <p14:modId xmlns:p14="http://schemas.microsoft.com/office/powerpoint/2010/main" val="295291223"/>
              </p:ext>
            </p:extLst>
          </p:nvPr>
        </p:nvGraphicFramePr>
        <p:xfrm>
          <a:off x="2057400" y="2933700"/>
          <a:ext cx="4524443" cy="914400"/>
        </p:xfrm>
        <a:graphic>
          <a:graphicData uri="http://schemas.openxmlformats.org/presentationml/2006/ole">
            <mc:AlternateContent xmlns:mc="http://schemas.openxmlformats.org/markup-compatibility/2006">
              <mc:Choice xmlns:v="urn:schemas-microsoft-com:vml" Requires="v">
                <p:oleObj spid="_x0000_s235177" name="Chart" r:id="rId72" imgW="4524443" imgH="914400" progId="MSGraph.Chart.8">
                  <p:embed followColorScheme="full"/>
                </p:oleObj>
              </mc:Choice>
              <mc:Fallback>
                <p:oleObj name="Chart" r:id="rId72" imgW="4524443" imgH="914400" progId="MSGraph.Chart.8">
                  <p:embed followColorScheme="full"/>
                  <p:pic>
                    <p:nvPicPr>
                      <p:cNvPr id="0" name=""/>
                      <p:cNvPicPr/>
                      <p:nvPr/>
                    </p:nvPicPr>
                    <p:blipFill>
                      <a:blip r:embed="rId73"/>
                      <a:stretch>
                        <a:fillRect/>
                      </a:stretch>
                    </p:blipFill>
                    <p:spPr>
                      <a:xfrm>
                        <a:off x="2057400" y="2933700"/>
                        <a:ext cx="4524443" cy="914400"/>
                      </a:xfrm>
                      <a:prstGeom prst="rect">
                        <a:avLst/>
                      </a:prstGeom>
                    </p:spPr>
                  </p:pic>
                </p:oleObj>
              </mc:Fallback>
            </mc:AlternateContent>
          </a:graphicData>
        </a:graphic>
      </p:graphicFrame>
      <p:sp>
        <p:nvSpPr>
          <p:cNvPr id="111" name="Text Placeholder 4"/>
          <p:cNvSpPr>
            <a:spLocks noGrp="1"/>
          </p:cNvSpPr>
          <p:nvPr>
            <p:custDataLst>
              <p:tags r:id="rId31"/>
            </p:custDataLst>
          </p:nvPr>
        </p:nvSpPr>
        <p:spPr bwMode="gray">
          <a:xfrm>
            <a:off x="2320925" y="3238500"/>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900" dirty="0" smtClean="0">
                <a:solidFill>
                  <a:schemeClr val="accent1"/>
                </a:solidFill>
                <a:latin typeface="Arial"/>
                <a:sym typeface="Arial"/>
              </a:rPr>
              <a:t>10</a:t>
            </a:r>
            <a:endParaRPr lang="en-US" sz="900" dirty="0">
              <a:solidFill>
                <a:schemeClr val="accent1"/>
              </a:solidFill>
              <a:latin typeface="Arial"/>
              <a:sym typeface="Arial"/>
            </a:endParaRPr>
          </a:p>
        </p:txBody>
      </p:sp>
      <p:sp>
        <p:nvSpPr>
          <p:cNvPr id="112" name="Text Placeholder 5"/>
          <p:cNvSpPr>
            <a:spLocks noGrp="1"/>
          </p:cNvSpPr>
          <p:nvPr>
            <p:custDataLst>
              <p:tags r:id="rId32"/>
            </p:custDataLst>
          </p:nvPr>
        </p:nvSpPr>
        <p:spPr bwMode="gray">
          <a:xfrm>
            <a:off x="2749550" y="3105150"/>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D87A5EF-DFF6-4871-9BA7-AA7314FD53A8}" type="datetime'''''''1''''''''''''''7'''''''''''''''''''''">
              <a:rPr lang="en-US" sz="900">
                <a:solidFill>
                  <a:schemeClr val="accent1"/>
                </a:solidFill>
                <a:latin typeface="Arial"/>
                <a:sym typeface="Arial"/>
              </a:rPr>
              <a:pPr marL="0" indent="0" algn="ctr">
                <a:spcBef>
                  <a:spcPct val="0"/>
                </a:spcBef>
                <a:spcAft>
                  <a:spcPct val="0"/>
                </a:spcAft>
                <a:buNone/>
              </a:pPr>
              <a:t>17</a:t>
            </a:fld>
            <a:endParaRPr lang="en-US" sz="900" dirty="0">
              <a:solidFill>
                <a:schemeClr val="accent1"/>
              </a:solidFill>
              <a:latin typeface="Arial"/>
              <a:sym typeface="Arial"/>
            </a:endParaRPr>
          </a:p>
        </p:txBody>
      </p:sp>
      <p:sp>
        <p:nvSpPr>
          <p:cNvPr id="113" name="Text Placeholder 6"/>
          <p:cNvSpPr>
            <a:spLocks noGrp="1"/>
          </p:cNvSpPr>
          <p:nvPr>
            <p:custDataLst>
              <p:tags r:id="rId33"/>
            </p:custDataLst>
          </p:nvPr>
        </p:nvSpPr>
        <p:spPr bwMode="gray">
          <a:xfrm>
            <a:off x="3178175" y="3105150"/>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2C130F0-FE6E-41AB-A3E3-6843F45ABD48}" type="datetime'''''''''1''''''''''''''''7'''''''''''''''''''''''''''''">
              <a:rPr lang="en-US" sz="900">
                <a:solidFill>
                  <a:schemeClr val="accent1"/>
                </a:solidFill>
                <a:latin typeface="Arial"/>
                <a:sym typeface="Arial"/>
              </a:rPr>
              <a:pPr marL="0" indent="0" algn="ctr">
                <a:spcBef>
                  <a:spcPct val="0"/>
                </a:spcBef>
                <a:spcAft>
                  <a:spcPct val="0"/>
                </a:spcAft>
                <a:buNone/>
              </a:pPr>
              <a:t>17</a:t>
            </a:fld>
            <a:endParaRPr lang="en-US" sz="900" dirty="0">
              <a:solidFill>
                <a:schemeClr val="accent1"/>
              </a:solidFill>
              <a:latin typeface="Arial"/>
              <a:sym typeface="Arial"/>
            </a:endParaRPr>
          </a:p>
        </p:txBody>
      </p:sp>
      <p:sp>
        <p:nvSpPr>
          <p:cNvPr id="114" name="Text Placeholder 7"/>
          <p:cNvSpPr>
            <a:spLocks noGrp="1"/>
          </p:cNvSpPr>
          <p:nvPr>
            <p:custDataLst>
              <p:tags r:id="rId34"/>
            </p:custDataLst>
          </p:nvPr>
        </p:nvSpPr>
        <p:spPr bwMode="gray">
          <a:xfrm>
            <a:off x="3606800" y="3009900"/>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750180E-B3E0-4B1D-B0A2-4A3250D46E0A}" type="datetime'''''''''''''''''''''''''''''''''''''''''''''''''24'''">
              <a:rPr lang="en-US" sz="900">
                <a:solidFill>
                  <a:schemeClr val="accent1"/>
                </a:solidFill>
                <a:latin typeface="Arial"/>
                <a:sym typeface="Arial"/>
              </a:rPr>
              <a:pPr marL="0" indent="0" algn="ctr">
                <a:spcBef>
                  <a:spcPct val="0"/>
                </a:spcBef>
                <a:spcAft>
                  <a:spcPct val="0"/>
                </a:spcAft>
                <a:buNone/>
              </a:pPr>
              <a:t>24</a:t>
            </a:fld>
            <a:endParaRPr lang="en-US" sz="900" dirty="0">
              <a:solidFill>
                <a:schemeClr val="accent1"/>
              </a:solidFill>
              <a:latin typeface="Arial"/>
              <a:sym typeface="Arial"/>
            </a:endParaRPr>
          </a:p>
        </p:txBody>
      </p:sp>
      <p:sp>
        <p:nvSpPr>
          <p:cNvPr id="115" name="Text Placeholder 8"/>
          <p:cNvSpPr>
            <a:spLocks noGrp="1"/>
          </p:cNvSpPr>
          <p:nvPr>
            <p:custDataLst>
              <p:tags r:id="rId35"/>
            </p:custDataLst>
          </p:nvPr>
        </p:nvSpPr>
        <p:spPr bwMode="gray">
          <a:xfrm>
            <a:off x="4035425" y="2905125"/>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2067D7F-2481-4BDA-B30E-E359AB1E2622}" type="datetime'3''''''''''''''''''''''''''''''''0'''''''">
              <a:rPr lang="en-US" sz="900">
                <a:solidFill>
                  <a:schemeClr val="accent1"/>
                </a:solidFill>
                <a:latin typeface="Arial"/>
                <a:sym typeface="Arial"/>
              </a:rPr>
              <a:pPr marL="0" indent="0" algn="ctr">
                <a:spcBef>
                  <a:spcPct val="0"/>
                </a:spcBef>
                <a:spcAft>
                  <a:spcPct val="0"/>
                </a:spcAft>
                <a:buNone/>
              </a:pPr>
              <a:t>30</a:t>
            </a:fld>
            <a:endParaRPr lang="en-US" sz="900" dirty="0">
              <a:solidFill>
                <a:schemeClr val="accent1"/>
              </a:solidFill>
              <a:latin typeface="Arial"/>
              <a:sym typeface="Arial"/>
            </a:endParaRPr>
          </a:p>
        </p:txBody>
      </p:sp>
      <p:sp>
        <p:nvSpPr>
          <p:cNvPr id="116" name="Text Placeholder 9"/>
          <p:cNvSpPr>
            <a:spLocks noGrp="1"/>
          </p:cNvSpPr>
          <p:nvPr>
            <p:custDataLst>
              <p:tags r:id="rId36"/>
            </p:custDataLst>
          </p:nvPr>
        </p:nvSpPr>
        <p:spPr bwMode="gray">
          <a:xfrm>
            <a:off x="4459288" y="2943225"/>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7FDBA2B-6F5D-4FB4-9C13-E7C517E5DD33}" type="datetime'28'''''''''''''''''''''''''''''''''''''''''''''''''''''">
              <a:rPr lang="en-US" sz="900">
                <a:solidFill>
                  <a:schemeClr val="accent1"/>
                </a:solidFill>
                <a:latin typeface="Arial"/>
                <a:sym typeface="Arial"/>
              </a:rPr>
              <a:pPr marL="0" indent="0" algn="ctr">
                <a:spcBef>
                  <a:spcPct val="0"/>
                </a:spcBef>
                <a:spcAft>
                  <a:spcPct val="0"/>
                </a:spcAft>
                <a:buNone/>
              </a:pPr>
              <a:t>28</a:t>
            </a:fld>
            <a:endParaRPr lang="en-US" sz="900" dirty="0">
              <a:solidFill>
                <a:schemeClr val="accent1"/>
              </a:solidFill>
              <a:latin typeface="Arial"/>
              <a:sym typeface="Arial"/>
            </a:endParaRPr>
          </a:p>
        </p:txBody>
      </p:sp>
      <p:sp>
        <p:nvSpPr>
          <p:cNvPr id="117" name="Text Placeholder 21"/>
          <p:cNvSpPr>
            <a:spLocks noGrp="1"/>
          </p:cNvSpPr>
          <p:nvPr>
            <p:custDataLst>
              <p:tags r:id="rId37"/>
            </p:custDataLst>
          </p:nvPr>
        </p:nvSpPr>
        <p:spPr bwMode="gray">
          <a:xfrm>
            <a:off x="4883150" y="2971800"/>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02DB2E3-9B56-420C-B9B1-5B9F1AB2B1D0}" type="datetime'2''6'''''''''">
              <a:rPr lang="en-US" sz="900">
                <a:solidFill>
                  <a:schemeClr val="accent1"/>
                </a:solidFill>
                <a:latin typeface="Arial"/>
                <a:sym typeface="Arial"/>
              </a:rPr>
              <a:pPr marL="0" indent="0" algn="ctr">
                <a:spcBef>
                  <a:spcPct val="0"/>
                </a:spcBef>
                <a:spcAft>
                  <a:spcPct val="0"/>
                </a:spcAft>
                <a:buNone/>
              </a:pPr>
              <a:t>26</a:t>
            </a:fld>
            <a:endParaRPr lang="en-US" sz="900" dirty="0">
              <a:solidFill>
                <a:schemeClr val="accent1"/>
              </a:solidFill>
              <a:latin typeface="Arial"/>
              <a:sym typeface="Arial"/>
            </a:endParaRPr>
          </a:p>
        </p:txBody>
      </p:sp>
      <p:sp>
        <p:nvSpPr>
          <p:cNvPr id="118" name="Text Placeholder 24"/>
          <p:cNvSpPr>
            <a:spLocks noGrp="1"/>
          </p:cNvSpPr>
          <p:nvPr>
            <p:custDataLst>
              <p:tags r:id="rId38"/>
            </p:custDataLst>
          </p:nvPr>
        </p:nvSpPr>
        <p:spPr bwMode="gray">
          <a:xfrm>
            <a:off x="5311775" y="3038475"/>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5FAA876-6772-454B-AA25-0AEED6DAB0C1}" type="datetime'''''''''''2''''''2'''''''''''''''''''''''''''''''''''''''''">
              <a:rPr lang="en-US" sz="900">
                <a:solidFill>
                  <a:schemeClr val="accent1"/>
                </a:solidFill>
                <a:latin typeface="Arial"/>
                <a:sym typeface="Arial"/>
              </a:rPr>
              <a:pPr marL="0" indent="0" algn="ctr">
                <a:spcBef>
                  <a:spcPct val="0"/>
                </a:spcBef>
                <a:spcAft>
                  <a:spcPct val="0"/>
                </a:spcAft>
                <a:buNone/>
              </a:pPr>
              <a:t>22</a:t>
            </a:fld>
            <a:endParaRPr lang="en-US" sz="900" dirty="0">
              <a:solidFill>
                <a:schemeClr val="accent1"/>
              </a:solidFill>
              <a:latin typeface="Arial"/>
              <a:sym typeface="Arial"/>
            </a:endParaRPr>
          </a:p>
        </p:txBody>
      </p:sp>
      <p:sp>
        <p:nvSpPr>
          <p:cNvPr id="119" name="Text Placeholder 25"/>
          <p:cNvSpPr>
            <a:spLocks noGrp="1"/>
          </p:cNvSpPr>
          <p:nvPr>
            <p:custDataLst>
              <p:tags r:id="rId39"/>
            </p:custDataLst>
          </p:nvPr>
        </p:nvSpPr>
        <p:spPr bwMode="gray">
          <a:xfrm>
            <a:off x="5740400" y="3105150"/>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59064D4-E1E9-428A-8A97-201A69B4EF20}" type="datetime'''''''''''''''''''''''''17'''''''''''''''''''''''''''''''''">
              <a:rPr lang="en-US" sz="900">
                <a:solidFill>
                  <a:schemeClr val="accent1"/>
                </a:solidFill>
                <a:latin typeface="Arial"/>
                <a:sym typeface="Arial"/>
              </a:rPr>
              <a:pPr marL="0" indent="0" algn="ctr">
                <a:spcBef>
                  <a:spcPct val="0"/>
                </a:spcBef>
                <a:spcAft>
                  <a:spcPct val="0"/>
                </a:spcAft>
                <a:buNone/>
              </a:pPr>
              <a:t>17</a:t>
            </a:fld>
            <a:endParaRPr lang="en-US" sz="900" dirty="0">
              <a:solidFill>
                <a:schemeClr val="accent1"/>
              </a:solidFill>
              <a:latin typeface="Arial"/>
              <a:sym typeface="Arial"/>
            </a:endParaRPr>
          </a:p>
        </p:txBody>
      </p:sp>
      <p:sp>
        <p:nvSpPr>
          <p:cNvPr id="120" name="Text Placeholder 26"/>
          <p:cNvSpPr>
            <a:spLocks noGrp="1"/>
          </p:cNvSpPr>
          <p:nvPr>
            <p:custDataLst>
              <p:tags r:id="rId40"/>
            </p:custDataLst>
          </p:nvPr>
        </p:nvSpPr>
        <p:spPr bwMode="gray">
          <a:xfrm>
            <a:off x="6200775" y="3238500"/>
            <a:ext cx="952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2DB4127-232D-4F93-AC89-3AA74AF158DD}" type="datetime'''''''''''''''''''9'''''''''''''''''''''''''''''''''''''''''">
              <a:rPr lang="en-US" sz="900">
                <a:solidFill>
                  <a:schemeClr val="accent1"/>
                </a:solidFill>
                <a:latin typeface="Arial"/>
                <a:sym typeface="Arial"/>
              </a:rPr>
              <a:pPr marL="0" indent="0" algn="ctr">
                <a:spcBef>
                  <a:spcPct val="0"/>
                </a:spcBef>
                <a:spcAft>
                  <a:spcPct val="0"/>
                </a:spcAft>
                <a:buNone/>
              </a:pPr>
              <a:t>9</a:t>
            </a:fld>
            <a:endParaRPr lang="en-US" sz="900" dirty="0">
              <a:solidFill>
                <a:schemeClr val="accent1"/>
              </a:solidFill>
              <a:latin typeface="Arial"/>
              <a:sym typeface="Arial"/>
            </a:endParaRPr>
          </a:p>
        </p:txBody>
      </p:sp>
      <p:grpSp>
        <p:nvGrpSpPr>
          <p:cNvPr id="150" name="ACET"/>
          <p:cNvGrpSpPr>
            <a:grpSpLocks/>
          </p:cNvGrpSpPr>
          <p:nvPr/>
        </p:nvGrpSpPr>
        <p:grpSpPr bwMode="auto">
          <a:xfrm>
            <a:off x="2250586" y="2633540"/>
            <a:ext cx="4023360" cy="187325"/>
            <a:chOff x="915" y="912"/>
            <a:chExt cx="2686" cy="118"/>
          </a:xfrm>
        </p:grpSpPr>
        <p:cxnSp>
          <p:nvCxnSpPr>
            <p:cNvPr id="158" name="AutoShape 70"/>
            <p:cNvCxnSpPr>
              <a:cxnSpLocks noChangeShapeType="1"/>
              <a:stCxn id="159" idx="4"/>
              <a:endCxn id="159" idx="6"/>
            </p:cNvCxnSpPr>
            <p:nvPr/>
          </p:nvCxnSpPr>
          <p:spPr bwMode="auto">
            <a:xfrm>
              <a:off x="915" y="1030"/>
              <a:ext cx="2686"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9" name="AutoShape 71"/>
            <p:cNvSpPr>
              <a:spLocks noChangeArrowheads="1"/>
            </p:cNvSpPr>
            <p:nvPr/>
          </p:nvSpPr>
          <p:spPr bwMode="auto">
            <a:xfrm>
              <a:off x="915" y="912"/>
              <a:ext cx="2686" cy="118"/>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100" dirty="0" smtClean="0">
                  <a:solidFill>
                    <a:schemeClr val="accent1"/>
                  </a:solidFill>
                </a:rPr>
                <a:t>Training costs per year , US$ million</a:t>
              </a:r>
              <a:endParaRPr lang="en-US" sz="1100" dirty="0">
                <a:solidFill>
                  <a:schemeClr val="accent1"/>
                </a:solidFill>
              </a:endParaRPr>
            </a:p>
          </p:txBody>
        </p:sp>
      </p:grpSp>
      <p:graphicFrame>
        <p:nvGraphicFramePr>
          <p:cNvPr id="204" name="Object 203"/>
          <p:cNvGraphicFramePr>
            <a:graphicFrameLocks/>
          </p:cNvGraphicFramePr>
          <p:nvPr>
            <p:custDataLst>
              <p:tags r:id="rId41"/>
            </p:custDataLst>
            <p:extLst>
              <p:ext uri="{D42A27DB-BD31-4B8C-83A1-F6EECF244321}">
                <p14:modId xmlns:p14="http://schemas.microsoft.com/office/powerpoint/2010/main" val="2408594163"/>
              </p:ext>
            </p:extLst>
          </p:nvPr>
        </p:nvGraphicFramePr>
        <p:xfrm>
          <a:off x="2133600" y="5295900"/>
          <a:ext cx="4410143" cy="914400"/>
        </p:xfrm>
        <a:graphic>
          <a:graphicData uri="http://schemas.openxmlformats.org/presentationml/2006/ole">
            <mc:AlternateContent xmlns:mc="http://schemas.openxmlformats.org/markup-compatibility/2006">
              <mc:Choice xmlns:v="urn:schemas-microsoft-com:vml" Requires="v">
                <p:oleObj spid="_x0000_s235178" name="Chart" r:id="rId74" imgW="4410143" imgH="914400" progId="MSGraph.Chart.8">
                  <p:embed followColorScheme="full"/>
                </p:oleObj>
              </mc:Choice>
              <mc:Fallback>
                <p:oleObj name="Chart" r:id="rId74" imgW="4410143" imgH="914400" progId="MSGraph.Chart.8">
                  <p:embed followColorScheme="full"/>
                  <p:pic>
                    <p:nvPicPr>
                      <p:cNvPr id="0" name=""/>
                      <p:cNvPicPr/>
                      <p:nvPr/>
                    </p:nvPicPr>
                    <p:blipFill>
                      <a:blip r:embed="rId75"/>
                      <a:stretch>
                        <a:fillRect/>
                      </a:stretch>
                    </p:blipFill>
                    <p:spPr>
                      <a:xfrm>
                        <a:off x="2133600" y="5295900"/>
                        <a:ext cx="4410143" cy="914400"/>
                      </a:xfrm>
                      <a:prstGeom prst="rect">
                        <a:avLst/>
                      </a:prstGeom>
                    </p:spPr>
                  </p:pic>
                </p:oleObj>
              </mc:Fallback>
            </mc:AlternateContent>
          </a:graphicData>
        </a:graphic>
      </p:graphicFrame>
      <p:sp>
        <p:nvSpPr>
          <p:cNvPr id="208" name="Text Placeholder 53"/>
          <p:cNvSpPr>
            <a:spLocks noGrp="1"/>
          </p:cNvSpPr>
          <p:nvPr>
            <p:custDataLst>
              <p:tags r:id="rId42"/>
            </p:custDataLst>
          </p:nvPr>
        </p:nvSpPr>
        <p:spPr bwMode="gray">
          <a:xfrm>
            <a:off x="5703888" y="5286375"/>
            <a:ext cx="2222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D064D6B-CA33-4A18-9BCE-C6ED5DC8A833}" type="datetime'''''''''2''''''''''''''''''4''''4'''''">
              <a:rPr lang="en-US" sz="900">
                <a:solidFill>
                  <a:schemeClr val="accent1"/>
                </a:solidFill>
              </a:rPr>
              <a:pPr/>
              <a:t>244</a:t>
            </a:fld>
            <a:endParaRPr lang="en-US" sz="900" dirty="0">
              <a:solidFill>
                <a:schemeClr val="accent1"/>
              </a:solidFill>
              <a:latin typeface="Arial"/>
              <a:sym typeface="Arial"/>
            </a:endParaRPr>
          </a:p>
        </p:txBody>
      </p:sp>
      <p:sp>
        <p:nvSpPr>
          <p:cNvPr id="207" name="Text Placeholder 54"/>
          <p:cNvSpPr>
            <a:spLocks noGrp="1"/>
          </p:cNvSpPr>
          <p:nvPr>
            <p:custDataLst>
              <p:tags r:id="rId43"/>
            </p:custDataLst>
          </p:nvPr>
        </p:nvSpPr>
        <p:spPr bwMode="gray">
          <a:xfrm>
            <a:off x="6122988" y="5257800"/>
            <a:ext cx="2222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70C6B677-C3E3-44BC-9C30-B8B969F79C31}" type="datetime'''''''''''''2''''5''''''''''''9'''''''''''''''''''''''''">
              <a:rPr lang="en-US" sz="900">
                <a:solidFill>
                  <a:schemeClr val="accent1"/>
                </a:solidFill>
              </a:rPr>
              <a:pPr/>
              <a:t>259</a:t>
            </a:fld>
            <a:endParaRPr lang="en-US" sz="900" dirty="0">
              <a:solidFill>
                <a:schemeClr val="accent1"/>
              </a:solidFill>
              <a:latin typeface="Arial"/>
              <a:sym typeface="Arial"/>
            </a:endParaRPr>
          </a:p>
        </p:txBody>
      </p:sp>
      <p:sp>
        <p:nvSpPr>
          <p:cNvPr id="107" name="Text Placeholder 27"/>
          <p:cNvSpPr>
            <a:spLocks noGrp="1"/>
          </p:cNvSpPr>
          <p:nvPr>
            <p:custDataLst>
              <p:tags r:id="rId44"/>
            </p:custDataLst>
          </p:nvPr>
        </p:nvSpPr>
        <p:spPr bwMode="auto">
          <a:xfrm>
            <a:off x="5745163" y="5991225"/>
            <a:ext cx="1397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900" dirty="0" smtClean="0">
                <a:solidFill>
                  <a:schemeClr val="accent1"/>
                </a:solidFill>
                <a:latin typeface="Arial"/>
                <a:sym typeface="Arial"/>
              </a:rPr>
              <a:t>23</a:t>
            </a:r>
            <a:endParaRPr lang="en-US" sz="900" dirty="0">
              <a:solidFill>
                <a:schemeClr val="accent1"/>
              </a:solidFill>
              <a:latin typeface="Arial"/>
              <a:sym typeface="Arial"/>
            </a:endParaRPr>
          </a:p>
        </p:txBody>
      </p:sp>
      <p:sp>
        <p:nvSpPr>
          <p:cNvPr id="108" name="Text Placeholder 28"/>
          <p:cNvSpPr>
            <a:spLocks noGrp="1"/>
          </p:cNvSpPr>
          <p:nvPr>
            <p:custDataLst>
              <p:tags r:id="rId45"/>
            </p:custDataLst>
          </p:nvPr>
        </p:nvSpPr>
        <p:spPr bwMode="auto">
          <a:xfrm>
            <a:off x="6100763" y="5991225"/>
            <a:ext cx="2667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0286B4A1-5CCA-4B60-9794-A8E5AE245248}" type="datetime'''''''2''0''2''''''''''''''''''4'''''''''''''''''''''">
              <a:rPr lang="en-US" sz="900">
                <a:solidFill>
                  <a:schemeClr val="accent1"/>
                </a:solidFill>
                <a:latin typeface="Arial"/>
                <a:sym typeface="Arial"/>
              </a:rPr>
              <a:pPr marL="0" indent="0" algn="ctr">
                <a:spcBef>
                  <a:spcPct val="0"/>
                </a:spcBef>
                <a:spcAft>
                  <a:spcPct val="0"/>
                </a:spcAft>
                <a:buNone/>
              </a:pPr>
              <a:t>2024</a:t>
            </a:fld>
            <a:endParaRPr lang="en-US" sz="900" dirty="0">
              <a:solidFill>
                <a:schemeClr val="accent1"/>
              </a:solidFill>
              <a:latin typeface="Arial"/>
              <a:sym typeface="Arial"/>
            </a:endParaRPr>
          </a:p>
        </p:txBody>
      </p:sp>
      <p:sp>
        <p:nvSpPr>
          <p:cNvPr id="106" name="Text Placeholder 26"/>
          <p:cNvSpPr>
            <a:spLocks noGrp="1"/>
          </p:cNvSpPr>
          <p:nvPr>
            <p:custDataLst>
              <p:tags r:id="rId46"/>
            </p:custDataLst>
          </p:nvPr>
        </p:nvSpPr>
        <p:spPr bwMode="auto">
          <a:xfrm>
            <a:off x="5326063" y="5991225"/>
            <a:ext cx="1397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900" dirty="0" smtClean="0">
                <a:solidFill>
                  <a:schemeClr val="accent1"/>
                </a:solidFill>
                <a:latin typeface="Arial"/>
                <a:sym typeface="Arial"/>
              </a:rPr>
              <a:t>22</a:t>
            </a:r>
            <a:endParaRPr lang="en-US" sz="900" dirty="0">
              <a:solidFill>
                <a:schemeClr val="accent1"/>
              </a:solidFill>
              <a:latin typeface="Arial"/>
              <a:sym typeface="Arial"/>
            </a:endParaRPr>
          </a:p>
        </p:txBody>
      </p:sp>
      <p:sp>
        <p:nvSpPr>
          <p:cNvPr id="209" name="Text Placeholder 52"/>
          <p:cNvSpPr>
            <a:spLocks noGrp="1"/>
          </p:cNvSpPr>
          <p:nvPr>
            <p:custDataLst>
              <p:tags r:id="rId47"/>
            </p:custDataLst>
          </p:nvPr>
        </p:nvSpPr>
        <p:spPr bwMode="gray">
          <a:xfrm>
            <a:off x="5284788" y="5334000"/>
            <a:ext cx="2222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6F38ED1-2BC7-4EA2-8185-D390D0C37C9E}" type="datetime'2''''''''1''''7'''''''''''''''''''''''">
              <a:rPr lang="en-US" sz="900">
                <a:solidFill>
                  <a:schemeClr val="accent1"/>
                </a:solidFill>
              </a:rPr>
              <a:pPr/>
              <a:t>217</a:t>
            </a:fld>
            <a:endParaRPr lang="en-US" sz="900" dirty="0">
              <a:solidFill>
                <a:schemeClr val="accent1"/>
              </a:solidFill>
              <a:latin typeface="Arial"/>
              <a:sym typeface="Arial"/>
            </a:endParaRPr>
          </a:p>
        </p:txBody>
      </p:sp>
      <p:sp>
        <p:nvSpPr>
          <p:cNvPr id="105" name="Text Placeholder 25"/>
          <p:cNvSpPr>
            <a:spLocks noGrp="1"/>
          </p:cNvSpPr>
          <p:nvPr>
            <p:custDataLst>
              <p:tags r:id="rId48"/>
            </p:custDataLst>
          </p:nvPr>
        </p:nvSpPr>
        <p:spPr bwMode="auto">
          <a:xfrm>
            <a:off x="4906963" y="5991225"/>
            <a:ext cx="1397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900" dirty="0" smtClean="0">
                <a:solidFill>
                  <a:schemeClr val="accent1"/>
                </a:solidFill>
                <a:latin typeface="Arial"/>
                <a:sym typeface="Arial"/>
              </a:rPr>
              <a:t>21</a:t>
            </a:r>
            <a:endParaRPr lang="en-US" sz="900" dirty="0">
              <a:solidFill>
                <a:schemeClr val="accent1"/>
              </a:solidFill>
              <a:latin typeface="Arial"/>
              <a:sym typeface="Arial"/>
            </a:endParaRPr>
          </a:p>
        </p:txBody>
      </p:sp>
      <p:sp>
        <p:nvSpPr>
          <p:cNvPr id="210" name="Text Placeholder 51"/>
          <p:cNvSpPr>
            <a:spLocks noGrp="1"/>
          </p:cNvSpPr>
          <p:nvPr>
            <p:custDataLst>
              <p:tags r:id="rId49"/>
            </p:custDataLst>
          </p:nvPr>
        </p:nvSpPr>
        <p:spPr bwMode="gray">
          <a:xfrm>
            <a:off x="4865688" y="5391150"/>
            <a:ext cx="2222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F92907F-A770-414A-89AE-24754277708E}" type="datetime'''''''''''''''''''''''''''''1''8''''''''6'''''''''''''''''">
              <a:rPr lang="en-US" sz="900">
                <a:solidFill>
                  <a:schemeClr val="accent1"/>
                </a:solidFill>
              </a:rPr>
              <a:pPr/>
              <a:t>186</a:t>
            </a:fld>
            <a:endParaRPr lang="en-US" sz="900" dirty="0">
              <a:solidFill>
                <a:schemeClr val="accent1"/>
              </a:solidFill>
              <a:latin typeface="Arial"/>
              <a:sym typeface="Arial"/>
            </a:endParaRPr>
          </a:p>
        </p:txBody>
      </p:sp>
      <p:sp>
        <p:nvSpPr>
          <p:cNvPr id="104" name="Text Placeholder 24"/>
          <p:cNvSpPr>
            <a:spLocks noGrp="1"/>
          </p:cNvSpPr>
          <p:nvPr>
            <p:custDataLst>
              <p:tags r:id="rId50"/>
            </p:custDataLst>
          </p:nvPr>
        </p:nvSpPr>
        <p:spPr bwMode="auto">
          <a:xfrm>
            <a:off x="4487863" y="5991225"/>
            <a:ext cx="1397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70D58B9-0C12-4C61-9D83-6F23AC692B7C}" type="datetime'''2''''''0'''''''">
              <a:rPr lang="en-US" sz="900">
                <a:solidFill>
                  <a:schemeClr val="accent1"/>
                </a:solidFill>
                <a:latin typeface="Arial"/>
                <a:sym typeface="Arial"/>
              </a:rPr>
              <a:pPr marL="0" indent="0" algn="ctr">
                <a:spcBef>
                  <a:spcPct val="0"/>
                </a:spcBef>
                <a:spcAft>
                  <a:spcPct val="0"/>
                </a:spcAft>
                <a:buNone/>
              </a:pPr>
              <a:t>20</a:t>
            </a:fld>
            <a:endParaRPr lang="en-US" sz="900" dirty="0">
              <a:solidFill>
                <a:schemeClr val="accent1"/>
              </a:solidFill>
              <a:latin typeface="Arial"/>
              <a:sym typeface="Arial"/>
            </a:endParaRPr>
          </a:p>
        </p:txBody>
      </p:sp>
      <p:sp>
        <p:nvSpPr>
          <p:cNvPr id="211" name="Text Placeholder 50"/>
          <p:cNvSpPr>
            <a:spLocks noGrp="1"/>
          </p:cNvSpPr>
          <p:nvPr>
            <p:custDataLst>
              <p:tags r:id="rId51"/>
            </p:custDataLst>
          </p:nvPr>
        </p:nvSpPr>
        <p:spPr bwMode="gray">
          <a:xfrm>
            <a:off x="4446588" y="5457825"/>
            <a:ext cx="2222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40DA1F8-33A4-4ABE-AA9C-4902B1BC05E1}" type="datetime'''''''1''''49'''''''''''''''''''''''''''''''''''''''''''">
              <a:rPr lang="en-US" sz="900">
                <a:solidFill>
                  <a:schemeClr val="accent1"/>
                </a:solidFill>
              </a:rPr>
              <a:pPr/>
              <a:t>149</a:t>
            </a:fld>
            <a:endParaRPr lang="en-US" sz="900" dirty="0">
              <a:solidFill>
                <a:schemeClr val="accent1"/>
              </a:solidFill>
              <a:latin typeface="Arial"/>
              <a:sym typeface="Arial"/>
            </a:endParaRPr>
          </a:p>
        </p:txBody>
      </p:sp>
      <p:sp>
        <p:nvSpPr>
          <p:cNvPr id="103" name="Text Placeholder 21"/>
          <p:cNvSpPr>
            <a:spLocks noGrp="1"/>
          </p:cNvSpPr>
          <p:nvPr>
            <p:custDataLst>
              <p:tags r:id="rId52"/>
            </p:custDataLst>
          </p:nvPr>
        </p:nvSpPr>
        <p:spPr bwMode="auto">
          <a:xfrm>
            <a:off x="4064000" y="5991225"/>
            <a:ext cx="1397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D8CFBF7-E226-4569-8C46-2174536B7E73}" type="datetime'''1''''''''''''''''''9'''''''''''''''''''''''''''''">
              <a:rPr lang="en-US" sz="900">
                <a:solidFill>
                  <a:schemeClr val="accent1"/>
                </a:solidFill>
                <a:latin typeface="Arial"/>
                <a:sym typeface="Arial"/>
              </a:rPr>
              <a:pPr marL="0" indent="0" algn="ctr">
                <a:spcBef>
                  <a:spcPct val="0"/>
                </a:spcBef>
                <a:spcAft>
                  <a:spcPct val="0"/>
                </a:spcAft>
                <a:buNone/>
              </a:pPr>
              <a:t>19</a:t>
            </a:fld>
            <a:endParaRPr lang="en-US" sz="900" dirty="0">
              <a:solidFill>
                <a:schemeClr val="accent1"/>
              </a:solidFill>
              <a:latin typeface="Arial"/>
              <a:sym typeface="Arial"/>
            </a:endParaRPr>
          </a:p>
        </p:txBody>
      </p:sp>
      <p:sp>
        <p:nvSpPr>
          <p:cNvPr id="212" name="Text Placeholder 49"/>
          <p:cNvSpPr>
            <a:spLocks noGrp="1"/>
          </p:cNvSpPr>
          <p:nvPr>
            <p:custDataLst>
              <p:tags r:id="rId53"/>
            </p:custDataLst>
          </p:nvPr>
        </p:nvSpPr>
        <p:spPr bwMode="gray">
          <a:xfrm>
            <a:off x="4022725" y="5524500"/>
            <a:ext cx="2222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A898C67-6001-4075-8E1F-E8D5282307F6}" type="datetime'''''''''1''''''''''1''''''''''''''''''''''''''''''''0'">
              <a:rPr lang="en-US" sz="900">
                <a:solidFill>
                  <a:schemeClr val="accent1"/>
                </a:solidFill>
              </a:rPr>
              <a:pPr/>
              <a:t>110</a:t>
            </a:fld>
            <a:endParaRPr lang="en-US" sz="900" dirty="0">
              <a:solidFill>
                <a:schemeClr val="accent1"/>
              </a:solidFill>
              <a:latin typeface="Arial"/>
              <a:sym typeface="Arial"/>
            </a:endParaRPr>
          </a:p>
        </p:txBody>
      </p:sp>
      <p:sp>
        <p:nvSpPr>
          <p:cNvPr id="102" name="Text Placeholder 9"/>
          <p:cNvSpPr>
            <a:spLocks noGrp="1"/>
          </p:cNvSpPr>
          <p:nvPr>
            <p:custDataLst>
              <p:tags r:id="rId54"/>
            </p:custDataLst>
          </p:nvPr>
        </p:nvSpPr>
        <p:spPr bwMode="auto">
          <a:xfrm>
            <a:off x="3640138" y="5991225"/>
            <a:ext cx="1397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7451C28-99D6-43A3-A9B7-BEE220AFE72B}" type="datetime'''''''''''''''''''''''''''''1''''''''''''''''''''8'''''''''''">
              <a:rPr lang="en-US" sz="900">
                <a:solidFill>
                  <a:schemeClr val="accent1"/>
                </a:solidFill>
                <a:latin typeface="Arial"/>
                <a:sym typeface="Arial"/>
              </a:rPr>
              <a:pPr marL="0" indent="0" algn="ctr">
                <a:spcBef>
                  <a:spcPct val="0"/>
                </a:spcBef>
                <a:spcAft>
                  <a:spcPct val="0"/>
                </a:spcAft>
                <a:buNone/>
              </a:pPr>
              <a:t>18</a:t>
            </a:fld>
            <a:endParaRPr lang="en-US" sz="900" dirty="0">
              <a:solidFill>
                <a:schemeClr val="accent1"/>
              </a:solidFill>
              <a:latin typeface="Arial"/>
              <a:sym typeface="Arial"/>
            </a:endParaRPr>
          </a:p>
        </p:txBody>
      </p:sp>
      <p:sp>
        <p:nvSpPr>
          <p:cNvPr id="213" name="Text Placeholder 48"/>
          <p:cNvSpPr>
            <a:spLocks noGrp="1"/>
          </p:cNvSpPr>
          <p:nvPr>
            <p:custDataLst>
              <p:tags r:id="rId55"/>
            </p:custDataLst>
          </p:nvPr>
        </p:nvSpPr>
        <p:spPr bwMode="gray">
          <a:xfrm>
            <a:off x="3630613" y="5591175"/>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71112815-ED71-4F67-8502-0F75C9BEF7D9}" type="datetime'''''''''''''''''''''''''''''''''75'''''''''''''''''''''''">
              <a:rPr lang="en-US" sz="900">
                <a:solidFill>
                  <a:schemeClr val="accent1"/>
                </a:solidFill>
              </a:rPr>
              <a:pPr/>
              <a:t>75</a:t>
            </a:fld>
            <a:endParaRPr lang="en-US" sz="900" dirty="0">
              <a:solidFill>
                <a:schemeClr val="accent1"/>
              </a:solidFill>
              <a:latin typeface="Arial"/>
              <a:sym typeface="Arial"/>
            </a:endParaRPr>
          </a:p>
        </p:txBody>
      </p:sp>
      <p:sp>
        <p:nvSpPr>
          <p:cNvPr id="101" name="Text Placeholder 8"/>
          <p:cNvSpPr>
            <a:spLocks noGrp="1"/>
          </p:cNvSpPr>
          <p:nvPr>
            <p:custDataLst>
              <p:tags r:id="rId56"/>
            </p:custDataLst>
          </p:nvPr>
        </p:nvSpPr>
        <p:spPr bwMode="auto">
          <a:xfrm>
            <a:off x="3221038" y="5991225"/>
            <a:ext cx="1397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65938D3-560B-40DF-9774-5F97988DB825}" type="datetime'''''''''1''''''''''''''''''''''7'">
              <a:rPr lang="en-US" sz="900">
                <a:solidFill>
                  <a:schemeClr val="accent1"/>
                </a:solidFill>
                <a:latin typeface="Arial"/>
                <a:sym typeface="Arial"/>
              </a:rPr>
              <a:pPr marL="0" indent="0" algn="ctr">
                <a:spcBef>
                  <a:spcPct val="0"/>
                </a:spcBef>
                <a:spcAft>
                  <a:spcPct val="0"/>
                </a:spcAft>
                <a:buNone/>
              </a:pPr>
              <a:t>17</a:t>
            </a:fld>
            <a:endParaRPr lang="en-US" sz="900" dirty="0">
              <a:solidFill>
                <a:schemeClr val="accent1"/>
              </a:solidFill>
              <a:latin typeface="Arial"/>
              <a:sym typeface="Arial"/>
            </a:endParaRPr>
          </a:p>
        </p:txBody>
      </p:sp>
      <p:sp>
        <p:nvSpPr>
          <p:cNvPr id="214" name="Text Placeholder 47"/>
          <p:cNvSpPr>
            <a:spLocks noGrp="1"/>
          </p:cNvSpPr>
          <p:nvPr>
            <p:custDataLst>
              <p:tags r:id="rId57"/>
            </p:custDataLst>
          </p:nvPr>
        </p:nvSpPr>
        <p:spPr bwMode="gray">
          <a:xfrm>
            <a:off x="3211513" y="5638800"/>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39F35CE-5CE3-4193-8C7B-AFE6A4A9AFA9}" type="datetime'''''''''''''''''''4''''''''''''''''''''''6'''''''''">
              <a:rPr lang="en-US" sz="900">
                <a:solidFill>
                  <a:schemeClr val="accent1"/>
                </a:solidFill>
              </a:rPr>
              <a:pPr/>
              <a:t>46</a:t>
            </a:fld>
            <a:endParaRPr lang="en-US" sz="900" dirty="0">
              <a:solidFill>
                <a:schemeClr val="accent1"/>
              </a:solidFill>
              <a:latin typeface="Arial"/>
              <a:sym typeface="Arial"/>
            </a:endParaRPr>
          </a:p>
        </p:txBody>
      </p:sp>
      <p:sp>
        <p:nvSpPr>
          <p:cNvPr id="100" name="Text Placeholder 7"/>
          <p:cNvSpPr>
            <a:spLocks noGrp="1"/>
          </p:cNvSpPr>
          <p:nvPr>
            <p:custDataLst>
              <p:tags r:id="rId58"/>
            </p:custDataLst>
          </p:nvPr>
        </p:nvSpPr>
        <p:spPr bwMode="auto">
          <a:xfrm>
            <a:off x="2801938" y="5991225"/>
            <a:ext cx="1397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333FB40-5730-46B6-96C0-1377BB620E60}" type="datetime'''''''''16'''''''''''''''''''''''''''''">
              <a:rPr lang="en-US" sz="900">
                <a:solidFill>
                  <a:schemeClr val="accent1"/>
                </a:solidFill>
                <a:latin typeface="Arial"/>
                <a:sym typeface="Arial"/>
              </a:rPr>
              <a:pPr marL="0" indent="0" algn="ctr">
                <a:spcBef>
                  <a:spcPct val="0"/>
                </a:spcBef>
                <a:spcAft>
                  <a:spcPct val="0"/>
                </a:spcAft>
                <a:buNone/>
              </a:pPr>
              <a:t>16</a:t>
            </a:fld>
            <a:endParaRPr lang="en-US" sz="900" dirty="0">
              <a:solidFill>
                <a:schemeClr val="accent1"/>
              </a:solidFill>
              <a:latin typeface="Arial"/>
              <a:sym typeface="Arial"/>
            </a:endParaRPr>
          </a:p>
        </p:txBody>
      </p:sp>
      <p:sp>
        <p:nvSpPr>
          <p:cNvPr id="215" name="Text Placeholder 46"/>
          <p:cNvSpPr>
            <a:spLocks noGrp="1"/>
          </p:cNvSpPr>
          <p:nvPr>
            <p:custDataLst>
              <p:tags r:id="rId59"/>
            </p:custDataLst>
          </p:nvPr>
        </p:nvSpPr>
        <p:spPr bwMode="gray">
          <a:xfrm>
            <a:off x="2792413" y="5686425"/>
            <a:ext cx="1587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B2F216B-6167-4703-A234-F7D3FDE14B8C}" type="datetime'''''''''''23'''">
              <a:rPr lang="en-US" sz="900">
                <a:solidFill>
                  <a:schemeClr val="accent1"/>
                </a:solidFill>
              </a:rPr>
              <a:pPr/>
              <a:t>23</a:t>
            </a:fld>
            <a:endParaRPr lang="en-US" sz="900" dirty="0">
              <a:solidFill>
                <a:schemeClr val="accent1"/>
              </a:solidFill>
              <a:latin typeface="Arial"/>
              <a:sym typeface="Arial"/>
            </a:endParaRPr>
          </a:p>
        </p:txBody>
      </p:sp>
      <p:sp>
        <p:nvSpPr>
          <p:cNvPr id="99" name="Text Placeholder 6"/>
          <p:cNvSpPr>
            <a:spLocks noGrp="1"/>
          </p:cNvSpPr>
          <p:nvPr>
            <p:custDataLst>
              <p:tags r:id="rId60"/>
            </p:custDataLst>
          </p:nvPr>
        </p:nvSpPr>
        <p:spPr bwMode="auto">
          <a:xfrm>
            <a:off x="2319338" y="5991225"/>
            <a:ext cx="2667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63F751E-B7CC-4144-A6D4-858B5CB49C90}" type="datetime'''''''''''''''''''''20''''''''''''''''''''''''''15'''''''">
              <a:rPr lang="en-US" sz="900">
                <a:solidFill>
                  <a:schemeClr val="accent1"/>
                </a:solidFill>
                <a:latin typeface="Arial"/>
                <a:sym typeface="Arial"/>
              </a:rPr>
              <a:pPr marL="0" indent="0" algn="ctr">
                <a:spcBef>
                  <a:spcPct val="0"/>
                </a:spcBef>
                <a:spcAft>
                  <a:spcPct val="0"/>
                </a:spcAft>
                <a:buNone/>
              </a:pPr>
              <a:t>2015</a:t>
            </a:fld>
            <a:endParaRPr lang="en-US" sz="900" dirty="0">
              <a:solidFill>
                <a:schemeClr val="accent1"/>
              </a:solidFill>
              <a:latin typeface="Arial"/>
              <a:sym typeface="Arial"/>
            </a:endParaRPr>
          </a:p>
        </p:txBody>
      </p:sp>
      <p:sp>
        <p:nvSpPr>
          <p:cNvPr id="205" name="Text Placeholder 45"/>
          <p:cNvSpPr>
            <a:spLocks noGrp="1"/>
          </p:cNvSpPr>
          <p:nvPr>
            <p:custDataLst>
              <p:tags r:id="rId61"/>
            </p:custDataLst>
          </p:nvPr>
        </p:nvSpPr>
        <p:spPr bwMode="gray">
          <a:xfrm>
            <a:off x="2405063" y="5715000"/>
            <a:ext cx="952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F8FFBBE-BAC3-4675-8058-8572CFEA5611}" type="datetime'''''''''''''''''''''''''''''''''''''''''''''''''''''''''8'''''">
              <a:rPr lang="en-US" sz="900">
                <a:solidFill>
                  <a:schemeClr val="accent1"/>
                </a:solidFill>
              </a:rPr>
              <a:pPr/>
              <a:t>8</a:t>
            </a:fld>
            <a:endParaRPr lang="en-US" sz="900" dirty="0">
              <a:solidFill>
                <a:schemeClr val="accent1"/>
              </a:solidFill>
              <a:latin typeface="Arial"/>
              <a:sym typeface="Arial"/>
            </a:endParaRPr>
          </a:p>
        </p:txBody>
      </p:sp>
      <p:grpSp>
        <p:nvGrpSpPr>
          <p:cNvPr id="216" name="ACET"/>
          <p:cNvGrpSpPr>
            <a:grpSpLocks/>
          </p:cNvGrpSpPr>
          <p:nvPr/>
        </p:nvGrpSpPr>
        <p:grpSpPr bwMode="auto">
          <a:xfrm>
            <a:off x="2250586" y="4971196"/>
            <a:ext cx="4323716" cy="188441"/>
            <a:chOff x="915" y="943"/>
            <a:chExt cx="2686" cy="87"/>
          </a:xfrm>
        </p:grpSpPr>
        <p:cxnSp>
          <p:nvCxnSpPr>
            <p:cNvPr id="217" name="AutoShape 70"/>
            <p:cNvCxnSpPr>
              <a:cxnSpLocks noChangeShapeType="1"/>
              <a:stCxn id="218" idx="4"/>
              <a:endCxn id="218" idx="6"/>
            </p:cNvCxnSpPr>
            <p:nvPr/>
          </p:nvCxnSpPr>
          <p:spPr bwMode="auto">
            <a:xfrm>
              <a:off x="915" y="1030"/>
              <a:ext cx="2686"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8" name="AutoShape 71"/>
            <p:cNvSpPr>
              <a:spLocks noChangeArrowheads="1"/>
            </p:cNvSpPr>
            <p:nvPr/>
          </p:nvSpPr>
          <p:spPr bwMode="auto">
            <a:xfrm>
              <a:off x="915" y="943"/>
              <a:ext cx="2686" cy="87"/>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100" dirty="0" smtClean="0">
                  <a:solidFill>
                    <a:schemeClr val="accent1"/>
                  </a:solidFill>
                </a:rPr>
                <a:t>Incremental export value, US$ million**</a:t>
              </a:r>
              <a:endParaRPr lang="en-US" sz="1100" dirty="0">
                <a:solidFill>
                  <a:schemeClr val="accent1"/>
                </a:solidFill>
              </a:endParaRPr>
            </a:p>
          </p:txBody>
        </p:sp>
      </p:grpSp>
      <p:sp>
        <p:nvSpPr>
          <p:cNvPr id="2" name="Oval 1"/>
          <p:cNvSpPr/>
          <p:nvPr/>
        </p:nvSpPr>
        <p:spPr>
          <a:xfrm>
            <a:off x="6930975" y="1623768"/>
            <a:ext cx="1718490" cy="74789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230,000 farmers</a:t>
            </a:r>
            <a:endParaRPr lang="en-US" sz="1100" b="1" dirty="0"/>
          </a:p>
        </p:txBody>
      </p:sp>
      <p:sp>
        <p:nvSpPr>
          <p:cNvPr id="85" name="Oval 84"/>
          <p:cNvSpPr/>
          <p:nvPr/>
        </p:nvSpPr>
        <p:spPr>
          <a:xfrm>
            <a:off x="6930975" y="2750254"/>
            <a:ext cx="1718490" cy="74789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US$ 200 million</a:t>
            </a:r>
            <a:endParaRPr lang="en-US" sz="1100" b="1" dirty="0"/>
          </a:p>
        </p:txBody>
      </p:sp>
      <p:sp>
        <p:nvSpPr>
          <p:cNvPr id="86" name="Oval 85"/>
          <p:cNvSpPr/>
          <p:nvPr/>
        </p:nvSpPr>
        <p:spPr>
          <a:xfrm>
            <a:off x="6930975" y="3949802"/>
            <a:ext cx="1718490" cy="74789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6.6 million bags</a:t>
            </a:r>
            <a:endParaRPr lang="en-US" sz="1100" b="1" dirty="0"/>
          </a:p>
        </p:txBody>
      </p:sp>
      <p:sp>
        <p:nvSpPr>
          <p:cNvPr id="87" name="Oval 86"/>
          <p:cNvSpPr/>
          <p:nvPr/>
        </p:nvSpPr>
        <p:spPr>
          <a:xfrm>
            <a:off x="6930975" y="5186184"/>
            <a:ext cx="1718490" cy="74789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US$ 1.3  </a:t>
            </a:r>
            <a:r>
              <a:rPr lang="en-US" sz="1100" b="1" dirty="0" err="1" smtClean="0"/>
              <a:t>bn</a:t>
            </a:r>
            <a:endParaRPr lang="en-US" sz="1100" b="1" dirty="0"/>
          </a:p>
        </p:txBody>
      </p:sp>
      <p:cxnSp>
        <p:nvCxnSpPr>
          <p:cNvPr id="8" name="Straight Connector 7"/>
          <p:cNvCxnSpPr/>
          <p:nvPr/>
        </p:nvCxnSpPr>
        <p:spPr>
          <a:xfrm>
            <a:off x="6787425" y="1460505"/>
            <a:ext cx="2016606" cy="0"/>
          </a:xfrm>
          <a:prstGeom prst="line">
            <a:avLst/>
          </a:prstGeom>
        </p:spPr>
        <p:style>
          <a:lnRef idx="1">
            <a:schemeClr val="accent1"/>
          </a:lnRef>
          <a:fillRef idx="0">
            <a:schemeClr val="accent1"/>
          </a:fillRef>
          <a:effectRef idx="0">
            <a:schemeClr val="accent1"/>
          </a:effectRef>
          <a:fontRef idx="minor">
            <a:schemeClr val="tx1"/>
          </a:fontRef>
        </p:style>
      </p:cxnSp>
      <p:sp>
        <p:nvSpPr>
          <p:cNvPr id="94" name="Freeform 93"/>
          <p:cNvSpPr/>
          <p:nvPr>
            <p:custDataLst>
              <p:tags r:id="rId62"/>
            </p:custDataLst>
          </p:nvPr>
        </p:nvSpPr>
        <p:spPr bwMode="auto">
          <a:xfrm rot="5400000">
            <a:off x="831554" y="2295461"/>
            <a:ext cx="986316" cy="1515978"/>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4208" y="0"/>
                </a:lnTo>
                <a:lnTo>
                  <a:pt x="1828800" y="457200"/>
                </a:lnTo>
                <a:lnTo>
                  <a:pt x="1664208" y="914400"/>
                </a:lnTo>
                <a:lnTo>
                  <a:pt x="0" y="914400"/>
                </a:lnTo>
                <a:lnTo>
                  <a:pt x="0" y="457200"/>
                </a:lnTo>
                <a:close/>
              </a:path>
            </a:pathLst>
          </a:cu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smtClean="0">
              <a:ln>
                <a:noFill/>
              </a:ln>
              <a:solidFill>
                <a:schemeClr val="accent1"/>
              </a:solidFill>
              <a:effectLst/>
              <a:latin typeface="Arial" charset="0"/>
            </a:endParaRPr>
          </a:p>
        </p:txBody>
      </p:sp>
      <p:sp>
        <p:nvSpPr>
          <p:cNvPr id="95" name="TextBox 5"/>
          <p:cNvSpPr txBox="1"/>
          <p:nvPr>
            <p:custDataLst>
              <p:tags r:id="rId63"/>
            </p:custDataLst>
          </p:nvPr>
        </p:nvSpPr>
        <p:spPr>
          <a:xfrm>
            <a:off x="561779" y="2559637"/>
            <a:ext cx="1515978" cy="707570"/>
          </a:xfrm>
          <a:prstGeom prst="rect">
            <a:avLst/>
          </a:prstGeom>
          <a:noFill/>
          <a:ln w="9525">
            <a:noFill/>
            <a:miter lim="800000"/>
            <a:headEnd/>
            <a:tailEnd/>
          </a:ln>
        </p:spPr>
        <p:txBody>
          <a:bodyPr vert="horz" wrap="square" lIns="76200" tIns="76200" rIns="76200" bIns="76200" numCol="1" anchor="t" anchorCtr="0"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buNone/>
            </a:pPr>
            <a:r>
              <a:rPr lang="en-US" sz="1100" b="1" dirty="0" smtClean="0">
                <a:solidFill>
                  <a:schemeClr val="accent1"/>
                </a:solidFill>
              </a:rPr>
              <a:t>The training would cost </a:t>
            </a:r>
            <a:r>
              <a:rPr lang="en-US" sz="1100" b="1" dirty="0">
                <a:solidFill>
                  <a:schemeClr val="accent1"/>
                </a:solidFill>
              </a:rPr>
              <a:t>~</a:t>
            </a:r>
            <a:r>
              <a:rPr lang="en-US" sz="1100" b="1" dirty="0" smtClean="0">
                <a:solidFill>
                  <a:schemeClr val="accent1"/>
                </a:solidFill>
              </a:rPr>
              <a:t>US$ 200 m over 10 years</a:t>
            </a:r>
            <a:endParaRPr lang="en-US" sz="1100" dirty="0">
              <a:solidFill>
                <a:schemeClr val="accent1"/>
              </a:solidFill>
            </a:endParaRPr>
          </a:p>
        </p:txBody>
      </p:sp>
      <p:cxnSp>
        <p:nvCxnSpPr>
          <p:cNvPr id="96" name="Straight Connector 95"/>
          <p:cNvCxnSpPr>
            <a:cxnSpLocks/>
          </p:cNvCxnSpPr>
          <p:nvPr/>
        </p:nvCxnSpPr>
        <p:spPr bwMode="auto">
          <a:xfrm>
            <a:off x="566738" y="3661190"/>
            <a:ext cx="8374781" cy="1963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cxnSp>
        <p:nvCxnSpPr>
          <p:cNvPr id="97" name="Straight Connector 96"/>
          <p:cNvCxnSpPr>
            <a:cxnSpLocks/>
          </p:cNvCxnSpPr>
          <p:nvPr/>
        </p:nvCxnSpPr>
        <p:spPr bwMode="auto">
          <a:xfrm>
            <a:off x="566738" y="4846268"/>
            <a:ext cx="8374781" cy="1963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sp>
        <p:nvSpPr>
          <p:cNvPr id="11" name="Rectangle 10"/>
          <p:cNvSpPr/>
          <p:nvPr/>
        </p:nvSpPr>
        <p:spPr>
          <a:xfrm>
            <a:off x="566738" y="4936027"/>
            <a:ext cx="1515963" cy="1112348"/>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5"/>
          <p:cNvSpPr txBox="1"/>
          <p:nvPr>
            <p:custDataLst>
              <p:tags r:id="rId64"/>
            </p:custDataLst>
          </p:nvPr>
        </p:nvSpPr>
        <p:spPr>
          <a:xfrm>
            <a:off x="566738" y="5016195"/>
            <a:ext cx="1515978" cy="835819"/>
          </a:xfrm>
          <a:prstGeom prst="rect">
            <a:avLst/>
          </a:prstGeom>
          <a:noFill/>
          <a:ln w="9525">
            <a:noFill/>
            <a:miter lim="800000"/>
            <a:headEnd/>
            <a:tailEnd/>
          </a:ln>
        </p:spPr>
        <p:txBody>
          <a:bodyPr vert="horz" wrap="square" lIns="76200" tIns="76200" rIns="76200" bIns="76200" numCol="1" anchor="t" anchorCtr="0"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buNone/>
            </a:pPr>
            <a:r>
              <a:rPr lang="en-US" sz="1100" b="1" dirty="0" smtClean="0">
                <a:solidFill>
                  <a:schemeClr val="accent1"/>
                </a:solidFill>
              </a:rPr>
              <a:t>Resulting in additional export earnings</a:t>
            </a:r>
            <a:endParaRPr lang="en-US" sz="1100" dirty="0">
              <a:solidFill>
                <a:schemeClr val="accent1"/>
              </a:solidFill>
            </a:endParaRPr>
          </a:p>
        </p:txBody>
      </p:sp>
      <p:sp>
        <p:nvSpPr>
          <p:cNvPr id="121" name="Oval 120"/>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132940719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extLst>
              <p:ext uri="{D42A27DB-BD31-4B8C-83A1-F6EECF244321}">
                <p14:modId xmlns:p14="http://schemas.microsoft.com/office/powerpoint/2010/main" val="9853911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469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Oval 3"/>
          <p:cNvSpPr/>
          <p:nvPr/>
        </p:nvSpPr>
        <p:spPr>
          <a:xfrm>
            <a:off x="4724400" y="4928085"/>
            <a:ext cx="3327213" cy="1138179"/>
          </a:xfrm>
          <a:prstGeom prst="ellipse">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itle 4"/>
          <p:cNvSpPr>
            <a:spLocks noGrp="1"/>
          </p:cNvSpPr>
          <p:nvPr>
            <p:ph type="title"/>
          </p:nvPr>
        </p:nvSpPr>
        <p:spPr/>
        <p:txBody>
          <a:bodyPr/>
          <a:lstStyle/>
          <a:p>
            <a:pPr marL="268288"/>
            <a:r>
              <a:rPr lang="en-US" b="0" dirty="0" smtClean="0"/>
              <a:t>Climate change will likely put additional pressure on smallholders, especially on farms at </a:t>
            </a:r>
            <a:r>
              <a:rPr lang="en-US" b="0" kern="0" dirty="0" smtClean="0"/>
              <a:t>lower altitudes </a:t>
            </a:r>
            <a:r>
              <a:rPr lang="en-US" b="0" dirty="0"/>
              <a:t/>
            </a:r>
            <a:br>
              <a:rPr lang="en-US" b="0" dirty="0"/>
            </a:br>
            <a:endParaRPr lang="en-US" b="0" dirty="0"/>
          </a:p>
        </p:txBody>
      </p:sp>
      <p:sp>
        <p:nvSpPr>
          <p:cNvPr id="7" name="Rectangle 2"/>
          <p:cNvSpPr>
            <a:spLocks noChangeArrowheads="1"/>
          </p:cNvSpPr>
          <p:nvPr/>
        </p:nvSpPr>
        <p:spPr bwMode="gray">
          <a:xfrm>
            <a:off x="268287" y="1852924"/>
            <a:ext cx="1491239" cy="3752807"/>
          </a:xfrm>
          <a:prstGeom prst="rect">
            <a:avLst/>
          </a:prstGeom>
          <a:solidFill>
            <a:schemeClr val="accent1"/>
          </a:solidFill>
          <a:ln w="9525">
            <a:solidFill>
              <a:schemeClr val="accent1"/>
            </a:solidFill>
            <a:miter lim="800000"/>
            <a:headEnd/>
            <a:tailEnd/>
          </a:ln>
        </p:spPr>
        <p:txBody>
          <a:bodyPr wrap="none" lIns="93286" tIns="46644" rIns="93286" bIns="46644" anchor="ctr"/>
          <a:lstStyle/>
          <a:p>
            <a:pPr algn="ctr" defTabSz="933450">
              <a:buSzTx/>
            </a:pPr>
            <a:endParaRPr lang="en-GB" sz="1400">
              <a:solidFill>
                <a:schemeClr val="accent1"/>
              </a:solidFill>
            </a:endParaRPr>
          </a:p>
        </p:txBody>
      </p:sp>
      <p:sp>
        <p:nvSpPr>
          <p:cNvPr id="8" name="Rectangle 7"/>
          <p:cNvSpPr>
            <a:spLocks noChangeArrowheads="1"/>
          </p:cNvSpPr>
          <p:nvPr/>
        </p:nvSpPr>
        <p:spPr bwMode="gray">
          <a:xfrm>
            <a:off x="2344995" y="1977628"/>
            <a:ext cx="2934575" cy="1498872"/>
          </a:xfrm>
          <a:prstGeom prst="rect">
            <a:avLst/>
          </a:prstGeom>
          <a:noFill/>
          <a:ln w="9525">
            <a:noFill/>
            <a:miter lim="800000"/>
            <a:headEnd/>
            <a:tailEnd/>
          </a:ln>
        </p:spPr>
        <p:txBody>
          <a:bodyPr wrap="square" lIns="0" tIns="0" rIns="0" bIns="0">
            <a:spAutoFit/>
          </a:bodyPr>
          <a:lstStyle/>
          <a:p>
            <a:pPr marL="147638" lvl="1" indent="-146050" defTabSz="912813">
              <a:lnSpc>
                <a:spcPct val="110000"/>
              </a:lnSpc>
              <a:spcAft>
                <a:spcPts val="600"/>
              </a:spcAft>
              <a:buFontTx/>
              <a:buChar char="•"/>
            </a:pPr>
            <a:r>
              <a:rPr lang="en-US" sz="1400" dirty="0" smtClean="0"/>
              <a:t>Temperatures are expected to rise by 2.5°C by 2050</a:t>
            </a:r>
          </a:p>
          <a:p>
            <a:pPr marL="147638" lvl="1" indent="-146050" defTabSz="912813">
              <a:lnSpc>
                <a:spcPct val="110000"/>
              </a:lnSpc>
              <a:spcAft>
                <a:spcPts val="600"/>
              </a:spcAft>
              <a:buFontTx/>
              <a:buChar char="•"/>
            </a:pPr>
            <a:r>
              <a:rPr lang="en-US" sz="1400" dirty="0" smtClean="0"/>
              <a:t>Melting of glaciers </a:t>
            </a:r>
            <a:r>
              <a:rPr lang="en-US" sz="1400" dirty="0"/>
              <a:t>in the Andes </a:t>
            </a:r>
            <a:r>
              <a:rPr lang="en-US" sz="1400" dirty="0" smtClean="0"/>
              <a:t>and disappearance of </a:t>
            </a:r>
            <a:r>
              <a:rPr lang="en-US" sz="1400" dirty="0"/>
              <a:t>important </a:t>
            </a:r>
            <a:r>
              <a:rPr lang="en-US" sz="1400" dirty="0" smtClean="0"/>
              <a:t>moorlands that </a:t>
            </a:r>
            <a:r>
              <a:rPr lang="en-US" sz="1400" dirty="0"/>
              <a:t>act as </a:t>
            </a:r>
            <a:r>
              <a:rPr lang="en-US" sz="1400" dirty="0" smtClean="0"/>
              <a:t>important </a:t>
            </a:r>
            <a:r>
              <a:rPr lang="en-US" sz="1400" dirty="0"/>
              <a:t>sources of water</a:t>
            </a:r>
          </a:p>
        </p:txBody>
      </p:sp>
      <p:sp>
        <p:nvSpPr>
          <p:cNvPr id="9" name="Pentagon 8"/>
          <p:cNvSpPr/>
          <p:nvPr/>
        </p:nvSpPr>
        <p:spPr bwMode="auto">
          <a:xfrm>
            <a:off x="398206" y="1977628"/>
            <a:ext cx="1755059" cy="781664"/>
          </a:xfrm>
          <a:prstGeom prst="homePlate">
            <a:avLst>
              <a:gd name="adj" fmla="val 25904"/>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accent1"/>
                </a:solidFill>
                <a:effectLst/>
                <a:latin typeface="Arial" charset="0"/>
              </a:rPr>
              <a:t>Rising temperatures</a:t>
            </a:r>
          </a:p>
        </p:txBody>
      </p:sp>
      <p:sp>
        <p:nvSpPr>
          <p:cNvPr id="10" name="Rectangle 9"/>
          <p:cNvSpPr>
            <a:spLocks noChangeArrowheads="1"/>
          </p:cNvSpPr>
          <p:nvPr/>
        </p:nvSpPr>
        <p:spPr bwMode="gray">
          <a:xfrm>
            <a:off x="5463584" y="1977628"/>
            <a:ext cx="3559282" cy="1178784"/>
          </a:xfrm>
          <a:prstGeom prst="rect">
            <a:avLst/>
          </a:prstGeom>
          <a:noFill/>
          <a:ln w="9525">
            <a:noFill/>
            <a:miter lim="800000"/>
            <a:headEnd/>
            <a:tailEnd/>
          </a:ln>
        </p:spPr>
        <p:txBody>
          <a:bodyPr wrap="square" lIns="0" tIns="0" rIns="0" bIns="0">
            <a:spAutoFit/>
          </a:bodyPr>
          <a:lstStyle/>
          <a:p>
            <a:pPr marL="147638" lvl="1" indent="-146050" defTabSz="912813">
              <a:lnSpc>
                <a:spcPct val="110000"/>
              </a:lnSpc>
              <a:spcAft>
                <a:spcPts val="600"/>
              </a:spcAft>
              <a:buFontTx/>
              <a:buChar char="•"/>
            </a:pPr>
            <a:r>
              <a:rPr lang="en-US" sz="1400" dirty="0" smtClean="0"/>
              <a:t>Decreased groundwater recharge</a:t>
            </a:r>
          </a:p>
          <a:p>
            <a:pPr marL="147638" lvl="1" indent="-146050" defTabSz="912813">
              <a:lnSpc>
                <a:spcPct val="110000"/>
              </a:lnSpc>
              <a:spcAft>
                <a:spcPts val="600"/>
              </a:spcAft>
              <a:buFontTx/>
              <a:buChar char="•"/>
            </a:pPr>
            <a:r>
              <a:rPr lang="en-US" sz="1400" dirty="0" smtClean="0"/>
              <a:t>Decreased water resources</a:t>
            </a:r>
          </a:p>
          <a:p>
            <a:pPr marL="147638" lvl="1" indent="-146050" defTabSz="912813">
              <a:lnSpc>
                <a:spcPct val="110000"/>
              </a:lnSpc>
              <a:spcAft>
                <a:spcPts val="600"/>
              </a:spcAft>
              <a:buFontTx/>
              <a:buChar char="•"/>
            </a:pPr>
            <a:r>
              <a:rPr lang="en-US" sz="1400" dirty="0" smtClean="0"/>
              <a:t>Increased pest and diseases</a:t>
            </a:r>
          </a:p>
          <a:p>
            <a:pPr marL="147638" lvl="1" indent="-146050" defTabSz="912813">
              <a:lnSpc>
                <a:spcPct val="110000"/>
              </a:lnSpc>
              <a:spcAft>
                <a:spcPts val="600"/>
              </a:spcAft>
              <a:buFontTx/>
              <a:buChar char="•"/>
            </a:pPr>
            <a:r>
              <a:rPr lang="en-US" sz="1400" dirty="0" smtClean="0"/>
              <a:t>Higher price volatility</a:t>
            </a:r>
            <a:endParaRPr lang="en-US" sz="1400" dirty="0"/>
          </a:p>
        </p:txBody>
      </p:sp>
      <p:sp>
        <p:nvSpPr>
          <p:cNvPr id="11" name="Rectangle 10"/>
          <p:cNvSpPr>
            <a:spLocks noChangeArrowheads="1"/>
          </p:cNvSpPr>
          <p:nvPr/>
        </p:nvSpPr>
        <p:spPr bwMode="gray">
          <a:xfrm>
            <a:off x="2349916" y="3595366"/>
            <a:ext cx="2929655" cy="1498872"/>
          </a:xfrm>
          <a:prstGeom prst="rect">
            <a:avLst/>
          </a:prstGeom>
          <a:noFill/>
          <a:ln w="9525">
            <a:noFill/>
            <a:miter lim="800000"/>
            <a:headEnd/>
            <a:tailEnd/>
          </a:ln>
        </p:spPr>
        <p:txBody>
          <a:bodyPr wrap="square" lIns="0" tIns="0" rIns="0" bIns="0">
            <a:spAutoFit/>
          </a:bodyPr>
          <a:lstStyle/>
          <a:p>
            <a:pPr marL="147638" lvl="1" indent="-146050" defTabSz="912813">
              <a:lnSpc>
                <a:spcPct val="110000"/>
              </a:lnSpc>
              <a:spcAft>
                <a:spcPts val="600"/>
              </a:spcAft>
              <a:buFontTx/>
              <a:buChar char="•"/>
            </a:pPr>
            <a:r>
              <a:rPr lang="en-US" sz="1400" dirty="0" smtClean="0"/>
              <a:t>Average increase in precipitation </a:t>
            </a:r>
            <a:r>
              <a:rPr lang="en-US" sz="1400" dirty="0"/>
              <a:t>of 2.5% </a:t>
            </a:r>
            <a:r>
              <a:rPr lang="en-US" sz="1400" dirty="0" smtClean="0"/>
              <a:t>by 2050 (3-5% expected for coffee growing areas)</a:t>
            </a:r>
          </a:p>
          <a:p>
            <a:pPr marL="147638" lvl="1" indent="-146050" defTabSz="912813">
              <a:lnSpc>
                <a:spcPct val="110000"/>
              </a:lnSpc>
              <a:spcAft>
                <a:spcPts val="600"/>
              </a:spcAft>
              <a:buFontTx/>
              <a:buChar char="•"/>
            </a:pPr>
            <a:r>
              <a:rPr lang="en-US" sz="1400" dirty="0" smtClean="0"/>
              <a:t>Driest </a:t>
            </a:r>
            <a:r>
              <a:rPr lang="en-US" sz="1400" dirty="0"/>
              <a:t>periods </a:t>
            </a:r>
            <a:r>
              <a:rPr lang="en-US" sz="1400" dirty="0" smtClean="0"/>
              <a:t>will likely </a:t>
            </a:r>
            <a:r>
              <a:rPr lang="en-US" sz="1400" dirty="0"/>
              <a:t>be less dry, while </a:t>
            </a:r>
            <a:r>
              <a:rPr lang="en-US" sz="1400" dirty="0" smtClean="0"/>
              <a:t>wettest </a:t>
            </a:r>
            <a:r>
              <a:rPr lang="en-US" sz="1400" dirty="0"/>
              <a:t>periods are projected to become </a:t>
            </a:r>
            <a:r>
              <a:rPr lang="en-US" sz="1400" dirty="0" smtClean="0"/>
              <a:t>wetter</a:t>
            </a:r>
          </a:p>
        </p:txBody>
      </p:sp>
      <p:sp>
        <p:nvSpPr>
          <p:cNvPr id="16" name="Pentagon 15"/>
          <p:cNvSpPr/>
          <p:nvPr/>
        </p:nvSpPr>
        <p:spPr bwMode="auto">
          <a:xfrm>
            <a:off x="403126" y="3595366"/>
            <a:ext cx="1755059" cy="781664"/>
          </a:xfrm>
          <a:prstGeom prst="homePlate">
            <a:avLst>
              <a:gd name="adj" fmla="val 25904"/>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en-US" sz="1400" b="1" dirty="0">
                <a:solidFill>
                  <a:schemeClr val="accent1"/>
                </a:solidFill>
                <a:latin typeface="Arial" charset="0"/>
              </a:rPr>
              <a:t>Erratic precipitation</a:t>
            </a:r>
            <a:endParaRPr kumimoji="0" lang="en-US" sz="1400" b="1" i="0" u="none" strike="noStrike" cap="none" normalizeH="0" baseline="0" dirty="0" smtClean="0">
              <a:ln>
                <a:noFill/>
              </a:ln>
              <a:solidFill>
                <a:schemeClr val="accent1"/>
              </a:solidFill>
              <a:effectLst/>
              <a:latin typeface="Arial" charset="0"/>
            </a:endParaRPr>
          </a:p>
        </p:txBody>
      </p:sp>
      <p:sp>
        <p:nvSpPr>
          <p:cNvPr id="17" name="Rectangle 16"/>
          <p:cNvSpPr>
            <a:spLocks noChangeArrowheads="1"/>
          </p:cNvSpPr>
          <p:nvPr/>
        </p:nvSpPr>
        <p:spPr bwMode="gray">
          <a:xfrm>
            <a:off x="5468504" y="3595366"/>
            <a:ext cx="3559282" cy="1024896"/>
          </a:xfrm>
          <a:prstGeom prst="rect">
            <a:avLst/>
          </a:prstGeom>
          <a:noFill/>
          <a:ln w="9525">
            <a:noFill/>
            <a:miter lim="800000"/>
            <a:headEnd/>
            <a:tailEnd/>
          </a:ln>
        </p:spPr>
        <p:txBody>
          <a:bodyPr wrap="square" lIns="0" tIns="0" rIns="0" bIns="0">
            <a:spAutoFit/>
          </a:bodyPr>
          <a:lstStyle/>
          <a:p>
            <a:pPr marL="147638" lvl="1" indent="-146050" defTabSz="912813">
              <a:lnSpc>
                <a:spcPct val="110000"/>
              </a:lnSpc>
              <a:spcAft>
                <a:spcPts val="600"/>
              </a:spcAft>
              <a:buFontTx/>
              <a:buChar char="•"/>
            </a:pPr>
            <a:r>
              <a:rPr lang="en-US" sz="1400" dirty="0"/>
              <a:t>Increased risk of soil erosion and suboptimal infiltration of saturated </a:t>
            </a:r>
            <a:r>
              <a:rPr lang="en-US" sz="1400" dirty="0" smtClean="0"/>
              <a:t>soils</a:t>
            </a:r>
          </a:p>
          <a:p>
            <a:pPr marL="147638" lvl="1" indent="-146050" defTabSz="912813">
              <a:lnSpc>
                <a:spcPct val="110000"/>
              </a:lnSpc>
              <a:spcAft>
                <a:spcPts val="600"/>
              </a:spcAft>
              <a:buFontTx/>
              <a:buChar char="•"/>
            </a:pPr>
            <a:r>
              <a:rPr lang="en-US" sz="1400" dirty="0" smtClean="0"/>
              <a:t>More unfavorable conditions for drying of coffee</a:t>
            </a:r>
            <a:endParaRPr lang="en-US" sz="1400" dirty="0"/>
          </a:p>
        </p:txBody>
      </p:sp>
      <p:sp>
        <p:nvSpPr>
          <p:cNvPr id="21" name="TextBox 20"/>
          <p:cNvSpPr txBox="1"/>
          <p:nvPr/>
        </p:nvSpPr>
        <p:spPr>
          <a:xfrm>
            <a:off x="368708" y="1476183"/>
            <a:ext cx="2079523" cy="307777"/>
          </a:xfrm>
          <a:prstGeom prst="rect">
            <a:avLst/>
          </a:prstGeom>
          <a:noFill/>
        </p:spPr>
        <p:txBody>
          <a:bodyPr wrap="square" rtlCol="0">
            <a:spAutoFit/>
          </a:bodyPr>
          <a:lstStyle/>
          <a:p>
            <a:r>
              <a:rPr lang="en-US" sz="1400" b="1" dirty="0" smtClean="0">
                <a:solidFill>
                  <a:schemeClr val="accent1"/>
                </a:solidFill>
              </a:rPr>
              <a:t>Climatic variable</a:t>
            </a:r>
            <a:endParaRPr lang="en-US" sz="1400" b="1" dirty="0">
              <a:solidFill>
                <a:schemeClr val="accent1"/>
              </a:solidFill>
            </a:endParaRPr>
          </a:p>
        </p:txBody>
      </p:sp>
      <p:sp>
        <p:nvSpPr>
          <p:cNvPr id="22" name="TextBox 21"/>
          <p:cNvSpPr txBox="1"/>
          <p:nvPr/>
        </p:nvSpPr>
        <p:spPr>
          <a:xfrm>
            <a:off x="2344996" y="1476183"/>
            <a:ext cx="2079523" cy="307777"/>
          </a:xfrm>
          <a:prstGeom prst="rect">
            <a:avLst/>
          </a:prstGeom>
          <a:noFill/>
        </p:spPr>
        <p:txBody>
          <a:bodyPr wrap="square" rtlCol="0">
            <a:spAutoFit/>
          </a:bodyPr>
          <a:lstStyle/>
          <a:p>
            <a:r>
              <a:rPr lang="en-US" sz="1400" b="1" dirty="0" smtClean="0">
                <a:solidFill>
                  <a:schemeClr val="accent1"/>
                </a:solidFill>
              </a:rPr>
              <a:t>Anticipated change</a:t>
            </a:r>
            <a:endParaRPr lang="en-US" sz="1400" b="1" dirty="0">
              <a:solidFill>
                <a:schemeClr val="accent1"/>
              </a:solidFill>
            </a:endParaRPr>
          </a:p>
        </p:txBody>
      </p:sp>
      <p:sp>
        <p:nvSpPr>
          <p:cNvPr id="23" name="TextBox 22"/>
          <p:cNvSpPr txBox="1"/>
          <p:nvPr/>
        </p:nvSpPr>
        <p:spPr>
          <a:xfrm>
            <a:off x="5463584" y="1476183"/>
            <a:ext cx="3574028" cy="307777"/>
          </a:xfrm>
          <a:prstGeom prst="rect">
            <a:avLst/>
          </a:prstGeom>
          <a:noFill/>
        </p:spPr>
        <p:txBody>
          <a:bodyPr wrap="square" rtlCol="0">
            <a:spAutoFit/>
          </a:bodyPr>
          <a:lstStyle/>
          <a:p>
            <a:r>
              <a:rPr lang="en-US" sz="1400" b="1" dirty="0" smtClean="0">
                <a:solidFill>
                  <a:schemeClr val="accent1"/>
                </a:solidFill>
              </a:rPr>
              <a:t>Expected impact</a:t>
            </a:r>
            <a:endParaRPr lang="en-US" sz="1400" b="1" dirty="0">
              <a:solidFill>
                <a:schemeClr val="accent1"/>
              </a:solidFill>
            </a:endParaRPr>
          </a:p>
        </p:txBody>
      </p:sp>
      <p:cxnSp>
        <p:nvCxnSpPr>
          <p:cNvPr id="24" name="Straight Connector 23"/>
          <p:cNvCxnSpPr/>
          <p:nvPr/>
        </p:nvCxnSpPr>
        <p:spPr bwMode="auto">
          <a:xfrm>
            <a:off x="280219" y="1800647"/>
            <a:ext cx="8406581"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sp>
        <p:nvSpPr>
          <p:cNvPr id="25" name="McK Footnote"/>
          <p:cNvSpPr txBox="1">
            <a:spLocks noChangeArrowheads="1"/>
          </p:cNvSpPr>
          <p:nvPr/>
        </p:nvSpPr>
        <p:spPr bwMode="auto">
          <a:xfrm>
            <a:off x="700542" y="6243301"/>
            <a:ext cx="8485187" cy="138499"/>
          </a:xfrm>
          <a:prstGeom prst="rect">
            <a:avLst/>
          </a:prstGeom>
          <a:noFill/>
          <a:ln w="9525">
            <a:noFill/>
            <a:miter lim="800000"/>
            <a:headEnd/>
            <a:tailEnd/>
          </a:ln>
        </p:spPr>
        <p:txBody>
          <a:bodyPr lIns="0" tIns="0" rIns="0" bIns="0" anchor="b">
            <a:spAutoFit/>
          </a:bodyPr>
          <a:lstStyle/>
          <a:p>
            <a:pPr marL="563563" indent="-563563" defTabSz="895350">
              <a:spcBef>
                <a:spcPct val="20000"/>
              </a:spcBef>
              <a:tabLst>
                <a:tab pos="517525" algn="r"/>
              </a:tabLst>
            </a:pPr>
            <a:r>
              <a:rPr lang="en-US" sz="900" dirty="0" smtClean="0">
                <a:solidFill>
                  <a:schemeClr val="tx1">
                    <a:lumMod val="65000"/>
                    <a:lumOff val="35000"/>
                  </a:schemeClr>
                </a:solidFill>
              </a:rPr>
              <a:t>Source: CIAT</a:t>
            </a:r>
          </a:p>
        </p:txBody>
      </p:sp>
      <p:sp>
        <p:nvSpPr>
          <p:cNvPr id="3" name="TextBox 2"/>
          <p:cNvSpPr txBox="1"/>
          <p:nvPr/>
        </p:nvSpPr>
        <p:spPr>
          <a:xfrm>
            <a:off x="4943135" y="5091066"/>
            <a:ext cx="2885021" cy="861774"/>
          </a:xfrm>
          <a:prstGeom prst="rect">
            <a:avLst/>
          </a:prstGeom>
          <a:noFill/>
        </p:spPr>
        <p:txBody>
          <a:bodyPr wrap="square" lIns="0" tIns="0" rIns="0" bIns="0" rtlCol="0">
            <a:spAutoFit/>
          </a:bodyPr>
          <a:lstStyle/>
          <a:p>
            <a:pPr algn="ctr"/>
            <a:r>
              <a:rPr lang="en-US" sz="1400" dirty="0" smtClean="0"/>
              <a:t>Farms at lower altitudes are       most vulnerable to impact of climate change and should be targeted for diversification opportunities</a:t>
            </a:r>
            <a:endParaRPr lang="en-US" sz="1400" dirty="0"/>
          </a:p>
        </p:txBody>
      </p:sp>
      <p:sp>
        <p:nvSpPr>
          <p:cNvPr id="26" name="Oval 25"/>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1</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30514345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33" hidden="1"/>
          <p:cNvGraphicFramePr>
            <a:graphicFrameLocks/>
          </p:cNvGraphicFramePr>
          <p:nvPr>
            <p:custDataLst>
              <p:tags r:id="rId2"/>
            </p:custDataLst>
            <p:extLst>
              <p:ext uri="{D42A27DB-BD31-4B8C-83A1-F6EECF244321}">
                <p14:modId xmlns:p14="http://schemas.microsoft.com/office/powerpoint/2010/main" val="2450485154"/>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82691" name="think-cell Slide" r:id="rId11" imgW="360" imgH="360" progId="TCLayout.ActiveDocument.1">
                  <p:embed/>
                </p:oleObj>
              </mc:Choice>
              <mc:Fallback>
                <p:oleObj name="think-cell Slide" r:id="rId11" imgW="360" imgH="360" progId="TCLayout.ActiveDocument.1">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noAutofit/>
          </a:bodyPr>
          <a:lstStyle/>
          <a:p>
            <a:pPr fontAlgn="base">
              <a:spcBef>
                <a:spcPct val="0"/>
              </a:spcBef>
              <a:spcAft>
                <a:spcPct val="0"/>
              </a:spcAft>
            </a:pPr>
            <a:endParaRPr kumimoji="0" lang="en-US" sz="1400" b="1" u="none" strike="noStrike" cap="none" normalizeH="0" smtClean="0">
              <a:ln>
                <a:noFill/>
              </a:ln>
              <a:solidFill>
                <a:schemeClr val="tx1"/>
              </a:solidFill>
              <a:effectLst/>
              <a:latin typeface="Arial"/>
              <a:sym typeface="Arial"/>
            </a:endParaRPr>
          </a:p>
        </p:txBody>
      </p:sp>
      <p:sp>
        <p:nvSpPr>
          <p:cNvPr id="26" name="Rectangle 25"/>
          <p:cNvSpPr/>
          <p:nvPr/>
        </p:nvSpPr>
        <p:spPr>
          <a:xfrm>
            <a:off x="121491" y="3159115"/>
            <a:ext cx="8902766" cy="1584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8"/>
          <p:cNvSpPr txBox="1">
            <a:spLocks/>
          </p:cNvSpPr>
          <p:nvPr>
            <p:custDataLst>
              <p:tags r:id="rId4"/>
            </p:custDataLst>
          </p:nvPr>
        </p:nvSpPr>
        <p:spPr>
          <a:xfrm>
            <a:off x="252639" y="1594379"/>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85725" indent="0">
              <a:buNone/>
            </a:pPr>
            <a:r>
              <a:rPr lang="en-US" sz="1200" b="1" dirty="0" smtClean="0">
                <a:solidFill>
                  <a:schemeClr val="accent1"/>
                </a:solidFill>
              </a:rPr>
              <a:t>Farmers can increase yields through improved agronomy and technical assistance</a:t>
            </a:r>
            <a:endParaRPr lang="en-US" sz="1200" b="1" dirty="0">
              <a:solidFill>
                <a:schemeClr val="accent1"/>
              </a:solidFill>
            </a:endParaRPr>
          </a:p>
        </p:txBody>
      </p:sp>
      <p:sp>
        <p:nvSpPr>
          <p:cNvPr id="11" name="TextBox 8"/>
          <p:cNvSpPr txBox="1">
            <a:spLocks/>
          </p:cNvSpPr>
          <p:nvPr>
            <p:custDataLst>
              <p:tags r:id="rId5"/>
            </p:custDataLst>
          </p:nvPr>
        </p:nvSpPr>
        <p:spPr>
          <a:xfrm>
            <a:off x="252639" y="3226988"/>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defPPr>
              <a:defRPr lang="en-US"/>
            </a:defPPr>
            <a:lvl1pPr marL="85725" lvl="0" indent="0" defTabSz="913332" fontAlgn="base">
              <a:spcBef>
                <a:spcPct val="0"/>
              </a:spcBef>
              <a:spcAft>
                <a:spcPct val="0"/>
              </a:spcAft>
              <a:buSzPct val="120000"/>
              <a:buNone/>
              <a:defRPr sz="1200" b="1">
                <a:solidFill>
                  <a:schemeClr val="bg1"/>
                </a:solidFill>
              </a:defRPr>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r>
              <a:rPr lang="en-US" dirty="0" smtClean="0">
                <a:solidFill>
                  <a:schemeClr val="accent1"/>
                </a:solidFill>
              </a:rPr>
              <a:t>Production costs could be reduced modestly through various sector efficiencies</a:t>
            </a:r>
            <a:endParaRPr lang="en-US" dirty="0">
              <a:solidFill>
                <a:schemeClr val="accent1"/>
              </a:solidFill>
            </a:endParaRPr>
          </a:p>
        </p:txBody>
      </p:sp>
      <p:sp>
        <p:nvSpPr>
          <p:cNvPr id="12" name="TextBox 8"/>
          <p:cNvSpPr txBox="1">
            <a:spLocks/>
          </p:cNvSpPr>
          <p:nvPr>
            <p:custDataLst>
              <p:tags r:id="rId6"/>
            </p:custDataLst>
          </p:nvPr>
        </p:nvSpPr>
        <p:spPr>
          <a:xfrm>
            <a:off x="252639" y="4880352"/>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defPPr>
              <a:defRPr lang="en-US"/>
            </a:defPPr>
            <a:lvl1pPr marL="85725" lvl="0" indent="0" defTabSz="913332" fontAlgn="base">
              <a:spcBef>
                <a:spcPct val="0"/>
              </a:spcBef>
              <a:spcAft>
                <a:spcPct val="0"/>
              </a:spcAft>
              <a:buSzPct val="120000"/>
              <a:buNone/>
              <a:defRPr sz="1200" b="1">
                <a:solidFill>
                  <a:schemeClr val="bg1"/>
                </a:solidFill>
              </a:defRPr>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a:lnSpc>
                <a:spcPct val="90000"/>
              </a:lnSpc>
            </a:pPr>
            <a:r>
              <a:rPr lang="en-US" dirty="0" smtClean="0">
                <a:solidFill>
                  <a:schemeClr val="accent1"/>
                </a:solidFill>
              </a:rPr>
              <a:t>Supply chains can meet stricter environmental standards with minimal added cost</a:t>
            </a:r>
            <a:endParaRPr lang="en-US" dirty="0">
              <a:solidFill>
                <a:schemeClr val="accent1"/>
              </a:solidFill>
            </a:endParaRPr>
          </a:p>
        </p:txBody>
      </p:sp>
      <p:sp>
        <p:nvSpPr>
          <p:cNvPr id="3" name="Rectangle 4"/>
          <p:cNvSpPr txBox="1"/>
          <p:nvPr/>
        </p:nvSpPr>
        <p:spPr>
          <a:xfrm>
            <a:off x="3345830" y="1553936"/>
            <a:ext cx="5515144" cy="15234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82563" indent="-182563"/>
            <a:r>
              <a:rPr lang="en-US" sz="1100" dirty="0"/>
              <a:t>Colombia’s farm yields could be increased by 20 to 30% by transferring improved agronomy practices to farmers, in particular effective fertilizer usage</a:t>
            </a:r>
          </a:p>
          <a:p>
            <a:pPr marL="182563" indent="-182563"/>
            <a:r>
              <a:rPr lang="en-US" sz="1100" dirty="0"/>
              <a:t>Achieving yield improvement requires high adoption level of best practices; high average age of farmer population could pose a challenge</a:t>
            </a:r>
          </a:p>
          <a:p>
            <a:pPr marL="182563" indent="-182563"/>
            <a:r>
              <a:rPr lang="en-US" sz="1100" dirty="0"/>
              <a:t>Higher yields contribute to a 5% cost reduction and net income increase of 30-50%</a:t>
            </a:r>
          </a:p>
          <a:p>
            <a:pPr marL="182563" indent="-182563"/>
            <a:r>
              <a:rPr lang="en-US" sz="1100" dirty="0"/>
              <a:t>Overall, production would increase by 1.5M bags and exports by US$ 260M per year</a:t>
            </a:r>
          </a:p>
          <a:p>
            <a:pPr marL="182563" indent="-182563"/>
            <a:r>
              <a:rPr lang="en-US" sz="1100" kern="0" dirty="0"/>
              <a:t>Cost of US$ 200M to train 50% of active farmers (230,000) over 10 years</a:t>
            </a:r>
          </a:p>
          <a:p>
            <a:pPr marL="182563" indent="-182563"/>
            <a:r>
              <a:rPr lang="en-US" sz="1100" kern="0" dirty="0"/>
              <a:t>Training should complement FNC’s individual farm extension visit s with a “farmer field schools” methodology and should actively try to involve the youth</a:t>
            </a:r>
          </a:p>
        </p:txBody>
      </p:sp>
      <p:sp>
        <p:nvSpPr>
          <p:cNvPr id="17" name="Rectangle 4"/>
          <p:cNvSpPr txBox="1"/>
          <p:nvPr/>
        </p:nvSpPr>
        <p:spPr>
          <a:xfrm>
            <a:off x="3345830" y="4902883"/>
            <a:ext cx="5515144" cy="129266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66688" indent="-166688">
              <a:buFont typeface="Arial" pitchFamily="34" charset="0"/>
              <a:buChar char="•"/>
            </a:pPr>
            <a:r>
              <a:rPr lang="en-US" sz="1100" dirty="0" smtClean="0"/>
              <a:t>Challenging for farms to meet new, stricter environmental regulations – requires new wastewater treatment systems that are complicated and expensive</a:t>
            </a:r>
          </a:p>
          <a:p>
            <a:pPr marL="166688" indent="-166688">
              <a:buFont typeface="Arial" pitchFamily="34" charset="0"/>
              <a:buChar char="•"/>
            </a:pPr>
            <a:r>
              <a:rPr lang="en-US" sz="1100" dirty="0" smtClean="0"/>
              <a:t>Ensure </a:t>
            </a:r>
            <a:r>
              <a:rPr lang="en-US" sz="1100" dirty="0"/>
              <a:t>compliance with environmental laws cost-effectively through central wet </a:t>
            </a:r>
            <a:r>
              <a:rPr lang="en-US" sz="1100" dirty="0" smtClean="0"/>
              <a:t>mills; a single system now benefits many farms</a:t>
            </a:r>
            <a:endParaRPr lang="en-US" sz="1100" dirty="0"/>
          </a:p>
          <a:p>
            <a:pPr marL="166688" indent="-166688">
              <a:buFont typeface="Arial" pitchFamily="34" charset="0"/>
              <a:buChar char="•"/>
            </a:pPr>
            <a:endParaRPr lang="en-US" sz="700" dirty="0" smtClean="0"/>
          </a:p>
          <a:p>
            <a:pPr marL="166688" indent="-166688">
              <a:buFont typeface="Arial" pitchFamily="34" charset="0"/>
              <a:buChar char="•"/>
            </a:pPr>
            <a:r>
              <a:rPr lang="en-US" sz="1100" i="1" dirty="0" smtClean="0"/>
              <a:t>The combination of all three business cases would increase net income by more than 50%  and reduce time spent for coffee farmers, enabling them to earn more from coffee than other rural employment options</a:t>
            </a:r>
            <a:endParaRPr lang="en-US" sz="1100" i="1" dirty="0"/>
          </a:p>
        </p:txBody>
      </p:sp>
      <p:cxnSp>
        <p:nvCxnSpPr>
          <p:cNvPr id="8" name="Straight Connector 7"/>
          <p:cNvCxnSpPr/>
          <p:nvPr/>
        </p:nvCxnSpPr>
        <p:spPr bwMode="auto">
          <a:xfrm>
            <a:off x="252639" y="4753147"/>
            <a:ext cx="8497661"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grpSp>
        <p:nvGrpSpPr>
          <p:cNvPr id="20" name="ACET"/>
          <p:cNvGrpSpPr>
            <a:grpSpLocks/>
          </p:cNvGrpSpPr>
          <p:nvPr/>
        </p:nvGrpSpPr>
        <p:grpSpPr bwMode="auto">
          <a:xfrm>
            <a:off x="252639" y="1272585"/>
            <a:ext cx="8497660" cy="203200"/>
            <a:chOff x="915" y="902"/>
            <a:chExt cx="2686" cy="128"/>
          </a:xfrm>
        </p:grpSpPr>
        <p:cxnSp>
          <p:nvCxnSpPr>
            <p:cNvPr id="21" name="AutoShape 70"/>
            <p:cNvCxnSpPr>
              <a:cxnSpLocks noChangeShapeType="1"/>
              <a:stCxn id="22" idx="4"/>
              <a:endCxn id="22" idx="6"/>
            </p:cNvCxnSpPr>
            <p:nvPr/>
          </p:nvCxnSpPr>
          <p:spPr bwMode="auto">
            <a:xfrm>
              <a:off x="915" y="1030"/>
              <a:ext cx="2686"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AutoShape 71"/>
            <p:cNvSpPr>
              <a:spLocks noChangeArrowheads="1"/>
            </p:cNvSpPr>
            <p:nvPr/>
          </p:nvSpPr>
          <p:spPr bwMode="auto">
            <a:xfrm>
              <a:off x="915" y="902"/>
              <a:ext cx="2686" cy="128"/>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200" b="1" dirty="0" smtClean="0">
                  <a:solidFill>
                    <a:schemeClr val="accent1"/>
                  </a:solidFill>
                </a:rPr>
                <a:t>Business cases and key challenges</a:t>
              </a:r>
              <a:endParaRPr lang="en-US" sz="1200" dirty="0">
                <a:solidFill>
                  <a:schemeClr val="accent1"/>
                </a:solidFill>
              </a:endParaRPr>
            </a:p>
          </p:txBody>
        </p:sp>
      </p:grpSp>
      <p:cxnSp>
        <p:nvCxnSpPr>
          <p:cNvPr id="23" name="Straight Connector 22"/>
          <p:cNvCxnSpPr/>
          <p:nvPr/>
        </p:nvCxnSpPr>
        <p:spPr bwMode="auto">
          <a:xfrm>
            <a:off x="252639" y="3142483"/>
            <a:ext cx="8497661"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sp>
        <p:nvSpPr>
          <p:cNvPr id="5" name="TextBox 8"/>
          <p:cNvSpPr txBox="1"/>
          <p:nvPr>
            <p:custDataLst>
              <p:tags r:id="rId7"/>
            </p:custDataLst>
          </p:nvPr>
        </p:nvSpPr>
        <p:spPr>
          <a:xfrm>
            <a:off x="121491" y="2144591"/>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smtClean="0">
                <a:solidFill>
                  <a:schemeClr val="bg1"/>
                </a:solidFill>
              </a:rPr>
              <a:t>1</a:t>
            </a:r>
            <a:endParaRPr lang="en-US" sz="1200" b="1" dirty="0">
              <a:solidFill>
                <a:schemeClr val="bg1"/>
              </a:solidFill>
            </a:endParaRPr>
          </a:p>
        </p:txBody>
      </p:sp>
      <p:sp>
        <p:nvSpPr>
          <p:cNvPr id="33" name="TextBox 8"/>
          <p:cNvSpPr txBox="1"/>
          <p:nvPr>
            <p:custDataLst>
              <p:tags r:id="rId8"/>
            </p:custDataLst>
          </p:nvPr>
        </p:nvSpPr>
        <p:spPr>
          <a:xfrm>
            <a:off x="121491" y="3822217"/>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a:solidFill>
                  <a:schemeClr val="bg1"/>
                </a:solidFill>
              </a:rPr>
              <a:t>2</a:t>
            </a:r>
          </a:p>
        </p:txBody>
      </p:sp>
      <p:sp>
        <p:nvSpPr>
          <p:cNvPr id="35" name="TextBox 8"/>
          <p:cNvSpPr txBox="1"/>
          <p:nvPr>
            <p:custDataLst>
              <p:tags r:id="rId9"/>
            </p:custDataLst>
          </p:nvPr>
        </p:nvSpPr>
        <p:spPr>
          <a:xfrm>
            <a:off x="121491" y="5434067"/>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a:solidFill>
                  <a:schemeClr val="bg1"/>
                </a:solidFill>
              </a:rPr>
              <a:t>3</a:t>
            </a:r>
          </a:p>
        </p:txBody>
      </p:sp>
      <p:pic>
        <p:nvPicPr>
          <p:cNvPr id="24" name="Picture 6" descr="http://bcassets.starbucks.com/1612549662/201403/3860/1612549662_3391264781001_cafe-video-732x412-HP.jpg?pubId=1612549662"/>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35188" r="7875"/>
          <a:stretch/>
        </p:blipFill>
        <p:spPr bwMode="auto">
          <a:xfrm>
            <a:off x="1820357" y="1594379"/>
            <a:ext cx="1479993" cy="146304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0" name="Picture 10" descr="CapacitacionTNS_Page_19"/>
          <p:cNvPicPr>
            <a:picLocks noChangeArrowheads="1"/>
          </p:cNvPicPr>
          <p:nvPr/>
        </p:nvPicPr>
        <p:blipFill rotWithShape="1">
          <a:blip r:embed="rId14">
            <a:extLst>
              <a:ext uri="{28A0092B-C50C-407E-A947-70E740481C1C}">
                <a14:useLocalDpi xmlns:a14="http://schemas.microsoft.com/office/drawing/2010/main" val="0"/>
              </a:ext>
            </a:extLst>
          </a:blip>
          <a:srcRect l="-83" t="5780" r="3586" b="4212"/>
          <a:stretch/>
        </p:blipFill>
        <p:spPr bwMode="auto">
          <a:xfrm>
            <a:off x="1820357" y="3226988"/>
            <a:ext cx="1481328" cy="146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Imagen 3" descr="IMG_0702.JPG"/>
          <p:cNvPicPr>
            <a:picLocks/>
          </p:cNvPicPr>
          <p:nvPr/>
        </p:nvPicPr>
        <p:blipFill rotWithShape="1">
          <a:blip r:embed="rId15" cstate="email">
            <a:extLst/>
          </a:blip>
          <a:srcRect r="25051"/>
          <a:stretch/>
        </p:blipFill>
        <p:spPr>
          <a:xfrm>
            <a:off x="1820357" y="4880352"/>
            <a:ext cx="1468088" cy="1463040"/>
          </a:xfrm>
          <a:prstGeom prst="rect">
            <a:avLst/>
          </a:prstGeom>
          <a:noFill/>
          <a:ln>
            <a:noFill/>
          </a:ln>
        </p:spPr>
      </p:pic>
      <p:sp>
        <p:nvSpPr>
          <p:cNvPr id="6" name="Title 5"/>
          <p:cNvSpPr>
            <a:spLocks noGrp="1"/>
          </p:cNvSpPr>
          <p:nvPr>
            <p:ph type="title"/>
          </p:nvPr>
        </p:nvSpPr>
        <p:spPr/>
        <p:txBody>
          <a:bodyPr/>
          <a:lstStyle/>
          <a:p>
            <a:r>
              <a:rPr lang="en-US" sz="1600" b="0" dirty="0"/>
              <a:t>BUSINESS CASE DISCUSSION</a:t>
            </a:r>
            <a:br>
              <a:rPr lang="en-US" sz="1600" b="0" dirty="0"/>
            </a:br>
            <a:r>
              <a:rPr lang="en-US" b="0" dirty="0"/>
              <a:t>Business case 2: </a:t>
            </a:r>
            <a:r>
              <a:rPr lang="en-US" b="0" dirty="0" smtClean="0"/>
              <a:t>Improving sector efficiencies</a:t>
            </a:r>
            <a:endParaRPr lang="en-US" b="0" dirty="0"/>
          </a:p>
        </p:txBody>
      </p:sp>
      <p:sp>
        <p:nvSpPr>
          <p:cNvPr id="25" name="Rectangle 4"/>
          <p:cNvSpPr txBox="1"/>
          <p:nvPr/>
        </p:nvSpPr>
        <p:spPr>
          <a:xfrm>
            <a:off x="3345831" y="3217918"/>
            <a:ext cx="5515143" cy="15234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74625" indent="-174625">
              <a:spcBef>
                <a:spcPts val="0"/>
              </a:spcBef>
              <a:spcAft>
                <a:spcPts val="0"/>
              </a:spcAft>
              <a:buFont typeface="Arial" panose="020B0604020202020204" pitchFamily="34" charset="0"/>
              <a:buChar char="•"/>
            </a:pPr>
            <a:r>
              <a:rPr lang="en-US" sz="1100" dirty="0" smtClean="0"/>
              <a:t>Colombia’s coffee farming is already quite sophisticated and shows limited potential for reducing production costs</a:t>
            </a:r>
          </a:p>
          <a:p>
            <a:pPr marL="174625" indent="-174625">
              <a:spcBef>
                <a:spcPts val="0"/>
              </a:spcBef>
              <a:spcAft>
                <a:spcPts val="0"/>
              </a:spcAft>
              <a:buFont typeface="Arial" panose="020B0604020202020204" pitchFamily="34" charset="0"/>
              <a:buChar char="•"/>
            </a:pPr>
            <a:r>
              <a:rPr lang="en-US" sz="1100" dirty="0" smtClean="0"/>
              <a:t>By reducing </a:t>
            </a:r>
            <a:r>
              <a:rPr lang="en-US" sz="1100" dirty="0"/>
              <a:t>farmers’ labor </a:t>
            </a:r>
            <a:r>
              <a:rPr lang="en-US" sz="1100" dirty="0" smtClean="0"/>
              <a:t>requirements for harvesting and in particular home wet-milling, production costs could be reduced by </a:t>
            </a:r>
            <a:r>
              <a:rPr lang="en-US" sz="1100" dirty="0"/>
              <a:t> </a:t>
            </a:r>
            <a:r>
              <a:rPr lang="en-US" sz="1100" dirty="0" smtClean="0"/>
              <a:t>up to 10%, </a:t>
            </a:r>
            <a:endParaRPr lang="en-US" sz="1100" dirty="0"/>
          </a:p>
          <a:p>
            <a:pPr marL="174625" indent="-174625">
              <a:spcBef>
                <a:spcPts val="0"/>
              </a:spcBef>
              <a:spcAft>
                <a:spcPts val="0"/>
              </a:spcAft>
              <a:buFont typeface="Arial" panose="020B0604020202020204" pitchFamily="34" charset="0"/>
              <a:buChar char="•"/>
            </a:pPr>
            <a:r>
              <a:rPr lang="en-US" sz="1100" dirty="0" smtClean="0"/>
              <a:t>For harvesting, there are conceptually opportunities </a:t>
            </a:r>
            <a:r>
              <a:rPr lang="en-US" sz="1100" dirty="0"/>
              <a:t>for </a:t>
            </a:r>
            <a:r>
              <a:rPr lang="en-US" sz="1100" dirty="0" smtClean="0"/>
              <a:t>improving productivity; however, implementation will be difficult and results may not justify costs</a:t>
            </a:r>
          </a:p>
          <a:p>
            <a:pPr marL="174625" indent="-174625">
              <a:spcBef>
                <a:spcPts val="0"/>
              </a:spcBef>
              <a:spcAft>
                <a:spcPts val="0"/>
              </a:spcAft>
              <a:buFont typeface="Arial" panose="020B0604020202020204" pitchFamily="34" charset="0"/>
              <a:buChar char="•"/>
            </a:pPr>
            <a:r>
              <a:rPr lang="en-US" sz="1100" dirty="0" smtClean="0"/>
              <a:t>For wet-milling, the introduction of central milling could reduce labor requirements by 50-70% and produce other financial and nonfinancial benefits</a:t>
            </a:r>
          </a:p>
          <a:p>
            <a:pPr marL="174625" indent="-174625">
              <a:spcBef>
                <a:spcPts val="0"/>
              </a:spcBef>
              <a:spcAft>
                <a:spcPts val="0"/>
              </a:spcAft>
              <a:buFont typeface="Arial" panose="020B0604020202020204" pitchFamily="34" charset="0"/>
              <a:buChar char="•"/>
            </a:pPr>
            <a:r>
              <a:rPr lang="en-US" sz="1100" dirty="0" smtClean="0"/>
              <a:t>Farmers facing the highest opportunity costs to time and labor should be prioritized</a:t>
            </a:r>
          </a:p>
        </p:txBody>
      </p:sp>
    </p:spTree>
    <p:extLst>
      <p:ext uri="{BB962C8B-B14F-4D97-AF65-F5344CB8AC3E}">
        <p14:creationId xmlns:p14="http://schemas.microsoft.com/office/powerpoint/2010/main" val="14365629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Object 59" hidden="1"/>
          <p:cNvGraphicFramePr>
            <a:graphicFrameLocks noChangeAspect="1"/>
          </p:cNvGraphicFramePr>
          <p:nvPr>
            <p:custDataLst>
              <p:tags r:id="rId2"/>
            </p:custDataLst>
            <p:extLst>
              <p:ext uri="{D42A27DB-BD31-4B8C-83A1-F6EECF244321}">
                <p14:modId xmlns:p14="http://schemas.microsoft.com/office/powerpoint/2010/main" val="340653790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71503" name="think-cell Slide" r:id="rId35" imgW="270" imgH="270" progId="TCLayout.ActiveDocument.1">
                  <p:embed/>
                </p:oleObj>
              </mc:Choice>
              <mc:Fallback>
                <p:oleObj name="think-cell Slide" r:id="rId35" imgW="270" imgH="270" progId="TCLayout.ActiveDocument.1">
                  <p:embed/>
                  <p:pic>
                    <p:nvPicPr>
                      <p:cNvPr id="0" name=""/>
                      <p:cNvPicPr/>
                      <p:nvPr/>
                    </p:nvPicPr>
                    <p:blipFill>
                      <a:blip r:embed="rId36"/>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61" name="McK Footnote"/>
          <p:cNvSpPr txBox="1">
            <a:spLocks noChangeArrowheads="1"/>
          </p:cNvSpPr>
          <p:nvPr/>
        </p:nvSpPr>
        <p:spPr bwMode="auto">
          <a:xfrm>
            <a:off x="729284" y="6027905"/>
            <a:ext cx="7421642" cy="769441"/>
          </a:xfrm>
          <a:prstGeom prst="rect">
            <a:avLst/>
          </a:prstGeom>
          <a:noFill/>
          <a:ln w="9525">
            <a:noFill/>
            <a:miter lim="800000"/>
            <a:headEnd/>
            <a:tailEnd/>
          </a:ln>
        </p:spPr>
        <p:txBody>
          <a:bodyPr wrap="square" lIns="0" tIns="0" rIns="0" bIns="0" anchor="b">
            <a:spAutoFit/>
          </a:bodyPr>
          <a:lstStyle/>
          <a:p>
            <a:pPr marL="563563" indent="-563563" defTabSz="895350">
              <a:spcAft>
                <a:spcPts val="600"/>
              </a:spcAft>
              <a:tabLst>
                <a:tab pos="517525" algn="r"/>
              </a:tabLst>
            </a:pPr>
            <a:r>
              <a:rPr lang="en-US" sz="900" dirty="0" smtClean="0">
                <a:solidFill>
                  <a:schemeClr val="tx1">
                    <a:lumMod val="65000"/>
                    <a:lumOff val="35000"/>
                  </a:schemeClr>
                </a:solidFill>
              </a:rPr>
              <a:t>Note: Cost of production does not include costs for installation of wet milling equipment, tree renovation or financing</a:t>
            </a:r>
          </a:p>
          <a:p>
            <a:pPr marL="563563" indent="-563563" defTabSz="895350">
              <a:tabLst>
                <a:tab pos="517525" algn="r"/>
              </a:tabLst>
            </a:pPr>
            <a:r>
              <a:rPr lang="en-US" sz="900" dirty="0" smtClean="0">
                <a:solidFill>
                  <a:schemeClr val="tx1">
                    <a:lumMod val="65000"/>
                    <a:lumOff val="35000"/>
                  </a:schemeClr>
                </a:solidFill>
              </a:rPr>
              <a:t>*Normalized </a:t>
            </a:r>
            <a:r>
              <a:rPr lang="en-US" sz="900" dirty="0">
                <a:solidFill>
                  <a:schemeClr val="tx1">
                    <a:lumMod val="65000"/>
                    <a:lumOff val="35000"/>
                  </a:schemeClr>
                </a:solidFill>
              </a:rPr>
              <a:t>to 2012/13 average commodity prices – Arabica ICE “C” of $1.50 but adjusted for market differentials)</a:t>
            </a:r>
            <a:endParaRPr lang="en-US" sz="900" dirty="0" smtClean="0">
              <a:solidFill>
                <a:schemeClr val="tx1">
                  <a:lumMod val="65000"/>
                  <a:lumOff val="35000"/>
                </a:schemeClr>
              </a:solidFill>
            </a:endParaRPr>
          </a:p>
          <a:p>
            <a:pPr marL="563563" indent="-563563" defTabSz="895350">
              <a:tabLst>
                <a:tab pos="517525" algn="r"/>
              </a:tabLst>
            </a:pPr>
            <a:r>
              <a:rPr lang="en-US" sz="900" dirty="0" smtClean="0">
                <a:solidFill>
                  <a:schemeClr val="tx1">
                    <a:lumMod val="65000"/>
                    <a:lumOff val="35000"/>
                  </a:schemeClr>
                </a:solidFill>
              </a:rPr>
              <a:t>** </a:t>
            </a:r>
            <a:r>
              <a:rPr lang="en-US" sz="900" dirty="0">
                <a:solidFill>
                  <a:schemeClr val="tx1">
                    <a:lumMod val="65000"/>
                    <a:lumOff val="35000"/>
                  </a:schemeClr>
                </a:solidFill>
              </a:rPr>
              <a:t>Includes farm tools, equipment, internal transport, etc</a:t>
            </a:r>
            <a:r>
              <a:rPr lang="en-US" sz="900" dirty="0" smtClean="0">
                <a:solidFill>
                  <a:schemeClr val="tx1">
                    <a:lumMod val="65000"/>
                    <a:lumOff val="35000"/>
                  </a:schemeClr>
                </a:solidFill>
              </a:rPr>
              <a:t>.</a:t>
            </a:r>
          </a:p>
          <a:p>
            <a:pPr marL="563563" indent="-563563" defTabSz="895350">
              <a:tabLst>
                <a:tab pos="517525" algn="r"/>
              </a:tabLst>
            </a:pPr>
            <a:r>
              <a:rPr lang="en-US" sz="900" dirty="0" smtClean="0">
                <a:solidFill>
                  <a:schemeClr val="tx1">
                    <a:lumMod val="65000"/>
                    <a:lumOff val="35000"/>
                  </a:schemeClr>
                </a:solidFill>
              </a:rPr>
              <a:t>*** May be possible through optimized fertilizer and distribution methods (see Business Case 1, page 47)</a:t>
            </a:r>
            <a:endParaRPr lang="en-US" sz="900" dirty="0">
              <a:solidFill>
                <a:schemeClr val="tx1">
                  <a:lumMod val="65000"/>
                  <a:lumOff val="35000"/>
                </a:schemeClr>
              </a:solidFill>
            </a:endParaRPr>
          </a:p>
          <a:p>
            <a:pPr defTabSz="895350">
              <a:tabLst>
                <a:tab pos="517525" algn="r"/>
              </a:tabLst>
            </a:pPr>
            <a:r>
              <a:rPr lang="en-US" sz="900" dirty="0" smtClean="0">
                <a:solidFill>
                  <a:schemeClr val="tx1">
                    <a:lumMod val="65000"/>
                    <a:lumOff val="35000"/>
                  </a:schemeClr>
                </a:solidFill>
              </a:rPr>
              <a:t>Source</a:t>
            </a:r>
            <a:r>
              <a:rPr lang="en-US" sz="900" dirty="0">
                <a:solidFill>
                  <a:schemeClr val="tx1">
                    <a:lumMod val="65000"/>
                    <a:lumOff val="35000"/>
                  </a:schemeClr>
                </a:solidFill>
              </a:rPr>
              <a:t>: </a:t>
            </a:r>
            <a:r>
              <a:rPr lang="en-US" sz="900" dirty="0" smtClean="0">
                <a:solidFill>
                  <a:schemeClr val="tx1">
                    <a:lumMod val="65000"/>
                    <a:lumOff val="35000"/>
                  </a:schemeClr>
                </a:solidFill>
              </a:rPr>
              <a:t>Stakeholder interviews, TechnoServe analysis</a:t>
            </a:r>
            <a:endParaRPr lang="en-US" sz="900" dirty="0">
              <a:solidFill>
                <a:schemeClr val="tx1">
                  <a:lumMod val="65000"/>
                  <a:lumOff val="35000"/>
                </a:schemeClr>
              </a:solidFill>
            </a:endParaRPr>
          </a:p>
        </p:txBody>
      </p:sp>
      <p:sp>
        <p:nvSpPr>
          <p:cNvPr id="52" name="Title 51"/>
          <p:cNvSpPr>
            <a:spLocks noGrp="1"/>
          </p:cNvSpPr>
          <p:nvPr>
            <p:ph type="title"/>
          </p:nvPr>
        </p:nvSpPr>
        <p:spPr/>
        <p:txBody>
          <a:bodyPr/>
          <a:lstStyle/>
          <a:p>
            <a:pPr marL="268288"/>
            <a:r>
              <a:rPr lang="en-US" b="0" dirty="0" smtClean="0"/>
              <a:t>There may be modest opportunities to reduce the cost of production in Colombia’s supply chain</a:t>
            </a:r>
            <a:endParaRPr lang="en-US" b="0" dirty="0"/>
          </a:p>
        </p:txBody>
      </p:sp>
      <p:sp>
        <p:nvSpPr>
          <p:cNvPr id="42" name="TextBox 41"/>
          <p:cNvSpPr txBox="1"/>
          <p:nvPr/>
        </p:nvSpPr>
        <p:spPr>
          <a:xfrm>
            <a:off x="370036" y="1212850"/>
            <a:ext cx="4704762" cy="523220"/>
          </a:xfrm>
          <a:prstGeom prst="rect">
            <a:avLst/>
          </a:prstGeom>
          <a:noFill/>
        </p:spPr>
        <p:txBody>
          <a:bodyPr wrap="square" rtlCol="0">
            <a:spAutoFit/>
          </a:bodyPr>
          <a:lstStyle/>
          <a:p>
            <a:r>
              <a:rPr lang="en-US" sz="1400" b="1" dirty="0">
                <a:solidFill>
                  <a:schemeClr val="accent1"/>
                </a:solidFill>
              </a:rPr>
              <a:t>Cash cost of production for average Colombian farm</a:t>
            </a:r>
          </a:p>
          <a:p>
            <a:r>
              <a:rPr lang="en-US" sz="1400" dirty="0">
                <a:solidFill>
                  <a:schemeClr val="accent1"/>
                </a:solidFill>
              </a:rPr>
              <a:t>US$ per lb green</a:t>
            </a:r>
          </a:p>
        </p:txBody>
      </p:sp>
      <p:cxnSp>
        <p:nvCxnSpPr>
          <p:cNvPr id="8" name="Straight Connector 7"/>
          <p:cNvCxnSpPr/>
          <p:nvPr>
            <p:custDataLst>
              <p:tags r:id="rId4"/>
            </p:custDataLst>
          </p:nvPr>
        </p:nvCxnSpPr>
        <p:spPr bwMode="gray">
          <a:xfrm>
            <a:off x="7658100" y="381000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custDataLst>
              <p:tags r:id="rId5"/>
            </p:custDataLst>
          </p:nvPr>
        </p:nvCxnSpPr>
        <p:spPr bwMode="gray">
          <a:xfrm>
            <a:off x="6829425" y="3324225"/>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custDataLst>
              <p:tags r:id="rId6"/>
            </p:custDataLst>
          </p:nvPr>
        </p:nvCxnSpPr>
        <p:spPr bwMode="gray">
          <a:xfrm>
            <a:off x="6010275" y="312420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custDataLst>
              <p:tags r:id="rId7"/>
            </p:custDataLst>
          </p:nvPr>
        </p:nvCxnSpPr>
        <p:spPr bwMode="gray">
          <a:xfrm>
            <a:off x="5181600" y="2962275"/>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8"/>
            </p:custDataLst>
          </p:nvPr>
        </p:nvCxnSpPr>
        <p:spPr bwMode="gray">
          <a:xfrm>
            <a:off x="4352925" y="2962275"/>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custDataLst>
              <p:tags r:id="rId9"/>
            </p:custDataLst>
          </p:nvPr>
        </p:nvCxnSpPr>
        <p:spPr bwMode="gray">
          <a:xfrm>
            <a:off x="3524250" y="253365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custDataLst>
              <p:tags r:id="rId10"/>
            </p:custDataLst>
          </p:nvPr>
        </p:nvCxnSpPr>
        <p:spPr bwMode="gray">
          <a:xfrm>
            <a:off x="2695575" y="253365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custDataLst>
              <p:tags r:id="rId11"/>
            </p:custDataLst>
          </p:nvPr>
        </p:nvCxnSpPr>
        <p:spPr bwMode="gray">
          <a:xfrm>
            <a:off x="1876425" y="2105025"/>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custDataLst>
              <p:tags r:id="rId12"/>
            </p:custDataLst>
          </p:nvPr>
        </p:nvCxnSpPr>
        <p:spPr bwMode="gray">
          <a:xfrm>
            <a:off x="1047750" y="2019300"/>
            <a:ext cx="3619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4" name="Object 3"/>
          <p:cNvGraphicFramePr>
            <a:graphicFrameLocks/>
          </p:cNvGraphicFramePr>
          <p:nvPr>
            <p:custDataLst>
              <p:tags r:id="rId13"/>
            </p:custDataLst>
            <p:extLst>
              <p:ext uri="{D42A27DB-BD31-4B8C-83A1-F6EECF244321}">
                <p14:modId xmlns:p14="http://schemas.microsoft.com/office/powerpoint/2010/main" val="3918400631"/>
              </p:ext>
            </p:extLst>
          </p:nvPr>
        </p:nvGraphicFramePr>
        <p:xfrm>
          <a:off x="266700" y="1905000"/>
          <a:ext cx="8505757" cy="2762340"/>
        </p:xfrm>
        <a:graphic>
          <a:graphicData uri="http://schemas.openxmlformats.org/presentationml/2006/ole">
            <mc:AlternateContent xmlns:mc="http://schemas.openxmlformats.org/markup-compatibility/2006">
              <mc:Choice xmlns:v="urn:schemas-microsoft-com:vml" Requires="v">
                <p:oleObj spid="_x0000_s271504" name="Chart" r:id="rId37" imgW="8505757" imgH="2762340" progId="MSGraph.Chart.8">
                  <p:embed followColorScheme="full"/>
                </p:oleObj>
              </mc:Choice>
              <mc:Fallback>
                <p:oleObj name="Chart" r:id="rId37" imgW="8505757" imgH="2762340" progId="MSGraph.Chart.8">
                  <p:embed followColorScheme="full"/>
                  <p:pic>
                    <p:nvPicPr>
                      <p:cNvPr id="0" name=""/>
                      <p:cNvPicPr/>
                      <p:nvPr/>
                    </p:nvPicPr>
                    <p:blipFill>
                      <a:blip r:embed="rId38"/>
                      <a:stretch>
                        <a:fillRect/>
                      </a:stretch>
                    </p:blipFill>
                    <p:spPr>
                      <a:xfrm>
                        <a:off x="266700" y="1905000"/>
                        <a:ext cx="8505757" cy="2762340"/>
                      </a:xfrm>
                      <a:prstGeom prst="rect">
                        <a:avLst/>
                      </a:prstGeom>
                    </p:spPr>
                  </p:pic>
                </p:oleObj>
              </mc:Fallback>
            </mc:AlternateContent>
          </a:graphicData>
        </a:graphic>
      </p:graphicFrame>
      <p:sp>
        <p:nvSpPr>
          <p:cNvPr id="84" name="Text Placeholder 234"/>
          <p:cNvSpPr>
            <a:spLocks noGrp="1"/>
          </p:cNvSpPr>
          <p:nvPr>
            <p:custDataLst>
              <p:tags r:id="rId14"/>
            </p:custDataLst>
          </p:nvPr>
        </p:nvSpPr>
        <p:spPr bwMode="auto">
          <a:xfrm>
            <a:off x="7905750" y="4733925"/>
            <a:ext cx="695325"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936CD40-2ED7-4BBE-B42A-E2968CC5EE3B}" type="datetime'''''Ag''''''''r''''o-''''''''''''inp''''''ut''''''''s'''''">
              <a:rPr lang="en-US" sz="1400" smtClean="0">
                <a:solidFill>
                  <a:schemeClr val="accent1"/>
                </a:solidFill>
              </a:rPr>
              <a:pPr/>
              <a:t>Agro-inputs</a:t>
            </a:fld>
            <a:r>
              <a:rPr lang="en-US" sz="1400" dirty="0" smtClean="0">
                <a:solidFill>
                  <a:schemeClr val="accent1"/>
                </a:solidFill>
              </a:rPr>
              <a:t>***</a:t>
            </a:r>
            <a:endParaRPr lang="en-US" sz="1400" dirty="0">
              <a:solidFill>
                <a:schemeClr val="accent1"/>
              </a:solidFill>
              <a:latin typeface="Arial"/>
              <a:sym typeface="Arial"/>
            </a:endParaRPr>
          </a:p>
        </p:txBody>
      </p:sp>
      <p:sp>
        <p:nvSpPr>
          <p:cNvPr id="29" name="Text Placeholder 100"/>
          <p:cNvSpPr>
            <a:spLocks noGrp="1"/>
          </p:cNvSpPr>
          <p:nvPr>
            <p:custDataLst>
              <p:tags r:id="rId15"/>
            </p:custDataLst>
          </p:nvPr>
        </p:nvSpPr>
        <p:spPr bwMode="gray">
          <a:xfrm>
            <a:off x="8056563" y="3571875"/>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3A1A0DE-F999-427E-A86D-4314261C61FA}" type="datetime'''''''''''''''0''''''''''''''''.5''''''''''2'''''''''''''">
              <a:rPr lang="en-US" sz="1400" smtClean="0">
                <a:solidFill>
                  <a:schemeClr val="accent1"/>
                </a:solidFill>
              </a:rPr>
              <a:pPr/>
              <a:t>0.52</a:t>
            </a:fld>
            <a:endParaRPr lang="en-US" sz="1400" dirty="0">
              <a:solidFill>
                <a:schemeClr val="accent1"/>
              </a:solidFill>
              <a:latin typeface="Arial"/>
              <a:sym typeface="Arial"/>
            </a:endParaRPr>
          </a:p>
        </p:txBody>
      </p:sp>
      <p:sp>
        <p:nvSpPr>
          <p:cNvPr id="83" name="Text Placeholder 233"/>
          <p:cNvSpPr>
            <a:spLocks noGrp="1"/>
          </p:cNvSpPr>
          <p:nvPr>
            <p:custDataLst>
              <p:tags r:id="rId16"/>
            </p:custDataLst>
          </p:nvPr>
        </p:nvSpPr>
        <p:spPr bwMode="auto">
          <a:xfrm>
            <a:off x="7200900" y="4733925"/>
            <a:ext cx="447675"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F298930-CBEC-42EC-A3D1-9D2CD933BDFB}" type="datetime'''F''ar''''''''''m'''''''''' ''''la''''''''bo''''''''''''r'''">
              <a:rPr lang="en-US" sz="1400" b="1">
                <a:solidFill>
                  <a:schemeClr val="accent1"/>
                </a:solidFill>
              </a:rPr>
              <a:pPr/>
              <a:t>Farm labor</a:t>
            </a:fld>
            <a:endParaRPr lang="en-US" sz="1400" b="1" dirty="0">
              <a:solidFill>
                <a:schemeClr val="accent1"/>
              </a:solidFill>
              <a:latin typeface="Arial"/>
              <a:sym typeface="Arial"/>
            </a:endParaRPr>
          </a:p>
        </p:txBody>
      </p:sp>
      <p:sp>
        <p:nvSpPr>
          <p:cNvPr id="46" name="Text Placeholder 33"/>
          <p:cNvSpPr>
            <a:spLocks noGrp="1"/>
          </p:cNvSpPr>
          <p:nvPr>
            <p:custDataLst>
              <p:tags r:id="rId17"/>
            </p:custDataLst>
          </p:nvPr>
        </p:nvSpPr>
        <p:spPr bwMode="gray">
          <a:xfrm>
            <a:off x="7227888" y="3460750"/>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8B731D5-90EB-4B43-82A6-D2DF4F4EC99C}" type="datetime'''0''''''.''''''''''''''''3''''''''''''''''''''''''''''3'">
              <a:rPr lang="en-US" sz="1400">
                <a:solidFill>
                  <a:schemeClr val="bg1"/>
                </a:solidFill>
                <a:latin typeface="Arial"/>
                <a:sym typeface="Arial"/>
              </a:rPr>
              <a:pPr marL="0" indent="0" algn="ctr">
                <a:spcBef>
                  <a:spcPct val="0"/>
                </a:spcBef>
                <a:spcAft>
                  <a:spcPct val="0"/>
                </a:spcAft>
                <a:buNone/>
              </a:pPr>
              <a:t>0.33</a:t>
            </a:fld>
            <a:endParaRPr lang="en-US" sz="1400" dirty="0">
              <a:solidFill>
                <a:schemeClr val="bg1"/>
              </a:solidFill>
              <a:latin typeface="Arial"/>
              <a:sym typeface="Arial"/>
            </a:endParaRPr>
          </a:p>
        </p:txBody>
      </p:sp>
      <p:sp>
        <p:nvSpPr>
          <p:cNvPr id="82" name="Text Placeholder 232"/>
          <p:cNvSpPr>
            <a:spLocks noGrp="1"/>
          </p:cNvSpPr>
          <p:nvPr>
            <p:custDataLst>
              <p:tags r:id="rId18"/>
            </p:custDataLst>
          </p:nvPr>
        </p:nvSpPr>
        <p:spPr bwMode="auto">
          <a:xfrm>
            <a:off x="6308725" y="4733925"/>
            <a:ext cx="584200"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78D208F-D235-4B26-95BC-8BF580BC4871}" type="datetime'We''t-''''m''''''''''''''i''ll''''''i''''''''n''g'''''''">
              <a:rPr lang="en-US" sz="1400" b="1">
                <a:solidFill>
                  <a:schemeClr val="accent1"/>
                </a:solidFill>
              </a:rPr>
              <a:pPr/>
              <a:t>Wet-milling</a:t>
            </a:fld>
            <a:endParaRPr lang="en-US" sz="1400" b="1" dirty="0">
              <a:solidFill>
                <a:schemeClr val="accent1"/>
              </a:solidFill>
              <a:latin typeface="Arial"/>
              <a:sym typeface="Arial"/>
            </a:endParaRPr>
          </a:p>
        </p:txBody>
      </p:sp>
      <p:sp>
        <p:nvSpPr>
          <p:cNvPr id="44" name="Text Placeholder 32"/>
          <p:cNvSpPr>
            <a:spLocks noGrp="1"/>
          </p:cNvSpPr>
          <p:nvPr>
            <p:custDataLst>
              <p:tags r:id="rId19"/>
            </p:custDataLst>
          </p:nvPr>
        </p:nvSpPr>
        <p:spPr bwMode="gray">
          <a:xfrm>
            <a:off x="6403975" y="3117850"/>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CA0F06D7-1FE7-4073-9343-8E9D46CA3D33}" type="datetime'''''''0''''''''''''''''''''''''.''''1''''''4'''''''''''''''">
              <a:rPr lang="en-US" sz="1400">
                <a:solidFill>
                  <a:schemeClr val="bg1"/>
                </a:solidFill>
                <a:latin typeface="Arial"/>
                <a:sym typeface="Arial"/>
              </a:rPr>
              <a:pPr marL="0" indent="0" algn="ctr">
                <a:spcBef>
                  <a:spcPct val="0"/>
                </a:spcBef>
                <a:spcAft>
                  <a:spcPct val="0"/>
                </a:spcAft>
                <a:buNone/>
              </a:pPr>
              <a:t>0.14</a:t>
            </a:fld>
            <a:endParaRPr lang="en-US" sz="1400" dirty="0">
              <a:solidFill>
                <a:schemeClr val="bg1"/>
              </a:solidFill>
              <a:latin typeface="Arial"/>
              <a:sym typeface="Arial"/>
            </a:endParaRPr>
          </a:p>
        </p:txBody>
      </p:sp>
      <p:sp>
        <p:nvSpPr>
          <p:cNvPr id="34" name="Text Placeholder 103"/>
          <p:cNvSpPr>
            <a:spLocks noGrp="1"/>
          </p:cNvSpPr>
          <p:nvPr>
            <p:custDataLst>
              <p:tags r:id="rId20"/>
            </p:custDataLst>
          </p:nvPr>
        </p:nvSpPr>
        <p:spPr bwMode="auto">
          <a:xfrm>
            <a:off x="5494338" y="4733925"/>
            <a:ext cx="566738"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C448C63-63E6-43B3-A99B-C7C9F00B2FD9}" type="datetime'Ot''''''''h''''e''''''r co''''''''''s''''t''''''''''s'''''''''">
              <a:rPr lang="en-US" sz="1400" smtClean="0">
                <a:solidFill>
                  <a:schemeClr val="accent1"/>
                </a:solidFill>
              </a:rPr>
              <a:pPr/>
              <a:t>Other costs</a:t>
            </a:fld>
            <a:r>
              <a:rPr lang="en-US" sz="1400" dirty="0" smtClean="0">
                <a:solidFill>
                  <a:schemeClr val="accent1"/>
                </a:solidFill>
              </a:rPr>
              <a:t>**</a:t>
            </a:r>
            <a:endParaRPr lang="en-US" sz="1400" dirty="0">
              <a:solidFill>
                <a:schemeClr val="accent1"/>
              </a:solidFill>
              <a:latin typeface="Arial"/>
              <a:sym typeface="Arial"/>
            </a:endParaRPr>
          </a:p>
        </p:txBody>
      </p:sp>
      <p:sp>
        <p:nvSpPr>
          <p:cNvPr id="37" name="Text Placeholder 104"/>
          <p:cNvSpPr>
            <a:spLocks noGrp="1"/>
          </p:cNvSpPr>
          <p:nvPr>
            <p:custDataLst>
              <p:tags r:id="rId21"/>
            </p:custDataLst>
          </p:nvPr>
        </p:nvSpPr>
        <p:spPr bwMode="gray">
          <a:xfrm>
            <a:off x="5586413" y="2936875"/>
            <a:ext cx="382588" cy="212725"/>
          </a:xfrm>
          <a:prstGeom prst="rect">
            <a:avLst/>
          </a:prstGeom>
          <a:solidFill>
            <a:srgbClr val="FFFFFF"/>
          </a:solidFill>
          <a:extLst/>
        </p:spPr>
        <p:txBody>
          <a:bodyPr wrap="none" lIns="25400" tIns="0" rIns="25400" bIns="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8C3DB4F-B749-4671-A422-E2F7C9D7C0C7}" type="datetime'''''''''''''''''''0''''.''''''''1''''''''''''''1'''''''">
              <a:rPr lang="en-US" sz="1400">
                <a:solidFill>
                  <a:schemeClr val="accent1"/>
                </a:solidFill>
              </a:rPr>
              <a:pPr/>
              <a:t>0.11</a:t>
            </a:fld>
            <a:endParaRPr lang="en-US" sz="1400" dirty="0">
              <a:solidFill>
                <a:schemeClr val="accent1"/>
              </a:solidFill>
              <a:latin typeface="Arial"/>
              <a:sym typeface="Arial"/>
            </a:endParaRPr>
          </a:p>
        </p:txBody>
      </p:sp>
      <p:sp>
        <p:nvSpPr>
          <p:cNvPr id="86" name="Text Placeholder 236"/>
          <p:cNvSpPr>
            <a:spLocks noGrp="1"/>
          </p:cNvSpPr>
          <p:nvPr>
            <p:custDataLst>
              <p:tags r:id="rId22"/>
            </p:custDataLst>
          </p:nvPr>
        </p:nvSpPr>
        <p:spPr bwMode="auto">
          <a:xfrm>
            <a:off x="4618038" y="4733925"/>
            <a:ext cx="661988"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D70ABB5-6CEA-476F-8C78-93ABAF426086}" type="datetime'F''a''r''''''''''''m''i''n''''''g'''''' ''c''os''''''''''ts'">
              <a:rPr lang="en-US" sz="1400">
                <a:solidFill>
                  <a:schemeClr val="accent1"/>
                </a:solidFill>
                <a:latin typeface="Arial"/>
                <a:sym typeface="Arial"/>
              </a:rPr>
              <a:pPr marL="0" indent="0" algn="ctr">
                <a:spcBef>
                  <a:spcPct val="0"/>
                </a:spcBef>
                <a:spcAft>
                  <a:spcPct val="0"/>
                </a:spcAft>
                <a:buNone/>
              </a:pPr>
              <a:t>Farming costs</a:t>
            </a:fld>
            <a:endParaRPr lang="en-US" sz="1400" dirty="0">
              <a:solidFill>
                <a:schemeClr val="accent1"/>
              </a:solidFill>
              <a:latin typeface="Arial"/>
              <a:sym typeface="Arial"/>
            </a:endParaRPr>
          </a:p>
        </p:txBody>
      </p:sp>
      <p:sp>
        <p:nvSpPr>
          <p:cNvPr id="43" name="Text Placeholder 31"/>
          <p:cNvSpPr>
            <a:spLocks noGrp="1"/>
          </p:cNvSpPr>
          <p:nvPr>
            <p:custDataLst>
              <p:tags r:id="rId23"/>
            </p:custDataLst>
          </p:nvPr>
        </p:nvSpPr>
        <p:spPr bwMode="gray">
          <a:xfrm>
            <a:off x="4751388" y="2724150"/>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7C528B2-ECCA-4885-890A-7400BBECACB8}" type="datetime'1''''''''''''''''''.''''''''''''1''''''''''''0'''">
              <a:rPr lang="en-US" sz="1400">
                <a:solidFill>
                  <a:schemeClr val="accent1"/>
                </a:solidFill>
                <a:latin typeface="Arial"/>
                <a:sym typeface="Arial"/>
              </a:rPr>
              <a:pPr marL="0" indent="0" algn="ctr">
                <a:spcBef>
                  <a:spcPct val="0"/>
                </a:spcBef>
                <a:spcAft>
                  <a:spcPct val="0"/>
                </a:spcAft>
                <a:buNone/>
              </a:pPr>
              <a:t>1.10</a:t>
            </a:fld>
            <a:endParaRPr lang="en-US" sz="1400" dirty="0">
              <a:solidFill>
                <a:schemeClr val="accent1"/>
              </a:solidFill>
              <a:latin typeface="Arial"/>
              <a:sym typeface="Arial"/>
            </a:endParaRPr>
          </a:p>
        </p:txBody>
      </p:sp>
      <p:sp>
        <p:nvSpPr>
          <p:cNvPr id="81" name="Text Placeholder 231"/>
          <p:cNvSpPr>
            <a:spLocks noGrp="1"/>
          </p:cNvSpPr>
          <p:nvPr>
            <p:custDataLst>
              <p:tags r:id="rId24"/>
            </p:custDataLst>
          </p:nvPr>
        </p:nvSpPr>
        <p:spPr bwMode="auto">
          <a:xfrm>
            <a:off x="3762375" y="4733925"/>
            <a:ext cx="714375" cy="63817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94E3BD9-70E6-48A4-B2C4-108E11DE07BA}" type="datetime'Fa''rmer’''''''s'''' ''''''ca''sh'''' ''m''''ar''''gin'''''''">
              <a:rPr lang="en-US" sz="1400">
                <a:solidFill>
                  <a:schemeClr val="accent1"/>
                </a:solidFill>
              </a:rPr>
              <a:pPr/>
              <a:t>Farmer’s cash margin</a:t>
            </a:fld>
            <a:endParaRPr lang="en-US" sz="1400" dirty="0">
              <a:solidFill>
                <a:schemeClr val="accent1"/>
              </a:solidFill>
              <a:latin typeface="Arial"/>
              <a:sym typeface="Arial"/>
            </a:endParaRPr>
          </a:p>
        </p:txBody>
      </p:sp>
      <p:sp>
        <p:nvSpPr>
          <p:cNvPr id="41" name="Text Placeholder 30"/>
          <p:cNvSpPr>
            <a:spLocks noGrp="1"/>
          </p:cNvSpPr>
          <p:nvPr>
            <p:custDataLst>
              <p:tags r:id="rId25"/>
            </p:custDataLst>
          </p:nvPr>
        </p:nvSpPr>
        <p:spPr bwMode="gray">
          <a:xfrm>
            <a:off x="3922713" y="2641600"/>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9ACA729-BFD3-4FDE-8F87-018207FBF540}" type="datetime'''''''''''''''''0''''''.''''''''''''''2''''''''''''''''''9'''">
              <a:rPr lang="en-US" sz="1400">
                <a:solidFill>
                  <a:schemeClr val="accent1"/>
                </a:solidFill>
                <a:latin typeface="Arial"/>
                <a:sym typeface="Arial"/>
              </a:rPr>
              <a:pPr marL="0" indent="0" algn="ctr">
                <a:spcBef>
                  <a:spcPct val="0"/>
                </a:spcBef>
                <a:spcAft>
                  <a:spcPct val="0"/>
                </a:spcAft>
                <a:buNone/>
              </a:pPr>
              <a:t>0.29</a:t>
            </a:fld>
            <a:endParaRPr lang="en-US" sz="1400" dirty="0">
              <a:solidFill>
                <a:schemeClr val="accent1"/>
              </a:solidFill>
              <a:latin typeface="Arial"/>
              <a:sym typeface="Arial"/>
            </a:endParaRPr>
          </a:p>
        </p:txBody>
      </p:sp>
      <p:sp>
        <p:nvSpPr>
          <p:cNvPr id="80" name="Text Placeholder 230"/>
          <p:cNvSpPr>
            <a:spLocks noGrp="1"/>
          </p:cNvSpPr>
          <p:nvPr>
            <p:custDataLst>
              <p:tags r:id="rId26"/>
            </p:custDataLst>
          </p:nvPr>
        </p:nvSpPr>
        <p:spPr bwMode="auto">
          <a:xfrm>
            <a:off x="2895600" y="4733925"/>
            <a:ext cx="790575"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7769BC9-FF32-497C-B5CD-3A777EDDC12D}" type="datetime'''''''Fa''''''''''r''m''-''''''g''a''''''te'' ''pr''''i''c''e'">
              <a:rPr lang="en-US" sz="1400" smtClean="0">
                <a:solidFill>
                  <a:schemeClr val="accent1"/>
                </a:solidFill>
              </a:rPr>
              <a:pPr/>
              <a:t>Farm-gate price</a:t>
            </a:fld>
            <a:endParaRPr lang="en-US" sz="1400" dirty="0">
              <a:solidFill>
                <a:schemeClr val="accent1"/>
              </a:solidFill>
              <a:latin typeface="Arial"/>
              <a:sym typeface="Arial"/>
            </a:endParaRPr>
          </a:p>
        </p:txBody>
      </p:sp>
      <p:sp>
        <p:nvSpPr>
          <p:cNvPr id="40" name="Text Placeholder 29"/>
          <p:cNvSpPr>
            <a:spLocks noGrp="1"/>
          </p:cNvSpPr>
          <p:nvPr>
            <p:custDataLst>
              <p:tags r:id="rId27"/>
            </p:custDataLst>
          </p:nvPr>
        </p:nvSpPr>
        <p:spPr bwMode="gray">
          <a:xfrm>
            <a:off x="3094038" y="2295525"/>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5784329-3B44-4950-BAF7-6D56FDDED384}" type="datetime'''''''''1''.''''''''3''''''9'''''">
              <a:rPr lang="en-US" sz="1400">
                <a:solidFill>
                  <a:schemeClr val="accent1"/>
                </a:solidFill>
                <a:latin typeface="Arial"/>
                <a:sym typeface="Arial"/>
              </a:rPr>
              <a:pPr marL="0" indent="0" algn="ctr">
                <a:spcBef>
                  <a:spcPct val="0"/>
                </a:spcBef>
                <a:spcAft>
                  <a:spcPct val="0"/>
                </a:spcAft>
                <a:buNone/>
              </a:pPr>
              <a:t>1.39</a:t>
            </a:fld>
            <a:endParaRPr lang="en-US" sz="1400" dirty="0">
              <a:solidFill>
                <a:schemeClr val="accent1"/>
              </a:solidFill>
              <a:latin typeface="Arial"/>
              <a:sym typeface="Arial"/>
            </a:endParaRPr>
          </a:p>
        </p:txBody>
      </p:sp>
      <p:sp>
        <p:nvSpPr>
          <p:cNvPr id="70" name="Text Placeholder 52"/>
          <p:cNvSpPr>
            <a:spLocks noGrp="1"/>
          </p:cNvSpPr>
          <p:nvPr>
            <p:custDataLst>
              <p:tags r:id="rId28"/>
            </p:custDataLst>
          </p:nvPr>
        </p:nvSpPr>
        <p:spPr bwMode="auto">
          <a:xfrm>
            <a:off x="2189163" y="4733925"/>
            <a:ext cx="555625" cy="63817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3CE42042-B8E6-4C8E-AFD9-CB6F5703A925}" type="datetime'S''up''pl''''y ''''''''''c''h''a''i''''''n ''c''osts'''">
              <a:rPr lang="en-US" sz="1400">
                <a:solidFill>
                  <a:schemeClr val="accent1"/>
                </a:solidFill>
              </a:rPr>
              <a:pPr/>
              <a:t>Supply chain costs</a:t>
            </a:fld>
            <a:endParaRPr lang="en-US" sz="1400" dirty="0">
              <a:solidFill>
                <a:schemeClr val="accent1"/>
              </a:solidFill>
              <a:latin typeface="Arial"/>
              <a:sym typeface="Arial"/>
            </a:endParaRPr>
          </a:p>
        </p:txBody>
      </p:sp>
      <p:sp>
        <p:nvSpPr>
          <p:cNvPr id="39" name="Text Placeholder 28"/>
          <p:cNvSpPr>
            <a:spLocks noGrp="1"/>
          </p:cNvSpPr>
          <p:nvPr>
            <p:custDataLst>
              <p:tags r:id="rId29"/>
            </p:custDataLst>
          </p:nvPr>
        </p:nvSpPr>
        <p:spPr bwMode="gray">
          <a:xfrm>
            <a:off x="2270125" y="2212975"/>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6555A91-3CCD-4A94-9948-ED3CB7D55CB6}" type="datetime'''''''''''''''''0''.''''''''29'''">
              <a:rPr lang="en-US" sz="1400">
                <a:solidFill>
                  <a:schemeClr val="accent1"/>
                </a:solidFill>
                <a:latin typeface="Arial"/>
                <a:sym typeface="Arial"/>
              </a:rPr>
              <a:pPr marL="0" indent="0" algn="ctr">
                <a:spcBef>
                  <a:spcPct val="0"/>
                </a:spcBef>
                <a:spcAft>
                  <a:spcPct val="0"/>
                </a:spcAft>
                <a:buNone/>
              </a:pPr>
              <a:t>0.29</a:t>
            </a:fld>
            <a:endParaRPr lang="en-US" sz="1400" dirty="0">
              <a:solidFill>
                <a:schemeClr val="accent1"/>
              </a:solidFill>
              <a:latin typeface="Arial"/>
              <a:sym typeface="Arial"/>
            </a:endParaRPr>
          </a:p>
        </p:txBody>
      </p:sp>
      <p:sp>
        <p:nvSpPr>
          <p:cNvPr id="66" name="Text Placeholder 51"/>
          <p:cNvSpPr>
            <a:spLocks noGrp="1"/>
          </p:cNvSpPr>
          <p:nvPr>
            <p:custDataLst>
              <p:tags r:id="rId30"/>
            </p:custDataLst>
          </p:nvPr>
        </p:nvSpPr>
        <p:spPr bwMode="auto">
          <a:xfrm>
            <a:off x="1179513" y="4733925"/>
            <a:ext cx="928688"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4A4FFDB8-A1DB-48EE-B1C6-4078B0631B3C}" type="datetime'''Cof''f''''''ee'''''' co''n''''''tr''ib''''''''uti''''''on'">
              <a:rPr lang="en-US" sz="1400">
                <a:solidFill>
                  <a:schemeClr val="accent1"/>
                </a:solidFill>
              </a:rPr>
              <a:pPr/>
              <a:t>Coffee contribution</a:t>
            </a:fld>
            <a:endParaRPr lang="en-US" sz="1400" dirty="0">
              <a:solidFill>
                <a:schemeClr val="accent1"/>
              </a:solidFill>
              <a:latin typeface="Arial"/>
              <a:sym typeface="Arial"/>
            </a:endParaRPr>
          </a:p>
        </p:txBody>
      </p:sp>
      <p:sp useBgFill="1">
        <p:nvSpPr>
          <p:cNvPr id="89" name="Text Placeholder 54"/>
          <p:cNvSpPr>
            <a:spLocks noGrp="1"/>
          </p:cNvSpPr>
          <p:nvPr>
            <p:custDataLst>
              <p:tags r:id="rId31"/>
            </p:custDataLst>
          </p:nvPr>
        </p:nvSpPr>
        <p:spPr bwMode="gray">
          <a:xfrm>
            <a:off x="1446213" y="1955800"/>
            <a:ext cx="395288" cy="212725"/>
          </a:xfrm>
          <a:prstGeom prst="rect">
            <a:avLst/>
          </a:prstGeom>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5C34016-5474-485B-81BD-3F7910B3B87E}" type="datetime'''''''''0.''''''''0''''''''''''''6'''''''''''''">
              <a:rPr lang="en-US" sz="1400">
                <a:solidFill>
                  <a:schemeClr val="accent1"/>
                </a:solidFill>
                <a:latin typeface="Arial"/>
                <a:sym typeface="Arial"/>
              </a:rPr>
              <a:pPr marL="0" indent="0" algn="ctr">
                <a:spcBef>
                  <a:spcPct val="0"/>
                </a:spcBef>
                <a:spcAft>
                  <a:spcPct val="0"/>
                </a:spcAft>
                <a:buNone/>
              </a:pPr>
              <a:t>0.06</a:t>
            </a:fld>
            <a:endParaRPr lang="en-US" sz="1400" dirty="0">
              <a:solidFill>
                <a:schemeClr val="accent1"/>
              </a:solidFill>
              <a:latin typeface="Arial"/>
              <a:sym typeface="Arial"/>
            </a:endParaRPr>
          </a:p>
        </p:txBody>
      </p:sp>
      <p:sp>
        <p:nvSpPr>
          <p:cNvPr id="63" name="Text Placeholder 50"/>
          <p:cNvSpPr>
            <a:spLocks noGrp="1"/>
          </p:cNvSpPr>
          <p:nvPr>
            <p:custDataLst>
              <p:tags r:id="rId32"/>
            </p:custDataLst>
          </p:nvPr>
        </p:nvSpPr>
        <p:spPr bwMode="auto">
          <a:xfrm>
            <a:off x="552450" y="4733925"/>
            <a:ext cx="525463" cy="4254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FD94DF2-13C3-49FD-A398-E174E71D3A67}" type="datetime'Exp''''''o''rt ''''''''''''''p''''r''''i''c''''''''''e'''''">
              <a:rPr lang="en-US" sz="1400" smtClean="0">
                <a:solidFill>
                  <a:schemeClr val="accent1"/>
                </a:solidFill>
              </a:rPr>
              <a:pPr/>
              <a:t>Export price</a:t>
            </a:fld>
            <a:r>
              <a:rPr lang="en-US" sz="1400" dirty="0" smtClean="0">
                <a:solidFill>
                  <a:schemeClr val="accent1"/>
                </a:solidFill>
              </a:rPr>
              <a:t>*</a:t>
            </a:r>
            <a:endParaRPr lang="en-US" sz="1400" dirty="0">
              <a:solidFill>
                <a:schemeClr val="accent1"/>
              </a:solidFill>
              <a:latin typeface="Arial"/>
              <a:sym typeface="Arial"/>
            </a:endParaRPr>
          </a:p>
        </p:txBody>
      </p:sp>
      <p:sp>
        <p:nvSpPr>
          <p:cNvPr id="38" name="Text Placeholder 27"/>
          <p:cNvSpPr>
            <a:spLocks noGrp="1"/>
          </p:cNvSpPr>
          <p:nvPr>
            <p:custDataLst>
              <p:tags r:id="rId33"/>
            </p:custDataLst>
          </p:nvPr>
        </p:nvSpPr>
        <p:spPr bwMode="gray">
          <a:xfrm>
            <a:off x="617538" y="1781175"/>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C3555DAA-008A-4855-A993-B1E295311563}" type="datetime'''''''''''1.''''''''''''''7''''''''4'">
              <a:rPr lang="en-US" sz="1400">
                <a:solidFill>
                  <a:schemeClr val="accent1"/>
                </a:solidFill>
                <a:latin typeface="Arial"/>
                <a:sym typeface="Arial"/>
              </a:rPr>
              <a:pPr marL="0" indent="0" algn="ctr">
                <a:spcBef>
                  <a:spcPct val="0"/>
                </a:spcBef>
                <a:spcAft>
                  <a:spcPct val="0"/>
                </a:spcAft>
                <a:buNone/>
              </a:pPr>
              <a:t>1.74</a:t>
            </a:fld>
            <a:endParaRPr lang="en-US" sz="1400" dirty="0">
              <a:solidFill>
                <a:schemeClr val="accent1"/>
              </a:solidFill>
              <a:latin typeface="Arial"/>
              <a:sym typeface="Arial"/>
            </a:endParaRPr>
          </a:p>
        </p:txBody>
      </p:sp>
      <p:sp>
        <p:nvSpPr>
          <p:cNvPr id="45" name="TextBox 44"/>
          <p:cNvSpPr txBox="1"/>
          <p:nvPr/>
        </p:nvSpPr>
        <p:spPr>
          <a:xfrm>
            <a:off x="4533900" y="5453063"/>
            <a:ext cx="4264412" cy="307777"/>
          </a:xfrm>
          <a:prstGeom prst="rect">
            <a:avLst/>
          </a:prstGeom>
          <a:noFill/>
        </p:spPr>
        <p:txBody>
          <a:bodyPr wrap="square" rtlCol="0">
            <a:spAutoFit/>
          </a:bodyPr>
          <a:lstStyle/>
          <a:p>
            <a:pPr algn="ctr"/>
            <a:r>
              <a:rPr lang="en-US" sz="1400" i="1" dirty="0" smtClean="0">
                <a:solidFill>
                  <a:schemeClr val="accent1"/>
                </a:solidFill>
              </a:rPr>
              <a:t>Cash cost of production</a:t>
            </a:r>
            <a:endParaRPr lang="en-US" sz="1400" i="1" dirty="0">
              <a:solidFill>
                <a:schemeClr val="accent1"/>
              </a:solidFill>
            </a:endParaRPr>
          </a:p>
        </p:txBody>
      </p:sp>
      <p:cxnSp>
        <p:nvCxnSpPr>
          <p:cNvPr id="12" name="Straight Connector 11"/>
          <p:cNvCxnSpPr/>
          <p:nvPr/>
        </p:nvCxnSpPr>
        <p:spPr>
          <a:xfrm>
            <a:off x="4592638" y="5449888"/>
            <a:ext cx="42056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87323" y="5449888"/>
            <a:ext cx="3157924"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486976" y="5453063"/>
            <a:ext cx="3218249" cy="307777"/>
          </a:xfrm>
          <a:prstGeom prst="rect">
            <a:avLst/>
          </a:prstGeom>
          <a:noFill/>
        </p:spPr>
        <p:txBody>
          <a:bodyPr wrap="square" rtlCol="0">
            <a:spAutoFit/>
          </a:bodyPr>
          <a:lstStyle/>
          <a:p>
            <a:pPr algn="ctr"/>
            <a:r>
              <a:rPr lang="en-US" sz="1400" i="1" dirty="0" smtClean="0">
                <a:solidFill>
                  <a:schemeClr val="accent1"/>
                </a:solidFill>
              </a:rPr>
              <a:t>Farm to export costs</a:t>
            </a:r>
            <a:endParaRPr lang="en-US" sz="1400" i="1" dirty="0">
              <a:solidFill>
                <a:schemeClr val="accent1"/>
              </a:solidFill>
            </a:endParaRPr>
          </a:p>
        </p:txBody>
      </p:sp>
      <p:sp>
        <p:nvSpPr>
          <p:cNvPr id="51" name="Rectangle 50"/>
          <p:cNvSpPr/>
          <p:nvPr/>
        </p:nvSpPr>
        <p:spPr>
          <a:xfrm>
            <a:off x="6191249" y="1768398"/>
            <a:ext cx="1647825" cy="3572586"/>
          </a:xfrm>
          <a:prstGeom prst="rect">
            <a:avLst/>
          </a:prstGeom>
          <a:no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6276973" y="1857606"/>
            <a:ext cx="1427357" cy="517065"/>
          </a:xfrm>
          <a:prstGeom prst="rect">
            <a:avLst/>
          </a:prstGeom>
          <a:noFill/>
        </p:spPr>
        <p:txBody>
          <a:bodyPr wrap="square" lIns="0" tIns="0" rIns="0" bIns="0" rtlCol="0">
            <a:spAutoFit/>
          </a:bodyPr>
          <a:lstStyle/>
          <a:p>
            <a:pPr>
              <a:lnSpc>
                <a:spcPct val="80000"/>
              </a:lnSpc>
            </a:pPr>
            <a:r>
              <a:rPr lang="en-US" sz="1400" i="1" dirty="0" smtClean="0">
                <a:solidFill>
                  <a:schemeClr val="accent1"/>
                </a:solidFill>
              </a:rPr>
              <a:t>Focus of improving farming efficiencies</a:t>
            </a:r>
            <a:endParaRPr lang="en-US" sz="1400" i="1" dirty="0">
              <a:solidFill>
                <a:schemeClr val="accent1"/>
              </a:solidFill>
            </a:endParaRPr>
          </a:p>
        </p:txBody>
      </p:sp>
      <p:sp>
        <p:nvSpPr>
          <p:cNvPr id="48" name="Oval 47"/>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2</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70610120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extLst>
              <p:ext uri="{D42A27DB-BD31-4B8C-83A1-F6EECF244321}">
                <p14:modId xmlns:p14="http://schemas.microsoft.com/office/powerpoint/2010/main" val="3602985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36934" name="think-cell Slide" r:id="rId32" imgW="270" imgH="270" progId="TCLayout.ActiveDocument.1">
                  <p:embed/>
                </p:oleObj>
              </mc:Choice>
              <mc:Fallback>
                <p:oleObj name="think-cell Slide" r:id="rId32" imgW="270" imgH="270" progId="TCLayout.ActiveDocument.1">
                  <p:embed/>
                  <p:pic>
                    <p:nvPicPr>
                      <p:cNvPr id="0" name=""/>
                      <p:cNvPicPr/>
                      <p:nvPr/>
                    </p:nvPicPr>
                    <p:blipFill>
                      <a:blip r:embed="rId33"/>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14" name="Rectangle 13"/>
          <p:cNvSpPr/>
          <p:nvPr/>
        </p:nvSpPr>
        <p:spPr>
          <a:xfrm>
            <a:off x="109182" y="2911436"/>
            <a:ext cx="8898340" cy="1336714"/>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McK Footnote"/>
          <p:cNvSpPr txBox="1">
            <a:spLocks noChangeArrowheads="1"/>
          </p:cNvSpPr>
          <p:nvPr/>
        </p:nvSpPr>
        <p:spPr bwMode="auto">
          <a:xfrm>
            <a:off x="686046" y="5408955"/>
            <a:ext cx="6986342" cy="1231106"/>
          </a:xfrm>
          <a:prstGeom prst="rect">
            <a:avLst/>
          </a:prstGeom>
          <a:noFill/>
          <a:ln w="9525">
            <a:noFill/>
            <a:miter lim="800000"/>
            <a:headEnd/>
            <a:tailEnd/>
          </a:ln>
        </p:spPr>
        <p:txBody>
          <a:bodyPr wrap="square" lIns="0" tIns="0" rIns="0" bIns="0" anchor="b">
            <a:spAutoFit/>
          </a:bodyPr>
          <a:lstStyle/>
          <a:p>
            <a:pPr defTabSz="895350">
              <a:tabLst>
                <a:tab pos="517525" algn="r"/>
              </a:tabLst>
            </a:pPr>
            <a:r>
              <a:rPr lang="en-US" sz="800" dirty="0" smtClean="0">
                <a:solidFill>
                  <a:schemeClr val="tx1">
                    <a:lumMod val="65000"/>
                    <a:lumOff val="35000"/>
                  </a:schemeClr>
                </a:solidFill>
                <a:cs typeface="Arial"/>
              </a:rPr>
              <a:t>¹ Assumes three rounds per year at rate of 1,200 trees per worker per day</a:t>
            </a:r>
          </a:p>
          <a:p>
            <a:pPr defTabSz="895350">
              <a:tabLst>
                <a:tab pos="517525" algn="r"/>
              </a:tabLst>
            </a:pPr>
            <a:r>
              <a:rPr lang="en-US" sz="800" dirty="0" smtClean="0">
                <a:solidFill>
                  <a:schemeClr val="tx1">
                    <a:lumMod val="65000"/>
                    <a:lumOff val="35000"/>
                  </a:schemeClr>
                </a:solidFill>
                <a:cs typeface="Arial"/>
              </a:rPr>
              <a:t>² Assumes two rounds per year at rate of 1,000 trees per worker per day</a:t>
            </a:r>
          </a:p>
          <a:p>
            <a:pPr defTabSz="895350">
              <a:tabLst>
                <a:tab pos="517525" algn="r"/>
              </a:tabLst>
            </a:pPr>
            <a:r>
              <a:rPr lang="en-US" sz="800" dirty="0" smtClean="0">
                <a:solidFill>
                  <a:schemeClr val="tx1">
                    <a:lumMod val="65000"/>
                    <a:lumOff val="35000"/>
                  </a:schemeClr>
                </a:solidFill>
                <a:cs typeface="Arial"/>
              </a:rPr>
              <a:t>³ During main crop, assumes 80 kg/day (cherry) x 1.5 workers x 60 harvest days; during </a:t>
            </a:r>
            <a:r>
              <a:rPr lang="en-US" sz="800" i="1" dirty="0" err="1" smtClean="0">
                <a:solidFill>
                  <a:schemeClr val="tx1">
                    <a:lumMod val="65000"/>
                    <a:lumOff val="35000"/>
                  </a:schemeClr>
                </a:solidFill>
                <a:cs typeface="Arial"/>
              </a:rPr>
              <a:t>mitaca</a:t>
            </a:r>
            <a:r>
              <a:rPr lang="en-US" sz="800" dirty="0" smtClean="0">
                <a:solidFill>
                  <a:schemeClr val="tx1">
                    <a:lumMod val="65000"/>
                    <a:lumOff val="35000"/>
                  </a:schemeClr>
                </a:solidFill>
                <a:cs typeface="Arial"/>
              </a:rPr>
              <a:t>, assumes 35 kg/day x 0.5 workers x 60 harvest days</a:t>
            </a:r>
          </a:p>
          <a:p>
            <a:pPr defTabSz="895350">
              <a:tabLst>
                <a:tab pos="517525" algn="r"/>
              </a:tabLst>
            </a:pPr>
            <a:r>
              <a:rPr lang="en-US" sz="800" baseline="30000" dirty="0" smtClean="0">
                <a:solidFill>
                  <a:schemeClr val="tx1">
                    <a:lumMod val="65000"/>
                    <a:lumOff val="35000"/>
                  </a:schemeClr>
                </a:solidFill>
              </a:rPr>
              <a:t>4</a:t>
            </a:r>
            <a:r>
              <a:rPr lang="en-US" sz="800" dirty="0" smtClean="0">
                <a:solidFill>
                  <a:schemeClr val="tx1">
                    <a:lumMod val="65000"/>
                    <a:lumOff val="35000"/>
                  </a:schemeClr>
                </a:solidFill>
                <a:cs typeface="Arial"/>
              </a:rPr>
              <a:t> During main crop, assumes 60 days of pulping/washing/drying at 5 hours/day, plus 15 days after harvest for final drying and transport at 2 hours/day; during </a:t>
            </a:r>
            <a:r>
              <a:rPr lang="en-US" sz="800" i="1" dirty="0" err="1" smtClean="0">
                <a:solidFill>
                  <a:schemeClr val="tx1">
                    <a:lumMod val="65000"/>
                    <a:lumOff val="35000"/>
                  </a:schemeClr>
                </a:solidFill>
                <a:cs typeface="Arial"/>
              </a:rPr>
              <a:t>mitaca</a:t>
            </a:r>
            <a:r>
              <a:rPr lang="en-US" sz="800" dirty="0" smtClean="0">
                <a:solidFill>
                  <a:schemeClr val="tx1">
                    <a:lumMod val="65000"/>
                    <a:lumOff val="35000"/>
                  </a:schemeClr>
                </a:solidFill>
                <a:cs typeface="Arial"/>
              </a:rPr>
              <a:t>, assumes 60 days of pulping/washing/drying at 2.25 hours/day, plus 15 days after harvest for final drying and transport at 1 hour/day</a:t>
            </a:r>
          </a:p>
          <a:p>
            <a:pPr defTabSz="895350">
              <a:tabLst>
                <a:tab pos="517525" algn="r"/>
              </a:tabLst>
            </a:pPr>
            <a:r>
              <a:rPr lang="en-US" sz="800" baseline="30000" dirty="0" smtClean="0">
                <a:solidFill>
                  <a:schemeClr val="tx1">
                    <a:lumMod val="65000"/>
                    <a:lumOff val="35000"/>
                  </a:schemeClr>
                </a:solidFill>
              </a:rPr>
              <a:t>5</a:t>
            </a:r>
            <a:r>
              <a:rPr lang="en-US" sz="800" dirty="0" smtClean="0">
                <a:solidFill>
                  <a:schemeClr val="tx1">
                    <a:lumMod val="65000"/>
                    <a:lumOff val="35000"/>
                  </a:schemeClr>
                </a:solidFill>
                <a:cs typeface="Arial"/>
              </a:rPr>
              <a:t> Includes replanting, pest control, shade management, erosion control, and transport</a:t>
            </a:r>
            <a:endParaRPr lang="en-US" sz="800" dirty="0" smtClean="0">
              <a:solidFill>
                <a:schemeClr val="tx1">
                  <a:lumMod val="65000"/>
                  <a:lumOff val="35000"/>
                </a:schemeClr>
              </a:solidFill>
            </a:endParaRPr>
          </a:p>
          <a:p>
            <a:pPr defTabSz="895350">
              <a:tabLst>
                <a:tab pos="517525" algn="r"/>
              </a:tabLst>
            </a:pPr>
            <a:endParaRPr lang="en-US" sz="800" dirty="0" smtClean="0">
              <a:solidFill>
                <a:schemeClr val="tx1">
                  <a:lumMod val="65000"/>
                  <a:lumOff val="35000"/>
                </a:schemeClr>
              </a:solidFill>
            </a:endParaRPr>
          </a:p>
          <a:p>
            <a:pPr defTabSz="895350">
              <a:tabLst>
                <a:tab pos="517525" algn="r"/>
              </a:tabLst>
            </a:pPr>
            <a:endParaRPr lang="en-US" sz="800" dirty="0" smtClean="0">
              <a:solidFill>
                <a:schemeClr val="tx1">
                  <a:lumMod val="65000"/>
                  <a:lumOff val="35000"/>
                </a:schemeClr>
              </a:solidFill>
            </a:endParaRPr>
          </a:p>
          <a:p>
            <a:pPr defTabSz="895350">
              <a:tabLst>
                <a:tab pos="517525" algn="r"/>
              </a:tabLst>
            </a:pPr>
            <a:r>
              <a:rPr lang="en-US" sz="800" dirty="0">
                <a:solidFill>
                  <a:schemeClr val="tx1">
                    <a:lumMod val="65000"/>
                    <a:lumOff val="35000"/>
                  </a:schemeClr>
                </a:solidFill>
                <a:cs typeface="Arial"/>
              </a:rPr>
              <a:t>NOTE: Modeled on 2 ha farm with 5,000 trees per ha and yield of 850 kg/ha green</a:t>
            </a:r>
            <a:endParaRPr lang="en-US" sz="800" dirty="0" smtClean="0">
              <a:solidFill>
                <a:schemeClr val="tx1">
                  <a:lumMod val="65000"/>
                  <a:lumOff val="35000"/>
                </a:schemeClr>
              </a:solidFill>
            </a:endParaRPr>
          </a:p>
          <a:p>
            <a:pPr marL="563563" indent="-563563" defTabSz="895350">
              <a:tabLst>
                <a:tab pos="517525" algn="r"/>
              </a:tabLst>
            </a:pPr>
            <a:r>
              <a:rPr lang="en-US" sz="800" dirty="0" smtClean="0">
                <a:solidFill>
                  <a:schemeClr val="tx1">
                    <a:lumMod val="65000"/>
                    <a:lumOff val="35000"/>
                  </a:schemeClr>
                </a:solidFill>
              </a:rPr>
              <a:t>Source: CRECE, interviews, TechnoServe analysis</a:t>
            </a:r>
          </a:p>
        </p:txBody>
      </p:sp>
      <p:sp>
        <p:nvSpPr>
          <p:cNvPr id="7" name="Title 6"/>
          <p:cNvSpPr>
            <a:spLocks noGrp="1"/>
          </p:cNvSpPr>
          <p:nvPr>
            <p:ph type="title"/>
          </p:nvPr>
        </p:nvSpPr>
        <p:spPr>
          <a:xfrm>
            <a:off x="400869" y="312738"/>
            <a:ext cx="8229600" cy="761319"/>
          </a:xfrm>
        </p:spPr>
        <p:txBody>
          <a:bodyPr/>
          <a:lstStyle/>
          <a:p>
            <a:pPr marL="268288"/>
            <a:r>
              <a:rPr lang="en-US" b="0" dirty="0" smtClean="0"/>
              <a:t>Harvesting and home wet-milling comprise 70% of total on-farm labor requirements</a:t>
            </a:r>
            <a:endParaRPr lang="en-US" b="0" dirty="0"/>
          </a:p>
        </p:txBody>
      </p:sp>
      <p:grpSp>
        <p:nvGrpSpPr>
          <p:cNvPr id="12" name="Group 11"/>
          <p:cNvGrpSpPr/>
          <p:nvPr/>
        </p:nvGrpSpPr>
        <p:grpSpPr>
          <a:xfrm>
            <a:off x="1335089" y="1169988"/>
            <a:ext cx="1548119" cy="430887"/>
            <a:chOff x="-1292313" y="1572203"/>
            <a:chExt cx="2126801" cy="430887"/>
          </a:xfrm>
        </p:grpSpPr>
        <p:cxnSp>
          <p:nvCxnSpPr>
            <p:cNvPr id="23" name="Straight Connector 22"/>
            <p:cNvCxnSpPr/>
            <p:nvPr/>
          </p:nvCxnSpPr>
          <p:spPr bwMode="auto">
            <a:xfrm>
              <a:off x="-1292313" y="1999834"/>
              <a:ext cx="201168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sp>
          <p:nvSpPr>
            <p:cNvPr id="24" name="Rectangle 8"/>
            <p:cNvSpPr>
              <a:spLocks noChangeArrowheads="1"/>
            </p:cNvSpPr>
            <p:nvPr/>
          </p:nvSpPr>
          <p:spPr bwMode="auto">
            <a:xfrm>
              <a:off x="-1292313" y="1572203"/>
              <a:ext cx="2126801" cy="430887"/>
            </a:xfrm>
            <a:prstGeom prst="rect">
              <a:avLst/>
            </a:prstGeom>
            <a:noFill/>
            <a:ln w="9525">
              <a:noFill/>
              <a:miter lim="800000"/>
              <a:headEnd/>
              <a:tailEnd/>
            </a:ln>
            <a:effectLst/>
          </p:spPr>
          <p:txBody>
            <a:bodyPr wrap="square" lIns="0" tIns="0" rIns="0" bIns="0" anchor="t" anchorCtr="0">
              <a:spAutoFit/>
            </a:bodyPr>
            <a:lstStyle/>
            <a:p>
              <a:pPr defTabSz="895255">
                <a:buSzPct val="120000"/>
              </a:pPr>
              <a:r>
                <a:rPr lang="en-US" sz="1400" b="1" dirty="0" smtClean="0">
                  <a:solidFill>
                    <a:schemeClr val="accent1"/>
                  </a:solidFill>
                </a:rPr>
                <a:t>Est. work days </a:t>
              </a:r>
            </a:p>
            <a:p>
              <a:pPr defTabSz="895255">
                <a:buSzPct val="120000"/>
              </a:pPr>
              <a:r>
                <a:rPr lang="en-US" sz="1400" b="1" dirty="0" smtClean="0">
                  <a:solidFill>
                    <a:schemeClr val="accent1"/>
                  </a:solidFill>
                </a:rPr>
                <a:t>per year</a:t>
              </a:r>
              <a:endParaRPr lang="en-US" sz="1400" dirty="0" smtClean="0">
                <a:solidFill>
                  <a:schemeClr val="accent1"/>
                </a:solidFill>
              </a:endParaRPr>
            </a:p>
          </p:txBody>
        </p:sp>
      </p:grpSp>
      <p:grpSp>
        <p:nvGrpSpPr>
          <p:cNvPr id="31" name="Group 143"/>
          <p:cNvGrpSpPr>
            <a:grpSpLocks/>
          </p:cNvGrpSpPr>
          <p:nvPr/>
        </p:nvGrpSpPr>
        <p:grpSpPr bwMode="auto">
          <a:xfrm>
            <a:off x="4523427" y="1366838"/>
            <a:ext cx="258264" cy="255167"/>
            <a:chOff x="1931" y="1337"/>
            <a:chExt cx="166" cy="164"/>
          </a:xfrm>
        </p:grpSpPr>
        <p:sp>
          <p:nvSpPr>
            <p:cNvPr id="33" name="Oval 144"/>
            <p:cNvSpPr>
              <a:spLocks noChangeArrowheads="1"/>
            </p:cNvSpPr>
            <p:nvPr/>
          </p:nvSpPr>
          <p:spPr bwMode="auto">
            <a:xfrm flipV="1">
              <a:off x="1931" y="1337"/>
              <a:ext cx="166" cy="164"/>
            </a:xfrm>
            <a:prstGeom prst="ellipse">
              <a:avLst/>
            </a:prstGeom>
            <a:solidFill>
              <a:schemeClr val="bg1"/>
            </a:solidFill>
            <a:ln w="9525">
              <a:solidFill>
                <a:schemeClr val="accent1"/>
              </a:solidFill>
              <a:round/>
              <a:headEnd/>
              <a:tailEnd/>
            </a:ln>
            <a:effectLst>
              <a:outerShdw dist="17961" dir="2700000" algn="ctr" rotWithShape="0">
                <a:schemeClr val="bg2"/>
              </a:outerShdw>
            </a:effectLst>
          </p:spPr>
          <p:txBody>
            <a:bodyPr wrap="none" anchor="ctr"/>
            <a:lstStyle/>
            <a:p>
              <a:endParaRPr lang="en-US" sz="1200">
                <a:solidFill>
                  <a:schemeClr val="accent1"/>
                </a:solidFill>
              </a:endParaRPr>
            </a:p>
          </p:txBody>
        </p:sp>
        <p:sp>
          <p:nvSpPr>
            <p:cNvPr id="34" name="Rectangle 145"/>
            <p:cNvSpPr>
              <a:spLocks noChangeArrowheads="1"/>
            </p:cNvSpPr>
            <p:nvPr/>
          </p:nvSpPr>
          <p:spPr bwMode="auto">
            <a:xfrm flipV="1">
              <a:off x="1971" y="1389"/>
              <a:ext cx="86" cy="17"/>
            </a:xfrm>
            <a:prstGeom prst="rect">
              <a:avLst/>
            </a:prstGeom>
            <a:solidFill>
              <a:schemeClr val="accent1"/>
            </a:solidFill>
            <a:ln w="3175">
              <a:solidFill>
                <a:schemeClr val="accent1"/>
              </a:solidFill>
              <a:miter lim="800000"/>
              <a:headEnd/>
              <a:tailEnd/>
            </a:ln>
            <a:effectLst/>
          </p:spPr>
          <p:txBody>
            <a:bodyPr wrap="none" anchor="ctr"/>
            <a:lstStyle/>
            <a:p>
              <a:endParaRPr lang="en-US" sz="1200">
                <a:solidFill>
                  <a:schemeClr val="accent1"/>
                </a:solidFill>
              </a:endParaRPr>
            </a:p>
          </p:txBody>
        </p:sp>
        <p:sp>
          <p:nvSpPr>
            <p:cNvPr id="35" name="Rectangle 146"/>
            <p:cNvSpPr>
              <a:spLocks noChangeArrowheads="1"/>
            </p:cNvSpPr>
            <p:nvPr/>
          </p:nvSpPr>
          <p:spPr bwMode="auto">
            <a:xfrm flipV="1">
              <a:off x="1971" y="1432"/>
              <a:ext cx="86" cy="17"/>
            </a:xfrm>
            <a:prstGeom prst="rect">
              <a:avLst/>
            </a:prstGeom>
            <a:solidFill>
              <a:schemeClr val="accent1"/>
            </a:solidFill>
            <a:ln w="3175">
              <a:solidFill>
                <a:schemeClr val="accent1"/>
              </a:solidFill>
              <a:miter lim="800000"/>
              <a:headEnd/>
              <a:tailEnd/>
            </a:ln>
            <a:effectLst/>
          </p:spPr>
          <p:txBody>
            <a:bodyPr wrap="none" anchor="ctr"/>
            <a:lstStyle/>
            <a:p>
              <a:endParaRPr lang="en-US" sz="1200">
                <a:solidFill>
                  <a:schemeClr val="accent1"/>
                </a:solidFill>
              </a:endParaRPr>
            </a:p>
          </p:txBody>
        </p:sp>
      </p:grpSp>
      <p:grpSp>
        <p:nvGrpSpPr>
          <p:cNvPr id="13" name="Group 12"/>
          <p:cNvGrpSpPr/>
          <p:nvPr/>
        </p:nvGrpSpPr>
        <p:grpSpPr>
          <a:xfrm>
            <a:off x="3246746" y="1169988"/>
            <a:ext cx="1251972" cy="430887"/>
            <a:chOff x="1452474" y="1572203"/>
            <a:chExt cx="2110433" cy="430887"/>
          </a:xfrm>
        </p:grpSpPr>
        <p:sp>
          <p:nvSpPr>
            <p:cNvPr id="25" name="Rectangle 13"/>
            <p:cNvSpPr>
              <a:spLocks noChangeArrowheads="1"/>
            </p:cNvSpPr>
            <p:nvPr/>
          </p:nvSpPr>
          <p:spPr bwMode="auto">
            <a:xfrm>
              <a:off x="1452474" y="1572203"/>
              <a:ext cx="2110433" cy="430887"/>
            </a:xfrm>
            <a:prstGeom prst="rect">
              <a:avLst/>
            </a:prstGeom>
            <a:noFill/>
            <a:ln w="9525">
              <a:noFill/>
              <a:miter lim="800000"/>
              <a:headEnd/>
              <a:tailEnd/>
            </a:ln>
            <a:effectLst/>
          </p:spPr>
          <p:txBody>
            <a:bodyPr wrap="square" lIns="0" tIns="0" rIns="0" bIns="0" anchor="t" anchorCtr="0">
              <a:spAutoFit/>
            </a:bodyPr>
            <a:lstStyle/>
            <a:p>
              <a:pPr defTabSz="895255">
                <a:buSzPct val="120000"/>
              </a:pPr>
              <a:r>
                <a:rPr lang="en-US" sz="1400" b="1" dirty="0" smtClean="0">
                  <a:solidFill>
                    <a:schemeClr val="accent1"/>
                  </a:solidFill>
                </a:rPr>
                <a:t>Allocation of</a:t>
              </a:r>
            </a:p>
            <a:p>
              <a:pPr defTabSz="895255">
                <a:buSzPct val="120000"/>
              </a:pPr>
              <a:r>
                <a:rPr lang="en-US" sz="1400" b="1" dirty="0" smtClean="0">
                  <a:solidFill>
                    <a:schemeClr val="accent1"/>
                  </a:solidFill>
                </a:rPr>
                <a:t>total work day</a:t>
              </a:r>
              <a:endParaRPr lang="en-US" sz="1400" dirty="0">
                <a:solidFill>
                  <a:schemeClr val="accent1"/>
                </a:solidFill>
              </a:endParaRPr>
            </a:p>
          </p:txBody>
        </p:sp>
        <p:cxnSp>
          <p:nvCxnSpPr>
            <p:cNvPr id="36" name="Straight Connector 35"/>
            <p:cNvCxnSpPr/>
            <p:nvPr/>
          </p:nvCxnSpPr>
          <p:spPr bwMode="auto">
            <a:xfrm>
              <a:off x="1452474" y="1999834"/>
              <a:ext cx="201168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grpSp>
        <p:nvGrpSpPr>
          <p:cNvPr id="9" name="Group 8"/>
          <p:cNvGrpSpPr/>
          <p:nvPr/>
        </p:nvGrpSpPr>
        <p:grpSpPr>
          <a:xfrm>
            <a:off x="2888611" y="1366838"/>
            <a:ext cx="258264" cy="255167"/>
            <a:chOff x="1019087" y="1506121"/>
            <a:chExt cx="258264" cy="255167"/>
          </a:xfrm>
        </p:grpSpPr>
        <p:sp>
          <p:nvSpPr>
            <p:cNvPr id="29" name="Oval 140"/>
            <p:cNvSpPr>
              <a:spLocks noChangeArrowheads="1"/>
            </p:cNvSpPr>
            <p:nvPr/>
          </p:nvSpPr>
          <p:spPr bwMode="auto">
            <a:xfrm flipV="1">
              <a:off x="1019087" y="1506121"/>
              <a:ext cx="258264" cy="255167"/>
            </a:xfrm>
            <a:prstGeom prst="ellipse">
              <a:avLst/>
            </a:prstGeom>
            <a:solidFill>
              <a:schemeClr val="bg1"/>
            </a:solidFill>
            <a:ln w="9525">
              <a:solidFill>
                <a:schemeClr val="accent1"/>
              </a:solidFill>
              <a:round/>
              <a:headEnd/>
              <a:tailEnd/>
            </a:ln>
            <a:effectLst>
              <a:outerShdw dist="17961" dir="2700000" algn="ctr" rotWithShape="0">
                <a:schemeClr val="bg2"/>
              </a:outerShdw>
            </a:effectLst>
          </p:spPr>
          <p:txBody>
            <a:bodyPr wrap="none" anchor="ctr"/>
            <a:lstStyle/>
            <a:p>
              <a:pPr algn="ctr"/>
              <a:endParaRPr lang="en-US" sz="1400" b="1" dirty="0">
                <a:solidFill>
                  <a:schemeClr val="accent1"/>
                </a:solidFill>
              </a:endParaRPr>
            </a:p>
          </p:txBody>
        </p:sp>
        <p:sp>
          <p:nvSpPr>
            <p:cNvPr id="4" name="Multiply 3"/>
            <p:cNvSpPr/>
            <p:nvPr/>
          </p:nvSpPr>
          <p:spPr>
            <a:xfrm>
              <a:off x="1068391" y="1540835"/>
              <a:ext cx="159657" cy="185738"/>
            </a:xfrm>
            <a:prstGeom prst="mathMultipl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p:cNvGrpSpPr/>
          <p:nvPr/>
        </p:nvGrpSpPr>
        <p:grpSpPr>
          <a:xfrm>
            <a:off x="4843463" y="1169988"/>
            <a:ext cx="1914525" cy="430887"/>
            <a:chOff x="1452474" y="1572203"/>
            <a:chExt cx="2110433" cy="430887"/>
          </a:xfrm>
        </p:grpSpPr>
        <p:sp>
          <p:nvSpPr>
            <p:cNvPr id="41" name="Rectangle 13"/>
            <p:cNvSpPr>
              <a:spLocks noChangeArrowheads="1"/>
            </p:cNvSpPr>
            <p:nvPr/>
          </p:nvSpPr>
          <p:spPr bwMode="auto">
            <a:xfrm>
              <a:off x="1452474" y="1572203"/>
              <a:ext cx="2110433" cy="430887"/>
            </a:xfrm>
            <a:prstGeom prst="rect">
              <a:avLst/>
            </a:prstGeom>
            <a:noFill/>
            <a:ln w="9525">
              <a:noFill/>
              <a:miter lim="800000"/>
              <a:headEnd/>
              <a:tailEnd/>
            </a:ln>
            <a:effectLst/>
          </p:spPr>
          <p:txBody>
            <a:bodyPr wrap="square" lIns="0" tIns="0" rIns="0" bIns="0" anchor="t" anchorCtr="0">
              <a:spAutoFit/>
            </a:bodyPr>
            <a:lstStyle/>
            <a:p>
              <a:pPr defTabSz="895255">
                <a:buSzPct val="120000"/>
              </a:pPr>
              <a:r>
                <a:rPr lang="en-US" sz="1400" b="1" dirty="0" smtClean="0">
                  <a:solidFill>
                    <a:schemeClr val="accent1"/>
                  </a:solidFill>
                </a:rPr>
                <a:t>Total labor days</a:t>
              </a:r>
            </a:p>
            <a:p>
              <a:pPr defTabSz="895255">
                <a:buSzPct val="120000"/>
              </a:pPr>
              <a:r>
                <a:rPr lang="en-US" sz="1400" dirty="0" smtClean="0">
                  <a:solidFill>
                    <a:schemeClr val="accent1"/>
                  </a:solidFill>
                </a:rPr>
                <a:t>(Full time equivalency)</a:t>
              </a:r>
              <a:endParaRPr lang="en-US" sz="1400" dirty="0">
                <a:solidFill>
                  <a:schemeClr val="accent1"/>
                </a:solidFill>
              </a:endParaRPr>
            </a:p>
          </p:txBody>
        </p:sp>
        <p:cxnSp>
          <p:nvCxnSpPr>
            <p:cNvPr id="42" name="Straight Connector 41"/>
            <p:cNvCxnSpPr/>
            <p:nvPr/>
          </p:nvCxnSpPr>
          <p:spPr bwMode="auto">
            <a:xfrm>
              <a:off x="1452474" y="1999834"/>
              <a:ext cx="201168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cxnSp>
        <p:nvCxnSpPr>
          <p:cNvPr id="55" name="Straight Connector 54"/>
          <p:cNvCxnSpPr/>
          <p:nvPr>
            <p:custDataLst>
              <p:tags r:id="rId4"/>
            </p:custDataLst>
          </p:nvPr>
        </p:nvCxnSpPr>
        <p:spPr bwMode="gray">
          <a:xfrm>
            <a:off x="5029200" y="2181225"/>
            <a:ext cx="0" cy="28575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54" name="Straight Connector 53"/>
          <p:cNvCxnSpPr/>
          <p:nvPr>
            <p:custDataLst>
              <p:tags r:id="rId5"/>
            </p:custDataLst>
          </p:nvPr>
        </p:nvCxnSpPr>
        <p:spPr bwMode="gray">
          <a:xfrm>
            <a:off x="5172075" y="2828925"/>
            <a:ext cx="0" cy="28575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50" name="Straight Connector 49"/>
          <p:cNvCxnSpPr/>
          <p:nvPr>
            <p:custDataLst>
              <p:tags r:id="rId6"/>
            </p:custDataLst>
          </p:nvPr>
        </p:nvCxnSpPr>
        <p:spPr bwMode="gray">
          <a:xfrm>
            <a:off x="6753225" y="4752975"/>
            <a:ext cx="0" cy="28575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52" name="Straight Connector 51"/>
          <p:cNvCxnSpPr/>
          <p:nvPr>
            <p:custDataLst>
              <p:tags r:id="rId7"/>
            </p:custDataLst>
          </p:nvPr>
        </p:nvCxnSpPr>
        <p:spPr bwMode="gray">
          <a:xfrm>
            <a:off x="6515100" y="4105275"/>
            <a:ext cx="0" cy="28575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53" name="Straight Connector 52"/>
          <p:cNvCxnSpPr/>
          <p:nvPr>
            <p:custDataLst>
              <p:tags r:id="rId8"/>
            </p:custDataLst>
          </p:nvPr>
        </p:nvCxnSpPr>
        <p:spPr bwMode="gray">
          <a:xfrm>
            <a:off x="6067425" y="3467100"/>
            <a:ext cx="0" cy="285750"/>
          </a:xfrm>
          <a:prstGeom prst="line">
            <a:avLst/>
          </a:prstGeom>
          <a:solidFill>
            <a:schemeClr val="accent1"/>
          </a:solidFill>
          <a:ln w="3175" cap="flat" cmpd="sng" algn="ctr">
            <a:solidFill>
              <a:srgbClr val="D52B1E"/>
            </a:solidFill>
            <a:prstDash val="lgDash"/>
            <a:round/>
            <a:headEnd type="none" w="med" len="med"/>
            <a:tailEnd type="none" w="med" len="med"/>
          </a:ln>
          <a:effectLst/>
        </p:spPr>
      </p:cxnSp>
      <p:graphicFrame>
        <p:nvGraphicFramePr>
          <p:cNvPr id="56" name="Object 55"/>
          <p:cNvGraphicFramePr>
            <a:graphicFrameLocks/>
          </p:cNvGraphicFramePr>
          <p:nvPr>
            <p:custDataLst>
              <p:tags r:id="rId9"/>
            </p:custDataLst>
            <p:extLst>
              <p:ext uri="{D42A27DB-BD31-4B8C-83A1-F6EECF244321}">
                <p14:modId xmlns:p14="http://schemas.microsoft.com/office/powerpoint/2010/main" val="3698430636"/>
              </p:ext>
            </p:extLst>
          </p:nvPr>
        </p:nvGraphicFramePr>
        <p:xfrm>
          <a:off x="4724400" y="1562100"/>
          <a:ext cx="2133600" cy="4076790"/>
        </p:xfrm>
        <a:graphic>
          <a:graphicData uri="http://schemas.openxmlformats.org/presentationml/2006/ole">
            <mc:AlternateContent xmlns:mc="http://schemas.openxmlformats.org/markup-compatibility/2006">
              <mc:Choice xmlns:v="urn:schemas-microsoft-com:vml" Requires="v">
                <p:oleObj spid="_x0000_s236935" name="Chart" r:id="rId34" imgW="2133600" imgH="4076790" progId="MSGraph.Chart.8">
                  <p:embed followColorScheme="full"/>
                </p:oleObj>
              </mc:Choice>
              <mc:Fallback>
                <p:oleObj name="Chart" r:id="rId34" imgW="2133600" imgH="4076790" progId="MSGraph.Chart.8">
                  <p:embed followColorScheme="full"/>
                  <p:pic>
                    <p:nvPicPr>
                      <p:cNvPr id="0" name=""/>
                      <p:cNvPicPr/>
                      <p:nvPr/>
                    </p:nvPicPr>
                    <p:blipFill>
                      <a:blip r:embed="rId35"/>
                      <a:stretch>
                        <a:fillRect/>
                      </a:stretch>
                    </p:blipFill>
                    <p:spPr>
                      <a:xfrm>
                        <a:off x="4724400" y="1562100"/>
                        <a:ext cx="2133600" cy="4076790"/>
                      </a:xfrm>
                      <a:prstGeom prst="rect">
                        <a:avLst/>
                      </a:prstGeom>
                    </p:spPr>
                  </p:pic>
                </p:oleObj>
              </mc:Fallback>
            </mc:AlternateContent>
          </a:graphicData>
        </a:graphic>
      </p:graphicFrame>
      <p:sp useBgFill="1">
        <p:nvSpPr>
          <p:cNvPr id="5" name="Freeform 4"/>
          <p:cNvSpPr/>
          <p:nvPr>
            <p:custDataLst>
              <p:tags r:id="rId10"/>
            </p:custDataLst>
          </p:nvPr>
        </p:nvSpPr>
        <p:spPr bwMode="auto">
          <a:xfrm>
            <a:off x="4765675" y="4848225"/>
            <a:ext cx="146051" cy="96839"/>
          </a:xfrm>
          <a:custGeom>
            <a:avLst/>
            <a:gdLst/>
            <a:ahLst/>
            <a:cxnLst/>
            <a:rect l="0" t="0" r="0" b="0"/>
            <a:pathLst>
              <a:path w="146051" h="96839">
                <a:moveTo>
                  <a:pt x="0" y="39688"/>
                </a:moveTo>
                <a:lnTo>
                  <a:pt x="146050" y="0"/>
                </a:lnTo>
                <a:lnTo>
                  <a:pt x="146050" y="57150"/>
                </a:lnTo>
                <a:lnTo>
                  <a:pt x="0" y="96838"/>
                </a:lnTo>
                <a:close/>
              </a:path>
            </a:pathLst>
          </a:custGeom>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2"/>
          <p:cNvSpPr/>
          <p:nvPr>
            <p:custDataLst>
              <p:tags r:id="rId11"/>
            </p:custDataLst>
          </p:nvPr>
        </p:nvSpPr>
        <p:spPr bwMode="auto">
          <a:xfrm>
            <a:off x="4765675" y="4905375"/>
            <a:ext cx="146051" cy="39689"/>
          </a:xfrm>
          <a:custGeom>
            <a:avLst/>
            <a:gdLst/>
            <a:ahLst/>
            <a:cxnLst/>
            <a:rect l="0" t="0" r="0" b="0"/>
            <a:pathLst>
              <a:path w="146051" h="39689">
                <a:moveTo>
                  <a:pt x="0" y="39688"/>
                </a:moveTo>
                <a:lnTo>
                  <a:pt x="146050" y="0"/>
                </a:lnTo>
              </a:path>
            </a:pathLst>
          </a:cu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Freeform 1"/>
          <p:cNvSpPr/>
          <p:nvPr>
            <p:custDataLst>
              <p:tags r:id="rId12"/>
            </p:custDataLst>
          </p:nvPr>
        </p:nvSpPr>
        <p:spPr bwMode="auto">
          <a:xfrm>
            <a:off x="4765675" y="4848225"/>
            <a:ext cx="146051" cy="39689"/>
          </a:xfrm>
          <a:custGeom>
            <a:avLst/>
            <a:gdLst/>
            <a:ahLst/>
            <a:cxnLst/>
            <a:rect l="0" t="0" r="0" b="0"/>
            <a:pathLst>
              <a:path w="146051" h="39689">
                <a:moveTo>
                  <a:pt x="0" y="39688"/>
                </a:moveTo>
                <a:lnTo>
                  <a:pt x="146050" y="0"/>
                </a:lnTo>
              </a:path>
            </a:pathLst>
          </a:cu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Text Placeholder 62"/>
          <p:cNvSpPr>
            <a:spLocks noGrp="1"/>
          </p:cNvSpPr>
          <p:nvPr>
            <p:custDataLst>
              <p:tags r:id="rId13"/>
            </p:custDataLst>
          </p:nvPr>
        </p:nvSpPr>
        <p:spPr bwMode="gray">
          <a:xfrm>
            <a:off x="6510338" y="4465638"/>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32</a:t>
            </a:r>
            <a:endParaRPr lang="en-US" sz="1400" dirty="0">
              <a:solidFill>
                <a:schemeClr val="accent1"/>
              </a:solidFill>
              <a:latin typeface="Arial"/>
              <a:sym typeface="Arial"/>
            </a:endParaRPr>
          </a:p>
        </p:txBody>
      </p:sp>
      <p:sp>
        <p:nvSpPr>
          <p:cNvPr id="64" name="Text Placeholder 61"/>
          <p:cNvSpPr>
            <a:spLocks noGrp="1"/>
          </p:cNvSpPr>
          <p:nvPr>
            <p:custDataLst>
              <p:tags r:id="rId14"/>
            </p:custDataLst>
          </p:nvPr>
        </p:nvSpPr>
        <p:spPr bwMode="gray">
          <a:xfrm>
            <a:off x="6167438" y="3822700"/>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bg1"/>
                </a:solidFill>
                <a:sym typeface="+mn-lt"/>
              </a:rPr>
              <a:t>60</a:t>
            </a:r>
            <a:endParaRPr lang="en-US" sz="1400" dirty="0">
              <a:solidFill>
                <a:schemeClr val="bg1"/>
              </a:solidFill>
              <a:sym typeface="+mn-lt"/>
            </a:endParaRPr>
          </a:p>
        </p:txBody>
      </p:sp>
      <p:sp>
        <p:nvSpPr>
          <p:cNvPr id="62" name="Text Placeholder 59"/>
          <p:cNvSpPr>
            <a:spLocks noGrp="1"/>
          </p:cNvSpPr>
          <p:nvPr>
            <p:custDataLst>
              <p:tags r:id="rId15"/>
            </p:custDataLst>
          </p:nvPr>
        </p:nvSpPr>
        <p:spPr bwMode="gray">
          <a:xfrm>
            <a:off x="5054600" y="1898650"/>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25</a:t>
            </a:r>
            <a:endParaRPr lang="en-US" sz="1400" dirty="0">
              <a:solidFill>
                <a:schemeClr val="accent1"/>
              </a:solidFill>
              <a:latin typeface="Arial"/>
              <a:sym typeface="Arial"/>
            </a:endParaRPr>
          </a:p>
        </p:txBody>
      </p:sp>
      <p:sp>
        <p:nvSpPr>
          <p:cNvPr id="66" name="Text Placeholder 38"/>
          <p:cNvSpPr>
            <a:spLocks noGrp="1"/>
          </p:cNvSpPr>
          <p:nvPr>
            <p:custDataLst>
              <p:tags r:id="rId16"/>
            </p:custDataLst>
          </p:nvPr>
        </p:nvSpPr>
        <p:spPr bwMode="gray">
          <a:xfrm>
            <a:off x="4976813" y="2541588"/>
            <a:ext cx="247650" cy="212725"/>
          </a:xfrm>
          <a:prstGeom prst="rect">
            <a:avLst/>
          </a:prstGeom>
          <a:solidFill>
            <a:schemeClr val="bg1"/>
          </a:solidFill>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rPr>
              <a:t>20</a:t>
            </a:r>
            <a:endParaRPr lang="en-US" sz="1400" dirty="0">
              <a:solidFill>
                <a:schemeClr val="accent1"/>
              </a:solidFill>
              <a:latin typeface="Arial"/>
              <a:sym typeface="Arial"/>
            </a:endParaRPr>
          </a:p>
        </p:txBody>
      </p:sp>
      <p:sp>
        <p:nvSpPr>
          <p:cNvPr id="63" name="Text Placeholder 60"/>
          <p:cNvSpPr>
            <a:spLocks noGrp="1"/>
          </p:cNvSpPr>
          <p:nvPr>
            <p:custDataLst>
              <p:tags r:id="rId17"/>
            </p:custDataLst>
          </p:nvPr>
        </p:nvSpPr>
        <p:spPr bwMode="gray">
          <a:xfrm>
            <a:off x="5446713" y="318452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bg1"/>
                </a:solidFill>
                <a:latin typeface="Arial"/>
                <a:sym typeface="Arial"/>
              </a:rPr>
              <a:t>120</a:t>
            </a:r>
            <a:endParaRPr lang="en-US" sz="1400" dirty="0">
              <a:solidFill>
                <a:schemeClr val="bg1"/>
              </a:solidFill>
              <a:latin typeface="Arial"/>
              <a:sym typeface="Arial"/>
            </a:endParaRPr>
          </a:p>
        </p:txBody>
      </p:sp>
      <p:sp>
        <p:nvSpPr>
          <p:cNvPr id="115" name="Text Placeholder 75"/>
          <p:cNvSpPr>
            <a:spLocks noGrp="1"/>
          </p:cNvSpPr>
          <p:nvPr>
            <p:custDataLst>
              <p:tags r:id="rId18"/>
            </p:custDataLst>
          </p:nvPr>
        </p:nvSpPr>
        <p:spPr bwMode="auto">
          <a:xfrm>
            <a:off x="4289425" y="5108575"/>
            <a:ext cx="4095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514E5318-E084-4B4F-8EAE-01307140AF45}" type="datetime'T''''''''o''''''''''''''''''''''''t''''''''al'''''''''''''">
              <a:rPr lang="en-US" sz="1400" b="1">
                <a:solidFill>
                  <a:schemeClr val="accent1"/>
                </a:solidFill>
                <a:sym typeface="+mn-lt"/>
              </a:rPr>
              <a:pPr marL="0" indent="0" algn="r">
                <a:spcBef>
                  <a:spcPct val="0"/>
                </a:spcBef>
                <a:spcAft>
                  <a:spcPct val="0"/>
                </a:spcAft>
                <a:buNone/>
              </a:pPr>
              <a:t>Total</a:t>
            </a:fld>
            <a:endParaRPr lang="en-US" sz="1400" b="1" dirty="0">
              <a:solidFill>
                <a:schemeClr val="accent1"/>
              </a:solidFill>
              <a:sym typeface="+mn-lt"/>
            </a:endParaRPr>
          </a:p>
        </p:txBody>
      </p:sp>
      <p:graphicFrame>
        <p:nvGraphicFramePr>
          <p:cNvPr id="16" name="Object 15"/>
          <p:cNvGraphicFramePr>
            <a:graphicFrameLocks/>
          </p:cNvGraphicFramePr>
          <p:nvPr>
            <p:custDataLst>
              <p:tags r:id="rId19"/>
            </p:custDataLst>
            <p:extLst>
              <p:ext uri="{D42A27DB-BD31-4B8C-83A1-F6EECF244321}">
                <p14:modId xmlns:p14="http://schemas.microsoft.com/office/powerpoint/2010/main" val="2095929320"/>
              </p:ext>
            </p:extLst>
          </p:nvPr>
        </p:nvGraphicFramePr>
        <p:xfrm>
          <a:off x="1219200" y="1562100"/>
          <a:ext cx="1485900" cy="3429000"/>
        </p:xfrm>
        <a:graphic>
          <a:graphicData uri="http://schemas.openxmlformats.org/presentationml/2006/ole">
            <mc:AlternateContent xmlns:mc="http://schemas.openxmlformats.org/markup-compatibility/2006">
              <mc:Choice xmlns:v="urn:schemas-microsoft-com:vml" Requires="v">
                <p:oleObj spid="_x0000_s236936" name="Chart" r:id="rId36" imgW="1485900" imgH="3429000" progId="MSGraph.Chart.8">
                  <p:embed followColorScheme="full"/>
                </p:oleObj>
              </mc:Choice>
              <mc:Fallback>
                <p:oleObj name="Chart" r:id="rId36" imgW="1485900" imgH="3429000" progId="MSGraph.Chart.8">
                  <p:embed followColorScheme="full"/>
                  <p:pic>
                    <p:nvPicPr>
                      <p:cNvPr id="0" name=""/>
                      <p:cNvPicPr/>
                      <p:nvPr/>
                    </p:nvPicPr>
                    <p:blipFill>
                      <a:blip r:embed="rId37"/>
                      <a:stretch>
                        <a:fillRect/>
                      </a:stretch>
                    </p:blipFill>
                    <p:spPr>
                      <a:xfrm>
                        <a:off x="1219200" y="1562100"/>
                        <a:ext cx="1485900" cy="3429000"/>
                      </a:xfrm>
                      <a:prstGeom prst="rect">
                        <a:avLst/>
                      </a:prstGeom>
                    </p:spPr>
                  </p:pic>
                </p:oleObj>
              </mc:Fallback>
            </mc:AlternateContent>
          </a:graphicData>
        </a:graphic>
      </p:graphicFrame>
      <p:sp>
        <p:nvSpPr>
          <p:cNvPr id="58" name="Text Placeholder 160"/>
          <p:cNvSpPr>
            <a:spLocks noGrp="1"/>
          </p:cNvSpPr>
          <p:nvPr>
            <p:custDataLst>
              <p:tags r:id="rId20"/>
            </p:custDataLst>
          </p:nvPr>
        </p:nvSpPr>
        <p:spPr bwMode="gray">
          <a:xfrm>
            <a:off x="1768475" y="4460875"/>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64</a:t>
            </a:r>
            <a:endParaRPr lang="en-US" sz="1400" dirty="0">
              <a:solidFill>
                <a:schemeClr val="accent1"/>
              </a:solidFill>
              <a:latin typeface="Arial"/>
              <a:sym typeface="Arial"/>
            </a:endParaRPr>
          </a:p>
        </p:txBody>
      </p:sp>
      <p:sp>
        <p:nvSpPr>
          <p:cNvPr id="78" name="Text Placeholder 52"/>
          <p:cNvSpPr>
            <a:spLocks noGrp="1"/>
          </p:cNvSpPr>
          <p:nvPr>
            <p:custDataLst>
              <p:tags r:id="rId21"/>
            </p:custDataLst>
          </p:nvPr>
        </p:nvSpPr>
        <p:spPr bwMode="auto">
          <a:xfrm>
            <a:off x="228600" y="4460875"/>
            <a:ext cx="5984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93B0D19A-3FF1-48A9-A931-83ABF28E6A91}" type="datetime'O''''''''th''e''''''r''s'''''''''''''''''''''''''''">
              <a:rPr lang="en-US" sz="1400" smtClean="0">
                <a:solidFill>
                  <a:schemeClr val="accent1"/>
                </a:solidFill>
                <a:latin typeface="Arial"/>
                <a:sym typeface="Arial"/>
              </a:rPr>
              <a:pPr marL="0" indent="0">
                <a:spcBef>
                  <a:spcPct val="0"/>
                </a:spcBef>
                <a:spcAft>
                  <a:spcPct val="0"/>
                </a:spcAft>
                <a:buNone/>
              </a:pPr>
              <a:t>Others</a:t>
            </a:fld>
            <a:r>
              <a:rPr lang="en-US" sz="1400" baseline="30000" dirty="0">
                <a:solidFill>
                  <a:schemeClr val="accent1"/>
                </a:solidFill>
              </a:rPr>
              <a:t>5</a:t>
            </a:r>
            <a:endParaRPr lang="en-US" sz="1400" dirty="0">
              <a:solidFill>
                <a:schemeClr val="accent1"/>
              </a:solidFill>
              <a:latin typeface="Arial"/>
              <a:sym typeface="Arial"/>
            </a:endParaRPr>
          </a:p>
        </p:txBody>
      </p:sp>
      <p:sp>
        <p:nvSpPr>
          <p:cNvPr id="77" name="Text Placeholder 51"/>
          <p:cNvSpPr>
            <a:spLocks noGrp="1"/>
          </p:cNvSpPr>
          <p:nvPr>
            <p:custDataLst>
              <p:tags r:id="rId22"/>
            </p:custDataLst>
          </p:nvPr>
        </p:nvSpPr>
        <p:spPr bwMode="auto">
          <a:xfrm>
            <a:off x="228600" y="3822700"/>
            <a:ext cx="931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EB165DF6-E2A1-4BDF-A219-F94E0EA2364F}" type="datetime'W''''''''''''et ''mi''''''''''lli''''''''''''n''''g'''''''">
              <a:rPr lang="en-US" sz="1400" smtClean="0">
                <a:solidFill>
                  <a:schemeClr val="accent1"/>
                </a:solidFill>
                <a:latin typeface="Arial"/>
                <a:sym typeface="Arial"/>
              </a:rPr>
              <a:pPr marL="0" indent="0">
                <a:spcBef>
                  <a:spcPct val="0"/>
                </a:spcBef>
                <a:spcAft>
                  <a:spcPct val="0"/>
                </a:spcAft>
                <a:buNone/>
              </a:pPr>
              <a:t>Wet milling</a:t>
            </a:fld>
            <a:r>
              <a:rPr lang="en-US" sz="1400" baseline="30000" dirty="0">
                <a:solidFill>
                  <a:schemeClr val="accent1"/>
                </a:solidFill>
              </a:rPr>
              <a:t>4</a:t>
            </a:r>
            <a:endParaRPr lang="en-US" sz="1400" dirty="0">
              <a:solidFill>
                <a:schemeClr val="accent1"/>
              </a:solidFill>
              <a:latin typeface="Arial"/>
              <a:sym typeface="Arial"/>
            </a:endParaRPr>
          </a:p>
        </p:txBody>
      </p:sp>
      <p:sp>
        <p:nvSpPr>
          <p:cNvPr id="61" name="Text Placeholder 182"/>
          <p:cNvSpPr>
            <a:spLocks noGrp="1"/>
          </p:cNvSpPr>
          <p:nvPr>
            <p:custDataLst>
              <p:tags r:id="rId23"/>
            </p:custDataLst>
          </p:nvPr>
        </p:nvSpPr>
        <p:spPr bwMode="gray">
          <a:xfrm>
            <a:off x="1636713" y="3822700"/>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bg1"/>
                </a:solidFill>
                <a:latin typeface="Arial"/>
                <a:sym typeface="Arial"/>
              </a:rPr>
              <a:t>150</a:t>
            </a:r>
            <a:endParaRPr lang="en-US" sz="1400" dirty="0">
              <a:solidFill>
                <a:schemeClr val="bg1"/>
              </a:solidFill>
              <a:latin typeface="Arial"/>
              <a:sym typeface="Arial"/>
            </a:endParaRPr>
          </a:p>
        </p:txBody>
      </p:sp>
      <p:sp>
        <p:nvSpPr>
          <p:cNvPr id="70" name="Text Placeholder 44"/>
          <p:cNvSpPr>
            <a:spLocks noGrp="1"/>
          </p:cNvSpPr>
          <p:nvPr>
            <p:custDataLst>
              <p:tags r:id="rId24"/>
            </p:custDataLst>
          </p:nvPr>
        </p:nvSpPr>
        <p:spPr bwMode="auto">
          <a:xfrm>
            <a:off x="228600" y="3179763"/>
            <a:ext cx="9064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71E43A38-39DF-4FB5-8BF2-342FCBBA7CC9}" type="datetime'H''''''a''''''''rv''''e''''''''''''st''''''i''n''''''g'''''">
              <a:rPr lang="en-US" sz="1400" smtClean="0">
                <a:solidFill>
                  <a:schemeClr val="accent1"/>
                </a:solidFill>
              </a:rPr>
              <a:pPr marL="0" indent="0">
                <a:spcBef>
                  <a:spcPct val="0"/>
                </a:spcBef>
                <a:spcAft>
                  <a:spcPct val="0"/>
                </a:spcAft>
                <a:buNone/>
              </a:pPr>
              <a:t>Harvesting</a:t>
            </a:fld>
            <a:r>
              <a:rPr lang="en-US" sz="1400" dirty="0">
                <a:solidFill>
                  <a:schemeClr val="accent1"/>
                </a:solidFill>
                <a:cs typeface="Arial"/>
              </a:rPr>
              <a:t>³</a:t>
            </a:r>
            <a:endParaRPr lang="en-US" sz="1400" dirty="0">
              <a:solidFill>
                <a:schemeClr val="accent1"/>
              </a:solidFill>
              <a:latin typeface="Arial"/>
              <a:sym typeface="Arial"/>
            </a:endParaRPr>
          </a:p>
        </p:txBody>
      </p:sp>
      <p:sp>
        <p:nvSpPr>
          <p:cNvPr id="60" name="Text Placeholder 181"/>
          <p:cNvSpPr>
            <a:spLocks noGrp="1"/>
          </p:cNvSpPr>
          <p:nvPr>
            <p:custDataLst>
              <p:tags r:id="rId25"/>
            </p:custDataLst>
          </p:nvPr>
        </p:nvSpPr>
        <p:spPr bwMode="gray">
          <a:xfrm>
            <a:off x="1793875" y="3179763"/>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099E78E3-FC50-4EF7-A5C6-86F7C12EFA42}" type="datetime'''''''''''''''2''''''''''''0''''''''0'''''''''''">
              <a:rPr lang="en-US" sz="1400">
                <a:solidFill>
                  <a:schemeClr val="bg1"/>
                </a:solidFill>
                <a:latin typeface="Arial"/>
                <a:sym typeface="Arial"/>
              </a:rPr>
              <a:pPr marL="0" indent="0" algn="ctr">
                <a:spcBef>
                  <a:spcPct val="0"/>
                </a:spcBef>
                <a:spcAft>
                  <a:spcPct val="0"/>
                </a:spcAft>
                <a:buNone/>
              </a:pPr>
              <a:t>200</a:t>
            </a:fld>
            <a:endParaRPr lang="en-US" sz="1400" dirty="0">
              <a:solidFill>
                <a:schemeClr val="bg1"/>
              </a:solidFill>
              <a:latin typeface="Arial"/>
              <a:sym typeface="Arial"/>
            </a:endParaRPr>
          </a:p>
        </p:txBody>
      </p:sp>
      <p:sp>
        <p:nvSpPr>
          <p:cNvPr id="69" name="Text Placeholder 43"/>
          <p:cNvSpPr>
            <a:spLocks noGrp="1"/>
          </p:cNvSpPr>
          <p:nvPr>
            <p:custDataLst>
              <p:tags r:id="rId26"/>
            </p:custDataLst>
          </p:nvPr>
        </p:nvSpPr>
        <p:spPr bwMode="auto">
          <a:xfrm>
            <a:off x="228600" y="2536825"/>
            <a:ext cx="96520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buNone/>
            </a:pPr>
            <a:fld id="{DFE64504-8D56-4810-9854-55F32C6F3C3C}" type="datetime'F''''''''''''''''''''''ertil''''''i''''za''''t''''ion'">
              <a:rPr lang="en-US" sz="1400" smtClean="0">
                <a:solidFill>
                  <a:schemeClr val="accent1"/>
                </a:solidFill>
              </a:rPr>
              <a:pPr marL="0" indent="0">
                <a:buNone/>
              </a:pPr>
              <a:t>Fertilization</a:t>
            </a:fld>
            <a:r>
              <a:rPr lang="en-US" sz="1400" dirty="0">
                <a:solidFill>
                  <a:schemeClr val="accent1"/>
                </a:solidFill>
                <a:cs typeface="Arial"/>
              </a:rPr>
              <a:t>²</a:t>
            </a:r>
            <a:endParaRPr lang="en-US" sz="1400" dirty="0">
              <a:solidFill>
                <a:schemeClr val="accent1"/>
              </a:solidFill>
              <a:latin typeface="Arial"/>
              <a:sym typeface="Arial"/>
            </a:endParaRPr>
          </a:p>
        </p:txBody>
      </p:sp>
      <p:sp>
        <p:nvSpPr>
          <p:cNvPr id="57" name="Text Placeholder 159"/>
          <p:cNvSpPr>
            <a:spLocks noGrp="1"/>
          </p:cNvSpPr>
          <p:nvPr>
            <p:custDataLst>
              <p:tags r:id="rId27"/>
            </p:custDataLst>
          </p:nvPr>
        </p:nvSpPr>
        <p:spPr bwMode="gray">
          <a:xfrm>
            <a:off x="1482725" y="2536825"/>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20</a:t>
            </a:r>
            <a:endParaRPr lang="en-US" sz="1400" dirty="0">
              <a:solidFill>
                <a:schemeClr val="accent1"/>
              </a:solidFill>
              <a:latin typeface="Arial"/>
              <a:sym typeface="Arial"/>
            </a:endParaRPr>
          </a:p>
        </p:txBody>
      </p:sp>
      <p:sp>
        <p:nvSpPr>
          <p:cNvPr id="68" name="Text Placeholder 42"/>
          <p:cNvSpPr>
            <a:spLocks noGrp="1"/>
          </p:cNvSpPr>
          <p:nvPr>
            <p:custDataLst>
              <p:tags r:id="rId28"/>
            </p:custDataLst>
          </p:nvPr>
        </p:nvSpPr>
        <p:spPr bwMode="auto">
          <a:xfrm>
            <a:off x="228600" y="1898650"/>
            <a:ext cx="755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E070E8D2-FE31-43FE-9454-03032E35CCF7}" type="datetime'W''''''''''e''e''''''''''''''''''''''din''''''''g'''''''''">
              <a:rPr lang="en-US" sz="1400" smtClean="0">
                <a:solidFill>
                  <a:schemeClr val="accent1"/>
                </a:solidFill>
              </a:rPr>
              <a:pPr/>
              <a:t>Weeding</a:t>
            </a:fld>
            <a:r>
              <a:rPr lang="en-US" sz="1400" dirty="0" smtClean="0">
                <a:solidFill>
                  <a:schemeClr val="accent1"/>
                </a:solidFill>
                <a:latin typeface="Arial"/>
                <a:cs typeface="Arial"/>
              </a:rPr>
              <a:t>¹</a:t>
            </a:r>
            <a:endParaRPr lang="en-US" sz="1400" dirty="0">
              <a:solidFill>
                <a:schemeClr val="accent1"/>
              </a:solidFill>
              <a:latin typeface="Arial"/>
              <a:sym typeface="Arial"/>
            </a:endParaRPr>
          </a:p>
        </p:txBody>
      </p:sp>
      <p:sp>
        <p:nvSpPr>
          <p:cNvPr id="51" name="Text Placeholder 158"/>
          <p:cNvSpPr>
            <a:spLocks noGrp="1"/>
          </p:cNvSpPr>
          <p:nvPr>
            <p:custDataLst>
              <p:tags r:id="rId29"/>
            </p:custDataLst>
          </p:nvPr>
        </p:nvSpPr>
        <p:spPr bwMode="gray">
          <a:xfrm>
            <a:off x="1520825" y="1898650"/>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25</a:t>
            </a:r>
            <a:endParaRPr lang="en-US" sz="1400" dirty="0">
              <a:solidFill>
                <a:schemeClr val="accent1"/>
              </a:solidFill>
              <a:latin typeface="Arial"/>
              <a:sym typeface="Arial"/>
            </a:endParaRPr>
          </a:p>
        </p:txBody>
      </p:sp>
      <p:graphicFrame>
        <p:nvGraphicFramePr>
          <p:cNvPr id="89" name="Table 88"/>
          <p:cNvGraphicFramePr>
            <a:graphicFrameLocks noGrp="1"/>
          </p:cNvGraphicFramePr>
          <p:nvPr>
            <p:extLst>
              <p:ext uri="{D42A27DB-BD31-4B8C-83A1-F6EECF244321}">
                <p14:modId xmlns:p14="http://schemas.microsoft.com/office/powerpoint/2010/main" val="4168758825"/>
              </p:ext>
            </p:extLst>
          </p:nvPr>
        </p:nvGraphicFramePr>
        <p:xfrm>
          <a:off x="3051484" y="1684338"/>
          <a:ext cx="1478034" cy="3200400"/>
        </p:xfrm>
        <a:graphic>
          <a:graphicData uri="http://schemas.openxmlformats.org/drawingml/2006/table">
            <a:tbl>
              <a:tblPr firstRow="1" bandRow="1">
                <a:tableStyleId>{5C22544A-7EE6-4342-B048-85BDC9FD1C3A}</a:tableStyleId>
              </a:tblPr>
              <a:tblGrid>
                <a:gridCol w="1478034"/>
              </a:tblGrid>
              <a:tr h="640080">
                <a:tc>
                  <a:txBody>
                    <a:bodyPr/>
                    <a:lstStyle/>
                    <a:p>
                      <a:pPr algn="ctr"/>
                      <a:r>
                        <a:rPr lang="en-US" sz="1400" b="0" dirty="0" smtClean="0">
                          <a:solidFill>
                            <a:schemeClr val="accent1"/>
                          </a:solidFill>
                        </a:rPr>
                        <a:t>100%</a:t>
                      </a:r>
                      <a:endParaRPr lang="en-US" sz="1400" b="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algn="ctr"/>
                      <a:r>
                        <a:rPr lang="en-US" sz="1400" b="0" dirty="0" smtClean="0">
                          <a:solidFill>
                            <a:schemeClr val="accent1"/>
                          </a:solidFill>
                        </a:rPr>
                        <a:t>100%</a:t>
                      </a:r>
                      <a:endParaRPr lang="en-US" sz="1400" b="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algn="ctr"/>
                      <a:r>
                        <a:rPr lang="en-US" sz="1400" b="0" dirty="0" smtClean="0">
                          <a:solidFill>
                            <a:schemeClr val="accent1"/>
                          </a:solidFill>
                        </a:rPr>
                        <a:t>60%</a:t>
                      </a:r>
                      <a:endParaRPr lang="en-US" sz="1400" b="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algn="ctr"/>
                      <a:r>
                        <a:rPr lang="en-US" sz="1400" b="0" dirty="0" smtClean="0">
                          <a:solidFill>
                            <a:schemeClr val="accent1"/>
                          </a:solidFill>
                        </a:rPr>
                        <a:t>40%</a:t>
                      </a:r>
                      <a:endParaRPr lang="en-US" sz="1400" b="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algn="ctr"/>
                      <a:r>
                        <a:rPr lang="en-US" sz="1400" b="0" dirty="0" smtClean="0">
                          <a:solidFill>
                            <a:schemeClr val="accent1"/>
                          </a:solidFill>
                        </a:rPr>
                        <a:t>50%</a:t>
                      </a:r>
                      <a:endParaRPr lang="en-US" sz="1400" b="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107" name="Table 106"/>
          <p:cNvGraphicFramePr>
            <a:graphicFrameLocks noGrp="1"/>
          </p:cNvGraphicFramePr>
          <p:nvPr>
            <p:extLst>
              <p:ext uri="{D42A27DB-BD31-4B8C-83A1-F6EECF244321}">
                <p14:modId xmlns:p14="http://schemas.microsoft.com/office/powerpoint/2010/main" val="2712726604"/>
              </p:ext>
            </p:extLst>
          </p:nvPr>
        </p:nvGraphicFramePr>
        <p:xfrm>
          <a:off x="6881173" y="1670050"/>
          <a:ext cx="2003517" cy="3200400"/>
        </p:xfrm>
        <a:graphic>
          <a:graphicData uri="http://schemas.openxmlformats.org/drawingml/2006/table">
            <a:tbl>
              <a:tblPr firstRow="1" bandRow="1">
                <a:tableStyleId>{5C22544A-7EE6-4342-B048-85BDC9FD1C3A}</a:tableStyleId>
              </a:tblPr>
              <a:tblGrid>
                <a:gridCol w="2003517"/>
              </a:tblGrid>
              <a:tr h="640080">
                <a:tc>
                  <a:txBody>
                    <a:bodyPr/>
                    <a:lstStyle/>
                    <a:p>
                      <a:pPr marL="171450" indent="-171450" algn="l">
                        <a:buFont typeface="Arial" pitchFamily="34" charset="0"/>
                        <a:buChar char="•"/>
                      </a:pPr>
                      <a:r>
                        <a:rPr lang="en-US" sz="1400" b="0" dirty="0" smtClean="0">
                          <a:solidFill>
                            <a:schemeClr val="accent1"/>
                          </a:solidFill>
                        </a:rPr>
                        <a:t>Family or hired labor</a:t>
                      </a:r>
                      <a:endParaRPr lang="en-US" sz="1400" b="0" dirty="0">
                        <a:solidFill>
                          <a:schemeClr val="accent1"/>
                        </a:solidFill>
                      </a:endParaRPr>
                    </a:p>
                  </a:txBody>
                  <a:tcPr marL="45720"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marL="171450" indent="-171450" algn="l">
                        <a:buFont typeface="Arial" pitchFamily="34" charset="0"/>
                        <a:buChar char="•"/>
                      </a:pPr>
                      <a:r>
                        <a:rPr lang="en-US" sz="1400" b="0" dirty="0" smtClean="0">
                          <a:solidFill>
                            <a:schemeClr val="accent1"/>
                          </a:solidFill>
                        </a:rPr>
                        <a:t>Family or hired labor</a:t>
                      </a:r>
                      <a:endParaRPr lang="en-US" sz="1400" b="0" dirty="0">
                        <a:solidFill>
                          <a:schemeClr val="accent1"/>
                        </a:solidFill>
                      </a:endParaRPr>
                    </a:p>
                  </a:txBody>
                  <a:tcPr marL="45720"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marL="171450" indent="-171450" algn="l">
                        <a:buFont typeface="Arial" pitchFamily="34" charset="0"/>
                        <a:buChar char="•"/>
                      </a:pPr>
                      <a:r>
                        <a:rPr lang="en-US" sz="1400" b="0" dirty="0" smtClean="0">
                          <a:solidFill>
                            <a:schemeClr val="accent1"/>
                          </a:solidFill>
                        </a:rPr>
                        <a:t>Mostly hired labor during peak harvest; family during </a:t>
                      </a:r>
                      <a:r>
                        <a:rPr lang="en-US" sz="1400" b="0" i="1" dirty="0" err="1" smtClean="0">
                          <a:solidFill>
                            <a:schemeClr val="accent1"/>
                          </a:solidFill>
                        </a:rPr>
                        <a:t>mitaca</a:t>
                      </a:r>
                      <a:endParaRPr lang="en-US" sz="1400" b="0" i="1" dirty="0">
                        <a:solidFill>
                          <a:schemeClr val="accent1"/>
                        </a:solidFill>
                      </a:endParaRPr>
                    </a:p>
                  </a:txBody>
                  <a:tcPr marL="45720"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marL="171450" indent="-171450" algn="l">
                        <a:buFont typeface="Arial" pitchFamily="34" charset="0"/>
                        <a:buChar char="•"/>
                      </a:pPr>
                      <a:r>
                        <a:rPr lang="en-US" sz="1400" b="0" dirty="0" smtClean="0">
                          <a:solidFill>
                            <a:schemeClr val="accent1"/>
                          </a:solidFill>
                        </a:rPr>
                        <a:t>Family labor</a:t>
                      </a:r>
                      <a:endParaRPr lang="en-US" sz="1400" b="0" dirty="0">
                        <a:solidFill>
                          <a:schemeClr val="accent1"/>
                        </a:solidFill>
                      </a:endParaRPr>
                    </a:p>
                  </a:txBody>
                  <a:tcPr marL="45720"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marL="171450" indent="-171450" algn="l">
                        <a:buFont typeface="Arial" pitchFamily="34" charset="0"/>
                        <a:buChar char="•"/>
                      </a:pPr>
                      <a:r>
                        <a:rPr lang="en-US" sz="1400" b="0" dirty="0" smtClean="0">
                          <a:solidFill>
                            <a:schemeClr val="accent1"/>
                          </a:solidFill>
                        </a:rPr>
                        <a:t>Family labor</a:t>
                      </a:r>
                      <a:endParaRPr lang="en-US" sz="1400" b="0" dirty="0">
                        <a:solidFill>
                          <a:schemeClr val="accent1"/>
                        </a:solidFill>
                      </a:endParaRPr>
                    </a:p>
                  </a:txBody>
                  <a:tcPr marL="45720"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110" name="Group 109"/>
          <p:cNvGrpSpPr/>
          <p:nvPr/>
        </p:nvGrpSpPr>
        <p:grpSpPr>
          <a:xfrm>
            <a:off x="6881173" y="1374775"/>
            <a:ext cx="1914525" cy="222911"/>
            <a:chOff x="1452474" y="1776923"/>
            <a:chExt cx="2110433" cy="222911"/>
          </a:xfrm>
        </p:grpSpPr>
        <p:sp>
          <p:nvSpPr>
            <p:cNvPr id="111" name="Rectangle 13"/>
            <p:cNvSpPr>
              <a:spLocks noChangeArrowheads="1"/>
            </p:cNvSpPr>
            <p:nvPr/>
          </p:nvSpPr>
          <p:spPr bwMode="auto">
            <a:xfrm>
              <a:off x="1452474" y="1776923"/>
              <a:ext cx="2110433" cy="215444"/>
            </a:xfrm>
            <a:prstGeom prst="rect">
              <a:avLst/>
            </a:prstGeom>
            <a:noFill/>
            <a:ln w="9525">
              <a:noFill/>
              <a:miter lim="800000"/>
              <a:headEnd/>
              <a:tailEnd/>
            </a:ln>
            <a:effectLst/>
          </p:spPr>
          <p:txBody>
            <a:bodyPr wrap="square" lIns="0" tIns="0" rIns="0" bIns="0" anchor="t" anchorCtr="0">
              <a:spAutoFit/>
            </a:bodyPr>
            <a:lstStyle/>
            <a:p>
              <a:pPr defTabSz="895255">
                <a:buSzPct val="120000"/>
              </a:pPr>
              <a:r>
                <a:rPr lang="en-US" sz="1400" b="1" dirty="0" smtClean="0">
                  <a:solidFill>
                    <a:schemeClr val="accent1"/>
                  </a:solidFill>
                </a:rPr>
                <a:t>Remarks</a:t>
              </a:r>
              <a:endParaRPr lang="en-US" sz="1400" dirty="0">
                <a:solidFill>
                  <a:schemeClr val="accent1"/>
                </a:solidFill>
              </a:endParaRPr>
            </a:p>
          </p:txBody>
        </p:sp>
        <p:cxnSp>
          <p:nvCxnSpPr>
            <p:cNvPr id="112" name="Straight Connector 111"/>
            <p:cNvCxnSpPr/>
            <p:nvPr/>
          </p:nvCxnSpPr>
          <p:spPr bwMode="auto">
            <a:xfrm>
              <a:off x="1452474" y="1999834"/>
              <a:ext cx="201168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sp>
        <p:nvSpPr>
          <p:cNvPr id="59" name="Oval 58"/>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2</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384220987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extLst>
              <p:ext uri="{D42A27DB-BD31-4B8C-83A1-F6EECF244321}">
                <p14:modId xmlns:p14="http://schemas.microsoft.com/office/powerpoint/2010/main" val="103762034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37970" name="think-cell Slide" r:id="rId31" imgW="270" imgH="270" progId="TCLayout.ActiveDocument.1">
                  <p:embed/>
                </p:oleObj>
              </mc:Choice>
              <mc:Fallback>
                <p:oleObj name="think-cell Slide" r:id="rId31" imgW="270" imgH="270" progId="TCLayout.ActiveDocument.1">
                  <p:embed/>
                  <p:pic>
                    <p:nvPicPr>
                      <p:cNvPr id="0" name=""/>
                      <p:cNvPicPr/>
                      <p:nvPr/>
                    </p:nvPicPr>
                    <p:blipFill>
                      <a:blip r:embed="rId32"/>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14" name="Rectangle 13"/>
          <p:cNvSpPr/>
          <p:nvPr/>
        </p:nvSpPr>
        <p:spPr>
          <a:xfrm>
            <a:off x="109182" y="2911436"/>
            <a:ext cx="8898340" cy="1336714"/>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McK Footnote"/>
          <p:cNvSpPr txBox="1">
            <a:spLocks noChangeArrowheads="1"/>
          </p:cNvSpPr>
          <p:nvPr/>
        </p:nvSpPr>
        <p:spPr bwMode="auto">
          <a:xfrm>
            <a:off x="686046" y="6024508"/>
            <a:ext cx="7388434" cy="615553"/>
          </a:xfrm>
          <a:prstGeom prst="rect">
            <a:avLst/>
          </a:prstGeom>
          <a:noFill/>
          <a:ln w="9525">
            <a:noFill/>
            <a:miter lim="800000"/>
            <a:headEnd/>
            <a:tailEnd/>
          </a:ln>
        </p:spPr>
        <p:txBody>
          <a:bodyPr wrap="square" lIns="0" tIns="0" rIns="0" bIns="0" anchor="b">
            <a:spAutoFit/>
          </a:bodyPr>
          <a:lstStyle/>
          <a:p>
            <a:pPr defTabSz="895350">
              <a:tabLst>
                <a:tab pos="517525" algn="r"/>
              </a:tabLst>
            </a:pPr>
            <a:r>
              <a:rPr lang="en-US" sz="800" baseline="30000" dirty="0" smtClean="0">
                <a:solidFill>
                  <a:schemeClr val="tx1">
                    <a:lumMod val="65000"/>
                    <a:lumOff val="35000"/>
                  </a:schemeClr>
                </a:solidFill>
              </a:rPr>
              <a:t>*</a:t>
            </a:r>
            <a:r>
              <a:rPr lang="en-US" sz="800" dirty="0" smtClean="0">
                <a:solidFill>
                  <a:schemeClr val="tx1">
                    <a:lumMod val="65000"/>
                    <a:lumOff val="35000"/>
                  </a:schemeClr>
                </a:solidFill>
                <a:cs typeface="Arial"/>
              </a:rPr>
              <a:t> Home wet-milling time replaced with cherry transport time;  during main crop, assumes 1.5 hours for 60 days; during </a:t>
            </a:r>
            <a:r>
              <a:rPr lang="en-US" sz="800" i="1" dirty="0" err="1" smtClean="0">
                <a:solidFill>
                  <a:schemeClr val="tx1">
                    <a:lumMod val="65000"/>
                    <a:lumOff val="35000"/>
                  </a:schemeClr>
                </a:solidFill>
                <a:cs typeface="Arial"/>
              </a:rPr>
              <a:t>mitaca</a:t>
            </a:r>
            <a:r>
              <a:rPr lang="en-US" sz="800" dirty="0" smtClean="0">
                <a:solidFill>
                  <a:schemeClr val="tx1">
                    <a:lumMod val="65000"/>
                    <a:lumOff val="35000"/>
                  </a:schemeClr>
                </a:solidFill>
                <a:cs typeface="Arial"/>
              </a:rPr>
              <a:t>, assumes 1 hour for 60 days</a:t>
            </a:r>
            <a:endParaRPr lang="en-US" sz="800" dirty="0" smtClean="0">
              <a:solidFill>
                <a:schemeClr val="tx1">
                  <a:lumMod val="65000"/>
                  <a:lumOff val="35000"/>
                </a:schemeClr>
              </a:solidFill>
            </a:endParaRPr>
          </a:p>
          <a:p>
            <a:pPr defTabSz="895350">
              <a:tabLst>
                <a:tab pos="517525" algn="r"/>
              </a:tabLst>
            </a:pPr>
            <a:endParaRPr lang="en-US" sz="800" dirty="0" smtClean="0">
              <a:solidFill>
                <a:schemeClr val="tx1">
                  <a:lumMod val="65000"/>
                  <a:lumOff val="35000"/>
                </a:schemeClr>
              </a:solidFill>
            </a:endParaRPr>
          </a:p>
          <a:p>
            <a:pPr defTabSz="895350">
              <a:tabLst>
                <a:tab pos="517525" algn="r"/>
              </a:tabLst>
            </a:pPr>
            <a:endParaRPr lang="en-US" sz="800" dirty="0" smtClean="0">
              <a:solidFill>
                <a:schemeClr val="tx1">
                  <a:lumMod val="65000"/>
                  <a:lumOff val="35000"/>
                </a:schemeClr>
              </a:solidFill>
            </a:endParaRPr>
          </a:p>
          <a:p>
            <a:pPr defTabSz="895350">
              <a:tabLst>
                <a:tab pos="517525" algn="r"/>
              </a:tabLst>
            </a:pPr>
            <a:r>
              <a:rPr lang="en-US" sz="800" dirty="0">
                <a:solidFill>
                  <a:schemeClr val="tx1">
                    <a:lumMod val="65000"/>
                    <a:lumOff val="35000"/>
                  </a:schemeClr>
                </a:solidFill>
                <a:cs typeface="Arial"/>
              </a:rPr>
              <a:t>NOTE: Modeled on 2 ha farm with 5,000 trees per ha and yield of 850 kg/ha green</a:t>
            </a:r>
            <a:endParaRPr lang="en-US" sz="800" dirty="0" smtClean="0">
              <a:solidFill>
                <a:schemeClr val="tx1">
                  <a:lumMod val="65000"/>
                  <a:lumOff val="35000"/>
                </a:schemeClr>
              </a:solidFill>
            </a:endParaRPr>
          </a:p>
          <a:p>
            <a:pPr marL="563563" indent="-563563" defTabSz="895350">
              <a:tabLst>
                <a:tab pos="517525" algn="r"/>
              </a:tabLst>
            </a:pPr>
            <a:r>
              <a:rPr lang="en-US" sz="800" dirty="0" smtClean="0">
                <a:solidFill>
                  <a:schemeClr val="tx1">
                    <a:lumMod val="65000"/>
                    <a:lumOff val="35000"/>
                  </a:schemeClr>
                </a:solidFill>
              </a:rPr>
              <a:t>Source: CRECE, interviews, TechnoServe analysis</a:t>
            </a:r>
          </a:p>
        </p:txBody>
      </p:sp>
      <p:sp>
        <p:nvSpPr>
          <p:cNvPr id="7" name="Title 6"/>
          <p:cNvSpPr>
            <a:spLocks noGrp="1"/>
          </p:cNvSpPr>
          <p:nvPr>
            <p:ph type="title"/>
          </p:nvPr>
        </p:nvSpPr>
        <p:spPr>
          <a:xfrm>
            <a:off x="400868" y="312738"/>
            <a:ext cx="8508956" cy="761319"/>
          </a:xfrm>
        </p:spPr>
        <p:txBody>
          <a:bodyPr/>
          <a:lstStyle/>
          <a:p>
            <a:pPr marL="268288"/>
            <a:r>
              <a:rPr lang="en-US" sz="2200" b="0" dirty="0" smtClean="0"/>
              <a:t>There may be ways to reduce farmers’ labor requirements in harvesting and wet-milling, saving them time and some money</a:t>
            </a:r>
            <a:endParaRPr lang="en-US" sz="2200" b="0" dirty="0"/>
          </a:p>
        </p:txBody>
      </p:sp>
      <p:grpSp>
        <p:nvGrpSpPr>
          <p:cNvPr id="12" name="Group 11"/>
          <p:cNvGrpSpPr/>
          <p:nvPr/>
        </p:nvGrpSpPr>
        <p:grpSpPr>
          <a:xfrm>
            <a:off x="1335089" y="1169988"/>
            <a:ext cx="1548119" cy="430887"/>
            <a:chOff x="-1292313" y="1572203"/>
            <a:chExt cx="2126801" cy="430887"/>
          </a:xfrm>
        </p:grpSpPr>
        <p:cxnSp>
          <p:nvCxnSpPr>
            <p:cNvPr id="23" name="Straight Connector 22"/>
            <p:cNvCxnSpPr/>
            <p:nvPr/>
          </p:nvCxnSpPr>
          <p:spPr bwMode="auto">
            <a:xfrm>
              <a:off x="-1292313" y="1999834"/>
              <a:ext cx="201168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sp>
          <p:nvSpPr>
            <p:cNvPr id="24" name="Rectangle 8"/>
            <p:cNvSpPr>
              <a:spLocks noChangeArrowheads="1"/>
            </p:cNvSpPr>
            <p:nvPr/>
          </p:nvSpPr>
          <p:spPr bwMode="auto">
            <a:xfrm>
              <a:off x="-1292313" y="1572203"/>
              <a:ext cx="2126801" cy="430887"/>
            </a:xfrm>
            <a:prstGeom prst="rect">
              <a:avLst/>
            </a:prstGeom>
            <a:noFill/>
            <a:ln w="9525">
              <a:noFill/>
              <a:miter lim="800000"/>
              <a:headEnd/>
              <a:tailEnd/>
            </a:ln>
            <a:effectLst/>
          </p:spPr>
          <p:txBody>
            <a:bodyPr wrap="square" lIns="0" tIns="0" rIns="0" bIns="0" anchor="t" anchorCtr="0">
              <a:spAutoFit/>
            </a:bodyPr>
            <a:lstStyle/>
            <a:p>
              <a:pPr defTabSz="895255">
                <a:buSzPct val="120000"/>
              </a:pPr>
              <a:r>
                <a:rPr lang="en-US" sz="1400" b="1" dirty="0" smtClean="0">
                  <a:solidFill>
                    <a:schemeClr val="accent1"/>
                  </a:solidFill>
                </a:rPr>
                <a:t>Est. work days </a:t>
              </a:r>
            </a:p>
            <a:p>
              <a:pPr defTabSz="895255">
                <a:buSzPct val="120000"/>
              </a:pPr>
              <a:r>
                <a:rPr lang="en-US" sz="1400" b="1" dirty="0" smtClean="0">
                  <a:solidFill>
                    <a:schemeClr val="accent1"/>
                  </a:solidFill>
                </a:rPr>
                <a:t>per year</a:t>
              </a:r>
              <a:endParaRPr lang="en-US" sz="1400" dirty="0" smtClean="0">
                <a:solidFill>
                  <a:schemeClr val="accent1"/>
                </a:solidFill>
              </a:endParaRPr>
            </a:p>
          </p:txBody>
        </p:sp>
      </p:grpSp>
      <p:grpSp>
        <p:nvGrpSpPr>
          <p:cNvPr id="31" name="Group 143"/>
          <p:cNvGrpSpPr>
            <a:grpSpLocks/>
          </p:cNvGrpSpPr>
          <p:nvPr/>
        </p:nvGrpSpPr>
        <p:grpSpPr bwMode="auto">
          <a:xfrm>
            <a:off x="4523427" y="1366838"/>
            <a:ext cx="258264" cy="255167"/>
            <a:chOff x="1931" y="1337"/>
            <a:chExt cx="166" cy="164"/>
          </a:xfrm>
        </p:grpSpPr>
        <p:sp>
          <p:nvSpPr>
            <p:cNvPr id="33" name="Oval 144"/>
            <p:cNvSpPr>
              <a:spLocks noChangeArrowheads="1"/>
            </p:cNvSpPr>
            <p:nvPr/>
          </p:nvSpPr>
          <p:spPr bwMode="auto">
            <a:xfrm flipV="1">
              <a:off x="1931" y="1337"/>
              <a:ext cx="166" cy="164"/>
            </a:xfrm>
            <a:prstGeom prst="ellipse">
              <a:avLst/>
            </a:prstGeom>
            <a:solidFill>
              <a:schemeClr val="bg1"/>
            </a:solidFill>
            <a:ln w="9525">
              <a:solidFill>
                <a:schemeClr val="accent1"/>
              </a:solidFill>
              <a:round/>
              <a:headEnd/>
              <a:tailEnd/>
            </a:ln>
            <a:effectLst>
              <a:outerShdw dist="17961" dir="2700000" algn="ctr" rotWithShape="0">
                <a:schemeClr val="bg2"/>
              </a:outerShdw>
            </a:effectLst>
          </p:spPr>
          <p:txBody>
            <a:bodyPr wrap="none" anchor="ctr"/>
            <a:lstStyle/>
            <a:p>
              <a:endParaRPr lang="en-US" sz="1200">
                <a:solidFill>
                  <a:schemeClr val="accent1"/>
                </a:solidFill>
              </a:endParaRPr>
            </a:p>
          </p:txBody>
        </p:sp>
        <p:sp>
          <p:nvSpPr>
            <p:cNvPr id="34" name="Rectangle 145"/>
            <p:cNvSpPr>
              <a:spLocks noChangeArrowheads="1"/>
            </p:cNvSpPr>
            <p:nvPr/>
          </p:nvSpPr>
          <p:spPr bwMode="auto">
            <a:xfrm flipV="1">
              <a:off x="1971" y="1389"/>
              <a:ext cx="86" cy="17"/>
            </a:xfrm>
            <a:prstGeom prst="rect">
              <a:avLst/>
            </a:prstGeom>
            <a:solidFill>
              <a:schemeClr val="accent1"/>
            </a:solidFill>
            <a:ln w="3175">
              <a:solidFill>
                <a:schemeClr val="accent1"/>
              </a:solidFill>
              <a:miter lim="800000"/>
              <a:headEnd/>
              <a:tailEnd/>
            </a:ln>
            <a:effectLst/>
          </p:spPr>
          <p:txBody>
            <a:bodyPr wrap="none" anchor="ctr"/>
            <a:lstStyle/>
            <a:p>
              <a:endParaRPr lang="en-US" sz="1200">
                <a:solidFill>
                  <a:schemeClr val="accent1"/>
                </a:solidFill>
              </a:endParaRPr>
            </a:p>
          </p:txBody>
        </p:sp>
        <p:sp>
          <p:nvSpPr>
            <p:cNvPr id="35" name="Rectangle 146"/>
            <p:cNvSpPr>
              <a:spLocks noChangeArrowheads="1"/>
            </p:cNvSpPr>
            <p:nvPr/>
          </p:nvSpPr>
          <p:spPr bwMode="auto">
            <a:xfrm flipV="1">
              <a:off x="1971" y="1432"/>
              <a:ext cx="86" cy="17"/>
            </a:xfrm>
            <a:prstGeom prst="rect">
              <a:avLst/>
            </a:prstGeom>
            <a:solidFill>
              <a:schemeClr val="accent1"/>
            </a:solidFill>
            <a:ln w="3175">
              <a:solidFill>
                <a:schemeClr val="accent1"/>
              </a:solidFill>
              <a:miter lim="800000"/>
              <a:headEnd/>
              <a:tailEnd/>
            </a:ln>
            <a:effectLst/>
          </p:spPr>
          <p:txBody>
            <a:bodyPr wrap="none" anchor="ctr"/>
            <a:lstStyle/>
            <a:p>
              <a:endParaRPr lang="en-US" sz="1200">
                <a:solidFill>
                  <a:schemeClr val="accent1"/>
                </a:solidFill>
              </a:endParaRPr>
            </a:p>
          </p:txBody>
        </p:sp>
      </p:grpSp>
      <p:grpSp>
        <p:nvGrpSpPr>
          <p:cNvPr id="13" name="Group 12"/>
          <p:cNvGrpSpPr/>
          <p:nvPr/>
        </p:nvGrpSpPr>
        <p:grpSpPr>
          <a:xfrm>
            <a:off x="3246746" y="1169988"/>
            <a:ext cx="1251972" cy="430887"/>
            <a:chOff x="1452474" y="1572203"/>
            <a:chExt cx="2110433" cy="430887"/>
          </a:xfrm>
        </p:grpSpPr>
        <p:sp>
          <p:nvSpPr>
            <p:cNvPr id="25" name="Rectangle 13"/>
            <p:cNvSpPr>
              <a:spLocks noChangeArrowheads="1"/>
            </p:cNvSpPr>
            <p:nvPr/>
          </p:nvSpPr>
          <p:spPr bwMode="auto">
            <a:xfrm>
              <a:off x="1452474" y="1572203"/>
              <a:ext cx="2110433" cy="430887"/>
            </a:xfrm>
            <a:prstGeom prst="rect">
              <a:avLst/>
            </a:prstGeom>
            <a:noFill/>
            <a:ln w="9525">
              <a:noFill/>
              <a:miter lim="800000"/>
              <a:headEnd/>
              <a:tailEnd/>
            </a:ln>
            <a:effectLst/>
          </p:spPr>
          <p:txBody>
            <a:bodyPr wrap="square" lIns="0" tIns="0" rIns="0" bIns="0" anchor="t" anchorCtr="0">
              <a:spAutoFit/>
            </a:bodyPr>
            <a:lstStyle/>
            <a:p>
              <a:pPr defTabSz="895255">
                <a:buSzPct val="120000"/>
              </a:pPr>
              <a:r>
                <a:rPr lang="en-US" sz="1400" b="1" dirty="0" smtClean="0">
                  <a:solidFill>
                    <a:schemeClr val="accent1"/>
                  </a:solidFill>
                </a:rPr>
                <a:t>Allocation of</a:t>
              </a:r>
            </a:p>
            <a:p>
              <a:pPr defTabSz="895255">
                <a:buSzPct val="120000"/>
              </a:pPr>
              <a:r>
                <a:rPr lang="en-US" sz="1400" b="1" dirty="0" smtClean="0">
                  <a:solidFill>
                    <a:schemeClr val="accent1"/>
                  </a:solidFill>
                </a:rPr>
                <a:t>total work day</a:t>
              </a:r>
              <a:endParaRPr lang="en-US" sz="1400" dirty="0">
                <a:solidFill>
                  <a:schemeClr val="accent1"/>
                </a:solidFill>
              </a:endParaRPr>
            </a:p>
          </p:txBody>
        </p:sp>
        <p:cxnSp>
          <p:nvCxnSpPr>
            <p:cNvPr id="36" name="Straight Connector 35"/>
            <p:cNvCxnSpPr/>
            <p:nvPr/>
          </p:nvCxnSpPr>
          <p:spPr bwMode="auto">
            <a:xfrm>
              <a:off x="1452474" y="1999834"/>
              <a:ext cx="201168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grpSp>
        <p:nvGrpSpPr>
          <p:cNvPr id="9" name="Group 8"/>
          <p:cNvGrpSpPr/>
          <p:nvPr/>
        </p:nvGrpSpPr>
        <p:grpSpPr>
          <a:xfrm>
            <a:off x="2888611" y="1366838"/>
            <a:ext cx="258264" cy="255167"/>
            <a:chOff x="1019087" y="1506121"/>
            <a:chExt cx="258264" cy="255167"/>
          </a:xfrm>
        </p:grpSpPr>
        <p:sp>
          <p:nvSpPr>
            <p:cNvPr id="29" name="Oval 140"/>
            <p:cNvSpPr>
              <a:spLocks noChangeArrowheads="1"/>
            </p:cNvSpPr>
            <p:nvPr/>
          </p:nvSpPr>
          <p:spPr bwMode="auto">
            <a:xfrm flipV="1">
              <a:off x="1019087" y="1506121"/>
              <a:ext cx="258264" cy="255167"/>
            </a:xfrm>
            <a:prstGeom prst="ellipse">
              <a:avLst/>
            </a:prstGeom>
            <a:solidFill>
              <a:schemeClr val="bg1"/>
            </a:solidFill>
            <a:ln w="9525">
              <a:solidFill>
                <a:schemeClr val="accent1"/>
              </a:solidFill>
              <a:round/>
              <a:headEnd/>
              <a:tailEnd/>
            </a:ln>
            <a:effectLst>
              <a:outerShdw dist="17961" dir="2700000" algn="ctr" rotWithShape="0">
                <a:schemeClr val="bg2"/>
              </a:outerShdw>
            </a:effectLst>
          </p:spPr>
          <p:txBody>
            <a:bodyPr wrap="none" anchor="ctr"/>
            <a:lstStyle/>
            <a:p>
              <a:pPr algn="ctr"/>
              <a:endParaRPr lang="en-US" sz="1400" b="1" dirty="0">
                <a:solidFill>
                  <a:schemeClr val="accent1"/>
                </a:solidFill>
              </a:endParaRPr>
            </a:p>
          </p:txBody>
        </p:sp>
        <p:sp>
          <p:nvSpPr>
            <p:cNvPr id="4" name="Multiply 3"/>
            <p:cNvSpPr/>
            <p:nvPr/>
          </p:nvSpPr>
          <p:spPr>
            <a:xfrm>
              <a:off x="1068391" y="1540835"/>
              <a:ext cx="159657" cy="185738"/>
            </a:xfrm>
            <a:prstGeom prst="mathMultipl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p:cNvGrpSpPr/>
          <p:nvPr/>
        </p:nvGrpSpPr>
        <p:grpSpPr>
          <a:xfrm>
            <a:off x="4843463" y="1169988"/>
            <a:ext cx="1914525" cy="430887"/>
            <a:chOff x="1452474" y="1572203"/>
            <a:chExt cx="2110433" cy="430887"/>
          </a:xfrm>
        </p:grpSpPr>
        <p:sp>
          <p:nvSpPr>
            <p:cNvPr id="41" name="Rectangle 13"/>
            <p:cNvSpPr>
              <a:spLocks noChangeArrowheads="1"/>
            </p:cNvSpPr>
            <p:nvPr/>
          </p:nvSpPr>
          <p:spPr bwMode="auto">
            <a:xfrm>
              <a:off x="1452474" y="1572203"/>
              <a:ext cx="2110433" cy="430887"/>
            </a:xfrm>
            <a:prstGeom prst="rect">
              <a:avLst/>
            </a:prstGeom>
            <a:noFill/>
            <a:ln w="9525">
              <a:noFill/>
              <a:miter lim="800000"/>
              <a:headEnd/>
              <a:tailEnd/>
            </a:ln>
            <a:effectLst/>
          </p:spPr>
          <p:txBody>
            <a:bodyPr wrap="square" lIns="0" tIns="0" rIns="0" bIns="0" anchor="t" anchorCtr="0">
              <a:spAutoFit/>
            </a:bodyPr>
            <a:lstStyle/>
            <a:p>
              <a:pPr defTabSz="895255">
                <a:buSzPct val="120000"/>
              </a:pPr>
              <a:r>
                <a:rPr lang="en-US" sz="1400" b="1" dirty="0" smtClean="0">
                  <a:solidFill>
                    <a:schemeClr val="accent1"/>
                  </a:solidFill>
                </a:rPr>
                <a:t>Total labor days</a:t>
              </a:r>
            </a:p>
            <a:p>
              <a:pPr defTabSz="895255">
                <a:buSzPct val="120000"/>
              </a:pPr>
              <a:r>
                <a:rPr lang="en-US" sz="1400" dirty="0" smtClean="0">
                  <a:solidFill>
                    <a:schemeClr val="accent1"/>
                  </a:solidFill>
                </a:rPr>
                <a:t>(Full time equivalency)</a:t>
              </a:r>
              <a:endParaRPr lang="en-US" sz="1400" dirty="0">
                <a:solidFill>
                  <a:schemeClr val="accent1"/>
                </a:solidFill>
              </a:endParaRPr>
            </a:p>
          </p:txBody>
        </p:sp>
        <p:cxnSp>
          <p:nvCxnSpPr>
            <p:cNvPr id="42" name="Straight Connector 41"/>
            <p:cNvCxnSpPr/>
            <p:nvPr/>
          </p:nvCxnSpPr>
          <p:spPr bwMode="auto">
            <a:xfrm>
              <a:off x="1452474" y="1999834"/>
              <a:ext cx="201168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cxnSp>
        <p:nvCxnSpPr>
          <p:cNvPr id="52" name="Straight Connector 51"/>
          <p:cNvCxnSpPr/>
          <p:nvPr>
            <p:custDataLst>
              <p:tags r:id="rId4"/>
            </p:custDataLst>
          </p:nvPr>
        </p:nvCxnSpPr>
        <p:spPr bwMode="gray">
          <a:xfrm>
            <a:off x="6515100" y="4105275"/>
            <a:ext cx="0" cy="28575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53" name="Straight Connector 52"/>
          <p:cNvCxnSpPr/>
          <p:nvPr>
            <p:custDataLst>
              <p:tags r:id="rId5"/>
            </p:custDataLst>
          </p:nvPr>
        </p:nvCxnSpPr>
        <p:spPr bwMode="gray">
          <a:xfrm>
            <a:off x="6067425" y="3467100"/>
            <a:ext cx="0" cy="28575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54" name="Straight Connector 53"/>
          <p:cNvCxnSpPr/>
          <p:nvPr>
            <p:custDataLst>
              <p:tags r:id="rId6"/>
            </p:custDataLst>
          </p:nvPr>
        </p:nvCxnSpPr>
        <p:spPr bwMode="gray">
          <a:xfrm>
            <a:off x="5172075" y="2828925"/>
            <a:ext cx="0" cy="285750"/>
          </a:xfrm>
          <a:prstGeom prst="line">
            <a:avLst/>
          </a:prstGeom>
          <a:solidFill>
            <a:schemeClr val="accent1"/>
          </a:solidFill>
          <a:ln w="3175" cap="flat" cmpd="sng" algn="ctr">
            <a:solidFill>
              <a:srgbClr val="D52B1E"/>
            </a:solidFill>
            <a:prstDash val="lgDash"/>
            <a:round/>
            <a:headEnd type="none" w="med" len="med"/>
            <a:tailEnd type="none" w="med" len="med"/>
          </a:ln>
          <a:effectLst/>
        </p:spPr>
      </p:cxnSp>
      <p:cxnSp>
        <p:nvCxnSpPr>
          <p:cNvPr id="55" name="Straight Connector 54"/>
          <p:cNvCxnSpPr/>
          <p:nvPr>
            <p:custDataLst>
              <p:tags r:id="rId7"/>
            </p:custDataLst>
          </p:nvPr>
        </p:nvCxnSpPr>
        <p:spPr bwMode="gray">
          <a:xfrm>
            <a:off x="5029200" y="2181225"/>
            <a:ext cx="0" cy="285750"/>
          </a:xfrm>
          <a:prstGeom prst="line">
            <a:avLst/>
          </a:prstGeom>
          <a:solidFill>
            <a:schemeClr val="accent1"/>
          </a:solidFill>
          <a:ln w="3175" cap="flat" cmpd="sng" algn="ctr">
            <a:solidFill>
              <a:srgbClr val="D52B1E"/>
            </a:solidFill>
            <a:prstDash val="lgDash"/>
            <a:round/>
            <a:headEnd type="none" w="med" len="med"/>
            <a:tailEnd type="none" w="med" len="med"/>
          </a:ln>
          <a:effectLst/>
        </p:spPr>
      </p:cxnSp>
      <p:graphicFrame>
        <p:nvGraphicFramePr>
          <p:cNvPr id="56" name="Object 55"/>
          <p:cNvGraphicFramePr>
            <a:graphicFrameLocks/>
          </p:cNvGraphicFramePr>
          <p:nvPr>
            <p:custDataLst>
              <p:tags r:id="rId8"/>
            </p:custDataLst>
            <p:extLst>
              <p:ext uri="{D42A27DB-BD31-4B8C-83A1-F6EECF244321}">
                <p14:modId xmlns:p14="http://schemas.microsoft.com/office/powerpoint/2010/main" val="3518720218"/>
              </p:ext>
            </p:extLst>
          </p:nvPr>
        </p:nvGraphicFramePr>
        <p:xfrm>
          <a:off x="4724400" y="1562100"/>
          <a:ext cx="2133600" cy="4076790"/>
        </p:xfrm>
        <a:graphic>
          <a:graphicData uri="http://schemas.openxmlformats.org/presentationml/2006/ole">
            <mc:AlternateContent xmlns:mc="http://schemas.openxmlformats.org/markup-compatibility/2006">
              <mc:Choice xmlns:v="urn:schemas-microsoft-com:vml" Requires="v">
                <p:oleObj spid="_x0000_s237971" name="Chart" r:id="rId33" imgW="2133600" imgH="4076790" progId="MSGraph.Chart.8">
                  <p:embed followColorScheme="full"/>
                </p:oleObj>
              </mc:Choice>
              <mc:Fallback>
                <p:oleObj name="Chart" r:id="rId33" imgW="2133600" imgH="4076790" progId="MSGraph.Chart.8">
                  <p:embed followColorScheme="full"/>
                  <p:pic>
                    <p:nvPicPr>
                      <p:cNvPr id="0" name=""/>
                      <p:cNvPicPr/>
                      <p:nvPr/>
                    </p:nvPicPr>
                    <p:blipFill>
                      <a:blip r:embed="rId34"/>
                      <a:stretch>
                        <a:fillRect/>
                      </a:stretch>
                    </p:blipFill>
                    <p:spPr>
                      <a:xfrm>
                        <a:off x="4724400" y="1562100"/>
                        <a:ext cx="2133600" cy="4076790"/>
                      </a:xfrm>
                      <a:prstGeom prst="rect">
                        <a:avLst/>
                      </a:prstGeom>
                    </p:spPr>
                  </p:pic>
                </p:oleObj>
              </mc:Fallback>
            </mc:AlternateContent>
          </a:graphicData>
        </a:graphic>
      </p:graphicFrame>
      <p:sp useBgFill="1">
        <p:nvSpPr>
          <p:cNvPr id="15" name="Freeform 14"/>
          <p:cNvSpPr/>
          <p:nvPr>
            <p:custDataLst>
              <p:tags r:id="rId9"/>
            </p:custDataLst>
          </p:nvPr>
        </p:nvSpPr>
        <p:spPr bwMode="auto">
          <a:xfrm>
            <a:off x="4765675" y="4848225"/>
            <a:ext cx="146051" cy="96839"/>
          </a:xfrm>
          <a:custGeom>
            <a:avLst/>
            <a:gdLst/>
            <a:ahLst/>
            <a:cxnLst/>
            <a:rect l="0" t="0" r="0" b="0"/>
            <a:pathLst>
              <a:path w="146051" h="96839">
                <a:moveTo>
                  <a:pt x="0" y="39688"/>
                </a:moveTo>
                <a:lnTo>
                  <a:pt x="146050" y="0"/>
                </a:lnTo>
                <a:lnTo>
                  <a:pt x="146050" y="57150"/>
                </a:lnTo>
                <a:lnTo>
                  <a:pt x="0" y="96838"/>
                </a:lnTo>
                <a:close/>
              </a:path>
            </a:pathLst>
          </a:custGeom>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custDataLst>
              <p:tags r:id="rId10"/>
            </p:custDataLst>
          </p:nvPr>
        </p:nvSpPr>
        <p:spPr bwMode="auto">
          <a:xfrm>
            <a:off x="4765675" y="4905375"/>
            <a:ext cx="146051" cy="39689"/>
          </a:xfrm>
          <a:custGeom>
            <a:avLst/>
            <a:gdLst/>
            <a:ahLst/>
            <a:cxnLst/>
            <a:rect l="0" t="0" r="0" b="0"/>
            <a:pathLst>
              <a:path w="146051" h="39689">
                <a:moveTo>
                  <a:pt x="0" y="39688"/>
                </a:moveTo>
                <a:lnTo>
                  <a:pt x="146050" y="0"/>
                </a:lnTo>
              </a:path>
            </a:pathLst>
          </a:cu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Freeform 7"/>
          <p:cNvSpPr/>
          <p:nvPr>
            <p:custDataLst>
              <p:tags r:id="rId11"/>
            </p:custDataLst>
          </p:nvPr>
        </p:nvSpPr>
        <p:spPr bwMode="auto">
          <a:xfrm>
            <a:off x="4765675" y="4848225"/>
            <a:ext cx="146051" cy="39689"/>
          </a:xfrm>
          <a:custGeom>
            <a:avLst/>
            <a:gdLst/>
            <a:ahLst/>
            <a:cxnLst/>
            <a:rect l="0" t="0" r="0" b="0"/>
            <a:pathLst>
              <a:path w="146051" h="39689">
                <a:moveTo>
                  <a:pt x="0" y="39688"/>
                </a:moveTo>
                <a:lnTo>
                  <a:pt x="146050" y="0"/>
                </a:lnTo>
              </a:path>
            </a:pathLst>
          </a:cu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5" name="Text Placeholder 75"/>
          <p:cNvSpPr>
            <a:spLocks noGrp="1"/>
          </p:cNvSpPr>
          <p:nvPr>
            <p:custDataLst>
              <p:tags r:id="rId12"/>
            </p:custDataLst>
          </p:nvPr>
        </p:nvSpPr>
        <p:spPr bwMode="auto">
          <a:xfrm>
            <a:off x="4289425" y="5108575"/>
            <a:ext cx="4095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514E5318-E084-4B4F-8EAE-01307140AF45}" type="datetime'T''''''''o''''''''''''''''''''''''t''''''''al'''''''''''''">
              <a:rPr lang="en-US" sz="1400" b="1">
                <a:solidFill>
                  <a:schemeClr val="accent1"/>
                </a:solidFill>
                <a:sym typeface="+mn-lt"/>
              </a:rPr>
              <a:pPr marL="0" indent="0" algn="r">
                <a:spcBef>
                  <a:spcPct val="0"/>
                </a:spcBef>
                <a:spcAft>
                  <a:spcPct val="0"/>
                </a:spcAft>
                <a:buNone/>
              </a:pPr>
              <a:t>Total</a:t>
            </a:fld>
            <a:endParaRPr lang="en-US" sz="1400" b="1" dirty="0">
              <a:solidFill>
                <a:schemeClr val="accent1"/>
              </a:solidFill>
              <a:sym typeface="+mn-lt"/>
            </a:endParaRPr>
          </a:p>
        </p:txBody>
      </p:sp>
      <p:sp>
        <p:nvSpPr>
          <p:cNvPr id="63" name="Text Placeholder 66"/>
          <p:cNvSpPr>
            <a:spLocks noGrp="1"/>
          </p:cNvSpPr>
          <p:nvPr>
            <p:custDataLst>
              <p:tags r:id="rId13"/>
            </p:custDataLst>
          </p:nvPr>
        </p:nvSpPr>
        <p:spPr bwMode="gray">
          <a:xfrm>
            <a:off x="6510338" y="4465638"/>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32</a:t>
            </a:r>
            <a:endParaRPr lang="en-US" sz="1400" dirty="0">
              <a:solidFill>
                <a:schemeClr val="accent1"/>
              </a:solidFill>
              <a:latin typeface="Arial"/>
              <a:sym typeface="Arial"/>
            </a:endParaRPr>
          </a:p>
        </p:txBody>
      </p:sp>
      <p:sp>
        <p:nvSpPr>
          <p:cNvPr id="67" name="Text Placeholder 179"/>
          <p:cNvSpPr>
            <a:spLocks noGrp="1"/>
          </p:cNvSpPr>
          <p:nvPr>
            <p:custDataLst>
              <p:tags r:id="rId14"/>
            </p:custDataLst>
          </p:nvPr>
        </p:nvSpPr>
        <p:spPr bwMode="gray">
          <a:xfrm>
            <a:off x="5975350" y="3822700"/>
            <a:ext cx="317500" cy="212725"/>
          </a:xfrm>
          <a:prstGeom prst="rect">
            <a:avLst/>
          </a:prstGeom>
          <a:solidFill>
            <a:srgbClr val="D52B1E"/>
          </a:solidFill>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bg1"/>
                </a:solidFill>
                <a:sym typeface="+mn-lt"/>
              </a:rPr>
              <a:t>18*</a:t>
            </a:r>
            <a:endParaRPr lang="en-US" sz="1400" dirty="0">
              <a:solidFill>
                <a:schemeClr val="bg1"/>
              </a:solidFill>
              <a:sym typeface="+mn-lt"/>
            </a:endParaRPr>
          </a:p>
        </p:txBody>
      </p:sp>
      <p:sp>
        <p:nvSpPr>
          <p:cNvPr id="62" name="Text Placeholder 65"/>
          <p:cNvSpPr>
            <a:spLocks noGrp="1"/>
          </p:cNvSpPr>
          <p:nvPr>
            <p:custDataLst>
              <p:tags r:id="rId15"/>
            </p:custDataLst>
          </p:nvPr>
        </p:nvSpPr>
        <p:spPr bwMode="gray">
          <a:xfrm>
            <a:off x="5389563" y="3184525"/>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bg1"/>
                </a:solidFill>
                <a:latin typeface="Arial"/>
                <a:sym typeface="Arial"/>
              </a:rPr>
              <a:t>105</a:t>
            </a:r>
            <a:endParaRPr lang="en-US" sz="1400" dirty="0">
              <a:solidFill>
                <a:schemeClr val="bg1"/>
              </a:solidFill>
              <a:latin typeface="Arial"/>
              <a:sym typeface="Arial"/>
            </a:endParaRPr>
          </a:p>
        </p:txBody>
      </p:sp>
      <p:sp>
        <p:nvSpPr>
          <p:cNvPr id="66" name="Text Placeholder 38"/>
          <p:cNvSpPr>
            <a:spLocks noGrp="1"/>
          </p:cNvSpPr>
          <p:nvPr>
            <p:custDataLst>
              <p:tags r:id="rId16"/>
            </p:custDataLst>
          </p:nvPr>
        </p:nvSpPr>
        <p:spPr bwMode="gray">
          <a:xfrm>
            <a:off x="4976813" y="2541588"/>
            <a:ext cx="247650" cy="212725"/>
          </a:xfrm>
          <a:prstGeom prst="rect">
            <a:avLst/>
          </a:prstGeom>
          <a:solidFill>
            <a:schemeClr val="bg1"/>
          </a:solidFill>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rPr>
              <a:t>20</a:t>
            </a:r>
          </a:p>
        </p:txBody>
      </p:sp>
      <p:sp>
        <p:nvSpPr>
          <p:cNvPr id="60" name="Text Placeholder 64"/>
          <p:cNvSpPr>
            <a:spLocks noGrp="1"/>
          </p:cNvSpPr>
          <p:nvPr>
            <p:custDataLst>
              <p:tags r:id="rId17"/>
            </p:custDataLst>
          </p:nvPr>
        </p:nvSpPr>
        <p:spPr bwMode="gray">
          <a:xfrm>
            <a:off x="5054600" y="1898650"/>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25</a:t>
            </a:r>
            <a:endParaRPr lang="en-US" sz="1400" dirty="0">
              <a:solidFill>
                <a:schemeClr val="accent1"/>
              </a:solidFill>
              <a:latin typeface="Arial"/>
              <a:sym typeface="Arial"/>
            </a:endParaRPr>
          </a:p>
        </p:txBody>
      </p:sp>
      <p:graphicFrame>
        <p:nvGraphicFramePr>
          <p:cNvPr id="16" name="Object 15"/>
          <p:cNvGraphicFramePr>
            <a:graphicFrameLocks/>
          </p:cNvGraphicFramePr>
          <p:nvPr>
            <p:custDataLst>
              <p:tags r:id="rId18"/>
            </p:custDataLst>
            <p:extLst>
              <p:ext uri="{D42A27DB-BD31-4B8C-83A1-F6EECF244321}">
                <p14:modId xmlns:p14="http://schemas.microsoft.com/office/powerpoint/2010/main" val="1517089558"/>
              </p:ext>
            </p:extLst>
          </p:nvPr>
        </p:nvGraphicFramePr>
        <p:xfrm>
          <a:off x="1219200" y="1562100"/>
          <a:ext cx="1485900" cy="3429000"/>
        </p:xfrm>
        <a:graphic>
          <a:graphicData uri="http://schemas.openxmlformats.org/presentationml/2006/ole">
            <mc:AlternateContent xmlns:mc="http://schemas.openxmlformats.org/markup-compatibility/2006">
              <mc:Choice xmlns:v="urn:schemas-microsoft-com:vml" Requires="v">
                <p:oleObj spid="_x0000_s237972" name="Chart" r:id="rId35" imgW="1485900" imgH="3429000" progId="MSGraph.Chart.8">
                  <p:embed followColorScheme="full"/>
                </p:oleObj>
              </mc:Choice>
              <mc:Fallback>
                <p:oleObj name="Chart" r:id="rId35" imgW="1485900" imgH="3429000" progId="MSGraph.Chart.8">
                  <p:embed followColorScheme="full"/>
                  <p:pic>
                    <p:nvPicPr>
                      <p:cNvPr id="0" name=""/>
                      <p:cNvPicPr/>
                      <p:nvPr/>
                    </p:nvPicPr>
                    <p:blipFill>
                      <a:blip r:embed="rId36"/>
                      <a:stretch>
                        <a:fillRect/>
                      </a:stretch>
                    </p:blipFill>
                    <p:spPr>
                      <a:xfrm>
                        <a:off x="1219200" y="1562100"/>
                        <a:ext cx="1485900" cy="3429000"/>
                      </a:xfrm>
                      <a:prstGeom prst="rect">
                        <a:avLst/>
                      </a:prstGeom>
                    </p:spPr>
                  </p:pic>
                </p:oleObj>
              </mc:Fallback>
            </mc:AlternateContent>
          </a:graphicData>
        </a:graphic>
      </p:graphicFrame>
      <p:sp>
        <p:nvSpPr>
          <p:cNvPr id="77" name="Text Placeholder 51"/>
          <p:cNvSpPr>
            <a:spLocks noGrp="1"/>
          </p:cNvSpPr>
          <p:nvPr>
            <p:custDataLst>
              <p:tags r:id="rId19"/>
            </p:custDataLst>
          </p:nvPr>
        </p:nvSpPr>
        <p:spPr bwMode="auto">
          <a:xfrm>
            <a:off x="328613" y="3822700"/>
            <a:ext cx="8651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F32D4DCB-171C-480D-8E65-F0A126F61D42}" type="datetime'W''''''''''''et ''mi''''''''''lli''''''''''''n''''g'''''''">
              <a:rPr lang="en-US" sz="1400" smtClean="0">
                <a:solidFill>
                  <a:schemeClr val="accent1"/>
                </a:solidFill>
              </a:rPr>
              <a:pPr marL="0" indent="0" algn="r">
                <a:spcBef>
                  <a:spcPct val="0"/>
                </a:spcBef>
                <a:spcAft>
                  <a:spcPct val="0"/>
                </a:spcAft>
                <a:buNone/>
              </a:pPr>
              <a:t>Wet milling</a:t>
            </a:fld>
            <a:endParaRPr lang="en-US" sz="1400" dirty="0">
              <a:solidFill>
                <a:schemeClr val="accent1"/>
              </a:solidFill>
              <a:latin typeface="Arial"/>
              <a:sym typeface="Arial"/>
            </a:endParaRPr>
          </a:p>
        </p:txBody>
      </p:sp>
      <p:sp>
        <p:nvSpPr>
          <p:cNvPr id="78" name="Text Placeholder 52"/>
          <p:cNvSpPr>
            <a:spLocks noGrp="1"/>
          </p:cNvSpPr>
          <p:nvPr>
            <p:custDataLst>
              <p:tags r:id="rId20"/>
            </p:custDataLst>
          </p:nvPr>
        </p:nvSpPr>
        <p:spPr bwMode="auto">
          <a:xfrm>
            <a:off x="661988" y="4460875"/>
            <a:ext cx="5318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93B0D19A-3FF1-48A9-A931-83ABF28E6A91}" type="datetime'O''''''''th''e''''''r''s'''''''''''''''''''''''''''">
              <a:rPr lang="en-US" sz="1400" smtClean="0">
                <a:solidFill>
                  <a:schemeClr val="accent1"/>
                </a:solidFill>
                <a:latin typeface="Arial"/>
                <a:sym typeface="Arial"/>
              </a:rPr>
              <a:pPr marL="0" indent="0" algn="r">
                <a:spcBef>
                  <a:spcPct val="0"/>
                </a:spcBef>
                <a:spcAft>
                  <a:spcPct val="0"/>
                </a:spcAft>
                <a:buNone/>
              </a:pPr>
              <a:t>Others</a:t>
            </a:fld>
            <a:endParaRPr lang="en-US" sz="1400" dirty="0">
              <a:solidFill>
                <a:schemeClr val="accent1"/>
              </a:solidFill>
              <a:latin typeface="Arial"/>
              <a:sym typeface="Arial"/>
            </a:endParaRPr>
          </a:p>
        </p:txBody>
      </p:sp>
      <p:sp>
        <p:nvSpPr>
          <p:cNvPr id="58" name="Text Placeholder 160"/>
          <p:cNvSpPr>
            <a:spLocks noGrp="1"/>
          </p:cNvSpPr>
          <p:nvPr>
            <p:custDataLst>
              <p:tags r:id="rId21"/>
            </p:custDataLst>
          </p:nvPr>
        </p:nvSpPr>
        <p:spPr bwMode="gray">
          <a:xfrm>
            <a:off x="1768475" y="4460875"/>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64</a:t>
            </a:r>
            <a:endParaRPr lang="en-US" sz="1400" dirty="0">
              <a:solidFill>
                <a:schemeClr val="accent1"/>
              </a:solidFill>
              <a:latin typeface="Arial"/>
              <a:sym typeface="Arial"/>
            </a:endParaRPr>
          </a:p>
        </p:txBody>
      </p:sp>
      <p:sp>
        <p:nvSpPr>
          <p:cNvPr id="59" name="Text Placeholder 172"/>
          <p:cNvSpPr>
            <a:spLocks noGrp="1"/>
          </p:cNvSpPr>
          <p:nvPr>
            <p:custDataLst>
              <p:tags r:id="rId22"/>
            </p:custDataLst>
          </p:nvPr>
        </p:nvSpPr>
        <p:spPr bwMode="gray">
          <a:xfrm>
            <a:off x="1541463" y="3822700"/>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bg1"/>
                </a:solidFill>
              </a:rPr>
              <a:t>120</a:t>
            </a:r>
            <a:endParaRPr lang="en-US" sz="1400" dirty="0">
              <a:solidFill>
                <a:schemeClr val="bg1"/>
              </a:solidFill>
              <a:latin typeface="Arial"/>
              <a:sym typeface="Arial"/>
            </a:endParaRPr>
          </a:p>
        </p:txBody>
      </p:sp>
      <p:sp>
        <p:nvSpPr>
          <p:cNvPr id="70" name="Text Placeholder 44"/>
          <p:cNvSpPr>
            <a:spLocks noGrp="1"/>
          </p:cNvSpPr>
          <p:nvPr>
            <p:custDataLst>
              <p:tags r:id="rId23"/>
            </p:custDataLst>
          </p:nvPr>
        </p:nvSpPr>
        <p:spPr bwMode="auto">
          <a:xfrm>
            <a:off x="346075" y="3179763"/>
            <a:ext cx="8477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71E43A38-39DF-4FB5-8BF2-342FCBBA7CC9}" type="datetime'H''''''a''''''''rv''''e''''''''''''st''''''i''n''''''g'''''">
              <a:rPr lang="en-US" sz="1400" smtClean="0">
                <a:solidFill>
                  <a:schemeClr val="accent1"/>
                </a:solidFill>
              </a:rPr>
              <a:pPr marL="0" indent="0" algn="r">
                <a:spcBef>
                  <a:spcPct val="0"/>
                </a:spcBef>
                <a:spcAft>
                  <a:spcPct val="0"/>
                </a:spcAft>
                <a:buNone/>
              </a:pPr>
              <a:t>Harvesting</a:t>
            </a:fld>
            <a:endParaRPr lang="en-US" sz="1400" dirty="0">
              <a:solidFill>
                <a:schemeClr val="accent1"/>
              </a:solidFill>
              <a:latin typeface="Arial"/>
              <a:sym typeface="Arial"/>
            </a:endParaRPr>
          </a:p>
        </p:txBody>
      </p:sp>
      <p:sp>
        <p:nvSpPr>
          <p:cNvPr id="61" name="Text Placeholder 174"/>
          <p:cNvSpPr>
            <a:spLocks noGrp="1"/>
          </p:cNvSpPr>
          <p:nvPr>
            <p:custDataLst>
              <p:tags r:id="rId24"/>
            </p:custDataLst>
          </p:nvPr>
        </p:nvSpPr>
        <p:spPr bwMode="gray">
          <a:xfrm>
            <a:off x="1712913" y="3179763"/>
            <a:ext cx="3460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bg1"/>
                </a:solidFill>
              </a:rPr>
              <a:t>175</a:t>
            </a:r>
            <a:endParaRPr lang="en-US" sz="1400" dirty="0">
              <a:solidFill>
                <a:schemeClr val="bg1"/>
              </a:solidFill>
              <a:latin typeface="Arial"/>
              <a:sym typeface="Arial"/>
            </a:endParaRPr>
          </a:p>
        </p:txBody>
      </p:sp>
      <p:sp>
        <p:nvSpPr>
          <p:cNvPr id="69" name="Text Placeholder 43"/>
          <p:cNvSpPr>
            <a:spLocks noGrp="1"/>
          </p:cNvSpPr>
          <p:nvPr>
            <p:custDataLst>
              <p:tags r:id="rId25"/>
            </p:custDataLst>
          </p:nvPr>
        </p:nvSpPr>
        <p:spPr bwMode="auto">
          <a:xfrm>
            <a:off x="287338" y="2536825"/>
            <a:ext cx="9064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buNone/>
            </a:pPr>
            <a:fld id="{DFE64504-8D56-4810-9854-55F32C6F3C3C}" type="datetime'F''''''''''''''''''''''ertil''''''i''''za''''t''''ion'">
              <a:rPr lang="en-US" sz="1400" smtClean="0">
                <a:solidFill>
                  <a:schemeClr val="accent1"/>
                </a:solidFill>
              </a:rPr>
              <a:pPr marL="0" indent="0" algn="r">
                <a:buNone/>
              </a:pPr>
              <a:t>Fertilization</a:t>
            </a:fld>
            <a:endParaRPr lang="en-US" sz="1400" dirty="0">
              <a:solidFill>
                <a:schemeClr val="accent1"/>
              </a:solidFill>
              <a:latin typeface="Arial"/>
              <a:sym typeface="Arial"/>
            </a:endParaRPr>
          </a:p>
        </p:txBody>
      </p:sp>
      <p:sp>
        <p:nvSpPr>
          <p:cNvPr id="57" name="Text Placeholder 159"/>
          <p:cNvSpPr>
            <a:spLocks noGrp="1"/>
          </p:cNvSpPr>
          <p:nvPr>
            <p:custDataLst>
              <p:tags r:id="rId26"/>
            </p:custDataLst>
          </p:nvPr>
        </p:nvSpPr>
        <p:spPr bwMode="gray">
          <a:xfrm>
            <a:off x="1482725" y="2536825"/>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20</a:t>
            </a:r>
            <a:endParaRPr lang="en-US" sz="1400" dirty="0">
              <a:solidFill>
                <a:schemeClr val="accent1"/>
              </a:solidFill>
              <a:latin typeface="Arial"/>
              <a:sym typeface="Arial"/>
            </a:endParaRPr>
          </a:p>
        </p:txBody>
      </p:sp>
      <p:sp>
        <p:nvSpPr>
          <p:cNvPr id="68" name="Text Placeholder 42"/>
          <p:cNvSpPr>
            <a:spLocks noGrp="1"/>
          </p:cNvSpPr>
          <p:nvPr>
            <p:custDataLst>
              <p:tags r:id="rId27"/>
            </p:custDataLst>
          </p:nvPr>
        </p:nvSpPr>
        <p:spPr bwMode="auto">
          <a:xfrm>
            <a:off x="496888" y="1898650"/>
            <a:ext cx="6969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E070E8D2-FE31-43FE-9454-03032E35CCF7}" type="datetime'W''''''''''e''e''''''''''''''''''''''din''''''''g'''''''''">
              <a:rPr lang="en-US" sz="1400" smtClean="0">
                <a:solidFill>
                  <a:schemeClr val="accent1"/>
                </a:solidFill>
              </a:rPr>
              <a:pPr marL="0" indent="0" algn="r">
                <a:spcBef>
                  <a:spcPct val="0"/>
                </a:spcBef>
                <a:spcAft>
                  <a:spcPct val="0"/>
                </a:spcAft>
                <a:buNone/>
              </a:pPr>
              <a:t>Weeding</a:t>
            </a:fld>
            <a:endParaRPr lang="en-US" sz="1400" dirty="0">
              <a:solidFill>
                <a:schemeClr val="accent1"/>
              </a:solidFill>
              <a:latin typeface="Arial"/>
              <a:sym typeface="Arial"/>
            </a:endParaRPr>
          </a:p>
        </p:txBody>
      </p:sp>
      <p:sp>
        <p:nvSpPr>
          <p:cNvPr id="51" name="Text Placeholder 158"/>
          <p:cNvSpPr>
            <a:spLocks noGrp="1"/>
          </p:cNvSpPr>
          <p:nvPr>
            <p:custDataLst>
              <p:tags r:id="rId28"/>
            </p:custDataLst>
          </p:nvPr>
        </p:nvSpPr>
        <p:spPr bwMode="gray">
          <a:xfrm>
            <a:off x="1520825" y="1898650"/>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25</a:t>
            </a:r>
            <a:endParaRPr lang="en-US" sz="1400" dirty="0">
              <a:solidFill>
                <a:schemeClr val="accent1"/>
              </a:solidFill>
              <a:latin typeface="Arial"/>
              <a:sym typeface="Arial"/>
            </a:endParaRPr>
          </a:p>
        </p:txBody>
      </p:sp>
      <p:graphicFrame>
        <p:nvGraphicFramePr>
          <p:cNvPr id="89" name="Table 88"/>
          <p:cNvGraphicFramePr>
            <a:graphicFrameLocks noGrp="1"/>
          </p:cNvGraphicFramePr>
          <p:nvPr>
            <p:extLst>
              <p:ext uri="{D42A27DB-BD31-4B8C-83A1-F6EECF244321}">
                <p14:modId xmlns:p14="http://schemas.microsoft.com/office/powerpoint/2010/main" val="2557608541"/>
              </p:ext>
            </p:extLst>
          </p:nvPr>
        </p:nvGraphicFramePr>
        <p:xfrm>
          <a:off x="3051484" y="1684338"/>
          <a:ext cx="1478034" cy="3200400"/>
        </p:xfrm>
        <a:graphic>
          <a:graphicData uri="http://schemas.openxmlformats.org/drawingml/2006/table">
            <a:tbl>
              <a:tblPr firstRow="1" bandRow="1">
                <a:tableStyleId>{5C22544A-7EE6-4342-B048-85BDC9FD1C3A}</a:tableStyleId>
              </a:tblPr>
              <a:tblGrid>
                <a:gridCol w="1478034"/>
              </a:tblGrid>
              <a:tr h="640080">
                <a:tc>
                  <a:txBody>
                    <a:bodyPr/>
                    <a:lstStyle/>
                    <a:p>
                      <a:pPr algn="ctr"/>
                      <a:r>
                        <a:rPr lang="en-US" sz="1400" b="0" dirty="0" smtClean="0">
                          <a:solidFill>
                            <a:schemeClr val="accent1"/>
                          </a:solidFill>
                        </a:rPr>
                        <a:t>100%</a:t>
                      </a:r>
                      <a:endParaRPr lang="en-US" sz="1400" b="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algn="ctr"/>
                      <a:r>
                        <a:rPr lang="en-US" sz="1400" b="0" dirty="0" smtClean="0">
                          <a:solidFill>
                            <a:schemeClr val="accent1"/>
                          </a:solidFill>
                        </a:rPr>
                        <a:t>100%</a:t>
                      </a:r>
                      <a:endParaRPr lang="en-US" sz="1400" b="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algn="ctr"/>
                      <a:r>
                        <a:rPr lang="en-US" sz="1400" b="0" dirty="0" smtClean="0">
                          <a:solidFill>
                            <a:schemeClr val="accent1"/>
                          </a:solidFill>
                        </a:rPr>
                        <a:t>60%</a:t>
                      </a:r>
                      <a:endParaRPr lang="en-US" sz="1400" b="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algn="ctr"/>
                      <a:r>
                        <a:rPr lang="en-US" sz="1400" b="0" dirty="0" smtClean="0">
                          <a:solidFill>
                            <a:schemeClr val="accent1"/>
                          </a:solidFill>
                        </a:rPr>
                        <a:t>15%</a:t>
                      </a:r>
                      <a:endParaRPr lang="en-US" sz="1400" b="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algn="ctr"/>
                      <a:r>
                        <a:rPr lang="en-US" sz="1400" b="0" dirty="0" smtClean="0">
                          <a:solidFill>
                            <a:schemeClr val="accent1"/>
                          </a:solidFill>
                        </a:rPr>
                        <a:t>50%</a:t>
                      </a:r>
                      <a:endParaRPr lang="en-US" sz="1400" b="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107" name="Table 106"/>
          <p:cNvGraphicFramePr>
            <a:graphicFrameLocks noGrp="1"/>
          </p:cNvGraphicFramePr>
          <p:nvPr>
            <p:extLst>
              <p:ext uri="{D42A27DB-BD31-4B8C-83A1-F6EECF244321}">
                <p14:modId xmlns:p14="http://schemas.microsoft.com/office/powerpoint/2010/main" val="1412223323"/>
              </p:ext>
            </p:extLst>
          </p:nvPr>
        </p:nvGraphicFramePr>
        <p:xfrm>
          <a:off x="6881173" y="1670050"/>
          <a:ext cx="2003517" cy="3200400"/>
        </p:xfrm>
        <a:graphic>
          <a:graphicData uri="http://schemas.openxmlformats.org/drawingml/2006/table">
            <a:tbl>
              <a:tblPr firstRow="1" bandRow="1">
                <a:tableStyleId>{5C22544A-7EE6-4342-B048-85BDC9FD1C3A}</a:tableStyleId>
              </a:tblPr>
              <a:tblGrid>
                <a:gridCol w="2003517"/>
              </a:tblGrid>
              <a:tr h="640080">
                <a:tc>
                  <a:txBody>
                    <a:bodyPr/>
                    <a:lstStyle/>
                    <a:p>
                      <a:pPr marL="171450" indent="-171450" algn="l">
                        <a:buFont typeface="Arial" pitchFamily="34" charset="0"/>
                        <a:buChar char="•"/>
                      </a:pPr>
                      <a:r>
                        <a:rPr lang="en-US" sz="1400" b="0" dirty="0" smtClean="0">
                          <a:solidFill>
                            <a:schemeClr val="accent1"/>
                          </a:solidFill>
                        </a:rPr>
                        <a:t>Not modeled</a:t>
                      </a:r>
                      <a:endParaRPr lang="en-US" sz="1400" b="0" dirty="0">
                        <a:solidFill>
                          <a:schemeClr val="accent1"/>
                        </a:solidFill>
                      </a:endParaRPr>
                    </a:p>
                  </a:txBody>
                  <a:tcPr marL="45720"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marL="171450" indent="-171450" algn="l">
                        <a:buFont typeface="Arial" pitchFamily="34" charset="0"/>
                        <a:buChar char="•"/>
                      </a:pPr>
                      <a:r>
                        <a:rPr lang="en-US" sz="1400" b="0" dirty="0" smtClean="0">
                          <a:solidFill>
                            <a:schemeClr val="accent1"/>
                          </a:solidFill>
                        </a:rPr>
                        <a:t>Not modeled</a:t>
                      </a:r>
                      <a:endParaRPr lang="en-US" sz="1400" b="0" dirty="0">
                        <a:solidFill>
                          <a:schemeClr val="accent1"/>
                        </a:solidFill>
                      </a:endParaRPr>
                    </a:p>
                  </a:txBody>
                  <a:tcPr marL="45720"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marL="171450" indent="-171450" algn="l">
                        <a:buFont typeface="Arial" pitchFamily="34" charset="0"/>
                        <a:buChar char="•"/>
                      </a:pPr>
                      <a:r>
                        <a:rPr lang="en-US" sz="1400" b="0" dirty="0" smtClean="0">
                          <a:solidFill>
                            <a:schemeClr val="accent1"/>
                          </a:solidFill>
                        </a:rPr>
                        <a:t>5-10% through various improvements</a:t>
                      </a:r>
                      <a:endParaRPr lang="en-US" sz="1400" b="0" i="1" dirty="0">
                        <a:solidFill>
                          <a:schemeClr val="accent1"/>
                        </a:solidFill>
                      </a:endParaRPr>
                    </a:p>
                  </a:txBody>
                  <a:tcPr marL="45720"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marL="171450" indent="-171450" algn="l">
                        <a:buFont typeface="Arial" pitchFamily="34" charset="0"/>
                        <a:buChar char="•"/>
                      </a:pPr>
                      <a:r>
                        <a:rPr lang="en-US" sz="1400" b="0" dirty="0" smtClean="0">
                          <a:solidFill>
                            <a:schemeClr val="accent1"/>
                          </a:solidFill>
                        </a:rPr>
                        <a:t>50-70%</a:t>
                      </a:r>
                      <a:r>
                        <a:rPr lang="en-US" sz="1400" b="0" baseline="0" dirty="0" smtClean="0">
                          <a:solidFill>
                            <a:schemeClr val="accent1"/>
                          </a:solidFill>
                        </a:rPr>
                        <a:t> through central wet milling</a:t>
                      </a:r>
                      <a:endParaRPr lang="en-US" sz="1400" b="0" dirty="0">
                        <a:solidFill>
                          <a:schemeClr val="accent1"/>
                        </a:solidFill>
                      </a:endParaRPr>
                    </a:p>
                  </a:txBody>
                  <a:tcPr marL="45720"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marL="171450" indent="-171450" algn="l">
                        <a:buFont typeface="Arial" pitchFamily="34" charset="0"/>
                        <a:buChar char="•"/>
                      </a:pPr>
                      <a:r>
                        <a:rPr lang="en-US" sz="1400" b="0" dirty="0" smtClean="0">
                          <a:solidFill>
                            <a:schemeClr val="accent1"/>
                          </a:solidFill>
                        </a:rPr>
                        <a:t>Not modeled</a:t>
                      </a:r>
                      <a:endParaRPr lang="en-US" sz="1400" b="0" dirty="0">
                        <a:solidFill>
                          <a:schemeClr val="accent1"/>
                        </a:solidFill>
                      </a:endParaRPr>
                    </a:p>
                  </a:txBody>
                  <a:tcPr marL="45720"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110" name="Group 109"/>
          <p:cNvGrpSpPr/>
          <p:nvPr/>
        </p:nvGrpSpPr>
        <p:grpSpPr>
          <a:xfrm>
            <a:off x="6881173" y="1374775"/>
            <a:ext cx="1914525" cy="222911"/>
            <a:chOff x="1452474" y="1776923"/>
            <a:chExt cx="2110433" cy="222911"/>
          </a:xfrm>
        </p:grpSpPr>
        <p:sp>
          <p:nvSpPr>
            <p:cNvPr id="111" name="Rectangle 13"/>
            <p:cNvSpPr>
              <a:spLocks noChangeArrowheads="1"/>
            </p:cNvSpPr>
            <p:nvPr/>
          </p:nvSpPr>
          <p:spPr bwMode="auto">
            <a:xfrm>
              <a:off x="1452474" y="1776923"/>
              <a:ext cx="2110433" cy="215444"/>
            </a:xfrm>
            <a:prstGeom prst="rect">
              <a:avLst/>
            </a:prstGeom>
            <a:noFill/>
            <a:ln w="9525">
              <a:noFill/>
              <a:miter lim="800000"/>
              <a:headEnd/>
              <a:tailEnd/>
            </a:ln>
            <a:effectLst/>
          </p:spPr>
          <p:txBody>
            <a:bodyPr wrap="square" lIns="0" tIns="0" rIns="0" bIns="0" anchor="t" anchorCtr="0">
              <a:spAutoFit/>
            </a:bodyPr>
            <a:lstStyle/>
            <a:p>
              <a:pPr defTabSz="895255">
                <a:buSzPct val="120000"/>
              </a:pPr>
              <a:r>
                <a:rPr lang="en-US" sz="1400" b="1" dirty="0" smtClean="0">
                  <a:solidFill>
                    <a:schemeClr val="accent1"/>
                  </a:solidFill>
                </a:rPr>
                <a:t>Efficiency gains</a:t>
              </a:r>
              <a:endParaRPr lang="en-US" sz="1400" dirty="0">
                <a:solidFill>
                  <a:schemeClr val="accent1"/>
                </a:solidFill>
              </a:endParaRPr>
            </a:p>
          </p:txBody>
        </p:sp>
        <p:cxnSp>
          <p:nvCxnSpPr>
            <p:cNvPr id="112" name="Straight Connector 111"/>
            <p:cNvCxnSpPr/>
            <p:nvPr/>
          </p:nvCxnSpPr>
          <p:spPr bwMode="auto">
            <a:xfrm>
              <a:off x="1452474" y="1999834"/>
              <a:ext cx="201168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sp>
        <p:nvSpPr>
          <p:cNvPr id="2" name="Oval 1"/>
          <p:cNvSpPr/>
          <p:nvPr/>
        </p:nvSpPr>
        <p:spPr>
          <a:xfrm>
            <a:off x="11151" y="3145647"/>
            <a:ext cx="288000" cy="28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a</a:t>
            </a:r>
            <a:endParaRPr lang="en-US" sz="1400" b="1" dirty="0"/>
          </a:p>
        </p:txBody>
      </p:sp>
      <p:grpSp>
        <p:nvGrpSpPr>
          <p:cNvPr id="5" name="Group 4"/>
          <p:cNvGrpSpPr/>
          <p:nvPr/>
        </p:nvGrpSpPr>
        <p:grpSpPr>
          <a:xfrm>
            <a:off x="21640" y="3785062"/>
            <a:ext cx="288000" cy="288000"/>
            <a:chOff x="-1540824" y="4391819"/>
            <a:chExt cx="360362" cy="360362"/>
          </a:xfrm>
        </p:grpSpPr>
        <p:sp>
          <p:nvSpPr>
            <p:cNvPr id="64" name="Oval 63"/>
            <p:cNvSpPr/>
            <p:nvPr/>
          </p:nvSpPr>
          <p:spPr>
            <a:xfrm>
              <a:off x="-1540824" y="4391819"/>
              <a:ext cx="360362" cy="3603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3" name="TextBox 2"/>
            <p:cNvSpPr txBox="1"/>
            <p:nvPr/>
          </p:nvSpPr>
          <p:spPr>
            <a:xfrm>
              <a:off x="-1511087" y="4433501"/>
              <a:ext cx="300889" cy="269576"/>
            </a:xfrm>
            <a:prstGeom prst="rect">
              <a:avLst/>
            </a:prstGeom>
            <a:noFill/>
          </p:spPr>
          <p:txBody>
            <a:bodyPr wrap="square" lIns="0" tIns="0" rIns="0" bIns="0" rtlCol="0">
              <a:spAutoFit/>
            </a:bodyPr>
            <a:lstStyle/>
            <a:p>
              <a:pPr algn="ctr"/>
              <a:r>
                <a:rPr lang="en-US" sz="1400" b="1" dirty="0" smtClean="0">
                  <a:solidFill>
                    <a:schemeClr val="bg1"/>
                  </a:solidFill>
                </a:rPr>
                <a:t>b</a:t>
              </a:r>
              <a:endParaRPr lang="en-US" sz="1400" b="1" dirty="0">
                <a:solidFill>
                  <a:schemeClr val="bg1"/>
                </a:solidFill>
              </a:endParaRPr>
            </a:p>
          </p:txBody>
        </p:sp>
      </p:grpSp>
      <p:sp>
        <p:nvSpPr>
          <p:cNvPr id="65" name="Oval 64"/>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2</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142532850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p:cNvGraphicFramePr>
          <p:nvPr>
            <p:custDataLst>
              <p:tags r:id="rId2"/>
            </p:custDataLst>
            <p:extLst>
              <p:ext uri="{D42A27DB-BD31-4B8C-83A1-F6EECF244321}">
                <p14:modId xmlns:p14="http://schemas.microsoft.com/office/powerpoint/2010/main" val="2819564477"/>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72462"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p:cNvSpPr>
            <a:spLocks noGrp="1"/>
          </p:cNvSpPr>
          <p:nvPr>
            <p:ph type="title"/>
          </p:nvPr>
        </p:nvSpPr>
        <p:spPr>
          <a:xfrm>
            <a:off x="400868" y="312738"/>
            <a:ext cx="8520107" cy="951286"/>
          </a:xfrm>
        </p:spPr>
        <p:txBody>
          <a:bodyPr/>
          <a:lstStyle/>
          <a:p>
            <a:pPr marL="268288"/>
            <a:r>
              <a:rPr lang="en-US" b="0" dirty="0" smtClean="0"/>
              <a:t>While conceptually there may be ways to reduce harvesting costs, implementation will be difficult</a:t>
            </a:r>
            <a:endParaRPr lang="en-US" b="0" dirty="0"/>
          </a:p>
        </p:txBody>
      </p:sp>
      <p:sp>
        <p:nvSpPr>
          <p:cNvPr id="6" name="TextBox 5"/>
          <p:cNvSpPr txBox="1"/>
          <p:nvPr/>
        </p:nvSpPr>
        <p:spPr>
          <a:xfrm>
            <a:off x="424550" y="1299802"/>
            <a:ext cx="1493457" cy="369332"/>
          </a:xfrm>
          <a:prstGeom prst="rect">
            <a:avLst/>
          </a:prstGeom>
          <a:noFill/>
        </p:spPr>
        <p:txBody>
          <a:bodyPr wrap="square" lIns="0" tIns="0" rIns="0" bIns="0" rtlCol="0">
            <a:spAutoFit/>
          </a:bodyPr>
          <a:lstStyle/>
          <a:p>
            <a:r>
              <a:rPr lang="en-US" sz="1200" b="1" dirty="0" smtClean="0">
                <a:solidFill>
                  <a:schemeClr val="accent1"/>
                </a:solidFill>
              </a:rPr>
              <a:t>Improvement opportunity</a:t>
            </a:r>
            <a:endParaRPr lang="en-US" sz="1200" b="1" dirty="0">
              <a:solidFill>
                <a:schemeClr val="accent1"/>
              </a:solidFill>
            </a:endParaRPr>
          </a:p>
        </p:txBody>
      </p:sp>
      <p:sp>
        <p:nvSpPr>
          <p:cNvPr id="8" name="Rectangle 7"/>
          <p:cNvSpPr/>
          <p:nvPr/>
        </p:nvSpPr>
        <p:spPr>
          <a:xfrm>
            <a:off x="2187371" y="1855280"/>
            <a:ext cx="3017520" cy="830997"/>
          </a:xfrm>
          <a:prstGeom prst="rect">
            <a:avLst/>
          </a:prstGeom>
        </p:spPr>
        <p:txBody>
          <a:bodyPr wrap="square">
            <a:spAutoFit/>
          </a:bodyPr>
          <a:lstStyle/>
          <a:p>
            <a:pPr marL="177800" indent="-177800">
              <a:buFont typeface="Arial" panose="020B0604020202020204" pitchFamily="34" charset="0"/>
              <a:buChar char="•"/>
              <a:tabLst>
                <a:tab pos="177800" algn="l"/>
              </a:tabLst>
            </a:pPr>
            <a:r>
              <a:rPr lang="en-US" sz="1200" dirty="0" smtClean="0"/>
              <a:t>Train farm workers on more efficient picking practices to pick cherries faster</a:t>
            </a:r>
          </a:p>
          <a:p>
            <a:pPr marL="177800" indent="-177800">
              <a:buFont typeface="Arial" panose="020B0604020202020204" pitchFamily="34" charset="0"/>
              <a:buChar char="•"/>
              <a:tabLst>
                <a:tab pos="177800" algn="l"/>
              </a:tabLst>
            </a:pPr>
            <a:r>
              <a:rPr lang="en-US" sz="1200" dirty="0" smtClean="0"/>
              <a:t>Could potentially involve the use of support tools</a:t>
            </a:r>
          </a:p>
        </p:txBody>
      </p:sp>
      <p:cxnSp>
        <p:nvCxnSpPr>
          <p:cNvPr id="11" name="Straight Connector 10"/>
          <p:cNvCxnSpPr/>
          <p:nvPr/>
        </p:nvCxnSpPr>
        <p:spPr>
          <a:xfrm>
            <a:off x="424551" y="1715668"/>
            <a:ext cx="8496425"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187372" y="4367162"/>
            <a:ext cx="3017520" cy="830997"/>
          </a:xfrm>
          <a:prstGeom prst="rect">
            <a:avLst/>
          </a:prstGeom>
        </p:spPr>
        <p:txBody>
          <a:bodyPr wrap="square">
            <a:spAutoFit/>
          </a:bodyPr>
          <a:lstStyle/>
          <a:p>
            <a:pPr marL="177800" indent="-177800">
              <a:buFont typeface="Arial" panose="020B0604020202020204" pitchFamily="34" charset="0"/>
              <a:buChar char="•"/>
            </a:pPr>
            <a:r>
              <a:rPr lang="en-US" sz="1200" dirty="0" smtClean="0"/>
              <a:t>Terrace coffee farms to establish flat coffee areas that allow to improve picking speed and potentially use harvesting machines</a:t>
            </a:r>
          </a:p>
        </p:txBody>
      </p:sp>
      <p:sp>
        <p:nvSpPr>
          <p:cNvPr id="15" name="McK Footnote"/>
          <p:cNvSpPr txBox="1">
            <a:spLocks noChangeArrowheads="1"/>
          </p:cNvSpPr>
          <p:nvPr/>
        </p:nvSpPr>
        <p:spPr bwMode="auto">
          <a:xfrm>
            <a:off x="633636" y="6257521"/>
            <a:ext cx="8485187" cy="1384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TechnoServe analysis</a:t>
            </a:r>
          </a:p>
        </p:txBody>
      </p:sp>
      <p:sp>
        <p:nvSpPr>
          <p:cNvPr id="17" name="TextBox 16"/>
          <p:cNvSpPr txBox="1"/>
          <p:nvPr/>
        </p:nvSpPr>
        <p:spPr>
          <a:xfrm>
            <a:off x="2230236" y="1484468"/>
            <a:ext cx="3017520" cy="184666"/>
          </a:xfrm>
          <a:prstGeom prst="rect">
            <a:avLst/>
          </a:prstGeom>
          <a:noFill/>
        </p:spPr>
        <p:txBody>
          <a:bodyPr wrap="square" lIns="0" tIns="0" rIns="0" bIns="0" rtlCol="0">
            <a:spAutoFit/>
          </a:bodyPr>
          <a:lstStyle/>
          <a:p>
            <a:r>
              <a:rPr lang="en-US" sz="1200" b="1" dirty="0" smtClean="0">
                <a:solidFill>
                  <a:schemeClr val="accent1"/>
                </a:solidFill>
              </a:rPr>
              <a:t>Description</a:t>
            </a:r>
            <a:endParaRPr lang="en-US" sz="1200" b="1" dirty="0">
              <a:solidFill>
                <a:schemeClr val="accent1"/>
              </a:solidFill>
            </a:endParaRPr>
          </a:p>
        </p:txBody>
      </p:sp>
      <p:sp>
        <p:nvSpPr>
          <p:cNvPr id="18" name="TextBox 17"/>
          <p:cNvSpPr txBox="1"/>
          <p:nvPr/>
        </p:nvSpPr>
        <p:spPr>
          <a:xfrm>
            <a:off x="5345603" y="1484468"/>
            <a:ext cx="3566160" cy="184666"/>
          </a:xfrm>
          <a:prstGeom prst="rect">
            <a:avLst/>
          </a:prstGeom>
          <a:noFill/>
        </p:spPr>
        <p:txBody>
          <a:bodyPr wrap="square" lIns="0" tIns="0" rIns="0" bIns="0" rtlCol="0">
            <a:spAutoFit/>
          </a:bodyPr>
          <a:lstStyle/>
          <a:p>
            <a:r>
              <a:rPr lang="en-US" sz="1200" b="1" dirty="0" smtClean="0">
                <a:solidFill>
                  <a:schemeClr val="accent1"/>
                </a:solidFill>
              </a:rPr>
              <a:t>Implementation challenges</a:t>
            </a:r>
            <a:endParaRPr lang="en-US" sz="1200" b="1" dirty="0">
              <a:solidFill>
                <a:schemeClr val="accent1"/>
              </a:solidFill>
            </a:endParaRPr>
          </a:p>
        </p:txBody>
      </p:sp>
      <p:sp>
        <p:nvSpPr>
          <p:cNvPr id="2" name="Pentagon 1"/>
          <p:cNvSpPr/>
          <p:nvPr/>
        </p:nvSpPr>
        <p:spPr>
          <a:xfrm>
            <a:off x="424551" y="1855280"/>
            <a:ext cx="1493456" cy="724823"/>
          </a:xfrm>
          <a:prstGeom prst="homePlate">
            <a:avLst>
              <a:gd name="adj" fmla="val 17692"/>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 name="TextBox 19"/>
          <p:cNvSpPr txBox="1"/>
          <p:nvPr/>
        </p:nvSpPr>
        <p:spPr>
          <a:xfrm>
            <a:off x="510976" y="2125358"/>
            <a:ext cx="1295522" cy="184666"/>
          </a:xfrm>
          <a:prstGeom prst="rect">
            <a:avLst/>
          </a:prstGeom>
          <a:noFill/>
        </p:spPr>
        <p:txBody>
          <a:bodyPr wrap="square" lIns="0" tIns="0" rIns="0" bIns="0" rtlCol="0">
            <a:spAutoFit/>
          </a:bodyPr>
          <a:lstStyle/>
          <a:p>
            <a:r>
              <a:rPr lang="en-US" sz="1200" b="1" dirty="0" smtClean="0">
                <a:solidFill>
                  <a:schemeClr val="bg1"/>
                </a:solidFill>
              </a:rPr>
              <a:t>Faster picking</a:t>
            </a:r>
            <a:endParaRPr lang="en-US" sz="1200" b="1" dirty="0">
              <a:solidFill>
                <a:schemeClr val="bg1"/>
              </a:solidFill>
            </a:endParaRPr>
          </a:p>
        </p:txBody>
      </p:sp>
      <p:sp>
        <p:nvSpPr>
          <p:cNvPr id="21" name="Rectangle 20"/>
          <p:cNvSpPr/>
          <p:nvPr/>
        </p:nvSpPr>
        <p:spPr>
          <a:xfrm>
            <a:off x="5345604" y="1855280"/>
            <a:ext cx="3566160" cy="1200329"/>
          </a:xfrm>
          <a:prstGeom prst="rect">
            <a:avLst/>
          </a:prstGeom>
        </p:spPr>
        <p:txBody>
          <a:bodyPr wrap="square">
            <a:spAutoFit/>
          </a:bodyPr>
          <a:lstStyle/>
          <a:p>
            <a:pPr marL="177800" indent="-177800">
              <a:buFont typeface="Arial" panose="020B0604020202020204" pitchFamily="34" charset="0"/>
              <a:buChar char="•"/>
            </a:pPr>
            <a:r>
              <a:rPr lang="en-US" sz="1200" dirty="0" smtClean="0"/>
              <a:t>Mostly external labor used for harvesting </a:t>
            </a:r>
          </a:p>
          <a:p>
            <a:pPr marL="177800" indent="-177800">
              <a:buFont typeface="Arial" panose="020B0604020202020204" pitchFamily="34" charset="0"/>
              <a:buChar char="•"/>
            </a:pPr>
            <a:r>
              <a:rPr lang="en-US" sz="1200" dirty="0" smtClean="0"/>
              <a:t>High fluctuation of external farm labor</a:t>
            </a:r>
          </a:p>
          <a:p>
            <a:pPr marL="177800" indent="-177800">
              <a:buFont typeface="Arial" panose="020B0604020202020204" pitchFamily="34" charset="0"/>
              <a:buChar char="•"/>
            </a:pPr>
            <a:r>
              <a:rPr lang="en-US" sz="1200" dirty="0" smtClean="0"/>
              <a:t>Farm laborers mostly receive variable payments based on cherry volumes picked </a:t>
            </a:r>
          </a:p>
          <a:p>
            <a:pPr marL="177800" indent="-177800">
              <a:buFont typeface="Arial" panose="020B0604020202020204" pitchFamily="34" charset="0"/>
              <a:buChar char="•"/>
            </a:pPr>
            <a:r>
              <a:rPr lang="en-US" sz="1200" dirty="0" smtClean="0"/>
              <a:t>Risk to lower quality when improving picking speed</a:t>
            </a:r>
          </a:p>
        </p:txBody>
      </p:sp>
      <p:sp>
        <p:nvSpPr>
          <p:cNvPr id="22" name="Rectangle 21"/>
          <p:cNvSpPr/>
          <p:nvPr/>
        </p:nvSpPr>
        <p:spPr>
          <a:xfrm>
            <a:off x="2187371" y="3343635"/>
            <a:ext cx="3017520" cy="646331"/>
          </a:xfrm>
          <a:prstGeom prst="rect">
            <a:avLst/>
          </a:prstGeom>
        </p:spPr>
        <p:txBody>
          <a:bodyPr wrap="square">
            <a:spAutoFit/>
          </a:bodyPr>
          <a:lstStyle/>
          <a:p>
            <a:pPr marL="177800" indent="-177800">
              <a:buFont typeface="Arial" panose="020B0604020202020204" pitchFamily="34" charset="0"/>
              <a:buChar char="•"/>
            </a:pPr>
            <a:r>
              <a:rPr lang="en-US" sz="1200" dirty="0" smtClean="0"/>
              <a:t>Use machines to improve harvesting efficiency and lower manual labor requirement</a:t>
            </a:r>
          </a:p>
        </p:txBody>
      </p:sp>
      <p:sp>
        <p:nvSpPr>
          <p:cNvPr id="23" name="Pentagon 22"/>
          <p:cNvSpPr/>
          <p:nvPr/>
        </p:nvSpPr>
        <p:spPr>
          <a:xfrm>
            <a:off x="424551" y="3343635"/>
            <a:ext cx="1493456" cy="724823"/>
          </a:xfrm>
          <a:prstGeom prst="homePlate">
            <a:avLst>
              <a:gd name="adj" fmla="val 17692"/>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TextBox 23"/>
          <p:cNvSpPr txBox="1"/>
          <p:nvPr/>
        </p:nvSpPr>
        <p:spPr>
          <a:xfrm>
            <a:off x="578689" y="3511856"/>
            <a:ext cx="986882" cy="369332"/>
          </a:xfrm>
          <a:prstGeom prst="rect">
            <a:avLst/>
          </a:prstGeom>
          <a:noFill/>
        </p:spPr>
        <p:txBody>
          <a:bodyPr wrap="square" lIns="0" tIns="0" rIns="0" bIns="0" rtlCol="0">
            <a:spAutoFit/>
          </a:bodyPr>
          <a:lstStyle/>
          <a:p>
            <a:r>
              <a:rPr lang="en-US" sz="1200" b="1" dirty="0" smtClean="0">
                <a:solidFill>
                  <a:schemeClr val="bg1"/>
                </a:solidFill>
              </a:rPr>
              <a:t>Mechanical harvesting</a:t>
            </a:r>
            <a:endParaRPr lang="en-US" sz="1200" b="1" dirty="0">
              <a:solidFill>
                <a:schemeClr val="bg1"/>
              </a:solidFill>
            </a:endParaRPr>
          </a:p>
        </p:txBody>
      </p:sp>
      <p:sp>
        <p:nvSpPr>
          <p:cNvPr id="25" name="Rectangle 24"/>
          <p:cNvSpPr/>
          <p:nvPr/>
        </p:nvSpPr>
        <p:spPr>
          <a:xfrm>
            <a:off x="5356755" y="3343635"/>
            <a:ext cx="3566160" cy="830997"/>
          </a:xfrm>
          <a:prstGeom prst="rect">
            <a:avLst/>
          </a:prstGeom>
        </p:spPr>
        <p:txBody>
          <a:bodyPr wrap="square">
            <a:spAutoFit/>
          </a:bodyPr>
          <a:lstStyle/>
          <a:p>
            <a:pPr marL="177800" indent="-177800">
              <a:buFont typeface="Arial" panose="020B0604020202020204" pitchFamily="34" charset="0"/>
              <a:buChar char="•"/>
            </a:pPr>
            <a:r>
              <a:rPr lang="en-US" sz="1200" dirty="0" smtClean="0"/>
              <a:t>Topography - relatively flat landscape required to use machines</a:t>
            </a:r>
          </a:p>
          <a:p>
            <a:pPr marL="177800" indent="-177800">
              <a:buFont typeface="Arial" panose="020B0604020202020204" pitchFamily="34" charset="0"/>
              <a:buChar char="•"/>
            </a:pPr>
            <a:r>
              <a:rPr lang="en-US" sz="1200" dirty="0" smtClean="0"/>
              <a:t>Harvesting throughout the year  </a:t>
            </a:r>
          </a:p>
          <a:p>
            <a:pPr marL="177800" indent="-177800">
              <a:buFont typeface="Arial" panose="020B0604020202020204" pitchFamily="34" charset="0"/>
              <a:buChar char="•"/>
            </a:pPr>
            <a:r>
              <a:rPr lang="en-US" sz="1200" dirty="0" smtClean="0"/>
              <a:t>Risk to lower coffee bean quality</a:t>
            </a:r>
          </a:p>
        </p:txBody>
      </p:sp>
      <p:sp>
        <p:nvSpPr>
          <p:cNvPr id="26" name="Pentagon 25"/>
          <p:cNvSpPr/>
          <p:nvPr/>
        </p:nvSpPr>
        <p:spPr>
          <a:xfrm>
            <a:off x="424551" y="4367162"/>
            <a:ext cx="1493456" cy="724823"/>
          </a:xfrm>
          <a:prstGeom prst="homePlate">
            <a:avLst>
              <a:gd name="adj" fmla="val 17692"/>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7" name="TextBox 26"/>
          <p:cNvSpPr txBox="1"/>
          <p:nvPr/>
        </p:nvSpPr>
        <p:spPr>
          <a:xfrm>
            <a:off x="602604" y="4535776"/>
            <a:ext cx="986882" cy="369332"/>
          </a:xfrm>
          <a:prstGeom prst="rect">
            <a:avLst/>
          </a:prstGeom>
          <a:noFill/>
        </p:spPr>
        <p:txBody>
          <a:bodyPr wrap="square" lIns="0" tIns="0" rIns="0" bIns="0" rtlCol="0">
            <a:spAutoFit/>
          </a:bodyPr>
          <a:lstStyle/>
          <a:p>
            <a:r>
              <a:rPr lang="en-US" sz="1200" b="1" dirty="0" smtClean="0">
                <a:solidFill>
                  <a:schemeClr val="bg1"/>
                </a:solidFill>
              </a:rPr>
              <a:t>Leveled terrain</a:t>
            </a:r>
            <a:endParaRPr lang="en-US" sz="1200" b="1" dirty="0">
              <a:solidFill>
                <a:schemeClr val="bg1"/>
              </a:solidFill>
            </a:endParaRPr>
          </a:p>
        </p:txBody>
      </p:sp>
      <p:sp>
        <p:nvSpPr>
          <p:cNvPr id="28" name="Rectangle 27"/>
          <p:cNvSpPr/>
          <p:nvPr/>
        </p:nvSpPr>
        <p:spPr>
          <a:xfrm>
            <a:off x="5356755" y="4367162"/>
            <a:ext cx="3566160" cy="461665"/>
          </a:xfrm>
          <a:prstGeom prst="rect">
            <a:avLst/>
          </a:prstGeom>
        </p:spPr>
        <p:txBody>
          <a:bodyPr wrap="square">
            <a:spAutoFit/>
          </a:bodyPr>
          <a:lstStyle/>
          <a:p>
            <a:pPr marL="177800" indent="-177800">
              <a:buFont typeface="Arial" panose="020B0604020202020204" pitchFamily="34" charset="0"/>
              <a:buChar char="•"/>
            </a:pPr>
            <a:r>
              <a:rPr lang="en-US" sz="1200" dirty="0" smtClean="0"/>
              <a:t>Expensive</a:t>
            </a:r>
          </a:p>
          <a:p>
            <a:pPr marL="177800" indent="-177800">
              <a:buFont typeface="Arial" panose="020B0604020202020204" pitchFamily="34" charset="0"/>
              <a:buChar char="•"/>
            </a:pPr>
            <a:r>
              <a:rPr lang="en-US" sz="1200" dirty="0" smtClean="0"/>
              <a:t>Topography is difficult</a:t>
            </a:r>
          </a:p>
        </p:txBody>
      </p:sp>
      <p:sp>
        <p:nvSpPr>
          <p:cNvPr id="10" name="Rounded Rectangle 9"/>
          <p:cNvSpPr/>
          <p:nvPr/>
        </p:nvSpPr>
        <p:spPr>
          <a:xfrm>
            <a:off x="4906933" y="5259250"/>
            <a:ext cx="3255760" cy="762409"/>
          </a:xfrm>
          <a:prstGeom prst="roundRect">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65796" y="5347817"/>
            <a:ext cx="2996536" cy="553998"/>
          </a:xfrm>
          <a:prstGeom prst="rect">
            <a:avLst/>
          </a:prstGeom>
          <a:noFill/>
        </p:spPr>
        <p:txBody>
          <a:bodyPr wrap="square" lIns="0" tIns="0" rIns="0" bIns="0" rtlCol="0">
            <a:spAutoFit/>
          </a:bodyPr>
          <a:lstStyle/>
          <a:p>
            <a:r>
              <a:rPr lang="en-US" sz="1200" dirty="0" smtClean="0"/>
              <a:t>Critical to assess whether cost savings potential justify implementation costs for achieving increased harvesting productivity</a:t>
            </a:r>
            <a:endParaRPr lang="en-US" sz="1200" dirty="0"/>
          </a:p>
        </p:txBody>
      </p:sp>
      <p:sp>
        <p:nvSpPr>
          <p:cNvPr id="30" name="Oval 29"/>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13" name="TextBox 12"/>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2a</a:t>
            </a:r>
            <a:endParaRPr lang="en-US" sz="2400" dirty="0">
              <a:solidFill>
                <a:schemeClr val="bg1"/>
              </a:solidFill>
            </a:endParaRPr>
          </a:p>
        </p:txBody>
      </p:sp>
    </p:spTree>
    <p:extLst>
      <p:ext uri="{BB962C8B-B14F-4D97-AF65-F5344CB8AC3E}">
        <p14:creationId xmlns:p14="http://schemas.microsoft.com/office/powerpoint/2010/main" val="53100259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
            </p:custDataLst>
            <p:extLst>
              <p:ext uri="{D42A27DB-BD31-4B8C-83A1-F6EECF244321}">
                <p14:modId xmlns:p14="http://schemas.microsoft.com/office/powerpoint/2010/main" val="49486064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2547" name="think-cell Slide" r:id="rId32" imgW="270" imgH="270" progId="TCLayout.ActiveDocument.1">
                  <p:embed/>
                </p:oleObj>
              </mc:Choice>
              <mc:Fallback>
                <p:oleObj name="think-cell Slide" r:id="rId32" imgW="270" imgH="270" progId="TCLayout.ActiveDocument.1">
                  <p:embed/>
                  <p:pic>
                    <p:nvPicPr>
                      <p:cNvPr id="0" name=""/>
                      <p:cNvPicPr/>
                      <p:nvPr/>
                    </p:nvPicPr>
                    <p:blipFill>
                      <a:blip r:embed="rId33"/>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graphicFrame>
        <p:nvGraphicFramePr>
          <p:cNvPr id="5" name="Object 4"/>
          <p:cNvGraphicFramePr>
            <a:graphicFrameLocks noChangeAspect="1"/>
          </p:cNvGraphicFramePr>
          <p:nvPr>
            <p:custDataLst>
              <p:tags r:id="rId4"/>
            </p:custDataLst>
            <p:extLst>
              <p:ext uri="{D42A27DB-BD31-4B8C-83A1-F6EECF244321}">
                <p14:modId xmlns:p14="http://schemas.microsoft.com/office/powerpoint/2010/main" val="3202736261"/>
              </p:ext>
            </p:extLst>
          </p:nvPr>
        </p:nvGraphicFramePr>
        <p:xfrm>
          <a:off x="685800" y="2171700"/>
          <a:ext cx="7858249" cy="3533700"/>
        </p:xfrm>
        <a:graphic>
          <a:graphicData uri="http://schemas.openxmlformats.org/presentationml/2006/ole">
            <mc:AlternateContent xmlns:mc="http://schemas.openxmlformats.org/markup-compatibility/2006">
              <mc:Choice xmlns:v="urn:schemas-microsoft-com:vml" Requires="v">
                <p:oleObj spid="_x0000_s222548" name="Chart" r:id="rId34" imgW="7858249" imgH="3533700" progId="MSGraph.Chart.8">
                  <p:embed followColorScheme="full"/>
                </p:oleObj>
              </mc:Choice>
              <mc:Fallback>
                <p:oleObj name="Chart" r:id="rId34" imgW="7858249" imgH="3533700" progId="MSGraph.Chart.8">
                  <p:embed followColorScheme="full"/>
                  <p:pic>
                    <p:nvPicPr>
                      <p:cNvPr id="0" name=""/>
                      <p:cNvPicPr>
                        <a:picLocks noChangeAspect="1" noChangeArrowheads="1"/>
                      </p:cNvPicPr>
                      <p:nvPr/>
                    </p:nvPicPr>
                    <p:blipFill>
                      <a:blip r:embed="rId35"/>
                      <a:srcRect/>
                      <a:stretch>
                        <a:fillRect/>
                      </a:stretch>
                    </p:blipFill>
                    <p:spPr bwMode="auto">
                      <a:xfrm>
                        <a:off x="685800" y="2171700"/>
                        <a:ext cx="7858249" cy="353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Text Placeholder 64"/>
          <p:cNvSpPr>
            <a:spLocks noGrp="1"/>
          </p:cNvSpPr>
          <p:nvPr>
            <p:custDataLst>
              <p:tags r:id="rId5"/>
            </p:custDataLst>
          </p:nvPr>
        </p:nvSpPr>
        <p:spPr bwMode="gray">
          <a:xfrm>
            <a:off x="539750" y="2198688"/>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45</a:t>
            </a:r>
            <a:endParaRPr lang="en-US" sz="1400" dirty="0">
              <a:solidFill>
                <a:schemeClr val="accent1"/>
              </a:solidFill>
              <a:latin typeface="Arial"/>
              <a:sym typeface="Arial"/>
            </a:endParaRPr>
          </a:p>
        </p:txBody>
      </p:sp>
      <p:sp>
        <p:nvSpPr>
          <p:cNvPr id="53" name="Text Placeholder 73"/>
          <p:cNvSpPr>
            <a:spLocks noGrp="1"/>
          </p:cNvSpPr>
          <p:nvPr>
            <p:custDataLst>
              <p:tags r:id="rId6"/>
            </p:custDataLst>
          </p:nvPr>
        </p:nvSpPr>
        <p:spPr bwMode="gray">
          <a:xfrm>
            <a:off x="539750" y="2560638"/>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40</a:t>
            </a:r>
            <a:endParaRPr lang="en-US" sz="1400" dirty="0">
              <a:solidFill>
                <a:schemeClr val="accent1"/>
              </a:solidFill>
              <a:latin typeface="Arial"/>
              <a:sym typeface="Arial"/>
            </a:endParaRPr>
          </a:p>
        </p:txBody>
      </p:sp>
      <p:sp>
        <p:nvSpPr>
          <p:cNvPr id="52" name="Text Placeholder 72"/>
          <p:cNvSpPr>
            <a:spLocks noGrp="1"/>
          </p:cNvSpPr>
          <p:nvPr>
            <p:custDataLst>
              <p:tags r:id="rId7"/>
            </p:custDataLst>
          </p:nvPr>
        </p:nvSpPr>
        <p:spPr bwMode="gray">
          <a:xfrm>
            <a:off x="539750" y="2922588"/>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35</a:t>
            </a:r>
            <a:endParaRPr lang="en-US" sz="1400" dirty="0">
              <a:solidFill>
                <a:schemeClr val="accent1"/>
              </a:solidFill>
              <a:latin typeface="Arial"/>
              <a:sym typeface="Arial"/>
            </a:endParaRPr>
          </a:p>
        </p:txBody>
      </p:sp>
      <p:sp>
        <p:nvSpPr>
          <p:cNvPr id="51" name="Text Placeholder 71"/>
          <p:cNvSpPr>
            <a:spLocks noGrp="1"/>
          </p:cNvSpPr>
          <p:nvPr>
            <p:custDataLst>
              <p:tags r:id="rId8"/>
            </p:custDataLst>
          </p:nvPr>
        </p:nvSpPr>
        <p:spPr bwMode="gray">
          <a:xfrm>
            <a:off x="539750" y="327501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30</a:t>
            </a:r>
            <a:endParaRPr lang="en-US" sz="1400" dirty="0">
              <a:solidFill>
                <a:schemeClr val="accent1"/>
              </a:solidFill>
              <a:latin typeface="Arial"/>
              <a:sym typeface="Arial"/>
            </a:endParaRPr>
          </a:p>
        </p:txBody>
      </p:sp>
      <p:sp>
        <p:nvSpPr>
          <p:cNvPr id="50" name="Text Placeholder 70"/>
          <p:cNvSpPr>
            <a:spLocks noGrp="1"/>
          </p:cNvSpPr>
          <p:nvPr>
            <p:custDataLst>
              <p:tags r:id="rId9"/>
            </p:custDataLst>
          </p:nvPr>
        </p:nvSpPr>
        <p:spPr bwMode="gray">
          <a:xfrm>
            <a:off x="539750" y="363696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25</a:t>
            </a:r>
            <a:endParaRPr lang="en-US" sz="1400" dirty="0">
              <a:solidFill>
                <a:schemeClr val="accent1"/>
              </a:solidFill>
              <a:latin typeface="Arial"/>
              <a:sym typeface="Arial"/>
            </a:endParaRPr>
          </a:p>
        </p:txBody>
      </p:sp>
      <p:sp>
        <p:nvSpPr>
          <p:cNvPr id="49" name="Text Placeholder 69"/>
          <p:cNvSpPr>
            <a:spLocks noGrp="1"/>
          </p:cNvSpPr>
          <p:nvPr>
            <p:custDataLst>
              <p:tags r:id="rId10"/>
            </p:custDataLst>
          </p:nvPr>
        </p:nvSpPr>
        <p:spPr bwMode="gray">
          <a:xfrm>
            <a:off x="539750" y="399891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20</a:t>
            </a:r>
            <a:endParaRPr lang="en-US" sz="1400" dirty="0">
              <a:solidFill>
                <a:schemeClr val="accent1"/>
              </a:solidFill>
              <a:latin typeface="Arial"/>
              <a:sym typeface="Arial"/>
            </a:endParaRPr>
          </a:p>
        </p:txBody>
      </p:sp>
      <p:sp>
        <p:nvSpPr>
          <p:cNvPr id="48" name="Text Placeholder 68"/>
          <p:cNvSpPr>
            <a:spLocks noGrp="1"/>
          </p:cNvSpPr>
          <p:nvPr>
            <p:custDataLst>
              <p:tags r:id="rId11"/>
            </p:custDataLst>
          </p:nvPr>
        </p:nvSpPr>
        <p:spPr bwMode="gray">
          <a:xfrm>
            <a:off x="539750" y="436086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15</a:t>
            </a:r>
            <a:endParaRPr lang="en-US" sz="1400" dirty="0">
              <a:solidFill>
                <a:schemeClr val="accent1"/>
              </a:solidFill>
              <a:latin typeface="Arial"/>
              <a:sym typeface="Arial"/>
            </a:endParaRPr>
          </a:p>
        </p:txBody>
      </p:sp>
      <p:sp>
        <p:nvSpPr>
          <p:cNvPr id="47" name="Text Placeholder 67"/>
          <p:cNvSpPr>
            <a:spLocks noGrp="1"/>
          </p:cNvSpPr>
          <p:nvPr>
            <p:custDataLst>
              <p:tags r:id="rId12"/>
            </p:custDataLst>
          </p:nvPr>
        </p:nvSpPr>
        <p:spPr bwMode="gray">
          <a:xfrm>
            <a:off x="539750" y="4713288"/>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10</a:t>
            </a:r>
            <a:endParaRPr lang="en-US" sz="1400" dirty="0">
              <a:solidFill>
                <a:schemeClr val="accent1"/>
              </a:solidFill>
              <a:latin typeface="Arial"/>
              <a:sym typeface="Arial"/>
            </a:endParaRPr>
          </a:p>
        </p:txBody>
      </p:sp>
      <p:sp>
        <p:nvSpPr>
          <p:cNvPr id="46" name="Text Placeholder 66"/>
          <p:cNvSpPr>
            <a:spLocks noGrp="1"/>
          </p:cNvSpPr>
          <p:nvPr>
            <p:custDataLst>
              <p:tags r:id="rId13"/>
            </p:custDataLst>
          </p:nvPr>
        </p:nvSpPr>
        <p:spPr bwMode="gray">
          <a:xfrm>
            <a:off x="638175" y="5075238"/>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5</a:t>
            </a:r>
            <a:endParaRPr lang="en-US" sz="1400" dirty="0">
              <a:solidFill>
                <a:schemeClr val="accent1"/>
              </a:solidFill>
              <a:latin typeface="Arial"/>
              <a:sym typeface="Arial"/>
            </a:endParaRPr>
          </a:p>
        </p:txBody>
      </p:sp>
      <p:sp>
        <p:nvSpPr>
          <p:cNvPr id="45" name="Text Placeholder 65"/>
          <p:cNvSpPr>
            <a:spLocks noGrp="1"/>
          </p:cNvSpPr>
          <p:nvPr>
            <p:custDataLst>
              <p:tags r:id="rId14"/>
            </p:custDataLst>
          </p:nvPr>
        </p:nvSpPr>
        <p:spPr bwMode="gray">
          <a:xfrm>
            <a:off x="638175" y="5437188"/>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r>
              <a:rPr lang="en-US" sz="1400" dirty="0" smtClean="0">
                <a:solidFill>
                  <a:schemeClr val="accent1"/>
                </a:solidFill>
                <a:latin typeface="Arial"/>
                <a:sym typeface="Arial"/>
              </a:rPr>
              <a:t>0</a:t>
            </a:r>
            <a:endParaRPr lang="en-US" sz="1400" dirty="0">
              <a:solidFill>
                <a:schemeClr val="accent1"/>
              </a:solidFill>
              <a:latin typeface="Arial"/>
              <a:sym typeface="Arial"/>
            </a:endParaRPr>
          </a:p>
        </p:txBody>
      </p:sp>
      <p:sp>
        <p:nvSpPr>
          <p:cNvPr id="20" name="Rectangle 19"/>
          <p:cNvSpPr/>
          <p:nvPr>
            <p:custDataLst>
              <p:tags r:id="rId15"/>
            </p:custDataLst>
          </p:nvPr>
        </p:nvSpPr>
        <p:spPr bwMode="auto">
          <a:xfrm>
            <a:off x="8343900" y="5705475"/>
            <a:ext cx="209550"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7EAB301D-2155-4584-A275-37734485B0E3}" type="datetime'''''''1''''''''''2'''''">
              <a:rPr lang="en-US" sz="1400">
                <a:solidFill>
                  <a:schemeClr val="accent1"/>
                </a:solidFill>
              </a:rPr>
              <a:pPr/>
              <a:t>12</a:t>
            </a:fld>
            <a:endParaRPr kumimoji="0" lang="en-US" sz="1400" strike="noStrike" cap="none" normalizeH="0" dirty="0" smtClean="0">
              <a:ln>
                <a:noFill/>
              </a:ln>
              <a:solidFill>
                <a:schemeClr val="accent1"/>
              </a:solidFill>
              <a:effectLst/>
              <a:latin typeface="Arial"/>
              <a:sym typeface="Arial"/>
            </a:endParaRPr>
          </a:p>
        </p:txBody>
      </p:sp>
      <p:sp>
        <p:nvSpPr>
          <p:cNvPr id="19" name="Rectangle 18"/>
          <p:cNvSpPr/>
          <p:nvPr>
            <p:custDataLst>
              <p:tags r:id="rId16"/>
            </p:custDataLst>
          </p:nvPr>
        </p:nvSpPr>
        <p:spPr bwMode="auto">
          <a:xfrm>
            <a:off x="7664450" y="5705475"/>
            <a:ext cx="196850"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43AB907D-0FC7-43EF-A59A-D0B8E9ECB0B2}" type="datetime'''''''''''''''''''''''''''''''''1''''''''''''1'''''''''''''">
              <a:rPr lang="en-US" sz="1400">
                <a:solidFill>
                  <a:schemeClr val="accent1"/>
                </a:solidFill>
              </a:rPr>
              <a:pPr/>
              <a:t>11</a:t>
            </a:fld>
            <a:endParaRPr kumimoji="0" lang="en-US" sz="1400" strike="noStrike" cap="none" normalizeH="0" dirty="0" smtClean="0">
              <a:ln>
                <a:noFill/>
              </a:ln>
              <a:solidFill>
                <a:schemeClr val="accent1"/>
              </a:solidFill>
              <a:effectLst/>
              <a:latin typeface="Arial"/>
              <a:sym typeface="Arial"/>
            </a:endParaRPr>
          </a:p>
        </p:txBody>
      </p:sp>
      <p:sp>
        <p:nvSpPr>
          <p:cNvPr id="18" name="Rectangle 17"/>
          <p:cNvSpPr/>
          <p:nvPr>
            <p:custDataLst>
              <p:tags r:id="rId17"/>
            </p:custDataLst>
          </p:nvPr>
        </p:nvSpPr>
        <p:spPr bwMode="auto">
          <a:xfrm>
            <a:off x="6962775" y="5705475"/>
            <a:ext cx="209550"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5D9FB20D-3F1F-41F5-A0BA-817F318143AC}" type="datetime'''''''1''''''''''''''''''''''''''''''0'">
              <a:rPr lang="en-US" sz="1400">
                <a:solidFill>
                  <a:schemeClr val="accent1"/>
                </a:solidFill>
              </a:rPr>
              <a:pPr/>
              <a:t>10</a:t>
            </a:fld>
            <a:endParaRPr kumimoji="0" lang="en-US" sz="1400" strike="noStrike" cap="none" normalizeH="0" dirty="0" smtClean="0">
              <a:ln>
                <a:noFill/>
              </a:ln>
              <a:solidFill>
                <a:schemeClr val="accent1"/>
              </a:solidFill>
              <a:effectLst/>
              <a:latin typeface="Arial"/>
              <a:sym typeface="Arial"/>
            </a:endParaRPr>
          </a:p>
        </p:txBody>
      </p:sp>
      <p:sp>
        <p:nvSpPr>
          <p:cNvPr id="17" name="Rectangle 16"/>
          <p:cNvSpPr/>
          <p:nvPr>
            <p:custDataLst>
              <p:tags r:id="rId18"/>
            </p:custDataLst>
          </p:nvPr>
        </p:nvSpPr>
        <p:spPr bwMode="auto">
          <a:xfrm>
            <a:off x="6326188" y="5705475"/>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59B40FC7-ECB1-40B0-9F85-348FE7EE8543}" type="datetime'''''''''''''''''''''''''''''''9'''">
              <a:rPr lang="en-US" sz="1400">
                <a:solidFill>
                  <a:schemeClr val="accent1"/>
                </a:solidFill>
              </a:rPr>
              <a:pPr/>
              <a:t>9</a:t>
            </a:fld>
            <a:endParaRPr kumimoji="0" lang="en-US" sz="1400" strike="noStrike" cap="none" normalizeH="0" dirty="0" smtClean="0">
              <a:ln>
                <a:noFill/>
              </a:ln>
              <a:solidFill>
                <a:schemeClr val="accent1"/>
              </a:solidFill>
              <a:effectLst/>
              <a:latin typeface="Arial"/>
              <a:sym typeface="Arial"/>
            </a:endParaRPr>
          </a:p>
        </p:txBody>
      </p:sp>
      <p:sp>
        <p:nvSpPr>
          <p:cNvPr id="16" name="Rectangle 15"/>
          <p:cNvSpPr/>
          <p:nvPr>
            <p:custDataLst>
              <p:tags r:id="rId19"/>
            </p:custDataLst>
          </p:nvPr>
        </p:nvSpPr>
        <p:spPr bwMode="auto">
          <a:xfrm>
            <a:off x="5640388" y="5705475"/>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4CB6BCCB-9C70-4F99-847C-90C649BF43C2}" type="datetime'''''''''''''''''''''''''''''''''8'''''''''''''''''''''''">
              <a:rPr lang="en-US" sz="1400">
                <a:solidFill>
                  <a:schemeClr val="accent1"/>
                </a:solidFill>
              </a:rPr>
              <a:pPr/>
              <a:t>8</a:t>
            </a:fld>
            <a:endParaRPr kumimoji="0" lang="en-US" sz="1400" strike="noStrike" cap="none" normalizeH="0" dirty="0" smtClean="0">
              <a:ln>
                <a:noFill/>
              </a:ln>
              <a:solidFill>
                <a:schemeClr val="accent1"/>
              </a:solidFill>
              <a:effectLst/>
              <a:latin typeface="Arial"/>
              <a:sym typeface="Arial"/>
            </a:endParaRPr>
          </a:p>
        </p:txBody>
      </p:sp>
      <p:sp>
        <p:nvSpPr>
          <p:cNvPr id="15" name="Rectangle 14"/>
          <p:cNvSpPr/>
          <p:nvPr>
            <p:custDataLst>
              <p:tags r:id="rId20"/>
            </p:custDataLst>
          </p:nvPr>
        </p:nvSpPr>
        <p:spPr bwMode="auto">
          <a:xfrm>
            <a:off x="4954588" y="5705475"/>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C2E7EA16-EC2E-45B2-BD47-DD144BBCBA1C}" type="datetime'''''''''''''''''''7'''''''''''''''''''''''''">
              <a:rPr lang="en-US" sz="1400">
                <a:solidFill>
                  <a:schemeClr val="accent1"/>
                </a:solidFill>
              </a:rPr>
              <a:pPr/>
              <a:t>7</a:t>
            </a:fld>
            <a:endParaRPr kumimoji="0" lang="en-US" sz="1400" strike="noStrike" cap="none" normalizeH="0" dirty="0" smtClean="0">
              <a:ln>
                <a:noFill/>
              </a:ln>
              <a:solidFill>
                <a:schemeClr val="accent1"/>
              </a:solidFill>
              <a:effectLst/>
              <a:latin typeface="Arial"/>
              <a:sym typeface="Arial"/>
            </a:endParaRPr>
          </a:p>
        </p:txBody>
      </p:sp>
      <p:sp>
        <p:nvSpPr>
          <p:cNvPr id="14" name="Rectangle 13"/>
          <p:cNvSpPr/>
          <p:nvPr>
            <p:custDataLst>
              <p:tags r:id="rId21"/>
            </p:custDataLst>
          </p:nvPr>
        </p:nvSpPr>
        <p:spPr bwMode="auto">
          <a:xfrm>
            <a:off x="4259263" y="5705475"/>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AEFCA0D3-4A05-4920-8583-554AE4EDE328}" type="datetime'''''''''''''''''''''''''''6'''''''''''''''''''''''''''">
              <a:rPr lang="en-US" sz="1400">
                <a:solidFill>
                  <a:schemeClr val="accent1"/>
                </a:solidFill>
              </a:rPr>
              <a:pPr/>
              <a:t>6</a:t>
            </a:fld>
            <a:endParaRPr kumimoji="0" lang="en-US" sz="1400" strike="noStrike" cap="none" normalizeH="0" dirty="0" smtClean="0">
              <a:ln>
                <a:noFill/>
              </a:ln>
              <a:solidFill>
                <a:schemeClr val="accent1"/>
              </a:solidFill>
              <a:effectLst/>
              <a:latin typeface="Arial"/>
              <a:sym typeface="Arial"/>
            </a:endParaRPr>
          </a:p>
        </p:txBody>
      </p:sp>
      <p:sp>
        <p:nvSpPr>
          <p:cNvPr id="13" name="Rectangle 12"/>
          <p:cNvSpPr/>
          <p:nvPr>
            <p:custDataLst>
              <p:tags r:id="rId22"/>
            </p:custDataLst>
          </p:nvPr>
        </p:nvSpPr>
        <p:spPr bwMode="auto">
          <a:xfrm>
            <a:off x="3573463" y="5705475"/>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9F0A6DDA-A4F0-412B-8486-D04618CEB52E}" type="datetime'''''''''5'">
              <a:rPr lang="en-US" sz="1400">
                <a:solidFill>
                  <a:schemeClr val="accent1"/>
                </a:solidFill>
              </a:rPr>
              <a:pPr/>
              <a:t>5</a:t>
            </a:fld>
            <a:endParaRPr kumimoji="0" lang="en-US" sz="1400" strike="noStrike" cap="none" normalizeH="0" dirty="0" smtClean="0">
              <a:ln>
                <a:noFill/>
              </a:ln>
              <a:solidFill>
                <a:schemeClr val="accent1"/>
              </a:solidFill>
              <a:effectLst/>
              <a:latin typeface="Arial"/>
              <a:sym typeface="Arial"/>
            </a:endParaRPr>
          </a:p>
        </p:txBody>
      </p:sp>
      <p:sp>
        <p:nvSpPr>
          <p:cNvPr id="8" name="Rectangle 7"/>
          <p:cNvSpPr/>
          <p:nvPr>
            <p:custDataLst>
              <p:tags r:id="rId23"/>
            </p:custDataLst>
          </p:nvPr>
        </p:nvSpPr>
        <p:spPr bwMode="auto">
          <a:xfrm>
            <a:off x="2887663" y="5705475"/>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E57B0016-19C6-4B72-8E0F-18D0DD2BE509}" type="datetime'''''''''''''''''''''''''''''''''''''''''''''''4'''''''">
              <a:rPr lang="en-US" sz="1400">
                <a:solidFill>
                  <a:schemeClr val="accent1"/>
                </a:solidFill>
              </a:rPr>
              <a:pPr/>
              <a:t>4</a:t>
            </a:fld>
            <a:endParaRPr kumimoji="0" lang="en-US" sz="1400" strike="noStrike" cap="none" normalizeH="0" dirty="0" smtClean="0">
              <a:ln>
                <a:noFill/>
              </a:ln>
              <a:solidFill>
                <a:schemeClr val="accent1"/>
              </a:solidFill>
              <a:effectLst/>
              <a:latin typeface="Arial"/>
              <a:sym typeface="Arial"/>
            </a:endParaRPr>
          </a:p>
        </p:txBody>
      </p:sp>
      <p:sp>
        <p:nvSpPr>
          <p:cNvPr id="11" name="Rectangle 10"/>
          <p:cNvSpPr/>
          <p:nvPr>
            <p:custDataLst>
              <p:tags r:id="rId24"/>
            </p:custDataLst>
          </p:nvPr>
        </p:nvSpPr>
        <p:spPr bwMode="auto">
          <a:xfrm>
            <a:off x="2201863" y="5705475"/>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1FC604B1-94CA-4E5F-98A1-AC4FB12F5B7F}" type="datetime'''''''3'''''''''''''''''''''''''''''''''''''''''''''''''''">
              <a:rPr lang="en-US" sz="1400">
                <a:solidFill>
                  <a:schemeClr val="accent1"/>
                </a:solidFill>
              </a:rPr>
              <a:pPr/>
              <a:t>3</a:t>
            </a:fld>
            <a:endParaRPr kumimoji="0" lang="en-US" sz="1400" strike="noStrike" cap="none" normalizeH="0" dirty="0" smtClean="0">
              <a:ln>
                <a:noFill/>
              </a:ln>
              <a:solidFill>
                <a:schemeClr val="accent1"/>
              </a:solidFill>
              <a:effectLst/>
              <a:latin typeface="Arial"/>
              <a:sym typeface="Arial"/>
            </a:endParaRPr>
          </a:p>
        </p:txBody>
      </p:sp>
      <p:sp>
        <p:nvSpPr>
          <p:cNvPr id="9" name="Rectangle 8"/>
          <p:cNvSpPr/>
          <p:nvPr>
            <p:custDataLst>
              <p:tags r:id="rId25"/>
            </p:custDataLst>
          </p:nvPr>
        </p:nvSpPr>
        <p:spPr bwMode="auto">
          <a:xfrm>
            <a:off x="1506538" y="5705475"/>
            <a:ext cx="111125"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A594F11D-ADC5-4748-8607-F3DC1EC84548}" type="datetime'''''''''''''''''''''''''''''2'''''''''''''''''''''">
              <a:rPr lang="en-US" sz="1400">
                <a:solidFill>
                  <a:schemeClr val="accent1"/>
                </a:solidFill>
              </a:rPr>
              <a:pPr/>
              <a:t>2</a:t>
            </a:fld>
            <a:endParaRPr kumimoji="0" lang="en-US" sz="1400" strike="noStrike" cap="none" normalizeH="0" dirty="0" smtClean="0">
              <a:ln>
                <a:noFill/>
              </a:ln>
              <a:solidFill>
                <a:schemeClr val="accent1"/>
              </a:solidFill>
              <a:effectLst/>
              <a:latin typeface="Arial"/>
              <a:sym typeface="Arial"/>
            </a:endParaRPr>
          </a:p>
        </p:txBody>
      </p:sp>
      <p:sp>
        <p:nvSpPr>
          <p:cNvPr id="12" name="Rectangle 11"/>
          <p:cNvSpPr/>
          <p:nvPr>
            <p:custDataLst>
              <p:tags r:id="rId26"/>
            </p:custDataLst>
          </p:nvPr>
        </p:nvSpPr>
        <p:spPr bwMode="auto">
          <a:xfrm>
            <a:off x="550863" y="5705475"/>
            <a:ext cx="652463" cy="212725"/>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fontAlgn="base">
              <a:spcBef>
                <a:spcPct val="0"/>
              </a:spcBef>
              <a:spcAft>
                <a:spcPct val="0"/>
              </a:spcAft>
            </a:pPr>
            <a:fld id="{29E43C23-F0D6-49AC-BB87-158E52E37EFB}" type="datetime'''''''''''''''''Mo''''''nt''''h'''''' ''''''''''1'''''">
              <a:rPr lang="en-US" sz="1400">
                <a:solidFill>
                  <a:schemeClr val="accent1"/>
                </a:solidFill>
              </a:rPr>
              <a:pPr/>
              <a:t>Month 1</a:t>
            </a:fld>
            <a:endParaRPr kumimoji="0" lang="en-US" sz="1400" strike="noStrike" cap="none" normalizeH="0" dirty="0" smtClean="0">
              <a:ln>
                <a:noFill/>
              </a:ln>
              <a:solidFill>
                <a:schemeClr val="accent1"/>
              </a:solidFill>
              <a:effectLst/>
              <a:latin typeface="Arial"/>
              <a:sym typeface="Arial"/>
            </a:endParaRPr>
          </a:p>
        </p:txBody>
      </p:sp>
      <p:sp>
        <p:nvSpPr>
          <p:cNvPr id="22" name="TextBox 21"/>
          <p:cNvSpPr txBox="1"/>
          <p:nvPr/>
        </p:nvSpPr>
        <p:spPr>
          <a:xfrm>
            <a:off x="465910" y="1430665"/>
            <a:ext cx="6215106" cy="523220"/>
          </a:xfrm>
          <a:prstGeom prst="rect">
            <a:avLst/>
          </a:prstGeom>
          <a:noFill/>
        </p:spPr>
        <p:txBody>
          <a:bodyPr wrap="square" rtlCol="0">
            <a:spAutoFit/>
          </a:bodyPr>
          <a:lstStyle/>
          <a:p>
            <a:r>
              <a:rPr lang="en-US" sz="1400" b="1" dirty="0" smtClean="0">
                <a:solidFill>
                  <a:schemeClr val="accent1"/>
                </a:solidFill>
              </a:rPr>
              <a:t>Harvest progression for an average farmer</a:t>
            </a:r>
          </a:p>
          <a:p>
            <a:r>
              <a:rPr lang="en-US" sz="1400" dirty="0" smtClean="0">
                <a:solidFill>
                  <a:schemeClr val="accent1"/>
                </a:solidFill>
              </a:rPr>
              <a:t>Percentage of total production</a:t>
            </a:r>
            <a:endParaRPr lang="en-US" sz="1400" dirty="0">
              <a:solidFill>
                <a:schemeClr val="accent1"/>
              </a:solidFill>
            </a:endParaRPr>
          </a:p>
        </p:txBody>
      </p:sp>
      <p:cxnSp>
        <p:nvCxnSpPr>
          <p:cNvPr id="36" name="Straight Connector 35"/>
          <p:cNvCxnSpPr/>
          <p:nvPr>
            <p:custDataLst>
              <p:tags r:id="rId27"/>
            </p:custDataLst>
          </p:nvPr>
        </p:nvCxnSpPr>
        <p:spPr bwMode="gray">
          <a:xfrm>
            <a:off x="7481888" y="2203450"/>
            <a:ext cx="328613" cy="0"/>
          </a:xfrm>
          <a:prstGeom prst="line">
            <a:avLst/>
          </a:prstGeom>
          <a:solidFill>
            <a:schemeClr val="accent1"/>
          </a:solidFill>
          <a:ln w="28575" cap="flat" cmpd="sng" algn="ctr">
            <a:solidFill>
              <a:srgbClr val="D52B1E"/>
            </a:solidFill>
            <a:prstDash val="solid"/>
            <a:round/>
            <a:headEnd type="none" w="med" len="med"/>
            <a:tailEnd type="none" w="med" len="med"/>
          </a:ln>
          <a:effectLst/>
        </p:spPr>
      </p:cxnSp>
      <p:cxnSp>
        <p:nvCxnSpPr>
          <p:cNvPr id="35" name="Straight Connector 34"/>
          <p:cNvCxnSpPr/>
          <p:nvPr>
            <p:custDataLst>
              <p:tags r:id="rId28"/>
            </p:custDataLst>
          </p:nvPr>
        </p:nvCxnSpPr>
        <p:spPr bwMode="gray">
          <a:xfrm>
            <a:off x="7481888" y="1939925"/>
            <a:ext cx="328613" cy="0"/>
          </a:xfrm>
          <a:prstGeom prst="line">
            <a:avLst/>
          </a:prstGeom>
          <a:solidFill>
            <a:schemeClr val="accent1"/>
          </a:solidFill>
          <a:ln w="28575" cap="flat" cmpd="sng" algn="ctr">
            <a:solidFill>
              <a:srgbClr val="212492"/>
            </a:solidFill>
            <a:prstDash val="solid"/>
            <a:round/>
            <a:headEnd type="none" w="med" len="med"/>
            <a:tailEnd type="none" w="med" len="med"/>
          </a:ln>
          <a:effectLst/>
        </p:spPr>
      </p:cxnSp>
      <p:sp>
        <p:nvSpPr>
          <p:cNvPr id="24" name="Rectangle 23"/>
          <p:cNvSpPr/>
          <p:nvPr>
            <p:custDataLst>
              <p:tags r:id="rId29"/>
            </p:custDataLst>
          </p:nvPr>
        </p:nvSpPr>
        <p:spPr bwMode="auto">
          <a:xfrm>
            <a:off x="7861299" y="2105025"/>
            <a:ext cx="444500"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414CEB6B-E0E0-42CA-ADB6-6EDC3B67F698}" type="datetime'B''''''''''''''''''''''''''r''az''i''''''l'''''">
              <a:rPr lang="en-US" sz="1400">
                <a:solidFill>
                  <a:schemeClr val="accent1"/>
                </a:solidFill>
                <a:latin typeface="Arial"/>
                <a:sym typeface="Arial"/>
              </a:rPr>
              <a:pPr fontAlgn="base">
                <a:spcBef>
                  <a:spcPct val="0"/>
                </a:spcBef>
                <a:spcAft>
                  <a:spcPct val="0"/>
                </a:spcAft>
              </a:pPr>
              <a:t>Brazil</a:t>
            </a:fld>
            <a:endParaRPr lang="en-US" sz="1400" strike="noStrike" cap="none" normalizeH="0" dirty="0" smtClean="0">
              <a:ln>
                <a:noFill/>
              </a:ln>
              <a:solidFill>
                <a:schemeClr val="accent1"/>
              </a:solidFill>
              <a:effectLst/>
              <a:latin typeface="Arial"/>
              <a:sym typeface="Arial"/>
            </a:endParaRPr>
          </a:p>
        </p:txBody>
      </p:sp>
      <p:sp>
        <p:nvSpPr>
          <p:cNvPr id="23" name="Rectangle 22"/>
          <p:cNvSpPr/>
          <p:nvPr>
            <p:custDataLst>
              <p:tags r:id="rId30"/>
            </p:custDataLst>
          </p:nvPr>
        </p:nvSpPr>
        <p:spPr bwMode="auto">
          <a:xfrm>
            <a:off x="7861298" y="1841500"/>
            <a:ext cx="819150" cy="2127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0" tIns="0" rIns="0" bIns="0" numCol="1" rtlCol="0" anchor="ctr" anchorCtr="0" compatLnSpc="1">
            <a:prstTxWarp prst="textNoShape">
              <a:avLst/>
            </a:prstTxWarp>
          </a:bodyPr>
          <a:lstStyle/>
          <a:p>
            <a:pPr fontAlgn="base">
              <a:spcBef>
                <a:spcPct val="0"/>
              </a:spcBef>
              <a:spcAft>
                <a:spcPct val="0"/>
              </a:spcAft>
            </a:pPr>
            <a:fld id="{2CD15624-E2E7-4377-8586-B99D5297D37B}" type="datetime'''''''''C''ol''''''''''''''om''''''''b''i''''''''a'''''''">
              <a:rPr lang="en-US" sz="1400" smtClean="0">
                <a:solidFill>
                  <a:schemeClr val="accent1"/>
                </a:solidFill>
                <a:latin typeface="Arial"/>
                <a:sym typeface="Arial"/>
              </a:rPr>
              <a:pPr fontAlgn="base">
                <a:spcBef>
                  <a:spcPct val="0"/>
                </a:spcBef>
                <a:spcAft>
                  <a:spcPct val="0"/>
                </a:spcAft>
              </a:pPr>
              <a:t>Colombia</a:t>
            </a:fld>
            <a:r>
              <a:rPr lang="en-US" sz="1400" dirty="0" smtClean="0">
                <a:solidFill>
                  <a:schemeClr val="accent1"/>
                </a:solidFill>
                <a:latin typeface="Arial"/>
                <a:sym typeface="Arial"/>
              </a:rPr>
              <a:t>*</a:t>
            </a:r>
            <a:endParaRPr lang="en-US" sz="1400" strike="noStrike" cap="none" normalizeH="0" dirty="0" smtClean="0">
              <a:ln>
                <a:noFill/>
              </a:ln>
              <a:solidFill>
                <a:schemeClr val="accent1"/>
              </a:solidFill>
              <a:effectLst/>
              <a:latin typeface="Arial"/>
              <a:sym typeface="Arial"/>
            </a:endParaRPr>
          </a:p>
        </p:txBody>
      </p:sp>
      <p:sp>
        <p:nvSpPr>
          <p:cNvPr id="37" name="Rectangular Callout 36"/>
          <p:cNvSpPr/>
          <p:nvPr/>
        </p:nvSpPr>
        <p:spPr bwMode="auto">
          <a:xfrm>
            <a:off x="4496399" y="1692275"/>
            <a:ext cx="1890750" cy="884914"/>
          </a:xfrm>
          <a:prstGeom prst="wedgeRectCallout">
            <a:avLst>
              <a:gd name="adj1" fmla="val -93007"/>
              <a:gd name="adj2" fmla="val 54662"/>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400" dirty="0" smtClean="0">
                <a:latin typeface="Arial" charset="0"/>
              </a:rPr>
              <a:t>Pronounced harvest peak facilitates strip-picking / mechanical harvesting</a:t>
            </a:r>
            <a:endParaRPr kumimoji="0" lang="en-US" sz="1400" i="0" u="none" strike="noStrike" cap="none" normalizeH="0" baseline="0" dirty="0" smtClean="0">
              <a:ln>
                <a:noFill/>
              </a:ln>
              <a:effectLst/>
              <a:latin typeface="Arial" charset="0"/>
            </a:endParaRPr>
          </a:p>
        </p:txBody>
      </p:sp>
      <p:sp>
        <p:nvSpPr>
          <p:cNvPr id="27" name="Rectangle 3"/>
          <p:cNvSpPr>
            <a:spLocks noChangeArrowheads="1"/>
          </p:cNvSpPr>
          <p:nvPr/>
        </p:nvSpPr>
        <p:spPr bwMode="auto">
          <a:xfrm>
            <a:off x="7122961" y="1295400"/>
            <a:ext cx="1818558" cy="397015"/>
          </a:xfrm>
          <a:prstGeom prst="leftRightArrow">
            <a:avLst>
              <a:gd name="adj1" fmla="val 100000"/>
              <a:gd name="adj2" fmla="val 0"/>
            </a:avLst>
          </a:prstGeom>
          <a:noFill/>
          <a:ln>
            <a:noFill/>
          </a:ln>
          <a:extLst/>
        </p:spPr>
        <p:txBody>
          <a:bodyPr wrap="none" lIns="27415" tIns="0" rIns="0" bIns="27415">
            <a:spAutoFit/>
          </a:bodyPr>
          <a:lstStyle/>
          <a:p>
            <a:pPr marL="342900" indent="-342900" algn="r" defTabSz="895350" eaLnBrk="0" hangingPunct="0">
              <a:buSzPct val="120000"/>
              <a:defRPr/>
            </a:pPr>
            <a:r>
              <a:rPr lang="en-US" sz="1200" dirty="0" smtClean="0">
                <a:solidFill>
                  <a:schemeClr val="bg1">
                    <a:lumMod val="50000"/>
                  </a:schemeClr>
                </a:solidFill>
                <a:ea typeface="ＭＳ Ｐゴシック" pitchFamily="34" charset="-128"/>
              </a:rPr>
              <a:t>COLOMBIA DATA BASED</a:t>
            </a:r>
          </a:p>
          <a:p>
            <a:pPr marL="342900" indent="-342900" algn="r" defTabSz="895350" eaLnBrk="0" hangingPunct="0">
              <a:buSzPct val="120000"/>
              <a:defRPr/>
            </a:pPr>
            <a:r>
              <a:rPr lang="en-US" sz="1200" dirty="0" smtClean="0">
                <a:solidFill>
                  <a:schemeClr val="bg1">
                    <a:lumMod val="50000"/>
                  </a:schemeClr>
                </a:solidFill>
                <a:ea typeface="ＭＳ Ｐゴシック" pitchFamily="34" charset="-128"/>
              </a:rPr>
              <a:t>ON HUILA EXAMPLE</a:t>
            </a:r>
            <a:endParaRPr lang="en-US" sz="1200" dirty="0">
              <a:solidFill>
                <a:schemeClr val="bg1">
                  <a:lumMod val="50000"/>
                </a:schemeClr>
              </a:solidFill>
              <a:ea typeface="ＭＳ Ｐゴシック" pitchFamily="34" charset="-128"/>
            </a:endParaRPr>
          </a:p>
        </p:txBody>
      </p:sp>
      <p:cxnSp>
        <p:nvCxnSpPr>
          <p:cNvPr id="28" name="AutoShape 110"/>
          <p:cNvCxnSpPr>
            <a:cxnSpLocks noChangeShapeType="1"/>
            <a:stCxn id="27" idx="2"/>
            <a:endCxn id="27" idx="4"/>
          </p:cNvCxnSpPr>
          <p:nvPr/>
        </p:nvCxnSpPr>
        <p:spPr bwMode="auto">
          <a:xfrm>
            <a:off x="7122961" y="1295400"/>
            <a:ext cx="0" cy="397015"/>
          </a:xfrm>
          <a:prstGeom prst="straightConnector1">
            <a:avLst/>
          </a:prstGeom>
          <a:noFill/>
          <a:ln w="9525">
            <a:solidFill>
              <a:schemeClr val="bg1">
                <a:lumMod val="50000"/>
              </a:schemeClr>
            </a:solidFill>
            <a:round/>
            <a:headEnd/>
            <a:tailEnd/>
          </a:ln>
          <a:extLst/>
        </p:spPr>
      </p:cxnSp>
      <p:cxnSp>
        <p:nvCxnSpPr>
          <p:cNvPr id="29" name="AutoShape 111"/>
          <p:cNvCxnSpPr>
            <a:cxnSpLocks noChangeShapeType="1"/>
            <a:stCxn id="27" idx="4"/>
            <a:endCxn id="27" idx="6"/>
          </p:cNvCxnSpPr>
          <p:nvPr/>
        </p:nvCxnSpPr>
        <p:spPr bwMode="auto">
          <a:xfrm>
            <a:off x="7122961" y="1692415"/>
            <a:ext cx="1818558" cy="0"/>
          </a:xfrm>
          <a:prstGeom prst="straightConnector1">
            <a:avLst/>
          </a:prstGeom>
          <a:noFill/>
          <a:ln w="25400">
            <a:solidFill>
              <a:schemeClr val="bg1">
                <a:lumMod val="50000"/>
              </a:schemeClr>
            </a:solidFill>
            <a:round/>
            <a:headEnd/>
            <a:tailEnd/>
          </a:ln>
          <a:extLst/>
        </p:spPr>
      </p:cxnSp>
      <p:sp>
        <p:nvSpPr>
          <p:cNvPr id="30" name="TextBox 29"/>
          <p:cNvSpPr txBox="1"/>
          <p:nvPr/>
        </p:nvSpPr>
        <p:spPr>
          <a:xfrm>
            <a:off x="585989" y="6216958"/>
            <a:ext cx="8715404" cy="369332"/>
          </a:xfrm>
          <a:prstGeom prst="rect">
            <a:avLst/>
          </a:prstGeom>
          <a:noFill/>
        </p:spPr>
        <p:txBody>
          <a:bodyPr wrap="square" rtlCol="0" anchor="b">
            <a:spAutoFit/>
          </a:bodyPr>
          <a:lstStyle/>
          <a:p>
            <a:r>
              <a:rPr lang="en-US" sz="900" dirty="0" smtClean="0">
                <a:solidFill>
                  <a:schemeClr val="tx1">
                    <a:lumMod val="65000"/>
                    <a:lumOff val="35000"/>
                  </a:schemeClr>
                </a:solidFill>
              </a:rPr>
              <a:t>* Based on data from Huila</a:t>
            </a:r>
          </a:p>
          <a:p>
            <a:r>
              <a:rPr lang="en-US" sz="900" dirty="0" smtClean="0">
                <a:solidFill>
                  <a:schemeClr val="tx1">
                    <a:lumMod val="65000"/>
                    <a:lumOff val="35000"/>
                  </a:schemeClr>
                </a:solidFill>
              </a:rPr>
              <a:t>Source: Stakeholder interviews, TechnoServe analysis</a:t>
            </a:r>
            <a:endParaRPr lang="en-US" sz="900" dirty="0">
              <a:solidFill>
                <a:schemeClr val="tx1">
                  <a:lumMod val="65000"/>
                  <a:lumOff val="35000"/>
                </a:schemeClr>
              </a:solidFill>
            </a:endParaRPr>
          </a:p>
        </p:txBody>
      </p:sp>
      <p:sp>
        <p:nvSpPr>
          <p:cNvPr id="6" name="Title 5"/>
          <p:cNvSpPr>
            <a:spLocks noGrp="1"/>
          </p:cNvSpPr>
          <p:nvPr>
            <p:ph type="title"/>
          </p:nvPr>
        </p:nvSpPr>
        <p:spPr/>
        <p:txBody>
          <a:bodyPr/>
          <a:lstStyle/>
          <a:p>
            <a:pPr marL="268288"/>
            <a:r>
              <a:rPr lang="en-US" b="0" dirty="0" smtClean="0"/>
              <a:t>Due to agro-climatic factors, there is limited opportunity to apply technology for improving harvesting productivity</a:t>
            </a:r>
            <a:endParaRPr lang="en-US" b="0" dirty="0"/>
          </a:p>
        </p:txBody>
      </p:sp>
      <p:sp>
        <p:nvSpPr>
          <p:cNvPr id="39" name="Oval 38"/>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40" name="TextBox 39"/>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2a</a:t>
            </a:r>
            <a:endParaRPr lang="en-US" sz="2400" dirty="0">
              <a:solidFill>
                <a:schemeClr val="bg1"/>
              </a:solidFill>
            </a:endParaRPr>
          </a:p>
        </p:txBody>
      </p:sp>
    </p:spTree>
    <p:extLst>
      <p:ext uri="{BB962C8B-B14F-4D97-AF65-F5344CB8AC3E}">
        <p14:creationId xmlns:p14="http://schemas.microsoft.com/office/powerpoint/2010/main" val="262357461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extLst>
              <p:ext uri="{D42A27DB-BD31-4B8C-83A1-F6EECF244321}">
                <p14:modId xmlns:p14="http://schemas.microsoft.com/office/powerpoint/2010/main" val="291040922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85757"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8" name="Rectangular Callout 7"/>
          <p:cNvSpPr>
            <a:spLocks noChangeAspect="1"/>
          </p:cNvSpPr>
          <p:nvPr/>
        </p:nvSpPr>
        <p:spPr>
          <a:xfrm>
            <a:off x="3045322" y="1694266"/>
            <a:ext cx="3583446" cy="1097280"/>
          </a:xfrm>
          <a:prstGeom prst="wedgeRectCallout">
            <a:avLst>
              <a:gd name="adj1" fmla="val -67081"/>
              <a:gd name="adj2" fmla="val 48522"/>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538" indent="-109538">
              <a:buFont typeface="Arial" pitchFamily="34" charset="0"/>
              <a:buChar char="•"/>
            </a:pPr>
            <a:r>
              <a:rPr lang="en-US" sz="1400" dirty="0" smtClean="0">
                <a:solidFill>
                  <a:schemeClr val="tx1"/>
                </a:solidFill>
              </a:rPr>
              <a:t>Selective hand-picking</a:t>
            </a:r>
          </a:p>
          <a:p>
            <a:pPr marL="109538" indent="-109538">
              <a:buFont typeface="Arial" pitchFamily="34" charset="0"/>
              <a:buChar char="•"/>
            </a:pPr>
            <a:r>
              <a:rPr lang="en-US" sz="1400" dirty="0" smtClean="0">
                <a:solidFill>
                  <a:schemeClr val="tx1"/>
                </a:solidFill>
              </a:rPr>
              <a:t>Higher ratio of fully ripe, red cherries</a:t>
            </a:r>
          </a:p>
          <a:p>
            <a:pPr marL="109538" indent="-109538">
              <a:buFont typeface="Arial" pitchFamily="34" charset="0"/>
              <a:buChar char="•"/>
            </a:pPr>
            <a:r>
              <a:rPr lang="en-US" sz="1400" dirty="0" smtClean="0">
                <a:solidFill>
                  <a:schemeClr val="tx1"/>
                </a:solidFill>
              </a:rPr>
              <a:t>Improved cup quality, weight and out-turn</a:t>
            </a:r>
            <a:endParaRPr lang="en-US" sz="1400" dirty="0">
              <a:solidFill>
                <a:schemeClr val="tx1"/>
              </a:solidFill>
            </a:endParaRPr>
          </a:p>
        </p:txBody>
      </p:sp>
      <p:sp>
        <p:nvSpPr>
          <p:cNvPr id="43" name="McK Footnote"/>
          <p:cNvSpPr txBox="1">
            <a:spLocks noChangeArrowheads="1"/>
          </p:cNvSpPr>
          <p:nvPr/>
        </p:nvSpPr>
        <p:spPr bwMode="auto">
          <a:xfrm>
            <a:off x="658813" y="6245892"/>
            <a:ext cx="8485187" cy="138499"/>
          </a:xfrm>
          <a:prstGeom prst="rect">
            <a:avLst/>
          </a:prstGeom>
          <a:noFill/>
          <a:ln w="9525">
            <a:noFill/>
            <a:miter lim="800000"/>
            <a:headEnd/>
            <a:tailEnd/>
          </a:ln>
        </p:spPr>
        <p:txBody>
          <a:bodyPr lIns="0" tIns="0" rIns="0" bIns="0" anchor="b">
            <a:spAutoFit/>
          </a:bodyPr>
          <a:lstStyle/>
          <a:p>
            <a:pPr marL="563563" indent="-563563" defTabSz="895350">
              <a:spcBef>
                <a:spcPct val="20000"/>
              </a:spcBef>
              <a:tabLst>
                <a:tab pos="517525" algn="r"/>
              </a:tabLst>
            </a:pPr>
            <a:r>
              <a:rPr lang="en-US" sz="900" dirty="0" smtClean="0">
                <a:solidFill>
                  <a:schemeClr val="tx1">
                    <a:lumMod val="65000"/>
                    <a:lumOff val="35000"/>
                  </a:schemeClr>
                </a:solidFill>
              </a:rPr>
              <a:t>Source: TechnoServe analysis</a:t>
            </a:r>
          </a:p>
        </p:txBody>
      </p:sp>
      <p:sp>
        <p:nvSpPr>
          <p:cNvPr id="7" name="Title 6"/>
          <p:cNvSpPr>
            <a:spLocks noGrp="1"/>
          </p:cNvSpPr>
          <p:nvPr>
            <p:ph type="title"/>
          </p:nvPr>
        </p:nvSpPr>
        <p:spPr/>
        <p:txBody>
          <a:bodyPr/>
          <a:lstStyle/>
          <a:p>
            <a:pPr marL="268288"/>
            <a:r>
              <a:rPr lang="en-US" b="0" dirty="0" smtClean="0"/>
              <a:t>There </a:t>
            </a:r>
            <a:r>
              <a:rPr lang="en-US" b="0" dirty="0"/>
              <a:t>is </a:t>
            </a:r>
            <a:r>
              <a:rPr lang="en-US" b="0" dirty="0" smtClean="0"/>
              <a:t>usually a </a:t>
            </a:r>
            <a:r>
              <a:rPr lang="en-US" b="0" dirty="0"/>
              <a:t>trade-off </a:t>
            </a:r>
            <a:r>
              <a:rPr lang="en-US" b="0" dirty="0" smtClean="0"/>
              <a:t>between </a:t>
            </a:r>
            <a:r>
              <a:rPr lang="en-US" b="0" dirty="0"/>
              <a:t>quality and harvesting efficiency</a:t>
            </a:r>
          </a:p>
        </p:txBody>
      </p:sp>
      <p:grpSp>
        <p:nvGrpSpPr>
          <p:cNvPr id="15" name="Group 14"/>
          <p:cNvGrpSpPr>
            <a:grpSpLocks noChangeAspect="1"/>
          </p:cNvGrpSpPr>
          <p:nvPr/>
        </p:nvGrpSpPr>
        <p:grpSpPr>
          <a:xfrm>
            <a:off x="611034" y="1409203"/>
            <a:ext cx="5004733" cy="4587125"/>
            <a:chOff x="522333" y="1830744"/>
            <a:chExt cx="3922826" cy="3595495"/>
          </a:xfrm>
        </p:grpSpPr>
        <p:sp>
          <p:nvSpPr>
            <p:cNvPr id="3" name="Rectangle 2"/>
            <p:cNvSpPr/>
            <p:nvPr/>
          </p:nvSpPr>
          <p:spPr>
            <a:xfrm>
              <a:off x="977741" y="5118462"/>
              <a:ext cx="3467418" cy="307777"/>
            </a:xfrm>
            <a:prstGeom prst="rect">
              <a:avLst/>
            </a:prstGeom>
          </p:spPr>
          <p:txBody>
            <a:bodyPr wrap="square">
              <a:spAutoFit/>
            </a:bodyPr>
            <a:lstStyle/>
            <a:p>
              <a:pPr algn="ctr">
                <a:spcBef>
                  <a:spcPct val="0"/>
                </a:spcBef>
                <a:spcAft>
                  <a:spcPct val="0"/>
                </a:spcAft>
              </a:pPr>
              <a:r>
                <a:rPr lang="en-US" sz="1400" b="1" dirty="0" smtClean="0">
                  <a:solidFill>
                    <a:schemeClr val="accent1"/>
                  </a:solidFill>
                  <a:sym typeface="+mn-lt"/>
                </a:rPr>
                <a:t>Harvesting efficiency</a:t>
              </a:r>
              <a:endParaRPr lang="en-US" sz="1400" b="1" dirty="0">
                <a:solidFill>
                  <a:schemeClr val="accent1"/>
                </a:solidFill>
                <a:sym typeface="+mn-lt"/>
              </a:endParaRPr>
            </a:p>
          </p:txBody>
        </p:sp>
        <p:grpSp>
          <p:nvGrpSpPr>
            <p:cNvPr id="10" name="Group 9"/>
            <p:cNvGrpSpPr/>
            <p:nvPr/>
          </p:nvGrpSpPr>
          <p:grpSpPr>
            <a:xfrm>
              <a:off x="1339850" y="2219015"/>
              <a:ext cx="2743200" cy="2743200"/>
              <a:chOff x="5513974" y="2683039"/>
              <a:chExt cx="2743200" cy="2743200"/>
            </a:xfrm>
          </p:grpSpPr>
          <p:cxnSp>
            <p:nvCxnSpPr>
              <p:cNvPr id="5" name="Straight Arrow Connector 4"/>
              <p:cNvCxnSpPr/>
              <p:nvPr/>
            </p:nvCxnSpPr>
            <p:spPr>
              <a:xfrm>
                <a:off x="5513974" y="5426239"/>
                <a:ext cx="2743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513974" y="2683039"/>
                <a:ext cx="0" cy="2743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522333" y="1830744"/>
              <a:ext cx="1620363" cy="215444"/>
            </a:xfrm>
            <a:prstGeom prst="rect">
              <a:avLst/>
            </a:prstGeom>
            <a:noFill/>
          </p:spPr>
          <p:txBody>
            <a:bodyPr wrap="square" lIns="0" tIns="0" rIns="0" bIns="0" rtlCol="0">
              <a:spAutoFit/>
            </a:bodyPr>
            <a:lstStyle/>
            <a:p>
              <a:pPr algn="ctr"/>
              <a:r>
                <a:rPr lang="en-US" sz="1400" b="1" dirty="0" smtClean="0">
                  <a:solidFill>
                    <a:schemeClr val="accent1"/>
                  </a:solidFill>
                </a:rPr>
                <a:t>Cherry quality</a:t>
              </a:r>
              <a:endParaRPr lang="en-US" sz="1400" b="1" dirty="0">
                <a:solidFill>
                  <a:schemeClr val="accent1"/>
                </a:solidFill>
              </a:endParaRPr>
            </a:p>
          </p:txBody>
        </p:sp>
        <p:cxnSp>
          <p:nvCxnSpPr>
            <p:cNvPr id="14" name="Straight Connector 13"/>
            <p:cNvCxnSpPr/>
            <p:nvPr/>
          </p:nvCxnSpPr>
          <p:spPr>
            <a:xfrm>
              <a:off x="1501254" y="2606040"/>
              <a:ext cx="2238233" cy="2184324"/>
            </a:xfrm>
            <a:prstGeom prst="line">
              <a:avLst/>
            </a:prstGeom>
            <a:ln w="25400"/>
          </p:spPr>
          <p:style>
            <a:lnRef idx="1">
              <a:schemeClr val="accent1"/>
            </a:lnRef>
            <a:fillRef idx="0">
              <a:schemeClr val="accent1"/>
            </a:fillRef>
            <a:effectRef idx="0">
              <a:schemeClr val="accent1"/>
            </a:effectRef>
            <a:fontRef idx="minor">
              <a:schemeClr val="tx1"/>
            </a:fontRef>
          </p:style>
        </p:cxnSp>
      </p:grpSp>
      <p:sp>
        <p:nvSpPr>
          <p:cNvPr id="35" name="Rectangular Callout 34"/>
          <p:cNvSpPr>
            <a:spLocks noChangeAspect="1"/>
          </p:cNvSpPr>
          <p:nvPr/>
        </p:nvSpPr>
        <p:spPr>
          <a:xfrm>
            <a:off x="4683559" y="3423424"/>
            <a:ext cx="3902879" cy="967182"/>
          </a:xfrm>
          <a:prstGeom prst="wedgeRectCallout">
            <a:avLst>
              <a:gd name="adj1" fmla="val -67081"/>
              <a:gd name="adj2" fmla="val 48522"/>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538" indent="-109538">
              <a:buFont typeface="Arial" pitchFamily="34" charset="0"/>
              <a:buChar char="•"/>
            </a:pPr>
            <a:r>
              <a:rPr lang="en-US" sz="1400" dirty="0" smtClean="0">
                <a:solidFill>
                  <a:schemeClr val="tx1"/>
                </a:solidFill>
              </a:rPr>
              <a:t>Strip picking or mechanical harvesting</a:t>
            </a:r>
          </a:p>
          <a:p>
            <a:pPr marL="109538" indent="-109538">
              <a:buFont typeface="Arial" pitchFamily="34" charset="0"/>
              <a:buChar char="•"/>
            </a:pPr>
            <a:r>
              <a:rPr lang="en-US" sz="1400" dirty="0" smtClean="0">
                <a:solidFill>
                  <a:schemeClr val="tx1"/>
                </a:solidFill>
              </a:rPr>
              <a:t>Higher ratio of under-ripe and over-ripe cherry</a:t>
            </a:r>
          </a:p>
          <a:p>
            <a:pPr marL="109538" indent="-109538">
              <a:buFont typeface="Arial" pitchFamily="34" charset="0"/>
              <a:buChar char="•"/>
            </a:pPr>
            <a:r>
              <a:rPr lang="en-US" sz="1400" dirty="0" smtClean="0">
                <a:solidFill>
                  <a:schemeClr val="tx1"/>
                </a:solidFill>
              </a:rPr>
              <a:t>Requires extra post-harvest sorting</a:t>
            </a:r>
            <a:endParaRPr lang="en-US" sz="1400" dirty="0">
              <a:solidFill>
                <a:schemeClr val="tx1"/>
              </a:solidFill>
            </a:endParaRPr>
          </a:p>
        </p:txBody>
      </p:sp>
      <p:sp>
        <p:nvSpPr>
          <p:cNvPr id="17" name="Oval 16"/>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18" name="TextBox 17"/>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2a</a:t>
            </a:r>
            <a:endParaRPr lang="en-US" sz="2400" dirty="0">
              <a:solidFill>
                <a:schemeClr val="bg1"/>
              </a:solidFill>
            </a:endParaRPr>
          </a:p>
        </p:txBody>
      </p:sp>
    </p:spTree>
    <p:extLst>
      <p:ext uri="{BB962C8B-B14F-4D97-AF65-F5344CB8AC3E}">
        <p14:creationId xmlns:p14="http://schemas.microsoft.com/office/powerpoint/2010/main" val="6545564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extLst>
              <p:ext uri="{D42A27DB-BD31-4B8C-83A1-F6EECF244321}">
                <p14:modId xmlns:p14="http://schemas.microsoft.com/office/powerpoint/2010/main" val="173271977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3405" name="think-cell Slide" r:id="rId64" imgW="270" imgH="270" progId="TCLayout.ActiveDocument.1">
                  <p:embed/>
                </p:oleObj>
              </mc:Choice>
              <mc:Fallback>
                <p:oleObj name="think-cell Slide" r:id="rId64" imgW="270" imgH="270" progId="TCLayout.ActiveDocument.1">
                  <p:embed/>
                  <p:pic>
                    <p:nvPicPr>
                      <p:cNvPr id="0" name=""/>
                      <p:cNvPicPr/>
                      <p:nvPr/>
                    </p:nvPicPr>
                    <p:blipFill>
                      <a:blip r:embed="rId65"/>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cxnSp>
        <p:nvCxnSpPr>
          <p:cNvPr id="41" name="Straight Connector 40"/>
          <p:cNvCxnSpPr/>
          <p:nvPr>
            <p:custDataLst>
              <p:tags r:id="rId4"/>
            </p:custDataLst>
          </p:nvPr>
        </p:nvCxnSpPr>
        <p:spPr bwMode="gray">
          <a:xfrm flipV="1">
            <a:off x="2708275"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custDataLst>
              <p:tags r:id="rId5"/>
            </p:custDataLst>
          </p:nvPr>
        </p:nvCxnSpPr>
        <p:spPr bwMode="gray">
          <a:xfrm flipV="1">
            <a:off x="2365375"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custDataLst>
              <p:tags r:id="rId6"/>
            </p:custDataLst>
          </p:nvPr>
        </p:nvCxnSpPr>
        <p:spPr bwMode="gray">
          <a:xfrm flipV="1">
            <a:off x="2024063"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custDataLst>
              <p:tags r:id="rId7"/>
            </p:custDataLst>
          </p:nvPr>
        </p:nvCxnSpPr>
        <p:spPr bwMode="gray">
          <a:xfrm flipV="1">
            <a:off x="1681163"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custDataLst>
              <p:tags r:id="rId8"/>
            </p:custDataLst>
          </p:nvPr>
        </p:nvCxnSpPr>
        <p:spPr bwMode="gray">
          <a:xfrm>
            <a:off x="650875" y="5049838"/>
            <a:ext cx="4457700" cy="0"/>
          </a:xfrm>
          <a:prstGeom prst="line">
            <a:avLst/>
          </a:prstGeom>
          <a:solidFill>
            <a:schemeClr val="accent1"/>
          </a:solidFill>
          <a:ln w="9525" cap="flat" cmpd="sng" algn="ctr">
            <a:solidFill>
              <a:srgbClr val="D52B1E"/>
            </a:solidFill>
            <a:prstDash val="solid"/>
            <a:round/>
            <a:headEnd type="none" w="med" len="med"/>
            <a:tailEnd type="none" w="med" len="med"/>
          </a:ln>
          <a:effectLst/>
        </p:spPr>
      </p:cxnSp>
      <p:cxnSp>
        <p:nvCxnSpPr>
          <p:cNvPr id="34" name="Straight Connector 33"/>
          <p:cNvCxnSpPr/>
          <p:nvPr>
            <p:custDataLst>
              <p:tags r:id="rId9"/>
            </p:custDataLst>
          </p:nvPr>
        </p:nvCxnSpPr>
        <p:spPr bwMode="gray">
          <a:xfrm flipV="1">
            <a:off x="996950"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custDataLst>
              <p:tags r:id="rId10"/>
            </p:custDataLst>
          </p:nvPr>
        </p:nvCxnSpPr>
        <p:spPr bwMode="gray">
          <a:xfrm flipV="1">
            <a:off x="1339850"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custDataLst>
              <p:tags r:id="rId11"/>
            </p:custDataLst>
          </p:nvPr>
        </p:nvCxnSpPr>
        <p:spPr bwMode="gray">
          <a:xfrm flipV="1">
            <a:off x="655638"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custDataLst>
              <p:tags r:id="rId12"/>
            </p:custDataLst>
          </p:nvPr>
        </p:nvCxnSpPr>
        <p:spPr bwMode="gray">
          <a:xfrm flipV="1">
            <a:off x="5103813"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custDataLst>
              <p:tags r:id="rId13"/>
            </p:custDataLst>
          </p:nvPr>
        </p:nvCxnSpPr>
        <p:spPr bwMode="gray">
          <a:xfrm flipV="1">
            <a:off x="3733800"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custDataLst>
              <p:tags r:id="rId14"/>
            </p:custDataLst>
          </p:nvPr>
        </p:nvCxnSpPr>
        <p:spPr bwMode="gray">
          <a:xfrm flipV="1">
            <a:off x="4760913"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custDataLst>
              <p:tags r:id="rId15"/>
            </p:custDataLst>
          </p:nvPr>
        </p:nvCxnSpPr>
        <p:spPr bwMode="gray">
          <a:xfrm flipV="1">
            <a:off x="4076700"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custDataLst>
              <p:tags r:id="rId16"/>
            </p:custDataLst>
          </p:nvPr>
        </p:nvCxnSpPr>
        <p:spPr bwMode="gray">
          <a:xfrm flipV="1">
            <a:off x="4418013"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custDataLst>
              <p:tags r:id="rId17"/>
            </p:custDataLst>
          </p:nvPr>
        </p:nvCxnSpPr>
        <p:spPr bwMode="gray">
          <a:xfrm flipV="1">
            <a:off x="3049588"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custDataLst>
              <p:tags r:id="rId18"/>
            </p:custDataLst>
          </p:nvPr>
        </p:nvCxnSpPr>
        <p:spPr bwMode="gray">
          <a:xfrm flipV="1">
            <a:off x="3392488" y="5049838"/>
            <a:ext cx="0" cy="58737"/>
          </a:xfrm>
          <a:prstGeom prst="line">
            <a:avLst/>
          </a:pr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5" name="Text Placeholder 48"/>
          <p:cNvSpPr>
            <a:spLocks noGrp="1"/>
          </p:cNvSpPr>
          <p:nvPr>
            <p:custDataLst>
              <p:tags r:id="rId19"/>
            </p:custDataLst>
          </p:nvPr>
        </p:nvSpPr>
        <p:spPr bwMode="gray">
          <a:xfrm>
            <a:off x="606425" y="5211763"/>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7A930412-7965-4FBB-9FA0-E84994F4271D}" type="datetime'''''''''''''''''''''''''''''0'">
              <a:rPr lang="en-US" sz="1400">
                <a:solidFill>
                  <a:schemeClr val="accent1"/>
                </a:solidFill>
                <a:latin typeface="Arial"/>
                <a:sym typeface="Arial"/>
              </a:rPr>
              <a:pPr marL="0" indent="0" algn="ctr">
                <a:buNone/>
              </a:pPr>
              <a:t>0</a:t>
            </a:fld>
            <a:endParaRPr lang="en-US" sz="1400" dirty="0">
              <a:solidFill>
                <a:schemeClr val="accent1"/>
              </a:solidFill>
              <a:latin typeface="Arial"/>
              <a:sym typeface="Arial"/>
            </a:endParaRPr>
          </a:p>
        </p:txBody>
      </p:sp>
      <p:sp>
        <p:nvSpPr>
          <p:cNvPr id="98" name="Text Placeholder 51"/>
          <p:cNvSpPr>
            <a:spLocks noGrp="1"/>
          </p:cNvSpPr>
          <p:nvPr>
            <p:custDataLst>
              <p:tags r:id="rId20"/>
            </p:custDataLst>
          </p:nvPr>
        </p:nvSpPr>
        <p:spPr bwMode="gray">
          <a:xfrm>
            <a:off x="1925638" y="521176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96B6BEE7-2CC5-482E-9A75-A2E886AA8E70}" type="datetime'''''''''''''''''''''6''0'''''''''''''''''''''''''''''''">
              <a:rPr lang="en-US" sz="1400">
                <a:solidFill>
                  <a:schemeClr val="accent1"/>
                </a:solidFill>
                <a:latin typeface="Arial"/>
                <a:sym typeface="Arial"/>
              </a:rPr>
              <a:pPr marL="0" indent="0" algn="ctr">
                <a:buNone/>
              </a:pPr>
              <a:t>60</a:t>
            </a:fld>
            <a:endParaRPr lang="en-US" sz="1400" dirty="0">
              <a:solidFill>
                <a:schemeClr val="accent1"/>
              </a:solidFill>
              <a:latin typeface="Arial"/>
              <a:sym typeface="Arial"/>
            </a:endParaRPr>
          </a:p>
        </p:txBody>
      </p:sp>
      <p:sp>
        <p:nvSpPr>
          <p:cNvPr id="110" name="Text Placeholder 63"/>
          <p:cNvSpPr>
            <a:spLocks noGrp="1"/>
          </p:cNvSpPr>
          <p:nvPr>
            <p:custDataLst>
              <p:tags r:id="rId21"/>
            </p:custDataLst>
          </p:nvPr>
        </p:nvSpPr>
        <p:spPr bwMode="gray">
          <a:xfrm>
            <a:off x="1582738" y="521176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129D146D-0777-4F19-80CA-00E8A0F446FE}" type="datetime'''''''''''''''''4''5'''''''''''''''''''''''''''''''">
              <a:rPr lang="en-US" sz="1400">
                <a:solidFill>
                  <a:schemeClr val="accent1"/>
                </a:solidFill>
                <a:latin typeface="Arial"/>
                <a:sym typeface="Arial"/>
              </a:rPr>
              <a:pPr marL="0" indent="0" algn="ctr">
                <a:buNone/>
              </a:pPr>
              <a:t>45</a:t>
            </a:fld>
            <a:endParaRPr lang="en-US" sz="1400" dirty="0">
              <a:solidFill>
                <a:schemeClr val="accent1"/>
              </a:solidFill>
              <a:latin typeface="Arial"/>
              <a:sym typeface="Arial"/>
            </a:endParaRPr>
          </a:p>
        </p:txBody>
      </p:sp>
      <p:sp>
        <p:nvSpPr>
          <p:cNvPr id="108" name="Text Placeholder 61"/>
          <p:cNvSpPr>
            <a:spLocks noGrp="1"/>
          </p:cNvSpPr>
          <p:nvPr>
            <p:custDataLst>
              <p:tags r:id="rId22"/>
            </p:custDataLst>
          </p:nvPr>
        </p:nvSpPr>
        <p:spPr bwMode="gray">
          <a:xfrm>
            <a:off x="898525" y="521176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B7D77BBD-205D-47C5-924E-69AE8C171FF1}" type="datetime'''''''''''''''''''''''''''''''''''''1''''''5'''">
              <a:rPr lang="en-US" sz="1400">
                <a:solidFill>
                  <a:schemeClr val="accent1"/>
                </a:solidFill>
                <a:latin typeface="Arial"/>
                <a:sym typeface="Arial"/>
              </a:rPr>
              <a:pPr marL="0" indent="0" algn="ctr">
                <a:buNone/>
              </a:pPr>
              <a:t>15</a:t>
            </a:fld>
            <a:endParaRPr lang="en-US" sz="1400" dirty="0">
              <a:solidFill>
                <a:schemeClr val="accent1"/>
              </a:solidFill>
              <a:latin typeface="Arial"/>
              <a:sym typeface="Arial"/>
            </a:endParaRPr>
          </a:p>
        </p:txBody>
      </p:sp>
      <p:sp>
        <p:nvSpPr>
          <p:cNvPr id="111" name="Text Placeholder 64"/>
          <p:cNvSpPr>
            <a:spLocks noGrp="1"/>
          </p:cNvSpPr>
          <p:nvPr>
            <p:custDataLst>
              <p:tags r:id="rId23"/>
            </p:custDataLst>
          </p:nvPr>
        </p:nvSpPr>
        <p:spPr bwMode="gray">
          <a:xfrm>
            <a:off x="2266950" y="521176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AD814F9E-B62C-4075-9D77-085204F5AB94}" type="datetime'''''''''''''''''''''''''''75'''''''''''">
              <a:rPr lang="en-US" sz="1400">
                <a:solidFill>
                  <a:schemeClr val="accent1"/>
                </a:solidFill>
                <a:latin typeface="Arial"/>
                <a:sym typeface="Arial"/>
              </a:rPr>
              <a:pPr marL="0" indent="0" algn="ctr">
                <a:buNone/>
              </a:pPr>
              <a:t>75</a:t>
            </a:fld>
            <a:endParaRPr lang="en-US" sz="1400" dirty="0">
              <a:solidFill>
                <a:schemeClr val="accent1"/>
              </a:solidFill>
              <a:latin typeface="Arial"/>
              <a:sym typeface="Arial"/>
            </a:endParaRPr>
          </a:p>
        </p:txBody>
      </p:sp>
      <p:sp>
        <p:nvSpPr>
          <p:cNvPr id="112" name="Text Placeholder 65"/>
          <p:cNvSpPr>
            <a:spLocks noGrp="1"/>
          </p:cNvSpPr>
          <p:nvPr>
            <p:custDataLst>
              <p:tags r:id="rId24"/>
            </p:custDataLst>
          </p:nvPr>
        </p:nvSpPr>
        <p:spPr bwMode="gray">
          <a:xfrm>
            <a:off x="2609850" y="521176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4768E997-4CB4-450D-BB1F-4BFB1A8942B8}" type="datetime'''''''''''''90'''''''''''''''''''''''''''''''''''''">
              <a:rPr lang="en-US" sz="1400">
                <a:solidFill>
                  <a:schemeClr val="accent1"/>
                </a:solidFill>
                <a:latin typeface="Arial"/>
                <a:sym typeface="Arial"/>
              </a:rPr>
              <a:pPr marL="0" indent="0" algn="ctr">
                <a:buNone/>
              </a:pPr>
              <a:t>90</a:t>
            </a:fld>
            <a:endParaRPr lang="en-US" sz="1400" dirty="0">
              <a:solidFill>
                <a:schemeClr val="accent1"/>
              </a:solidFill>
              <a:latin typeface="Arial"/>
              <a:sym typeface="Arial"/>
            </a:endParaRPr>
          </a:p>
        </p:txBody>
      </p:sp>
      <p:sp>
        <p:nvSpPr>
          <p:cNvPr id="101" name="Text Placeholder 54"/>
          <p:cNvSpPr>
            <a:spLocks noGrp="1"/>
          </p:cNvSpPr>
          <p:nvPr>
            <p:custDataLst>
              <p:tags r:id="rId25"/>
            </p:custDataLst>
          </p:nvPr>
        </p:nvSpPr>
        <p:spPr bwMode="gray">
          <a:xfrm>
            <a:off x="3244850" y="5211763"/>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2E96E7C0-6D6A-4657-8C70-A8DBA30D1FDE}" type="datetime'''''''''''''''''1''''''''''''2''''''''''''''''''''''''''''''0'">
              <a:rPr lang="en-US" sz="1400">
                <a:solidFill>
                  <a:schemeClr val="accent1"/>
                </a:solidFill>
                <a:latin typeface="Arial"/>
                <a:sym typeface="Arial"/>
              </a:rPr>
              <a:pPr marL="0" indent="0" algn="ctr">
                <a:buNone/>
              </a:pPr>
              <a:t>120</a:t>
            </a:fld>
            <a:endParaRPr lang="en-US" sz="1400" dirty="0">
              <a:solidFill>
                <a:schemeClr val="accent1"/>
              </a:solidFill>
              <a:latin typeface="Arial"/>
              <a:sym typeface="Arial"/>
            </a:endParaRPr>
          </a:p>
        </p:txBody>
      </p:sp>
      <p:sp>
        <p:nvSpPr>
          <p:cNvPr id="114" name="Text Placeholder 67"/>
          <p:cNvSpPr>
            <a:spLocks noGrp="1"/>
          </p:cNvSpPr>
          <p:nvPr>
            <p:custDataLst>
              <p:tags r:id="rId26"/>
            </p:custDataLst>
          </p:nvPr>
        </p:nvSpPr>
        <p:spPr bwMode="gray">
          <a:xfrm>
            <a:off x="3586163" y="5211763"/>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EF53F95-70D8-470B-A68A-AB0CA87C2D51}" type="datetime'''''''1''''35'''''''''''''''''''''''''''''''''''''''''''''''">
              <a:rPr lang="en-US" sz="1400">
                <a:solidFill>
                  <a:schemeClr val="accent1"/>
                </a:solidFill>
                <a:latin typeface="Arial"/>
                <a:sym typeface="Arial"/>
              </a:rPr>
              <a:pPr marL="0" indent="0" algn="ctr">
                <a:buNone/>
              </a:pPr>
              <a:t>135</a:t>
            </a:fld>
            <a:endParaRPr lang="en-US" sz="1400" dirty="0">
              <a:solidFill>
                <a:schemeClr val="accent1"/>
              </a:solidFill>
              <a:latin typeface="Arial"/>
              <a:sym typeface="Arial"/>
            </a:endParaRPr>
          </a:p>
        </p:txBody>
      </p:sp>
      <p:sp>
        <p:nvSpPr>
          <p:cNvPr id="115" name="Text Placeholder 68"/>
          <p:cNvSpPr>
            <a:spLocks noGrp="1"/>
          </p:cNvSpPr>
          <p:nvPr>
            <p:custDataLst>
              <p:tags r:id="rId27"/>
            </p:custDataLst>
          </p:nvPr>
        </p:nvSpPr>
        <p:spPr bwMode="gray">
          <a:xfrm>
            <a:off x="3929063" y="5211763"/>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656D0AFD-0C07-48B8-8EF1-111FC61F695A}" type="datetime'''''''''''''''''''''1''''''''''''''''''''''''''''''''5''0'''''">
              <a:rPr lang="en-US" sz="1400">
                <a:solidFill>
                  <a:schemeClr val="accent1"/>
                </a:solidFill>
                <a:latin typeface="Arial"/>
                <a:sym typeface="Arial"/>
              </a:rPr>
              <a:pPr marL="0" indent="0" algn="ctr">
                <a:buNone/>
              </a:pPr>
              <a:t>150</a:t>
            </a:fld>
            <a:endParaRPr lang="en-US" sz="1400" dirty="0">
              <a:solidFill>
                <a:schemeClr val="accent1"/>
              </a:solidFill>
              <a:latin typeface="Arial"/>
              <a:sym typeface="Arial"/>
            </a:endParaRPr>
          </a:p>
        </p:txBody>
      </p:sp>
      <p:sp>
        <p:nvSpPr>
          <p:cNvPr id="104" name="Text Placeholder 57"/>
          <p:cNvSpPr>
            <a:spLocks noGrp="1"/>
          </p:cNvSpPr>
          <p:nvPr>
            <p:custDataLst>
              <p:tags r:id="rId28"/>
            </p:custDataLst>
          </p:nvPr>
        </p:nvSpPr>
        <p:spPr bwMode="gray">
          <a:xfrm>
            <a:off x="4613275" y="5211763"/>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90F84CA7-7B77-432A-95DD-508154DA9E5B}" type="datetime'''1''''''8''''''''''''''''''''''''''''0'">
              <a:rPr lang="en-US" sz="1400" smtClean="0">
                <a:solidFill>
                  <a:schemeClr val="accent1"/>
                </a:solidFill>
                <a:latin typeface="Arial"/>
                <a:sym typeface="Arial"/>
              </a:rPr>
              <a:pPr marL="0" indent="0" algn="ctr">
                <a:buNone/>
              </a:pPr>
              <a:t>180</a:t>
            </a:fld>
            <a:endParaRPr lang="en-US" sz="1400" dirty="0">
              <a:solidFill>
                <a:schemeClr val="accent1"/>
              </a:solidFill>
              <a:latin typeface="Arial"/>
              <a:sym typeface="Arial"/>
            </a:endParaRPr>
          </a:p>
        </p:txBody>
      </p:sp>
      <p:sp>
        <p:nvSpPr>
          <p:cNvPr id="116" name="Text Placeholder 69"/>
          <p:cNvSpPr>
            <a:spLocks noGrp="1"/>
          </p:cNvSpPr>
          <p:nvPr>
            <p:custDataLst>
              <p:tags r:id="rId29"/>
            </p:custDataLst>
          </p:nvPr>
        </p:nvSpPr>
        <p:spPr bwMode="gray">
          <a:xfrm>
            <a:off x="4270375" y="5211763"/>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00CB9184-0BC2-421A-A6F1-6B0DC20F1B0B}" type="datetime'''''1''''''''''''''''65'''''''''''''''''''''">
              <a:rPr lang="en-US" sz="1400">
                <a:solidFill>
                  <a:schemeClr val="accent1"/>
                </a:solidFill>
                <a:latin typeface="Arial"/>
                <a:sym typeface="Arial"/>
              </a:rPr>
              <a:pPr marL="0" indent="0" algn="ctr">
                <a:buNone/>
              </a:pPr>
              <a:t>165</a:t>
            </a:fld>
            <a:endParaRPr lang="en-US" sz="1400" dirty="0">
              <a:solidFill>
                <a:schemeClr val="accent1"/>
              </a:solidFill>
              <a:latin typeface="Arial"/>
              <a:sym typeface="Arial"/>
            </a:endParaRPr>
          </a:p>
        </p:txBody>
      </p:sp>
      <p:sp>
        <p:nvSpPr>
          <p:cNvPr id="113" name="Text Placeholder 66"/>
          <p:cNvSpPr>
            <a:spLocks noGrp="1"/>
          </p:cNvSpPr>
          <p:nvPr>
            <p:custDataLst>
              <p:tags r:id="rId30"/>
            </p:custDataLst>
          </p:nvPr>
        </p:nvSpPr>
        <p:spPr bwMode="gray">
          <a:xfrm>
            <a:off x="2901950" y="5211763"/>
            <a:ext cx="29527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6E069844-9B63-4A41-A980-5496AF9C6B40}" type="datetime'''''1''''''''''''''05'''''''">
              <a:rPr lang="en-US" sz="1400">
                <a:solidFill>
                  <a:schemeClr val="accent1"/>
                </a:solidFill>
                <a:latin typeface="Arial"/>
                <a:sym typeface="Arial"/>
              </a:rPr>
              <a:pPr marL="0" indent="0" algn="ctr">
                <a:buNone/>
              </a:pPr>
              <a:t>105</a:t>
            </a:fld>
            <a:endParaRPr lang="en-US" sz="1400" dirty="0">
              <a:solidFill>
                <a:schemeClr val="accent1"/>
              </a:solidFill>
              <a:latin typeface="Arial"/>
              <a:sym typeface="Arial"/>
            </a:endParaRPr>
          </a:p>
        </p:txBody>
      </p:sp>
      <p:sp>
        <p:nvSpPr>
          <p:cNvPr id="109" name="Text Placeholder 62"/>
          <p:cNvSpPr>
            <a:spLocks noGrp="1"/>
          </p:cNvSpPr>
          <p:nvPr>
            <p:custDataLst>
              <p:tags r:id="rId31"/>
            </p:custDataLst>
          </p:nvPr>
        </p:nvSpPr>
        <p:spPr bwMode="gray">
          <a:xfrm>
            <a:off x="1241425" y="5211763"/>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3480CF3-D42F-42CA-A8EA-E94F3249BCA8}" type="datetime'''''''30'''''''''''''''">
              <a:rPr lang="en-US" sz="1400">
                <a:solidFill>
                  <a:schemeClr val="accent1"/>
                </a:solidFill>
                <a:latin typeface="Arial"/>
                <a:sym typeface="Arial"/>
              </a:rPr>
              <a:pPr marL="0" indent="0" algn="ctr">
                <a:buNone/>
              </a:pPr>
              <a:t>30</a:t>
            </a:fld>
            <a:endParaRPr lang="en-US" sz="1400" dirty="0">
              <a:solidFill>
                <a:schemeClr val="accent1"/>
              </a:solidFill>
              <a:latin typeface="Arial"/>
              <a:sym typeface="Arial"/>
            </a:endParaRPr>
          </a:p>
        </p:txBody>
      </p:sp>
      <p:sp>
        <p:nvSpPr>
          <p:cNvPr id="69" name="Rectangle 68"/>
          <p:cNvSpPr/>
          <p:nvPr>
            <p:custDataLst>
              <p:tags r:id="rId32"/>
            </p:custDataLst>
          </p:nvPr>
        </p:nvSpPr>
        <p:spPr bwMode="auto">
          <a:xfrm>
            <a:off x="2365375" y="3057525"/>
            <a:ext cx="342900" cy="1992313"/>
          </a:xfrm>
          <a:prstGeom prst="rect">
            <a:avLst/>
          </a:prstGeom>
          <a:solidFill>
            <a:srgbClr val="D52B1E"/>
          </a:solidFill>
          <a:ln w="9525" cap="flat" cmpd="sng" algn="ctr">
            <a:solidFill>
              <a:srgbClr val="21249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83" name="Rectangle 82"/>
          <p:cNvSpPr/>
          <p:nvPr>
            <p:custDataLst>
              <p:tags r:id="rId33"/>
            </p:custDataLst>
          </p:nvPr>
        </p:nvSpPr>
        <p:spPr bwMode="auto">
          <a:xfrm>
            <a:off x="4760913" y="4972050"/>
            <a:ext cx="342900" cy="77788"/>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81" name="Rectangle 80"/>
          <p:cNvSpPr/>
          <p:nvPr>
            <p:custDataLst>
              <p:tags r:id="rId34"/>
            </p:custDataLst>
          </p:nvPr>
        </p:nvSpPr>
        <p:spPr bwMode="auto">
          <a:xfrm>
            <a:off x="4418013" y="4953000"/>
            <a:ext cx="342900" cy="96838"/>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79" name="Rectangle 78"/>
          <p:cNvSpPr/>
          <p:nvPr>
            <p:custDataLst>
              <p:tags r:id="rId35"/>
            </p:custDataLst>
          </p:nvPr>
        </p:nvSpPr>
        <p:spPr bwMode="auto">
          <a:xfrm>
            <a:off x="4076700" y="4787900"/>
            <a:ext cx="341313" cy="261938"/>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77" name="Rectangle 76"/>
          <p:cNvSpPr/>
          <p:nvPr>
            <p:custDataLst>
              <p:tags r:id="rId36"/>
            </p:custDataLst>
          </p:nvPr>
        </p:nvSpPr>
        <p:spPr bwMode="auto">
          <a:xfrm>
            <a:off x="3733800" y="4856163"/>
            <a:ext cx="342900" cy="193675"/>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71" name="Rectangle 70"/>
          <p:cNvSpPr/>
          <p:nvPr>
            <p:custDataLst>
              <p:tags r:id="rId37"/>
            </p:custDataLst>
          </p:nvPr>
        </p:nvSpPr>
        <p:spPr bwMode="auto">
          <a:xfrm>
            <a:off x="2708275" y="3492500"/>
            <a:ext cx="341313" cy="1557338"/>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73" name="Rectangle 72"/>
          <p:cNvSpPr/>
          <p:nvPr>
            <p:custDataLst>
              <p:tags r:id="rId38"/>
            </p:custDataLst>
          </p:nvPr>
        </p:nvSpPr>
        <p:spPr bwMode="auto">
          <a:xfrm>
            <a:off x="3049588" y="4333875"/>
            <a:ext cx="342900" cy="715963"/>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75" name="Rectangle 74"/>
          <p:cNvSpPr/>
          <p:nvPr>
            <p:custDataLst>
              <p:tags r:id="rId39"/>
            </p:custDataLst>
          </p:nvPr>
        </p:nvSpPr>
        <p:spPr bwMode="auto">
          <a:xfrm>
            <a:off x="3392488" y="4362450"/>
            <a:ext cx="341313" cy="687388"/>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9" name="Rectangle 8"/>
          <p:cNvSpPr/>
          <p:nvPr>
            <p:custDataLst>
              <p:tags r:id="rId40"/>
            </p:custDataLst>
          </p:nvPr>
        </p:nvSpPr>
        <p:spPr bwMode="auto">
          <a:xfrm>
            <a:off x="655638" y="5038725"/>
            <a:ext cx="341313" cy="11113"/>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35" name="Rectangle 34"/>
          <p:cNvSpPr/>
          <p:nvPr>
            <p:custDataLst>
              <p:tags r:id="rId41"/>
            </p:custDataLst>
          </p:nvPr>
        </p:nvSpPr>
        <p:spPr bwMode="auto">
          <a:xfrm>
            <a:off x="996950" y="4875213"/>
            <a:ext cx="342900" cy="174625"/>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38" name="Rectangle 37"/>
          <p:cNvSpPr/>
          <p:nvPr>
            <p:custDataLst>
              <p:tags r:id="rId42"/>
            </p:custDataLst>
          </p:nvPr>
        </p:nvSpPr>
        <p:spPr bwMode="auto">
          <a:xfrm>
            <a:off x="1339850" y="4246563"/>
            <a:ext cx="341313" cy="803275"/>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65" name="Rectangle 64"/>
          <p:cNvSpPr/>
          <p:nvPr>
            <p:custDataLst>
              <p:tags r:id="rId43"/>
            </p:custDataLst>
          </p:nvPr>
        </p:nvSpPr>
        <p:spPr bwMode="auto">
          <a:xfrm>
            <a:off x="1681163" y="3878263"/>
            <a:ext cx="342900" cy="1171575"/>
          </a:xfrm>
          <a:prstGeom prst="rect">
            <a:avLst/>
          </a:prstGeom>
          <a:solidFill>
            <a:srgbClr val="FFFFFF"/>
          </a:solidFill>
          <a:ln w="9525" cap="flat" cmpd="sng" algn="ctr">
            <a:solidFill>
              <a:srgbClr val="D52B1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sp>
        <p:nvSpPr>
          <p:cNvPr id="67" name="Rectangle 66"/>
          <p:cNvSpPr/>
          <p:nvPr>
            <p:custDataLst>
              <p:tags r:id="rId44"/>
            </p:custDataLst>
          </p:nvPr>
        </p:nvSpPr>
        <p:spPr bwMode="auto">
          <a:xfrm>
            <a:off x="2024063" y="3124200"/>
            <a:ext cx="341313" cy="1925638"/>
          </a:xfrm>
          <a:prstGeom prst="rect">
            <a:avLst/>
          </a:prstGeom>
          <a:solidFill>
            <a:schemeClr val="accent1"/>
          </a:solidFill>
          <a:ln w="9525" cap="flat" cmpd="sng" algn="ctr">
            <a:solidFill>
              <a:srgbClr val="21249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charset="0"/>
            </a:endParaRPr>
          </a:p>
        </p:txBody>
      </p:sp>
      <p:cxnSp>
        <p:nvCxnSpPr>
          <p:cNvPr id="8" name="Straight Connector 7"/>
          <p:cNvCxnSpPr/>
          <p:nvPr>
            <p:custDataLst>
              <p:tags r:id="rId45"/>
            </p:custDataLst>
          </p:nvPr>
        </p:nvCxnSpPr>
        <p:spPr bwMode="auto">
          <a:xfrm>
            <a:off x="2878138" y="2297113"/>
            <a:ext cx="0" cy="919163"/>
          </a:xfrm>
          <a:prstGeom prst="line">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custDataLst>
              <p:tags r:id="rId46"/>
            </p:custDataLst>
          </p:nvPr>
        </p:nvCxnSpPr>
        <p:spPr bwMode="auto">
          <a:xfrm flipV="1">
            <a:off x="2536825" y="2297113"/>
            <a:ext cx="0" cy="484188"/>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custDataLst>
              <p:tags r:id="rId47"/>
            </p:custDataLst>
          </p:nvPr>
        </p:nvCxnSpPr>
        <p:spPr bwMode="auto">
          <a:xfrm>
            <a:off x="2536825" y="2297113"/>
            <a:ext cx="341313" cy="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0" name="Text Placeholder 42"/>
          <p:cNvSpPr>
            <a:spLocks noGrp="1"/>
          </p:cNvSpPr>
          <p:nvPr>
            <p:custDataLst>
              <p:tags r:id="rId48"/>
            </p:custDataLst>
          </p:nvPr>
        </p:nvSpPr>
        <p:spPr bwMode="gray">
          <a:xfrm>
            <a:off x="3830638" y="4618038"/>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8E1BE91-7E40-4447-8941-69204E498873}" type="datetime'''''''''''''''''''''''''''''''''''''''''''''''''''''''2'''''''">
              <a:rPr lang="en-US" sz="1400">
                <a:solidFill>
                  <a:schemeClr val="accent1"/>
                </a:solidFill>
              </a:rPr>
              <a:pPr/>
              <a:t>2</a:t>
            </a:fld>
            <a:endParaRPr lang="en-US" sz="1400" dirty="0">
              <a:solidFill>
                <a:schemeClr val="accent1"/>
              </a:solidFill>
              <a:latin typeface="Arial"/>
              <a:sym typeface="Arial"/>
            </a:endParaRPr>
          </a:p>
        </p:txBody>
      </p:sp>
      <p:sp>
        <p:nvSpPr>
          <p:cNvPr id="74" name="Text Placeholder 39"/>
          <p:cNvSpPr>
            <a:spLocks noGrp="1"/>
          </p:cNvSpPr>
          <p:nvPr>
            <p:custDataLst>
              <p:tags r:id="rId49"/>
            </p:custDataLst>
          </p:nvPr>
        </p:nvSpPr>
        <p:spPr bwMode="gray">
          <a:xfrm>
            <a:off x="2754313" y="3254375"/>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4786596-1026-455F-88F3-AA8BCCBE143E}" type="datetime'''''1''''''''''''''''''''''''''''''''''''''''''''''''6'''''">
              <a:rPr lang="en-US" sz="1400">
                <a:solidFill>
                  <a:schemeClr val="accent1"/>
                </a:solidFill>
              </a:rPr>
              <a:pPr/>
              <a:t>16</a:t>
            </a:fld>
            <a:endParaRPr lang="en-US" sz="1400" dirty="0">
              <a:solidFill>
                <a:schemeClr val="accent1"/>
              </a:solidFill>
              <a:latin typeface="Arial"/>
              <a:sym typeface="Arial"/>
            </a:endParaRPr>
          </a:p>
        </p:txBody>
      </p:sp>
      <p:sp>
        <p:nvSpPr>
          <p:cNvPr id="76" name="Text Placeholder 40"/>
          <p:cNvSpPr>
            <a:spLocks noGrp="1"/>
          </p:cNvSpPr>
          <p:nvPr>
            <p:custDataLst>
              <p:tags r:id="rId50"/>
            </p:custDataLst>
          </p:nvPr>
        </p:nvSpPr>
        <p:spPr bwMode="gray">
          <a:xfrm>
            <a:off x="3146425" y="4095750"/>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3CFEC0AC-C43D-4782-9F04-679E602D2EDC}" type="datetime'''7'''''''''''''''''''''''''''''''''''''''''">
              <a:rPr lang="en-US" sz="1400">
                <a:solidFill>
                  <a:schemeClr val="accent1"/>
                </a:solidFill>
              </a:rPr>
              <a:pPr/>
              <a:t>7</a:t>
            </a:fld>
            <a:endParaRPr lang="en-US" sz="1400" dirty="0">
              <a:solidFill>
                <a:schemeClr val="accent1"/>
              </a:solidFill>
              <a:latin typeface="Arial"/>
              <a:sym typeface="Arial"/>
            </a:endParaRPr>
          </a:p>
        </p:txBody>
      </p:sp>
      <p:sp>
        <p:nvSpPr>
          <p:cNvPr id="72" name="Text Placeholder 38"/>
          <p:cNvSpPr>
            <a:spLocks noGrp="1"/>
          </p:cNvSpPr>
          <p:nvPr>
            <p:custDataLst>
              <p:tags r:id="rId51"/>
            </p:custDataLst>
          </p:nvPr>
        </p:nvSpPr>
        <p:spPr bwMode="gray">
          <a:xfrm>
            <a:off x="2413000" y="2819400"/>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E90695A0-342A-429A-B6ED-F9F211D89649}" type="datetime'''''''2''''''''1'''''''''''''''">
              <a:rPr lang="en-US" sz="1400">
                <a:solidFill>
                  <a:schemeClr val="accent1"/>
                </a:solidFill>
              </a:rPr>
              <a:pPr/>
              <a:t>21</a:t>
            </a:fld>
            <a:endParaRPr lang="en-US" sz="1400" dirty="0">
              <a:solidFill>
                <a:schemeClr val="accent1"/>
              </a:solidFill>
              <a:latin typeface="Arial"/>
              <a:sym typeface="Arial"/>
            </a:endParaRPr>
          </a:p>
        </p:txBody>
      </p:sp>
      <p:sp>
        <p:nvSpPr>
          <p:cNvPr id="70" name="Text Placeholder 37"/>
          <p:cNvSpPr>
            <a:spLocks noGrp="1"/>
          </p:cNvSpPr>
          <p:nvPr>
            <p:custDataLst>
              <p:tags r:id="rId52"/>
            </p:custDataLst>
          </p:nvPr>
        </p:nvSpPr>
        <p:spPr bwMode="gray">
          <a:xfrm>
            <a:off x="2070100" y="2886075"/>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DBDCC1B3-F09D-4A5B-B5FF-9AA808FE3818}" type="datetime'''2''''''0'''">
              <a:rPr lang="en-US" sz="1400">
                <a:solidFill>
                  <a:schemeClr val="accent1"/>
                </a:solidFill>
              </a:rPr>
              <a:pPr/>
              <a:t>20</a:t>
            </a:fld>
            <a:endParaRPr lang="en-US" sz="1400" dirty="0">
              <a:solidFill>
                <a:schemeClr val="accent1"/>
              </a:solidFill>
              <a:latin typeface="Arial"/>
              <a:sym typeface="Arial"/>
            </a:endParaRPr>
          </a:p>
        </p:txBody>
      </p:sp>
      <p:sp>
        <p:nvSpPr>
          <p:cNvPr id="68" name="Text Placeholder 36"/>
          <p:cNvSpPr>
            <a:spLocks noGrp="1"/>
          </p:cNvSpPr>
          <p:nvPr>
            <p:custDataLst>
              <p:tags r:id="rId53"/>
            </p:custDataLst>
          </p:nvPr>
        </p:nvSpPr>
        <p:spPr bwMode="gray">
          <a:xfrm>
            <a:off x="1728788" y="3640138"/>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F0E2ACFA-B2E8-4887-A700-76601BDBBE77}" type="datetime'1''''''''''2'''''''''''''''''''''''''''''">
              <a:rPr lang="en-US" sz="1400">
                <a:solidFill>
                  <a:schemeClr val="accent1"/>
                </a:solidFill>
              </a:rPr>
              <a:pPr/>
              <a:t>12</a:t>
            </a:fld>
            <a:endParaRPr lang="en-US" sz="1400" dirty="0">
              <a:solidFill>
                <a:schemeClr val="accent1"/>
              </a:solidFill>
              <a:latin typeface="Arial"/>
              <a:sym typeface="Arial"/>
            </a:endParaRPr>
          </a:p>
        </p:txBody>
      </p:sp>
      <p:sp>
        <p:nvSpPr>
          <p:cNvPr id="31" name="Text Placeholder 22"/>
          <p:cNvSpPr>
            <a:spLocks noGrp="1"/>
          </p:cNvSpPr>
          <p:nvPr>
            <p:custDataLst>
              <p:tags r:id="rId54"/>
            </p:custDataLst>
          </p:nvPr>
        </p:nvSpPr>
        <p:spPr bwMode="gray">
          <a:xfrm>
            <a:off x="1435100" y="4008438"/>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AA87EF31-C195-4BAA-BC13-5B6E9A6783DE}" type="datetime'''''''8'">
              <a:rPr lang="en-US" sz="1400">
                <a:solidFill>
                  <a:schemeClr val="accent1"/>
                </a:solidFill>
              </a:rPr>
              <a:pPr/>
              <a:t>8</a:t>
            </a:fld>
            <a:endParaRPr lang="en-US" sz="1400" dirty="0">
              <a:solidFill>
                <a:schemeClr val="accent1"/>
              </a:solidFill>
              <a:sym typeface="+mn-lt"/>
            </a:endParaRPr>
          </a:p>
        </p:txBody>
      </p:sp>
      <p:sp>
        <p:nvSpPr>
          <p:cNvPr id="30" name="Text Placeholder 21"/>
          <p:cNvSpPr>
            <a:spLocks noGrp="1"/>
          </p:cNvSpPr>
          <p:nvPr>
            <p:custDataLst>
              <p:tags r:id="rId55"/>
            </p:custDataLst>
          </p:nvPr>
        </p:nvSpPr>
        <p:spPr bwMode="gray">
          <a:xfrm>
            <a:off x="1093788" y="4637088"/>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83680EC6-2672-41F6-B020-BBAD751557BB}" type="datetime'''2'''''''''''''''''''''''''''''''">
              <a:rPr lang="en-US" sz="1400">
                <a:solidFill>
                  <a:schemeClr val="accent1"/>
                </a:solidFill>
              </a:rPr>
              <a:pPr/>
              <a:t>2</a:t>
            </a:fld>
            <a:endParaRPr lang="en-US" sz="1400" dirty="0">
              <a:solidFill>
                <a:schemeClr val="accent1"/>
              </a:solidFill>
              <a:sym typeface="+mn-lt"/>
            </a:endParaRPr>
          </a:p>
        </p:txBody>
      </p:sp>
      <p:sp>
        <p:nvSpPr>
          <p:cNvPr id="87" name="Text Placeholder 180"/>
          <p:cNvSpPr>
            <a:spLocks noGrp="1"/>
          </p:cNvSpPr>
          <p:nvPr>
            <p:custDataLst>
              <p:tags r:id="rId56"/>
            </p:custDataLst>
          </p:nvPr>
        </p:nvSpPr>
        <p:spPr bwMode="gray">
          <a:xfrm>
            <a:off x="1538288" y="1889125"/>
            <a:ext cx="2338388" cy="815975"/>
          </a:xfrm>
          <a:prstGeom prst="ellipse">
            <a:avLst/>
          </a:prstGeom>
          <a:solidFill>
            <a:schemeClr val="accent1"/>
          </a:solidFill>
          <a:ln w="9525">
            <a:solidFill>
              <a:schemeClr val="accent1"/>
            </a:solidFill>
          </a:ln>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lnSpc>
                <a:spcPct val="90000"/>
              </a:lnSpc>
              <a:spcBef>
                <a:spcPct val="0"/>
              </a:spcBef>
              <a:spcAft>
                <a:spcPct val="0"/>
              </a:spcAft>
              <a:buNone/>
            </a:pPr>
            <a:r>
              <a:rPr lang="en-US" sz="1400" b="1" dirty="0" smtClean="0">
                <a:solidFill>
                  <a:schemeClr val="bg1"/>
                </a:solidFill>
              </a:rPr>
              <a:t>+5-10%</a:t>
            </a:r>
          </a:p>
          <a:p>
            <a:pPr marL="0" indent="0" algn="ctr">
              <a:lnSpc>
                <a:spcPct val="90000"/>
              </a:lnSpc>
              <a:spcBef>
                <a:spcPct val="0"/>
              </a:spcBef>
              <a:spcAft>
                <a:spcPct val="0"/>
              </a:spcAft>
              <a:buNone/>
            </a:pPr>
            <a:r>
              <a:rPr lang="en-US" sz="1400" dirty="0">
                <a:solidFill>
                  <a:schemeClr val="bg1"/>
                </a:solidFill>
              </a:rPr>
              <a:t>harvesting efficiency </a:t>
            </a:r>
            <a:endParaRPr lang="en-US" sz="1400" dirty="0" smtClean="0">
              <a:solidFill>
                <a:schemeClr val="bg1"/>
              </a:solidFill>
            </a:endParaRPr>
          </a:p>
          <a:p>
            <a:pPr marL="0" indent="0" algn="ctr">
              <a:lnSpc>
                <a:spcPct val="90000"/>
              </a:lnSpc>
              <a:spcBef>
                <a:spcPct val="0"/>
              </a:spcBef>
              <a:spcAft>
                <a:spcPct val="0"/>
              </a:spcAft>
              <a:buNone/>
            </a:pPr>
            <a:r>
              <a:rPr lang="en-US" sz="1400" dirty="0" smtClean="0">
                <a:solidFill>
                  <a:schemeClr val="bg1"/>
                </a:solidFill>
              </a:rPr>
              <a:t>improvement</a:t>
            </a:r>
            <a:endParaRPr lang="en-US" sz="1400" b="1" dirty="0">
              <a:solidFill>
                <a:schemeClr val="bg1"/>
              </a:solidFill>
              <a:sym typeface="+mn-lt"/>
            </a:endParaRPr>
          </a:p>
        </p:txBody>
      </p:sp>
      <p:sp>
        <p:nvSpPr>
          <p:cNvPr id="86" name="Text Placeholder 45"/>
          <p:cNvSpPr>
            <a:spLocks noGrp="1"/>
          </p:cNvSpPr>
          <p:nvPr>
            <p:custDataLst>
              <p:tags r:id="rId57"/>
            </p:custDataLst>
          </p:nvPr>
        </p:nvSpPr>
        <p:spPr bwMode="gray">
          <a:xfrm>
            <a:off x="4857750" y="4733925"/>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45EE1409-4DCA-4237-A0F0-199675660029}" type="datetime'''''''''''''''''''''''''''''''''1'''''''''''''''">
              <a:rPr lang="en-US" sz="1400">
                <a:solidFill>
                  <a:schemeClr val="accent1"/>
                </a:solidFill>
              </a:rPr>
              <a:pPr/>
              <a:t>1</a:t>
            </a:fld>
            <a:endParaRPr lang="en-US" sz="1400" dirty="0">
              <a:solidFill>
                <a:schemeClr val="accent1"/>
              </a:solidFill>
              <a:latin typeface="Arial"/>
              <a:sym typeface="Arial"/>
            </a:endParaRPr>
          </a:p>
        </p:txBody>
      </p:sp>
      <p:sp>
        <p:nvSpPr>
          <p:cNvPr id="78" name="Text Placeholder 41"/>
          <p:cNvSpPr>
            <a:spLocks noGrp="1"/>
          </p:cNvSpPr>
          <p:nvPr>
            <p:custDataLst>
              <p:tags r:id="rId58"/>
            </p:custDataLst>
          </p:nvPr>
        </p:nvSpPr>
        <p:spPr bwMode="gray">
          <a:xfrm>
            <a:off x="3487738" y="4124325"/>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9308964F-B9A7-41FA-A883-F0D81641D5A5}" type="datetime'''7'''''''''">
              <a:rPr lang="en-US" sz="1400">
                <a:solidFill>
                  <a:schemeClr val="accent1"/>
                </a:solidFill>
              </a:rPr>
              <a:pPr/>
              <a:t>7</a:t>
            </a:fld>
            <a:endParaRPr lang="en-US" sz="1400" dirty="0">
              <a:solidFill>
                <a:schemeClr val="accent1"/>
              </a:solidFill>
              <a:latin typeface="Arial"/>
              <a:sym typeface="Arial"/>
            </a:endParaRPr>
          </a:p>
        </p:txBody>
      </p:sp>
      <p:sp>
        <p:nvSpPr>
          <p:cNvPr id="133" name="Text Placeholder 128"/>
          <p:cNvSpPr>
            <a:spLocks noGrp="1"/>
          </p:cNvSpPr>
          <p:nvPr>
            <p:custDataLst>
              <p:tags r:id="rId59"/>
            </p:custDataLst>
          </p:nvPr>
        </p:nvSpPr>
        <p:spPr bwMode="auto">
          <a:xfrm>
            <a:off x="1900238" y="5565775"/>
            <a:ext cx="1960563" cy="42545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b="1" dirty="0" smtClean="0">
                <a:solidFill>
                  <a:schemeClr val="accent1"/>
                </a:solidFill>
                <a:sym typeface="+mn-lt"/>
              </a:rPr>
              <a:t>Harvesting efficiency</a:t>
            </a:r>
          </a:p>
          <a:p>
            <a:pPr marL="0" indent="0" algn="ctr">
              <a:spcBef>
                <a:spcPct val="0"/>
              </a:spcBef>
              <a:spcAft>
                <a:spcPct val="0"/>
              </a:spcAft>
              <a:buNone/>
            </a:pPr>
            <a:r>
              <a:rPr lang="en-US" sz="1400" dirty="0" smtClean="0">
                <a:solidFill>
                  <a:schemeClr val="accent1"/>
                </a:solidFill>
                <a:sym typeface="+mn-lt"/>
              </a:rPr>
              <a:t>Kg cherry picked per day</a:t>
            </a:r>
            <a:endParaRPr lang="en-US" sz="1400" dirty="0">
              <a:solidFill>
                <a:schemeClr val="accent1"/>
              </a:solidFill>
              <a:sym typeface="+mn-lt"/>
            </a:endParaRPr>
          </a:p>
        </p:txBody>
      </p:sp>
      <p:sp>
        <p:nvSpPr>
          <p:cNvPr id="29" name="Text Placeholder 20"/>
          <p:cNvSpPr>
            <a:spLocks noGrp="1"/>
          </p:cNvSpPr>
          <p:nvPr>
            <p:custDataLst>
              <p:tags r:id="rId60"/>
            </p:custDataLst>
          </p:nvPr>
        </p:nvSpPr>
        <p:spPr bwMode="gray">
          <a:xfrm>
            <a:off x="750888" y="4800600"/>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7FFE95F4-E571-43B6-BD39-3D9751E919B6}" type="datetime'''''''''''''''0'''''''''''''''''''''''''''''''''''''''''''">
              <a:rPr lang="en-US" sz="1400">
                <a:solidFill>
                  <a:schemeClr val="accent1"/>
                </a:solidFill>
              </a:rPr>
              <a:pPr/>
              <a:t>0</a:t>
            </a:fld>
            <a:endParaRPr lang="en-US" sz="1400" dirty="0">
              <a:solidFill>
                <a:schemeClr val="accent1"/>
              </a:solidFill>
              <a:sym typeface="+mn-lt"/>
            </a:endParaRPr>
          </a:p>
        </p:txBody>
      </p:sp>
      <p:sp>
        <p:nvSpPr>
          <p:cNvPr id="82" name="Text Placeholder 43"/>
          <p:cNvSpPr>
            <a:spLocks noGrp="1"/>
          </p:cNvSpPr>
          <p:nvPr>
            <p:custDataLst>
              <p:tags r:id="rId61"/>
            </p:custDataLst>
          </p:nvPr>
        </p:nvSpPr>
        <p:spPr bwMode="gray">
          <a:xfrm>
            <a:off x="4171950" y="4549775"/>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4FD06291-2965-4238-ADF1-78D435FD6BB5}" type="datetime'''''''''''''''''''''''''''''''3'''''''''''''''''''''''''''''''">
              <a:rPr lang="en-US" sz="1400">
                <a:solidFill>
                  <a:schemeClr val="accent1"/>
                </a:solidFill>
              </a:rPr>
              <a:pPr/>
              <a:t>3</a:t>
            </a:fld>
            <a:endParaRPr lang="en-US" sz="1400" dirty="0">
              <a:solidFill>
                <a:schemeClr val="accent1"/>
              </a:solidFill>
              <a:latin typeface="Arial"/>
              <a:sym typeface="Arial"/>
            </a:endParaRPr>
          </a:p>
        </p:txBody>
      </p:sp>
      <p:sp>
        <p:nvSpPr>
          <p:cNvPr id="84" name="Text Placeholder 44"/>
          <p:cNvSpPr>
            <a:spLocks noGrp="1"/>
          </p:cNvSpPr>
          <p:nvPr>
            <p:custDataLst>
              <p:tags r:id="rId62"/>
            </p:custDataLst>
          </p:nvPr>
        </p:nvSpPr>
        <p:spPr bwMode="gray">
          <a:xfrm>
            <a:off x="4514850" y="4714875"/>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b"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2AB829EF-3874-4A87-95CF-0C02507F2BBF}" type="datetime'1'''''''''''''''''''''''''''''''">
              <a:rPr lang="en-US" sz="1400">
                <a:solidFill>
                  <a:schemeClr val="accent1"/>
                </a:solidFill>
              </a:rPr>
              <a:pPr/>
              <a:t>1</a:t>
            </a:fld>
            <a:endParaRPr lang="en-US" sz="1400" dirty="0">
              <a:solidFill>
                <a:schemeClr val="accent1"/>
              </a:solidFill>
              <a:latin typeface="Arial"/>
              <a:sym typeface="Arial"/>
            </a:endParaRPr>
          </a:p>
        </p:txBody>
      </p:sp>
      <p:sp>
        <p:nvSpPr>
          <p:cNvPr id="7" name="Title 6"/>
          <p:cNvSpPr>
            <a:spLocks noGrp="1"/>
          </p:cNvSpPr>
          <p:nvPr>
            <p:ph type="title"/>
          </p:nvPr>
        </p:nvSpPr>
        <p:spPr>
          <a:xfrm>
            <a:off x="400869" y="312738"/>
            <a:ext cx="8229600" cy="710844"/>
          </a:xfrm>
        </p:spPr>
        <p:txBody>
          <a:bodyPr/>
          <a:lstStyle/>
          <a:p>
            <a:pPr marL="268288"/>
            <a:r>
              <a:rPr lang="en-US" b="0" dirty="0" smtClean="0"/>
              <a:t>A combination of approaches could likely deliver a 5 - 10% harvesting labor efficiency improvement over time</a:t>
            </a:r>
            <a:endParaRPr lang="en-US" b="0" dirty="0"/>
          </a:p>
        </p:txBody>
      </p:sp>
      <p:sp>
        <p:nvSpPr>
          <p:cNvPr id="103" name="McK Footnote"/>
          <p:cNvSpPr txBox="1">
            <a:spLocks noChangeArrowheads="1"/>
          </p:cNvSpPr>
          <p:nvPr/>
        </p:nvSpPr>
        <p:spPr bwMode="auto">
          <a:xfrm>
            <a:off x="656107" y="6263786"/>
            <a:ext cx="8485187" cy="1384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CENICAFÉ; based on a study conducted in Manizales, </a:t>
            </a:r>
            <a:r>
              <a:rPr lang="en-US" sz="900" dirty="0" err="1" smtClean="0">
                <a:solidFill>
                  <a:schemeClr val="tx1">
                    <a:lumMod val="65000"/>
                    <a:lumOff val="35000"/>
                  </a:schemeClr>
                </a:solidFill>
              </a:rPr>
              <a:t>Chinchiná</a:t>
            </a:r>
            <a:r>
              <a:rPr lang="en-US" sz="900" dirty="0" smtClean="0">
                <a:solidFill>
                  <a:schemeClr val="tx1">
                    <a:lumMod val="65000"/>
                    <a:lumOff val="35000"/>
                  </a:schemeClr>
                </a:solidFill>
              </a:rPr>
              <a:t>, </a:t>
            </a:r>
            <a:r>
              <a:rPr lang="en-US" sz="900" dirty="0" err="1" smtClean="0">
                <a:solidFill>
                  <a:schemeClr val="tx1">
                    <a:lumMod val="65000"/>
                    <a:lumOff val="35000"/>
                  </a:schemeClr>
                </a:solidFill>
              </a:rPr>
              <a:t>Palestina</a:t>
            </a:r>
            <a:r>
              <a:rPr lang="en-US" sz="900" dirty="0" smtClean="0">
                <a:solidFill>
                  <a:schemeClr val="tx1">
                    <a:lumMod val="65000"/>
                    <a:lumOff val="35000"/>
                  </a:schemeClr>
                </a:solidFill>
              </a:rPr>
              <a:t> and Risaralda, TechnoServe analysis </a:t>
            </a:r>
          </a:p>
        </p:txBody>
      </p:sp>
      <p:grpSp>
        <p:nvGrpSpPr>
          <p:cNvPr id="107" name="Group 106"/>
          <p:cNvGrpSpPr/>
          <p:nvPr/>
        </p:nvGrpSpPr>
        <p:grpSpPr>
          <a:xfrm>
            <a:off x="366713" y="1194368"/>
            <a:ext cx="4887675" cy="523220"/>
            <a:chOff x="603251" y="1125996"/>
            <a:chExt cx="8222740" cy="523220"/>
          </a:xfrm>
        </p:grpSpPr>
        <p:sp>
          <p:nvSpPr>
            <p:cNvPr id="128" name="TextBox 127"/>
            <p:cNvSpPr txBox="1"/>
            <p:nvPr/>
          </p:nvSpPr>
          <p:spPr>
            <a:xfrm>
              <a:off x="603251" y="1125996"/>
              <a:ext cx="8222740" cy="523220"/>
            </a:xfrm>
            <a:prstGeom prst="rect">
              <a:avLst/>
            </a:prstGeom>
            <a:noFill/>
          </p:spPr>
          <p:txBody>
            <a:bodyPr wrap="square" rtlCol="0">
              <a:spAutoFit/>
            </a:bodyPr>
            <a:lstStyle/>
            <a:p>
              <a:r>
                <a:rPr lang="en-US" sz="1400" b="1" dirty="0">
                  <a:solidFill>
                    <a:schemeClr val="accent1"/>
                  </a:solidFill>
                </a:rPr>
                <a:t>Frequency distribution of harvesting </a:t>
              </a:r>
              <a:r>
                <a:rPr lang="en-US" sz="1400" b="1" dirty="0" smtClean="0">
                  <a:solidFill>
                    <a:schemeClr val="accent1"/>
                  </a:solidFill>
                </a:rPr>
                <a:t>labor productivity</a:t>
              </a:r>
              <a:endParaRPr lang="en-US" sz="1400" b="1" dirty="0">
                <a:solidFill>
                  <a:schemeClr val="accent1"/>
                </a:solidFill>
              </a:endParaRPr>
            </a:p>
            <a:p>
              <a:r>
                <a:rPr lang="en-US" sz="1400" dirty="0">
                  <a:solidFill>
                    <a:schemeClr val="accent1"/>
                  </a:solidFill>
                </a:rPr>
                <a:t>% of surveyed harvest workers</a:t>
              </a:r>
            </a:p>
          </p:txBody>
        </p:sp>
        <p:cxnSp>
          <p:nvCxnSpPr>
            <p:cNvPr id="129" name="Straight Connector 128"/>
            <p:cNvCxnSpPr/>
            <p:nvPr/>
          </p:nvCxnSpPr>
          <p:spPr bwMode="auto">
            <a:xfrm>
              <a:off x="687831" y="1647366"/>
              <a:ext cx="813816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grpSp>
        <p:nvGrpSpPr>
          <p:cNvPr id="188" name="Group 187"/>
          <p:cNvGrpSpPr/>
          <p:nvPr/>
        </p:nvGrpSpPr>
        <p:grpSpPr>
          <a:xfrm>
            <a:off x="5418161" y="1194368"/>
            <a:ext cx="3493827" cy="738664"/>
            <a:chOff x="603251" y="1125996"/>
            <a:chExt cx="8222740" cy="738664"/>
          </a:xfrm>
        </p:grpSpPr>
        <p:sp>
          <p:nvSpPr>
            <p:cNvPr id="189" name="TextBox 188"/>
            <p:cNvSpPr txBox="1"/>
            <p:nvPr/>
          </p:nvSpPr>
          <p:spPr>
            <a:xfrm>
              <a:off x="603251" y="1125996"/>
              <a:ext cx="8222740" cy="738664"/>
            </a:xfrm>
            <a:prstGeom prst="rect">
              <a:avLst/>
            </a:prstGeom>
            <a:noFill/>
          </p:spPr>
          <p:txBody>
            <a:bodyPr wrap="square" rtlCol="0">
              <a:spAutoFit/>
            </a:bodyPr>
            <a:lstStyle/>
            <a:p>
              <a:r>
                <a:rPr lang="en-US" sz="1400" b="1" dirty="0" smtClean="0">
                  <a:solidFill>
                    <a:schemeClr val="accent1"/>
                  </a:solidFill>
                </a:rPr>
                <a:t>Factors influencing harvesting labor productivity</a:t>
              </a:r>
              <a:endParaRPr lang="en-US" sz="1400" dirty="0">
                <a:solidFill>
                  <a:schemeClr val="accent1"/>
                </a:solidFill>
              </a:endParaRPr>
            </a:p>
          </p:txBody>
        </p:sp>
        <p:cxnSp>
          <p:nvCxnSpPr>
            <p:cNvPr id="190" name="Straight Connector 189"/>
            <p:cNvCxnSpPr/>
            <p:nvPr/>
          </p:nvCxnSpPr>
          <p:spPr bwMode="auto">
            <a:xfrm>
              <a:off x="687831" y="1647366"/>
              <a:ext cx="813816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graphicFrame>
        <p:nvGraphicFramePr>
          <p:cNvPr id="10" name="Table 9"/>
          <p:cNvGraphicFramePr>
            <a:graphicFrameLocks noGrp="1"/>
          </p:cNvGraphicFramePr>
          <p:nvPr>
            <p:extLst>
              <p:ext uri="{D42A27DB-BD31-4B8C-83A1-F6EECF244321}">
                <p14:modId xmlns:p14="http://schemas.microsoft.com/office/powerpoint/2010/main" val="1380942666"/>
              </p:ext>
            </p:extLst>
          </p:nvPr>
        </p:nvGraphicFramePr>
        <p:xfrm>
          <a:off x="7165074" y="1878439"/>
          <a:ext cx="1746914" cy="3690036"/>
        </p:xfrm>
        <a:graphic>
          <a:graphicData uri="http://schemas.openxmlformats.org/drawingml/2006/table">
            <a:tbl>
              <a:tblPr>
                <a:tableStyleId>{5C22544A-7EE6-4342-B048-85BDC9FD1C3A}</a:tableStyleId>
              </a:tblPr>
              <a:tblGrid>
                <a:gridCol w="1746914"/>
              </a:tblGrid>
              <a:tr h="527148">
                <a:tc>
                  <a:txBody>
                    <a:bodyPr/>
                    <a:lstStyle/>
                    <a:p>
                      <a:pPr algn="l" fontAlgn="b"/>
                      <a:r>
                        <a:rPr lang="en-US" sz="1400" u="none" strike="noStrike" dirty="0">
                          <a:solidFill>
                            <a:schemeClr val="accent1"/>
                          </a:solidFill>
                          <a:effectLst/>
                          <a:latin typeface="+mj-lt"/>
                        </a:rPr>
                        <a:t>Harvester incentives</a:t>
                      </a:r>
                      <a:endParaRPr lang="en-US" sz="1400" b="0" i="0" u="none" strike="noStrike" dirty="0">
                        <a:solidFill>
                          <a:schemeClr val="accent1"/>
                        </a:solidFill>
                        <a:effectLst/>
                        <a:latin typeface="+mj-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27148">
                <a:tc>
                  <a:txBody>
                    <a:bodyPr/>
                    <a:lstStyle/>
                    <a:p>
                      <a:pPr algn="l" fontAlgn="b"/>
                      <a:r>
                        <a:rPr lang="en-US" sz="1400" u="none" strike="noStrike">
                          <a:solidFill>
                            <a:schemeClr val="accent1"/>
                          </a:solidFill>
                          <a:effectLst/>
                          <a:latin typeface="+mj-lt"/>
                        </a:rPr>
                        <a:t>Harvester skills</a:t>
                      </a:r>
                      <a:endParaRPr lang="en-US" sz="1400" b="0" i="0" u="none" strike="noStrike">
                        <a:solidFill>
                          <a:schemeClr val="accent1"/>
                        </a:solidFill>
                        <a:effectLst/>
                        <a:latin typeface="+mj-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27148">
                <a:tc>
                  <a:txBody>
                    <a:bodyPr/>
                    <a:lstStyle/>
                    <a:p>
                      <a:pPr algn="l" fontAlgn="b"/>
                      <a:r>
                        <a:rPr lang="en-US" sz="1400" u="none" strike="noStrike" dirty="0">
                          <a:solidFill>
                            <a:schemeClr val="accent1"/>
                          </a:solidFill>
                          <a:effectLst/>
                          <a:latin typeface="+mj-lt"/>
                        </a:rPr>
                        <a:t>Farm management</a:t>
                      </a:r>
                      <a:endParaRPr lang="en-US" sz="1400" b="0" i="0" u="none" strike="noStrike" dirty="0">
                        <a:solidFill>
                          <a:schemeClr val="accent1"/>
                        </a:solidFill>
                        <a:effectLst/>
                        <a:latin typeface="+mj-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27148">
                <a:tc>
                  <a:txBody>
                    <a:bodyPr/>
                    <a:lstStyle/>
                    <a:p>
                      <a:pPr algn="l" fontAlgn="b"/>
                      <a:r>
                        <a:rPr lang="en-US" sz="1400" u="none" strike="noStrike" dirty="0">
                          <a:solidFill>
                            <a:schemeClr val="accent1"/>
                          </a:solidFill>
                          <a:effectLst/>
                          <a:latin typeface="+mj-lt"/>
                        </a:rPr>
                        <a:t>Picking technology</a:t>
                      </a:r>
                      <a:endParaRPr lang="en-US" sz="1400" b="0" i="0" u="none" strike="noStrike" dirty="0">
                        <a:solidFill>
                          <a:schemeClr val="accent1"/>
                        </a:solidFill>
                        <a:effectLst/>
                        <a:latin typeface="+mj-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27148">
                <a:tc>
                  <a:txBody>
                    <a:bodyPr/>
                    <a:lstStyle/>
                    <a:p>
                      <a:pPr algn="l" fontAlgn="b"/>
                      <a:r>
                        <a:rPr lang="en-US" sz="1400" u="none" strike="noStrike" dirty="0">
                          <a:solidFill>
                            <a:schemeClr val="accent1"/>
                          </a:solidFill>
                          <a:effectLst/>
                          <a:latin typeface="+mj-lt"/>
                        </a:rPr>
                        <a:t>Planting density</a:t>
                      </a:r>
                      <a:endParaRPr lang="en-US" sz="1400" b="0" i="0" u="none" strike="noStrike" dirty="0">
                        <a:solidFill>
                          <a:schemeClr val="accent1"/>
                        </a:solidFill>
                        <a:effectLst/>
                        <a:latin typeface="+mj-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27148">
                <a:tc>
                  <a:txBody>
                    <a:bodyPr/>
                    <a:lstStyle/>
                    <a:p>
                      <a:pPr algn="l" fontAlgn="b"/>
                      <a:r>
                        <a:rPr lang="en-US" sz="1400" u="none" strike="noStrike">
                          <a:solidFill>
                            <a:schemeClr val="accent1"/>
                          </a:solidFill>
                          <a:effectLst/>
                          <a:latin typeface="+mj-lt"/>
                        </a:rPr>
                        <a:t>Crop pattern</a:t>
                      </a:r>
                      <a:endParaRPr lang="en-US" sz="1400" b="0" i="0" u="none" strike="noStrike">
                        <a:solidFill>
                          <a:schemeClr val="accent1"/>
                        </a:solidFill>
                        <a:effectLst/>
                        <a:latin typeface="+mj-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27148">
                <a:tc>
                  <a:txBody>
                    <a:bodyPr/>
                    <a:lstStyle/>
                    <a:p>
                      <a:pPr algn="l" fontAlgn="b"/>
                      <a:r>
                        <a:rPr lang="en-US" sz="1400" u="none" strike="noStrike" dirty="0">
                          <a:solidFill>
                            <a:schemeClr val="accent1"/>
                          </a:solidFill>
                          <a:effectLst/>
                          <a:latin typeface="+mj-lt"/>
                        </a:rPr>
                        <a:t>Topography</a:t>
                      </a:r>
                      <a:endParaRPr lang="en-US" sz="1400" b="0" i="0" u="none" strike="noStrike" dirty="0">
                        <a:solidFill>
                          <a:schemeClr val="accent1"/>
                        </a:solidFill>
                        <a:effectLst/>
                        <a:latin typeface="+mj-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cxnSp>
        <p:nvCxnSpPr>
          <p:cNvPr id="15" name="Straight Arrow Connector 14"/>
          <p:cNvCxnSpPr/>
          <p:nvPr/>
        </p:nvCxnSpPr>
        <p:spPr>
          <a:xfrm>
            <a:off x="6231339" y="2422588"/>
            <a:ext cx="0" cy="2651760"/>
          </a:xfrm>
          <a:prstGeom prst="straightConnector1">
            <a:avLst/>
          </a:prstGeom>
          <a:ln>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5454099" y="1889125"/>
            <a:ext cx="1554480" cy="457200"/>
          </a:xfrm>
          <a:prstGeom prst="ellipse">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1"/>
                </a:solidFill>
              </a:rPr>
              <a:t>Easier to influence</a:t>
            </a:r>
            <a:endParaRPr lang="en-US" sz="1400" dirty="0">
              <a:solidFill>
                <a:schemeClr val="accent1"/>
              </a:solidFill>
            </a:endParaRPr>
          </a:p>
        </p:txBody>
      </p:sp>
      <p:sp>
        <p:nvSpPr>
          <p:cNvPr id="93" name="Oval 92"/>
          <p:cNvSpPr/>
          <p:nvPr/>
        </p:nvSpPr>
        <p:spPr>
          <a:xfrm>
            <a:off x="5454099" y="5111276"/>
            <a:ext cx="1554480" cy="457200"/>
          </a:xfrm>
          <a:prstGeom prst="ellipse">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1"/>
                </a:solidFill>
              </a:rPr>
              <a:t>Impossible to influence</a:t>
            </a:r>
            <a:endParaRPr lang="en-US" sz="1400" dirty="0">
              <a:solidFill>
                <a:schemeClr val="accent1"/>
              </a:solidFill>
            </a:endParaRPr>
          </a:p>
        </p:txBody>
      </p:sp>
      <p:sp>
        <p:nvSpPr>
          <p:cNvPr id="88" name="Oval 87"/>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89" name="TextBox 88"/>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2a</a:t>
            </a:r>
            <a:endParaRPr lang="en-US" sz="2400" dirty="0">
              <a:solidFill>
                <a:schemeClr val="bg1"/>
              </a:solidFill>
            </a:endParaRPr>
          </a:p>
        </p:txBody>
      </p:sp>
    </p:spTree>
    <p:extLst>
      <p:ext uri="{BB962C8B-B14F-4D97-AF65-F5344CB8AC3E}">
        <p14:creationId xmlns:p14="http://schemas.microsoft.com/office/powerpoint/2010/main" val="238920446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extLst>
              <p:ext uri="{D42A27DB-BD31-4B8C-83A1-F6EECF244321}">
                <p14:modId xmlns:p14="http://schemas.microsoft.com/office/powerpoint/2010/main" val="31690537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4935" name="think-cell Slide" r:id="rId20" imgW="270" imgH="270" progId="TCLayout.ActiveDocument.1">
                  <p:embed/>
                </p:oleObj>
              </mc:Choice>
              <mc:Fallback>
                <p:oleObj name="think-cell Slide" r:id="rId20" imgW="270" imgH="270" progId="TCLayout.ActiveDocument.1">
                  <p:embed/>
                  <p:pic>
                    <p:nvPicPr>
                      <p:cNvPr id="0" name=""/>
                      <p:cNvPicPr/>
                      <p:nvPr/>
                    </p:nvPicPr>
                    <p:blipFill>
                      <a:blip r:embed="rId21"/>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32" name="Rounded Rectangle 31"/>
          <p:cNvSpPr/>
          <p:nvPr/>
        </p:nvSpPr>
        <p:spPr>
          <a:xfrm>
            <a:off x="2683080" y="4841875"/>
            <a:ext cx="5368100" cy="802092"/>
          </a:xfrm>
          <a:prstGeom prst="round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3" name="McK Footnote"/>
          <p:cNvSpPr txBox="1">
            <a:spLocks noChangeArrowheads="1"/>
          </p:cNvSpPr>
          <p:nvPr/>
        </p:nvSpPr>
        <p:spPr bwMode="auto">
          <a:xfrm>
            <a:off x="656107" y="6242493"/>
            <a:ext cx="8485187" cy="276999"/>
          </a:xfrm>
          <a:prstGeom prst="rect">
            <a:avLst/>
          </a:prstGeom>
          <a:noFill/>
          <a:ln w="9525">
            <a:noFill/>
            <a:miter lim="800000"/>
            <a:headEnd/>
            <a:tailEnd/>
          </a:ln>
        </p:spPr>
        <p:txBody>
          <a:bodyPr lIns="0" tIns="0" rIns="0" bIns="0" anchor="b">
            <a:spAutoFit/>
          </a:bodyPr>
          <a:lstStyle/>
          <a:p>
            <a:pPr defTabSz="895350">
              <a:tabLst>
                <a:tab pos="517525" algn="r"/>
              </a:tabLst>
            </a:pPr>
            <a:r>
              <a:rPr lang="en-US" sz="900" dirty="0" smtClean="0">
                <a:solidFill>
                  <a:schemeClr val="tx1">
                    <a:lumMod val="65000"/>
                    <a:lumOff val="35000"/>
                  </a:schemeClr>
                </a:solidFill>
              </a:rPr>
              <a:t>* Assuming 60 out of 300 working days per year (including Saturdays)</a:t>
            </a:r>
          </a:p>
          <a:p>
            <a:pPr defTabSz="895350">
              <a:tabLst>
                <a:tab pos="517525" algn="r"/>
              </a:tabLst>
            </a:pPr>
            <a:r>
              <a:rPr lang="en-US" sz="900" dirty="0" smtClean="0">
                <a:solidFill>
                  <a:schemeClr val="tx1">
                    <a:lumMod val="65000"/>
                    <a:lumOff val="35000"/>
                  </a:schemeClr>
                </a:solidFill>
              </a:rPr>
              <a:t>Source: Stakeholder interviews, TechnoServe analysis</a:t>
            </a:r>
            <a:endParaRPr lang="en-US" sz="900" dirty="0">
              <a:solidFill>
                <a:schemeClr val="tx1">
                  <a:lumMod val="65000"/>
                  <a:lumOff val="35000"/>
                </a:schemeClr>
              </a:solidFill>
            </a:endParaRPr>
          </a:p>
        </p:txBody>
      </p:sp>
      <p:sp>
        <p:nvSpPr>
          <p:cNvPr id="7" name="Title 6"/>
          <p:cNvSpPr>
            <a:spLocks noGrp="1"/>
          </p:cNvSpPr>
          <p:nvPr>
            <p:ph type="title"/>
          </p:nvPr>
        </p:nvSpPr>
        <p:spPr/>
        <p:txBody>
          <a:bodyPr/>
          <a:lstStyle/>
          <a:p>
            <a:pPr marL="268288"/>
            <a:r>
              <a:rPr lang="en-US" b="0" dirty="0" smtClean="0"/>
              <a:t>Centralized wet milling could reduce the need for wet mill labor by 90% although it is mostly family labor</a:t>
            </a:r>
            <a:endParaRPr lang="en-US" b="0" dirty="0"/>
          </a:p>
        </p:txBody>
      </p:sp>
      <p:sp>
        <p:nvSpPr>
          <p:cNvPr id="29" name="TextBox 28"/>
          <p:cNvSpPr txBox="1"/>
          <p:nvPr/>
        </p:nvSpPr>
        <p:spPr>
          <a:xfrm>
            <a:off x="2768011" y="4953000"/>
            <a:ext cx="5094876" cy="600164"/>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300" dirty="0" smtClean="0"/>
              <a:t>Central wet milling leads to more than 90% labor time savings</a:t>
            </a:r>
          </a:p>
          <a:p>
            <a:pPr marL="285750" indent="-285750">
              <a:buFont typeface="Arial" panose="020B0604020202020204" pitchFamily="34" charset="0"/>
              <a:buChar char="•"/>
            </a:pPr>
            <a:r>
              <a:rPr lang="en-US" sz="1300" dirty="0" smtClean="0"/>
              <a:t>However, it is difficult to value this saving potential as the majority of home wet-milling labor is family (unpaid)</a:t>
            </a:r>
            <a:endParaRPr lang="en-US" sz="1300" dirty="0"/>
          </a:p>
        </p:txBody>
      </p:sp>
      <p:graphicFrame>
        <p:nvGraphicFramePr>
          <p:cNvPr id="33" name="Object 32"/>
          <p:cNvGraphicFramePr>
            <a:graphicFrameLocks noChangeAspect="1"/>
          </p:cNvGraphicFramePr>
          <p:nvPr>
            <p:custDataLst>
              <p:tags r:id="rId4"/>
            </p:custDataLst>
            <p:extLst>
              <p:ext uri="{D42A27DB-BD31-4B8C-83A1-F6EECF244321}">
                <p14:modId xmlns:p14="http://schemas.microsoft.com/office/powerpoint/2010/main" val="4069671498"/>
              </p:ext>
            </p:extLst>
          </p:nvPr>
        </p:nvGraphicFramePr>
        <p:xfrm>
          <a:off x="1600200" y="1943100"/>
          <a:ext cx="1628843" cy="2752635"/>
        </p:xfrm>
        <a:graphic>
          <a:graphicData uri="http://schemas.openxmlformats.org/presentationml/2006/ole">
            <mc:AlternateContent xmlns:mc="http://schemas.openxmlformats.org/markup-compatibility/2006">
              <mc:Choice xmlns:v="urn:schemas-microsoft-com:vml" Requires="v">
                <p:oleObj spid="_x0000_s224936" name="Chart" r:id="rId22" imgW="1628843" imgH="2752635" progId="MSGraph.Chart.8">
                  <p:embed followColorScheme="full"/>
                </p:oleObj>
              </mc:Choice>
              <mc:Fallback>
                <p:oleObj name="Chart" r:id="rId22" imgW="1628843" imgH="2752635" progId="MSGraph.Chart.8">
                  <p:embed followColorScheme="full"/>
                  <p:pic>
                    <p:nvPicPr>
                      <p:cNvPr id="0" name=""/>
                      <p:cNvPicPr>
                        <a:picLocks noChangeAspect="1" noChangeArrowheads="1"/>
                      </p:cNvPicPr>
                      <p:nvPr/>
                    </p:nvPicPr>
                    <p:blipFill>
                      <a:blip r:embed="rId23"/>
                      <a:srcRect/>
                      <a:stretch>
                        <a:fillRect/>
                      </a:stretch>
                    </p:blipFill>
                    <p:spPr bwMode="auto">
                      <a:xfrm>
                        <a:off x="1600200" y="1943100"/>
                        <a:ext cx="1628843" cy="27526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Text Placeholder 182"/>
          <p:cNvSpPr>
            <a:spLocks noGrp="1"/>
          </p:cNvSpPr>
          <p:nvPr>
            <p:custDataLst>
              <p:tags r:id="rId5"/>
            </p:custDataLst>
          </p:nvPr>
        </p:nvSpPr>
        <p:spPr bwMode="auto">
          <a:xfrm>
            <a:off x="361950" y="3633788"/>
            <a:ext cx="1212850" cy="63817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r>
              <a:rPr lang="en-US" sz="1400" dirty="0" smtClean="0">
                <a:solidFill>
                  <a:schemeClr val="accent1"/>
                </a:solidFill>
              </a:rPr>
              <a:t>Central wet mill</a:t>
            </a:r>
          </a:p>
          <a:p>
            <a:pPr marL="0" indent="0">
              <a:buNone/>
            </a:pPr>
            <a:r>
              <a:rPr lang="en-US" sz="1400" dirty="0" smtClean="0">
                <a:solidFill>
                  <a:schemeClr val="accent1"/>
                </a:solidFill>
                <a:latin typeface="Arial"/>
                <a:sym typeface="Arial"/>
              </a:rPr>
              <a:t>(serving 200</a:t>
            </a:r>
          </a:p>
          <a:p>
            <a:pPr marL="0" indent="0">
              <a:buNone/>
            </a:pPr>
            <a:r>
              <a:rPr lang="en-US" sz="1400" dirty="0">
                <a:solidFill>
                  <a:schemeClr val="accent1"/>
                </a:solidFill>
                <a:latin typeface="Arial"/>
                <a:sym typeface="Arial"/>
              </a:rPr>
              <a:t>f</a:t>
            </a:r>
            <a:r>
              <a:rPr lang="en-US" sz="1400" dirty="0" smtClean="0">
                <a:solidFill>
                  <a:schemeClr val="accent1"/>
                </a:solidFill>
                <a:latin typeface="Arial"/>
                <a:sym typeface="Arial"/>
              </a:rPr>
              <a:t>armers)</a:t>
            </a:r>
            <a:endParaRPr lang="en-US" sz="1400" dirty="0">
              <a:solidFill>
                <a:schemeClr val="accent1"/>
              </a:solidFill>
              <a:latin typeface="Arial"/>
              <a:sym typeface="Arial"/>
            </a:endParaRPr>
          </a:p>
        </p:txBody>
      </p:sp>
      <p:sp>
        <p:nvSpPr>
          <p:cNvPr id="66" name="Text Placeholder 171"/>
          <p:cNvSpPr>
            <a:spLocks noGrp="1"/>
          </p:cNvSpPr>
          <p:nvPr>
            <p:custDataLst>
              <p:tags r:id="rId6"/>
            </p:custDataLst>
          </p:nvPr>
        </p:nvSpPr>
        <p:spPr bwMode="gray">
          <a:xfrm>
            <a:off x="3149600" y="3846513"/>
            <a:ext cx="2968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BBC58360-8AD2-4660-8998-8E0EDBBD64E1}" type="datetime'''''''''''4''''.''0'''''''''''''''''''">
              <a:rPr lang="en-US" sz="1400">
                <a:solidFill>
                  <a:schemeClr val="accent1"/>
                </a:solidFill>
                <a:latin typeface="Arial"/>
                <a:sym typeface="Arial"/>
              </a:rPr>
              <a:pPr marL="0" indent="0">
                <a:spcBef>
                  <a:spcPct val="0"/>
                </a:spcBef>
                <a:spcAft>
                  <a:spcPct val="0"/>
                </a:spcAft>
                <a:buNone/>
              </a:pPr>
              <a:t>4.0</a:t>
            </a:fld>
            <a:endParaRPr lang="en-US" sz="1400" dirty="0">
              <a:solidFill>
                <a:schemeClr val="accent1"/>
              </a:solidFill>
              <a:latin typeface="Arial"/>
              <a:sym typeface="Arial"/>
            </a:endParaRPr>
          </a:p>
        </p:txBody>
      </p:sp>
      <p:sp>
        <p:nvSpPr>
          <p:cNvPr id="35" name="Text Placeholder 180"/>
          <p:cNvSpPr>
            <a:spLocks noGrp="1"/>
          </p:cNvSpPr>
          <p:nvPr>
            <p:custDataLst>
              <p:tags r:id="rId7"/>
            </p:custDataLst>
          </p:nvPr>
        </p:nvSpPr>
        <p:spPr bwMode="auto">
          <a:xfrm>
            <a:off x="361950" y="2570163"/>
            <a:ext cx="1114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FD9B9177-7ABE-40BB-8EE0-08EE5A876AB6}" type="datetime'''''''''''''H''ome'''' w''''''''''''e''''t'' ''''m''ill'''">
              <a:rPr lang="en-US" sz="1400">
                <a:solidFill>
                  <a:schemeClr val="accent1"/>
                </a:solidFill>
              </a:rPr>
              <a:pPr/>
              <a:t>Home wet mill</a:t>
            </a:fld>
            <a:endParaRPr lang="en-US" sz="1400" dirty="0">
              <a:solidFill>
                <a:schemeClr val="accent1"/>
              </a:solidFill>
              <a:latin typeface="Arial"/>
              <a:sym typeface="Arial"/>
            </a:endParaRPr>
          </a:p>
        </p:txBody>
      </p:sp>
      <p:sp>
        <p:nvSpPr>
          <p:cNvPr id="36" name="Text Placeholder 85"/>
          <p:cNvSpPr>
            <a:spLocks noGrp="1"/>
          </p:cNvSpPr>
          <p:nvPr>
            <p:custDataLst>
              <p:tags r:id="rId8"/>
            </p:custDataLst>
          </p:nvPr>
        </p:nvSpPr>
        <p:spPr bwMode="gray">
          <a:xfrm>
            <a:off x="1806575" y="2570163"/>
            <a:ext cx="3667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buNone/>
            </a:pPr>
            <a:fld id="{B752CFC2-B97E-4B1A-9854-F7545570653E}" type="datetime'''''''''''''''0.''''''''''''''2'''''''''''''''''''''''''''''">
              <a:rPr lang="en-US" sz="1400">
                <a:solidFill>
                  <a:schemeClr val="accent1"/>
                </a:solidFill>
              </a:rPr>
              <a:pPr/>
              <a:t>0.2</a:t>
            </a:fld>
            <a:r>
              <a:rPr lang="en-US" sz="1400" dirty="0" smtClean="0">
                <a:solidFill>
                  <a:schemeClr val="accent1"/>
                </a:solidFill>
              </a:rPr>
              <a:t>*</a:t>
            </a:r>
            <a:endParaRPr lang="en-US" sz="1400" dirty="0">
              <a:solidFill>
                <a:schemeClr val="accent1"/>
              </a:solidFill>
              <a:latin typeface="Arial"/>
              <a:sym typeface="Arial"/>
            </a:endParaRPr>
          </a:p>
        </p:txBody>
      </p:sp>
      <p:graphicFrame>
        <p:nvGraphicFramePr>
          <p:cNvPr id="38" name="Object 37"/>
          <p:cNvGraphicFramePr>
            <a:graphicFrameLocks noChangeAspect="1"/>
          </p:cNvGraphicFramePr>
          <p:nvPr>
            <p:custDataLst>
              <p:tags r:id="rId9"/>
            </p:custDataLst>
            <p:extLst>
              <p:ext uri="{D42A27DB-BD31-4B8C-83A1-F6EECF244321}">
                <p14:modId xmlns:p14="http://schemas.microsoft.com/office/powerpoint/2010/main" val="1154878916"/>
              </p:ext>
            </p:extLst>
          </p:nvPr>
        </p:nvGraphicFramePr>
        <p:xfrm>
          <a:off x="3962400" y="1943100"/>
          <a:ext cx="1647757" cy="2752635"/>
        </p:xfrm>
        <a:graphic>
          <a:graphicData uri="http://schemas.openxmlformats.org/presentationml/2006/ole">
            <mc:AlternateContent xmlns:mc="http://schemas.openxmlformats.org/markup-compatibility/2006">
              <mc:Choice xmlns:v="urn:schemas-microsoft-com:vml" Requires="v">
                <p:oleObj spid="_x0000_s224937" name="Chart" r:id="rId24" imgW="1647757" imgH="2752635" progId="MSGraph.Chart.8">
                  <p:embed followColorScheme="full"/>
                </p:oleObj>
              </mc:Choice>
              <mc:Fallback>
                <p:oleObj name="Chart" r:id="rId24" imgW="1647757" imgH="2752635" progId="MSGraph.Chart.8">
                  <p:embed followColorScheme="full"/>
                  <p:pic>
                    <p:nvPicPr>
                      <p:cNvPr id="0" name=""/>
                      <p:cNvPicPr>
                        <a:picLocks noChangeAspect="1" noChangeArrowheads="1"/>
                      </p:cNvPicPr>
                      <p:nvPr/>
                    </p:nvPicPr>
                    <p:blipFill>
                      <a:blip r:embed="rId25"/>
                      <a:srcRect/>
                      <a:stretch>
                        <a:fillRect/>
                      </a:stretch>
                    </p:blipFill>
                    <p:spPr bwMode="auto">
                      <a:xfrm>
                        <a:off x="3962400" y="1943100"/>
                        <a:ext cx="1647757" cy="27526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Text Placeholder 75"/>
          <p:cNvSpPr>
            <a:spLocks noGrp="1"/>
          </p:cNvSpPr>
          <p:nvPr>
            <p:custDataLst>
              <p:tags r:id="rId10"/>
            </p:custDataLst>
          </p:nvPr>
        </p:nvSpPr>
        <p:spPr bwMode="gray">
          <a:xfrm>
            <a:off x="4121150" y="3846513"/>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1</a:t>
            </a:r>
            <a:endParaRPr lang="en-US" sz="1400" dirty="0">
              <a:solidFill>
                <a:schemeClr val="accent1"/>
              </a:solidFill>
              <a:latin typeface="Arial"/>
              <a:sym typeface="Arial"/>
            </a:endParaRPr>
          </a:p>
        </p:txBody>
      </p:sp>
      <p:sp>
        <p:nvSpPr>
          <p:cNvPr id="40" name="Rectangle 39"/>
          <p:cNvSpPr/>
          <p:nvPr>
            <p:custDataLst>
              <p:tags r:id="rId11"/>
            </p:custDataLst>
          </p:nvPr>
        </p:nvSpPr>
        <p:spPr bwMode="gray">
          <a:xfrm>
            <a:off x="5530850" y="2570163"/>
            <a:ext cx="346075" cy="212725"/>
          </a:xfrm>
          <a:prstGeom prst="rect">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rtlCol="0" anchor="ctr" anchorCtr="0">
            <a:noAutofit/>
          </a:bodyPr>
          <a:lstStyle/>
          <a:p>
            <a:fld id="{636E8B63-09EC-4E8B-BD2C-EC6DB14E919D}" type="datetime'''''''''2''''''''''''''0''0'''''''''''''''''">
              <a:rPr lang="en-US" sz="1400">
                <a:solidFill>
                  <a:schemeClr val="accent1"/>
                </a:solidFill>
              </a:rPr>
              <a:pPr/>
              <a:t>200</a:t>
            </a:fld>
            <a:endParaRPr lang="en-US" sz="1400" dirty="0">
              <a:solidFill>
                <a:schemeClr val="accent1"/>
              </a:solidFill>
              <a:latin typeface="Arial"/>
              <a:sym typeface="Arial"/>
            </a:endParaRPr>
          </a:p>
        </p:txBody>
      </p:sp>
      <p:grpSp>
        <p:nvGrpSpPr>
          <p:cNvPr id="4" name="Group 3"/>
          <p:cNvGrpSpPr/>
          <p:nvPr/>
        </p:nvGrpSpPr>
        <p:grpSpPr>
          <a:xfrm>
            <a:off x="1665027" y="1468438"/>
            <a:ext cx="1951604" cy="481013"/>
            <a:chOff x="141910" y="1282700"/>
            <a:chExt cx="3474721" cy="481013"/>
          </a:xfrm>
        </p:grpSpPr>
        <p:cxnSp>
          <p:nvCxnSpPr>
            <p:cNvPr id="42" name="Straight Connector 41"/>
            <p:cNvCxnSpPr/>
            <p:nvPr/>
          </p:nvCxnSpPr>
          <p:spPr bwMode="auto">
            <a:xfrm>
              <a:off x="141911" y="1763713"/>
              <a:ext cx="347472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sp>
          <p:nvSpPr>
            <p:cNvPr id="44" name="Rectangle 8"/>
            <p:cNvSpPr>
              <a:spLocks noChangeArrowheads="1"/>
            </p:cNvSpPr>
            <p:nvPr/>
          </p:nvSpPr>
          <p:spPr bwMode="auto">
            <a:xfrm>
              <a:off x="141910" y="1282700"/>
              <a:ext cx="3474720" cy="430887"/>
            </a:xfrm>
            <a:prstGeom prst="rect">
              <a:avLst/>
            </a:prstGeom>
            <a:noFill/>
            <a:ln w="9525">
              <a:noFill/>
              <a:miter lim="800000"/>
              <a:headEnd/>
              <a:tailEnd/>
            </a:ln>
            <a:effectLst/>
          </p:spPr>
          <p:txBody>
            <a:bodyPr wrap="square" lIns="0" tIns="0" rIns="0" bIns="0" anchor="t" anchorCtr="0">
              <a:spAutoFit/>
            </a:bodyPr>
            <a:lstStyle/>
            <a:p>
              <a:pPr defTabSz="895255">
                <a:buSzPct val="120000"/>
              </a:pPr>
              <a:r>
                <a:rPr lang="en-US" sz="1400" b="1" dirty="0" smtClean="0">
                  <a:solidFill>
                    <a:schemeClr val="accent1"/>
                  </a:solidFill>
                </a:rPr>
                <a:t>Labor required per mill</a:t>
              </a:r>
              <a:endParaRPr lang="en-US" sz="1400" b="1" dirty="0">
                <a:solidFill>
                  <a:schemeClr val="accent1"/>
                </a:solidFill>
              </a:endParaRPr>
            </a:p>
            <a:p>
              <a:pPr defTabSz="895255">
                <a:buSzPct val="120000"/>
              </a:pPr>
              <a:r>
                <a:rPr lang="en-US" sz="1400" dirty="0" smtClean="0">
                  <a:solidFill>
                    <a:schemeClr val="accent1"/>
                  </a:solidFill>
                </a:rPr>
                <a:t>Equiv. full-time workers</a:t>
              </a:r>
              <a:endParaRPr lang="en-US" sz="1400" dirty="0">
                <a:solidFill>
                  <a:schemeClr val="accent1"/>
                </a:solidFill>
              </a:endParaRPr>
            </a:p>
          </p:txBody>
        </p:sp>
      </p:grpSp>
      <p:sp>
        <p:nvSpPr>
          <p:cNvPr id="45" name="Rectangle 13"/>
          <p:cNvSpPr>
            <a:spLocks noChangeArrowheads="1"/>
          </p:cNvSpPr>
          <p:nvPr/>
        </p:nvSpPr>
        <p:spPr bwMode="auto">
          <a:xfrm>
            <a:off x="4086225" y="1468438"/>
            <a:ext cx="2110433" cy="430887"/>
          </a:xfrm>
          <a:prstGeom prst="rect">
            <a:avLst/>
          </a:prstGeom>
          <a:noFill/>
          <a:ln w="9525">
            <a:noFill/>
            <a:miter lim="800000"/>
            <a:headEnd/>
            <a:tailEnd/>
          </a:ln>
          <a:effectLst/>
        </p:spPr>
        <p:txBody>
          <a:bodyPr wrap="square" lIns="0" tIns="0" rIns="0" bIns="0" anchor="t" anchorCtr="0">
            <a:spAutoFit/>
          </a:bodyPr>
          <a:lstStyle/>
          <a:p>
            <a:pPr defTabSz="895255">
              <a:buSzPct val="120000"/>
            </a:pPr>
            <a:endParaRPr lang="en-US" sz="1400" b="1" dirty="0" smtClean="0">
              <a:solidFill>
                <a:schemeClr val="accent1"/>
              </a:solidFill>
            </a:endParaRPr>
          </a:p>
          <a:p>
            <a:pPr defTabSz="895255">
              <a:buSzPct val="120000"/>
            </a:pPr>
            <a:r>
              <a:rPr lang="en-US" sz="1400" b="1" dirty="0" smtClean="0">
                <a:solidFill>
                  <a:schemeClr val="accent1"/>
                </a:solidFill>
              </a:rPr>
              <a:t>Number of wet mills</a:t>
            </a:r>
            <a:endParaRPr lang="en-US" sz="1400" dirty="0">
              <a:solidFill>
                <a:schemeClr val="accent1"/>
              </a:solidFill>
            </a:endParaRPr>
          </a:p>
        </p:txBody>
      </p:sp>
      <p:sp>
        <p:nvSpPr>
          <p:cNvPr id="46" name="Rectangle 18"/>
          <p:cNvSpPr>
            <a:spLocks noChangeArrowheads="1"/>
          </p:cNvSpPr>
          <p:nvPr/>
        </p:nvSpPr>
        <p:spPr bwMode="auto">
          <a:xfrm>
            <a:off x="6686550" y="1468438"/>
            <a:ext cx="2238238" cy="430887"/>
          </a:xfrm>
          <a:prstGeom prst="rect">
            <a:avLst/>
          </a:prstGeom>
          <a:noFill/>
          <a:ln w="9525">
            <a:noFill/>
            <a:miter lim="800000"/>
            <a:headEnd/>
            <a:tailEnd/>
          </a:ln>
          <a:effectLst/>
        </p:spPr>
        <p:txBody>
          <a:bodyPr wrap="square" lIns="0" tIns="0" rIns="0" bIns="0" anchor="t" anchorCtr="0">
            <a:spAutoFit/>
          </a:bodyPr>
          <a:lstStyle/>
          <a:p>
            <a:pPr defTabSz="895255">
              <a:buSzPct val="120000"/>
            </a:pPr>
            <a:r>
              <a:rPr lang="en-US" sz="1400" b="1" dirty="0" smtClean="0">
                <a:solidFill>
                  <a:schemeClr val="accent1"/>
                </a:solidFill>
              </a:rPr>
              <a:t>Total labor required</a:t>
            </a:r>
          </a:p>
          <a:p>
            <a:pPr defTabSz="895255">
              <a:buSzPct val="120000"/>
            </a:pPr>
            <a:r>
              <a:rPr lang="en-US" sz="1400" dirty="0" smtClean="0">
                <a:solidFill>
                  <a:schemeClr val="accent1"/>
                </a:solidFill>
              </a:rPr>
              <a:t>Equiv. full-time workers</a:t>
            </a:r>
            <a:endParaRPr lang="en-US" sz="1400" dirty="0">
              <a:solidFill>
                <a:schemeClr val="accent1"/>
              </a:solidFill>
            </a:endParaRPr>
          </a:p>
        </p:txBody>
      </p:sp>
      <p:grpSp>
        <p:nvGrpSpPr>
          <p:cNvPr id="47" name="Group 139"/>
          <p:cNvGrpSpPr>
            <a:grpSpLocks/>
          </p:cNvGrpSpPr>
          <p:nvPr/>
        </p:nvGrpSpPr>
        <p:grpSpPr bwMode="auto">
          <a:xfrm>
            <a:off x="3693782" y="1646238"/>
            <a:ext cx="258264" cy="255167"/>
            <a:chOff x="1747" y="1337"/>
            <a:chExt cx="166" cy="164"/>
          </a:xfrm>
        </p:grpSpPr>
        <p:sp>
          <p:nvSpPr>
            <p:cNvPr id="48" name="Oval 140"/>
            <p:cNvSpPr>
              <a:spLocks noChangeArrowheads="1"/>
            </p:cNvSpPr>
            <p:nvPr/>
          </p:nvSpPr>
          <p:spPr bwMode="auto">
            <a:xfrm flipV="1">
              <a:off x="1747" y="1337"/>
              <a:ext cx="166" cy="164"/>
            </a:xfrm>
            <a:prstGeom prst="ellipse">
              <a:avLst/>
            </a:prstGeom>
            <a:solidFill>
              <a:schemeClr val="bg1"/>
            </a:solidFill>
            <a:ln w="9525">
              <a:solidFill>
                <a:schemeClr val="accent1"/>
              </a:solidFill>
              <a:round/>
              <a:headEnd/>
              <a:tailEnd/>
            </a:ln>
            <a:effectLst>
              <a:outerShdw dist="17961" dir="2700000" algn="ctr" rotWithShape="0">
                <a:schemeClr val="bg2"/>
              </a:outerShdw>
            </a:effectLst>
          </p:spPr>
          <p:txBody>
            <a:bodyPr wrap="none" anchor="ctr"/>
            <a:lstStyle/>
            <a:p>
              <a:endParaRPr lang="en-US">
                <a:solidFill>
                  <a:schemeClr val="accent1"/>
                </a:solidFill>
              </a:endParaRPr>
            </a:p>
          </p:txBody>
        </p:sp>
        <p:sp>
          <p:nvSpPr>
            <p:cNvPr id="49" name="Rectangle 141"/>
            <p:cNvSpPr>
              <a:spLocks noChangeArrowheads="1"/>
            </p:cNvSpPr>
            <p:nvPr/>
          </p:nvSpPr>
          <p:spPr bwMode="auto">
            <a:xfrm rot="18900000" flipV="1">
              <a:off x="1787" y="1411"/>
              <a:ext cx="86" cy="16"/>
            </a:xfrm>
            <a:prstGeom prst="rect">
              <a:avLst/>
            </a:prstGeom>
            <a:solidFill>
              <a:schemeClr val="tx1"/>
            </a:solidFill>
            <a:ln w="3175">
              <a:solidFill>
                <a:schemeClr val="accent1"/>
              </a:solidFill>
              <a:miter lim="800000"/>
              <a:headEnd/>
              <a:tailEnd/>
            </a:ln>
            <a:effectLst/>
          </p:spPr>
          <p:txBody>
            <a:bodyPr wrap="none" anchor="ctr"/>
            <a:lstStyle/>
            <a:p>
              <a:endParaRPr lang="en-US">
                <a:solidFill>
                  <a:schemeClr val="accent1"/>
                </a:solidFill>
              </a:endParaRPr>
            </a:p>
          </p:txBody>
        </p:sp>
        <p:sp>
          <p:nvSpPr>
            <p:cNvPr id="50" name="Rectangle 142"/>
            <p:cNvSpPr>
              <a:spLocks noChangeArrowheads="1"/>
            </p:cNvSpPr>
            <p:nvPr/>
          </p:nvSpPr>
          <p:spPr bwMode="auto">
            <a:xfrm rot="2700000" flipH="1" flipV="1">
              <a:off x="1787" y="1411"/>
              <a:ext cx="86" cy="16"/>
            </a:xfrm>
            <a:prstGeom prst="rect">
              <a:avLst/>
            </a:prstGeom>
            <a:solidFill>
              <a:schemeClr val="accent1"/>
            </a:solidFill>
            <a:ln w="3175">
              <a:solidFill>
                <a:schemeClr val="accent1"/>
              </a:solidFill>
              <a:miter lim="800000"/>
              <a:headEnd/>
              <a:tailEnd/>
            </a:ln>
            <a:effectLst/>
          </p:spPr>
          <p:txBody>
            <a:bodyPr wrap="none" anchor="ctr"/>
            <a:lstStyle/>
            <a:p>
              <a:endParaRPr lang="en-US">
                <a:solidFill>
                  <a:schemeClr val="accent1"/>
                </a:solidFill>
              </a:endParaRPr>
            </a:p>
          </p:txBody>
        </p:sp>
      </p:grpSp>
      <p:grpSp>
        <p:nvGrpSpPr>
          <p:cNvPr id="51" name="Group 143"/>
          <p:cNvGrpSpPr>
            <a:grpSpLocks/>
          </p:cNvGrpSpPr>
          <p:nvPr/>
        </p:nvGrpSpPr>
        <p:grpSpPr bwMode="auto">
          <a:xfrm>
            <a:off x="6124575" y="1646238"/>
            <a:ext cx="258264" cy="255167"/>
            <a:chOff x="1931" y="1337"/>
            <a:chExt cx="166" cy="164"/>
          </a:xfrm>
        </p:grpSpPr>
        <p:sp>
          <p:nvSpPr>
            <p:cNvPr id="52" name="Oval 144"/>
            <p:cNvSpPr>
              <a:spLocks noChangeArrowheads="1"/>
            </p:cNvSpPr>
            <p:nvPr/>
          </p:nvSpPr>
          <p:spPr bwMode="auto">
            <a:xfrm flipV="1">
              <a:off x="1931" y="1337"/>
              <a:ext cx="166" cy="164"/>
            </a:xfrm>
            <a:prstGeom prst="ellipse">
              <a:avLst/>
            </a:prstGeom>
            <a:solidFill>
              <a:schemeClr val="bg1"/>
            </a:solidFill>
            <a:ln w="9525">
              <a:solidFill>
                <a:schemeClr val="accent1"/>
              </a:solidFill>
              <a:round/>
              <a:headEnd/>
              <a:tailEnd/>
            </a:ln>
            <a:effectLst>
              <a:outerShdw dist="17961" dir="2700000" algn="ctr" rotWithShape="0">
                <a:schemeClr val="bg2"/>
              </a:outerShdw>
            </a:effectLst>
          </p:spPr>
          <p:txBody>
            <a:bodyPr wrap="none" anchor="ctr"/>
            <a:lstStyle/>
            <a:p>
              <a:endParaRPr lang="en-US">
                <a:solidFill>
                  <a:schemeClr val="accent1"/>
                </a:solidFill>
              </a:endParaRPr>
            </a:p>
          </p:txBody>
        </p:sp>
        <p:sp>
          <p:nvSpPr>
            <p:cNvPr id="53" name="Rectangle 145"/>
            <p:cNvSpPr>
              <a:spLocks noChangeArrowheads="1"/>
            </p:cNvSpPr>
            <p:nvPr/>
          </p:nvSpPr>
          <p:spPr bwMode="auto">
            <a:xfrm flipV="1">
              <a:off x="1971" y="1389"/>
              <a:ext cx="86" cy="17"/>
            </a:xfrm>
            <a:prstGeom prst="rect">
              <a:avLst/>
            </a:prstGeom>
            <a:solidFill>
              <a:schemeClr val="accent1"/>
            </a:solidFill>
            <a:ln w="3175">
              <a:solidFill>
                <a:schemeClr val="accent1"/>
              </a:solidFill>
              <a:miter lim="800000"/>
              <a:headEnd/>
              <a:tailEnd/>
            </a:ln>
            <a:effectLst/>
          </p:spPr>
          <p:txBody>
            <a:bodyPr wrap="none" anchor="ctr"/>
            <a:lstStyle/>
            <a:p>
              <a:endParaRPr lang="en-US">
                <a:solidFill>
                  <a:schemeClr val="accent1"/>
                </a:solidFill>
              </a:endParaRPr>
            </a:p>
          </p:txBody>
        </p:sp>
        <p:sp>
          <p:nvSpPr>
            <p:cNvPr id="54" name="Rectangle 146"/>
            <p:cNvSpPr>
              <a:spLocks noChangeArrowheads="1"/>
            </p:cNvSpPr>
            <p:nvPr/>
          </p:nvSpPr>
          <p:spPr bwMode="auto">
            <a:xfrm flipV="1">
              <a:off x="1971" y="1432"/>
              <a:ext cx="86" cy="17"/>
            </a:xfrm>
            <a:prstGeom prst="rect">
              <a:avLst/>
            </a:prstGeom>
            <a:solidFill>
              <a:schemeClr val="accent1"/>
            </a:solidFill>
            <a:ln w="3175">
              <a:solidFill>
                <a:schemeClr val="accent1"/>
              </a:solidFill>
              <a:miter lim="800000"/>
              <a:headEnd/>
              <a:tailEnd/>
            </a:ln>
            <a:effectLst/>
          </p:spPr>
          <p:txBody>
            <a:bodyPr wrap="none" anchor="ctr"/>
            <a:lstStyle/>
            <a:p>
              <a:endParaRPr lang="en-US">
                <a:solidFill>
                  <a:schemeClr val="accent1"/>
                </a:solidFill>
              </a:endParaRPr>
            </a:p>
          </p:txBody>
        </p:sp>
      </p:grpSp>
      <p:cxnSp>
        <p:nvCxnSpPr>
          <p:cNvPr id="55" name="Straight Connector 54"/>
          <p:cNvCxnSpPr/>
          <p:nvPr/>
        </p:nvCxnSpPr>
        <p:spPr bwMode="auto">
          <a:xfrm>
            <a:off x="4086225" y="1949450"/>
            <a:ext cx="180000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cxnSp>
        <p:nvCxnSpPr>
          <p:cNvPr id="56" name="Straight Connector 55"/>
          <p:cNvCxnSpPr/>
          <p:nvPr/>
        </p:nvCxnSpPr>
        <p:spPr bwMode="auto">
          <a:xfrm>
            <a:off x="6686550" y="1949450"/>
            <a:ext cx="219456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aphicFrame>
        <p:nvGraphicFramePr>
          <p:cNvPr id="57" name="Object 56"/>
          <p:cNvGraphicFramePr>
            <a:graphicFrameLocks noChangeAspect="1"/>
          </p:cNvGraphicFramePr>
          <p:nvPr>
            <p:custDataLst>
              <p:tags r:id="rId12"/>
            </p:custDataLst>
            <p:extLst>
              <p:ext uri="{D42A27DB-BD31-4B8C-83A1-F6EECF244321}">
                <p14:modId xmlns:p14="http://schemas.microsoft.com/office/powerpoint/2010/main" val="108135569"/>
              </p:ext>
            </p:extLst>
          </p:nvPr>
        </p:nvGraphicFramePr>
        <p:xfrm>
          <a:off x="6667500" y="1943100"/>
          <a:ext cx="1638300" cy="2752635"/>
        </p:xfrm>
        <a:graphic>
          <a:graphicData uri="http://schemas.openxmlformats.org/presentationml/2006/ole">
            <mc:AlternateContent xmlns:mc="http://schemas.openxmlformats.org/markup-compatibility/2006">
              <mc:Choice xmlns:v="urn:schemas-microsoft-com:vml" Requires="v">
                <p:oleObj spid="_x0000_s224938" name="Chart" r:id="rId26" imgW="1638300" imgH="2752635" progId="MSGraph.Chart.8">
                  <p:embed followColorScheme="full"/>
                </p:oleObj>
              </mc:Choice>
              <mc:Fallback>
                <p:oleObj name="Chart" r:id="rId26" imgW="1638300" imgH="2752635" progId="MSGraph.Chart.8">
                  <p:embed followColorScheme="full"/>
                  <p:pic>
                    <p:nvPicPr>
                      <p:cNvPr id="0" name=""/>
                      <p:cNvPicPr>
                        <a:picLocks noChangeAspect="1" noChangeArrowheads="1"/>
                      </p:cNvPicPr>
                      <p:nvPr/>
                    </p:nvPicPr>
                    <p:blipFill>
                      <a:blip r:embed="rId27"/>
                      <a:srcRect/>
                      <a:stretch>
                        <a:fillRect/>
                      </a:stretch>
                    </p:blipFill>
                    <p:spPr bwMode="auto">
                      <a:xfrm>
                        <a:off x="6667500" y="1943100"/>
                        <a:ext cx="1638300" cy="27526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0" name="Straight Connector 59"/>
          <p:cNvCxnSpPr/>
          <p:nvPr>
            <p:custDataLst>
              <p:tags r:id="rId13"/>
            </p:custDataLst>
          </p:nvPr>
        </p:nvCxnSpPr>
        <p:spPr bwMode="gray">
          <a:xfrm flipH="1">
            <a:off x="7137400" y="3952875"/>
            <a:ext cx="1450975" cy="0"/>
          </a:xfrm>
          <a:prstGeom prst="line">
            <a:avLst/>
          </a:prstGeom>
          <a:ln w="12700">
            <a:solidFill>
              <a:srgbClr val="D52B1E"/>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custDataLst>
              <p:tags r:id="rId14"/>
            </p:custDataLst>
          </p:nvPr>
        </p:nvCxnSpPr>
        <p:spPr bwMode="gray">
          <a:xfrm>
            <a:off x="8588375" y="2676525"/>
            <a:ext cx="0" cy="1276350"/>
          </a:xfrm>
          <a:prstGeom prst="line">
            <a:avLst/>
          </a:prstGeom>
          <a:ln w="12700">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custDataLst>
              <p:tags r:id="rId15"/>
            </p:custDataLst>
          </p:nvPr>
        </p:nvCxnSpPr>
        <p:spPr bwMode="gray">
          <a:xfrm>
            <a:off x="8512175" y="2676525"/>
            <a:ext cx="76200" cy="0"/>
          </a:xfrm>
          <a:prstGeom prst="line">
            <a:avLst/>
          </a:prstGeom>
          <a:ln w="12700">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1" name="Text Placeholder 124"/>
          <p:cNvSpPr>
            <a:spLocks noGrp="1"/>
          </p:cNvSpPr>
          <p:nvPr>
            <p:custDataLst>
              <p:tags r:id="rId16"/>
            </p:custDataLst>
          </p:nvPr>
        </p:nvSpPr>
        <p:spPr bwMode="gray">
          <a:xfrm>
            <a:off x="8294688" y="3178175"/>
            <a:ext cx="587375" cy="273050"/>
          </a:xfrm>
          <a:prstGeom prst="ellipse">
            <a:avLst/>
          </a:prstGeom>
          <a:solidFill>
            <a:schemeClr val="accent1"/>
          </a:solidFill>
          <a:ln w="9525">
            <a:solidFill>
              <a:srgbClr val="D52B1E"/>
            </a:solidFill>
          </a:ln>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lnSpc>
                <a:spcPct val="90000"/>
              </a:lnSpc>
              <a:spcBef>
                <a:spcPct val="0"/>
              </a:spcBef>
              <a:spcAft>
                <a:spcPct val="0"/>
              </a:spcAft>
              <a:buNone/>
            </a:pPr>
            <a:fld id="{1AAAE336-2D63-4E1C-95C1-72FB19626EFB}" type="datetime'-''''''''''''''''''''''''''9''''''''''0''''''''''''%'''">
              <a:rPr lang="en-US" sz="1400" b="1">
                <a:solidFill>
                  <a:schemeClr val="bg1"/>
                </a:solidFill>
              </a:rPr>
              <a:pPr/>
              <a:t>-90%</a:t>
            </a:fld>
            <a:endParaRPr lang="en-US" sz="1400" b="1">
              <a:solidFill>
                <a:schemeClr val="bg1"/>
              </a:solidFill>
              <a:latin typeface="Arial"/>
              <a:sym typeface="Arial"/>
            </a:endParaRPr>
          </a:p>
        </p:txBody>
      </p:sp>
      <p:sp>
        <p:nvSpPr>
          <p:cNvPr id="64" name="Text Placeholder 73"/>
          <p:cNvSpPr>
            <a:spLocks noGrp="1"/>
          </p:cNvSpPr>
          <p:nvPr>
            <p:custDataLst>
              <p:tags r:id="rId17"/>
            </p:custDataLst>
          </p:nvPr>
        </p:nvSpPr>
        <p:spPr bwMode="gray">
          <a:xfrm>
            <a:off x="6950075" y="3846513"/>
            <a:ext cx="1492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4</a:t>
            </a:r>
            <a:endParaRPr lang="en-US" sz="1400" dirty="0">
              <a:solidFill>
                <a:schemeClr val="accent1"/>
              </a:solidFill>
              <a:latin typeface="Arial"/>
              <a:sym typeface="Arial"/>
            </a:endParaRPr>
          </a:p>
        </p:txBody>
      </p:sp>
      <p:sp>
        <p:nvSpPr>
          <p:cNvPr id="68" name="Text Placeholder 76"/>
          <p:cNvSpPr>
            <a:spLocks noGrp="1"/>
          </p:cNvSpPr>
          <p:nvPr>
            <p:custDataLst>
              <p:tags r:id="rId18"/>
            </p:custDataLst>
          </p:nvPr>
        </p:nvSpPr>
        <p:spPr bwMode="gray">
          <a:xfrm>
            <a:off x="8226425" y="2570163"/>
            <a:ext cx="2476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1400" dirty="0" smtClean="0">
                <a:solidFill>
                  <a:schemeClr val="accent1"/>
                </a:solidFill>
                <a:latin typeface="Arial"/>
                <a:sym typeface="Arial"/>
              </a:rPr>
              <a:t>40</a:t>
            </a:r>
            <a:endParaRPr lang="en-US" sz="1400" dirty="0">
              <a:solidFill>
                <a:schemeClr val="accent1"/>
              </a:solidFill>
              <a:latin typeface="Arial"/>
              <a:sym typeface="Arial"/>
            </a:endParaRPr>
          </a:p>
        </p:txBody>
      </p:sp>
      <p:sp>
        <p:nvSpPr>
          <p:cNvPr id="41" name="Oval 40"/>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62" name="TextBox 61"/>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2b</a:t>
            </a:r>
            <a:endParaRPr lang="en-US" sz="2400" dirty="0">
              <a:solidFill>
                <a:schemeClr val="bg1"/>
              </a:solidFill>
            </a:endParaRPr>
          </a:p>
        </p:txBody>
      </p:sp>
    </p:spTree>
    <p:extLst>
      <p:ext uri="{BB962C8B-B14F-4D97-AF65-F5344CB8AC3E}">
        <p14:creationId xmlns:p14="http://schemas.microsoft.com/office/powerpoint/2010/main" val="46013765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33" hidden="1"/>
          <p:cNvGraphicFramePr>
            <a:graphicFrameLocks noChangeAspect="1"/>
          </p:cNvGraphicFramePr>
          <p:nvPr>
            <p:custDataLst>
              <p:tags r:id="rId2"/>
            </p:custDataLst>
            <p:extLst>
              <p:ext uri="{D42A27DB-BD31-4B8C-83A1-F6EECF244321}">
                <p14:modId xmlns:p14="http://schemas.microsoft.com/office/powerpoint/2010/main" val="25141332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39871" name="think-cell Slide" r:id="rId30" imgW="270" imgH="270" progId="TCLayout.ActiveDocument.1">
                  <p:embed/>
                </p:oleObj>
              </mc:Choice>
              <mc:Fallback>
                <p:oleObj name="think-cell Slide" r:id="rId30" imgW="270" imgH="270" progId="TCLayout.ActiveDocument.1">
                  <p:embed/>
                  <p:pic>
                    <p:nvPicPr>
                      <p:cNvPr id="0" name=""/>
                      <p:cNvPicPr/>
                      <p:nvPr/>
                    </p:nvPicPr>
                    <p:blipFill>
                      <a:blip r:embed="rId31"/>
                      <a:stretch>
                        <a:fillRect/>
                      </a:stretch>
                    </p:blipFill>
                    <p:spPr>
                      <a:xfrm>
                        <a:off x="1588" y="1588"/>
                        <a:ext cx="1587" cy="1587"/>
                      </a:xfrm>
                      <a:prstGeom prst="rect">
                        <a:avLst/>
                      </a:prstGeom>
                    </p:spPr>
                  </p:pic>
                </p:oleObj>
              </mc:Fallback>
            </mc:AlternateContent>
          </a:graphicData>
        </a:graphic>
      </p:graphicFrame>
      <p:sp>
        <p:nvSpPr>
          <p:cNvPr id="33" name="Rectangle 32" hidden="1"/>
          <p:cNvSpPr/>
          <p:nvPr>
            <p:custDataLst>
              <p:tags r:id="rId3"/>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US" sz="1400">
              <a:latin typeface="Arial"/>
              <a:sym typeface="Arial"/>
            </a:endParaRPr>
          </a:p>
        </p:txBody>
      </p:sp>
      <p:sp>
        <p:nvSpPr>
          <p:cNvPr id="2" name="Title 1"/>
          <p:cNvSpPr>
            <a:spLocks noGrp="1"/>
          </p:cNvSpPr>
          <p:nvPr>
            <p:ph type="title"/>
          </p:nvPr>
        </p:nvSpPr>
        <p:spPr/>
        <p:txBody>
          <a:bodyPr/>
          <a:lstStyle/>
          <a:p>
            <a:pPr marL="268288"/>
            <a:r>
              <a:rPr lang="en-US" b="0" dirty="0"/>
              <a:t>Farmers would save </a:t>
            </a:r>
            <a:r>
              <a:rPr lang="en-US" b="0" dirty="0" smtClean="0"/>
              <a:t>3-4 </a:t>
            </a:r>
            <a:r>
              <a:rPr lang="en-US" b="0" dirty="0"/>
              <a:t>hours per </a:t>
            </a:r>
            <a:r>
              <a:rPr lang="en-US" b="0" dirty="0" smtClean="0"/>
              <a:t>day during the main harvest period</a:t>
            </a:r>
            <a:endParaRPr lang="en-US" b="0" dirty="0"/>
          </a:p>
        </p:txBody>
      </p:sp>
      <p:graphicFrame>
        <p:nvGraphicFramePr>
          <p:cNvPr id="8" name="Object 7"/>
          <p:cNvGraphicFramePr>
            <a:graphicFrameLocks/>
          </p:cNvGraphicFramePr>
          <p:nvPr>
            <p:custDataLst>
              <p:tags r:id="rId4"/>
            </p:custDataLst>
            <p:extLst>
              <p:ext uri="{D42A27DB-BD31-4B8C-83A1-F6EECF244321}">
                <p14:modId xmlns:p14="http://schemas.microsoft.com/office/powerpoint/2010/main" val="2481826398"/>
              </p:ext>
            </p:extLst>
          </p:nvPr>
        </p:nvGraphicFramePr>
        <p:xfrm>
          <a:off x="1181100" y="2171700"/>
          <a:ext cx="5562600" cy="3743325"/>
        </p:xfrm>
        <a:graphic>
          <a:graphicData uri="http://schemas.openxmlformats.org/presentationml/2006/ole">
            <mc:AlternateContent xmlns:mc="http://schemas.openxmlformats.org/markup-compatibility/2006">
              <mc:Choice xmlns:v="urn:schemas-microsoft-com:vml" Requires="v">
                <p:oleObj spid="_x0000_s239872" name="Chart" r:id="rId32" imgW="5562600" imgH="3743325" progId="MSGraph.Chart.8">
                  <p:embed followColorScheme="full"/>
                </p:oleObj>
              </mc:Choice>
              <mc:Fallback>
                <p:oleObj name="Chart" r:id="rId32" imgW="5562600" imgH="3743325" progId="MSGraph.Chart.8">
                  <p:embed followColorScheme="full"/>
                  <p:pic>
                    <p:nvPicPr>
                      <p:cNvPr id="0" name=""/>
                      <p:cNvPicPr/>
                      <p:nvPr/>
                    </p:nvPicPr>
                    <p:blipFill>
                      <a:blip r:embed="rId33"/>
                      <a:stretch>
                        <a:fillRect/>
                      </a:stretch>
                    </p:blipFill>
                    <p:spPr>
                      <a:xfrm>
                        <a:off x="1181100" y="2171700"/>
                        <a:ext cx="5562600" cy="3743325"/>
                      </a:xfrm>
                      <a:prstGeom prst="rect">
                        <a:avLst/>
                      </a:prstGeom>
                    </p:spPr>
                  </p:pic>
                </p:oleObj>
              </mc:Fallback>
            </mc:AlternateContent>
          </a:graphicData>
        </a:graphic>
      </p:graphicFrame>
      <p:sp>
        <p:nvSpPr>
          <p:cNvPr id="62" name="Text Placeholder 112"/>
          <p:cNvSpPr>
            <a:spLocks noGrp="1"/>
          </p:cNvSpPr>
          <p:nvPr>
            <p:custDataLst>
              <p:tags r:id="rId5"/>
            </p:custDataLst>
          </p:nvPr>
        </p:nvSpPr>
        <p:spPr bwMode="gray">
          <a:xfrm>
            <a:off x="6540500" y="5924550"/>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20</a:t>
            </a:r>
            <a:endParaRPr lang="en-US" sz="1400" dirty="0">
              <a:solidFill>
                <a:schemeClr val="accent1"/>
              </a:solidFill>
              <a:latin typeface="Arial"/>
              <a:sym typeface="Arial"/>
            </a:endParaRPr>
          </a:p>
        </p:txBody>
      </p:sp>
      <p:sp>
        <p:nvSpPr>
          <p:cNvPr id="61" name="Text Placeholder 111"/>
          <p:cNvSpPr>
            <a:spLocks noGrp="1"/>
          </p:cNvSpPr>
          <p:nvPr>
            <p:custDataLst>
              <p:tags r:id="rId6"/>
            </p:custDataLst>
          </p:nvPr>
        </p:nvSpPr>
        <p:spPr bwMode="gray">
          <a:xfrm>
            <a:off x="5778500" y="5924550"/>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18</a:t>
            </a:r>
            <a:endParaRPr lang="en-US" sz="1400" dirty="0">
              <a:solidFill>
                <a:schemeClr val="accent1"/>
              </a:solidFill>
              <a:latin typeface="Arial"/>
              <a:sym typeface="Arial"/>
            </a:endParaRPr>
          </a:p>
        </p:txBody>
      </p:sp>
      <p:sp>
        <p:nvSpPr>
          <p:cNvPr id="57" name="Text Placeholder 107"/>
          <p:cNvSpPr>
            <a:spLocks noGrp="1"/>
          </p:cNvSpPr>
          <p:nvPr>
            <p:custDataLst>
              <p:tags r:id="rId7"/>
            </p:custDataLst>
          </p:nvPr>
        </p:nvSpPr>
        <p:spPr bwMode="gray">
          <a:xfrm>
            <a:off x="2730500" y="5924550"/>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10</a:t>
            </a:r>
            <a:endParaRPr lang="en-US" sz="1400" dirty="0">
              <a:solidFill>
                <a:schemeClr val="accent1"/>
              </a:solidFill>
              <a:latin typeface="Arial"/>
              <a:sym typeface="Arial"/>
            </a:endParaRPr>
          </a:p>
        </p:txBody>
      </p:sp>
      <p:sp>
        <p:nvSpPr>
          <p:cNvPr id="60" name="Text Placeholder 110"/>
          <p:cNvSpPr>
            <a:spLocks noGrp="1"/>
          </p:cNvSpPr>
          <p:nvPr>
            <p:custDataLst>
              <p:tags r:id="rId8"/>
            </p:custDataLst>
          </p:nvPr>
        </p:nvSpPr>
        <p:spPr bwMode="gray">
          <a:xfrm>
            <a:off x="5016500" y="5924550"/>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16</a:t>
            </a:r>
            <a:endParaRPr lang="en-US" sz="1400" dirty="0">
              <a:solidFill>
                <a:schemeClr val="accent1"/>
              </a:solidFill>
              <a:latin typeface="Arial"/>
              <a:sym typeface="Arial"/>
            </a:endParaRPr>
          </a:p>
        </p:txBody>
      </p:sp>
      <p:sp>
        <p:nvSpPr>
          <p:cNvPr id="59" name="Text Placeholder 109"/>
          <p:cNvSpPr>
            <a:spLocks noGrp="1"/>
          </p:cNvSpPr>
          <p:nvPr>
            <p:custDataLst>
              <p:tags r:id="rId9"/>
            </p:custDataLst>
          </p:nvPr>
        </p:nvSpPr>
        <p:spPr bwMode="gray">
          <a:xfrm>
            <a:off x="4254500" y="5924550"/>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14</a:t>
            </a:r>
            <a:endParaRPr lang="en-US" sz="1400" dirty="0">
              <a:solidFill>
                <a:schemeClr val="accent1"/>
              </a:solidFill>
              <a:latin typeface="Arial"/>
              <a:sym typeface="Arial"/>
            </a:endParaRPr>
          </a:p>
        </p:txBody>
      </p:sp>
      <p:sp>
        <p:nvSpPr>
          <p:cNvPr id="58" name="Text Placeholder 108"/>
          <p:cNvSpPr>
            <a:spLocks noGrp="1"/>
          </p:cNvSpPr>
          <p:nvPr>
            <p:custDataLst>
              <p:tags r:id="rId10"/>
            </p:custDataLst>
          </p:nvPr>
        </p:nvSpPr>
        <p:spPr bwMode="gray">
          <a:xfrm>
            <a:off x="3492500" y="5924550"/>
            <a:ext cx="196850"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12</a:t>
            </a:r>
            <a:endParaRPr lang="en-US" sz="1400" dirty="0">
              <a:solidFill>
                <a:schemeClr val="accent1"/>
              </a:solidFill>
              <a:latin typeface="Arial"/>
              <a:sym typeface="Arial"/>
            </a:endParaRPr>
          </a:p>
        </p:txBody>
      </p:sp>
      <p:sp>
        <p:nvSpPr>
          <p:cNvPr id="56" name="Text Placeholder 106"/>
          <p:cNvSpPr>
            <a:spLocks noGrp="1"/>
          </p:cNvSpPr>
          <p:nvPr>
            <p:custDataLst>
              <p:tags r:id="rId11"/>
            </p:custDataLst>
          </p:nvPr>
        </p:nvSpPr>
        <p:spPr bwMode="gray">
          <a:xfrm>
            <a:off x="2017713" y="5924550"/>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smtClean="0">
                <a:solidFill>
                  <a:schemeClr val="accent1"/>
                </a:solidFill>
                <a:latin typeface="Arial"/>
                <a:sym typeface="Arial"/>
              </a:rPr>
              <a:t>8</a:t>
            </a:r>
            <a:endParaRPr lang="en-US" sz="1400" dirty="0">
              <a:solidFill>
                <a:schemeClr val="accent1"/>
              </a:solidFill>
              <a:latin typeface="Arial"/>
              <a:sym typeface="Arial"/>
            </a:endParaRPr>
          </a:p>
        </p:txBody>
      </p:sp>
      <p:sp>
        <p:nvSpPr>
          <p:cNvPr id="55" name="Text Placeholder 105"/>
          <p:cNvSpPr>
            <a:spLocks noGrp="1"/>
          </p:cNvSpPr>
          <p:nvPr>
            <p:custDataLst>
              <p:tags r:id="rId12"/>
            </p:custDataLst>
          </p:nvPr>
        </p:nvSpPr>
        <p:spPr bwMode="gray">
          <a:xfrm>
            <a:off x="1255713" y="5924550"/>
            <a:ext cx="98425"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400" dirty="0">
                <a:solidFill>
                  <a:schemeClr val="accent1"/>
                </a:solidFill>
                <a:latin typeface="Arial"/>
                <a:sym typeface="Arial"/>
              </a:rPr>
              <a:t>6</a:t>
            </a:r>
          </a:p>
        </p:txBody>
      </p:sp>
      <p:cxnSp>
        <p:nvCxnSpPr>
          <p:cNvPr id="10" name="Straight Connector 9"/>
          <p:cNvCxnSpPr/>
          <p:nvPr>
            <p:custDataLst>
              <p:tags r:id="rId13"/>
            </p:custDataLst>
          </p:nvPr>
        </p:nvCxnSpPr>
        <p:spPr bwMode="auto">
          <a:xfrm>
            <a:off x="2066925" y="4400550"/>
            <a:ext cx="0" cy="97155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p:nvPr>
            <p:custDataLst>
              <p:tags r:id="rId14"/>
            </p:custDataLst>
          </p:nvPr>
        </p:nvCxnSpPr>
        <p:spPr bwMode="auto">
          <a:xfrm>
            <a:off x="5686425" y="4400550"/>
            <a:ext cx="0" cy="97155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custDataLst>
              <p:tags r:id="rId15"/>
            </p:custDataLst>
          </p:nvPr>
        </p:nvCxnSpPr>
        <p:spPr bwMode="auto">
          <a:xfrm>
            <a:off x="1685925" y="2647950"/>
            <a:ext cx="0" cy="98107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Straight Connector 11"/>
          <p:cNvCxnSpPr/>
          <p:nvPr>
            <p:custDataLst>
              <p:tags r:id="rId16"/>
            </p:custDataLst>
          </p:nvPr>
        </p:nvCxnSpPr>
        <p:spPr bwMode="auto">
          <a:xfrm>
            <a:off x="1876425" y="2647950"/>
            <a:ext cx="0" cy="98107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6" name="Text Placeholder 53"/>
          <p:cNvSpPr>
            <a:spLocks noGrp="1"/>
          </p:cNvSpPr>
          <p:nvPr>
            <p:custDataLst>
              <p:tags r:id="rId17"/>
            </p:custDataLst>
          </p:nvPr>
        </p:nvSpPr>
        <p:spPr bwMode="auto">
          <a:xfrm>
            <a:off x="95250" y="4673600"/>
            <a:ext cx="874713" cy="425450"/>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306313D2-4865-48F4-809B-D0CCA79254F3}" type="datetime'Ce''n''''t''''r''''al''''''&#10;W''e''''t''-''M''''ill''i''''ng'">
              <a:rPr lang="en-US" sz="1400">
                <a:solidFill>
                  <a:schemeClr val="accent1"/>
                </a:solidFill>
              </a:rPr>
              <a:pPr/>
              <a:t>Central
Wet-Milling</a:t>
            </a:fld>
            <a:endParaRPr lang="en-US" sz="1400" dirty="0">
              <a:solidFill>
                <a:schemeClr val="accent1"/>
              </a:solidFill>
              <a:latin typeface="Arial"/>
              <a:sym typeface="Arial"/>
            </a:endParaRPr>
          </a:p>
        </p:txBody>
      </p:sp>
      <p:sp>
        <p:nvSpPr>
          <p:cNvPr id="17" name="Text Placeholder 106"/>
          <p:cNvSpPr>
            <a:spLocks noGrp="1"/>
          </p:cNvSpPr>
          <p:nvPr>
            <p:custDataLst>
              <p:tags r:id="rId18"/>
            </p:custDataLst>
          </p:nvPr>
        </p:nvSpPr>
        <p:spPr bwMode="gray">
          <a:xfrm>
            <a:off x="3141663" y="4779963"/>
            <a:ext cx="898525"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25400" tIns="0" rIns="2540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bg1"/>
                </a:solidFill>
                <a:latin typeface="Arial"/>
                <a:sym typeface="Arial"/>
              </a:rPr>
              <a:t>Harvesting</a:t>
            </a:r>
            <a:endParaRPr lang="en-US" sz="1400" dirty="0">
              <a:solidFill>
                <a:schemeClr val="bg1"/>
              </a:solidFill>
              <a:latin typeface="Arial"/>
              <a:sym typeface="Arial"/>
            </a:endParaRPr>
          </a:p>
        </p:txBody>
      </p:sp>
      <p:sp>
        <p:nvSpPr>
          <p:cNvPr id="15" name="Text Placeholder 107"/>
          <p:cNvSpPr>
            <a:spLocks noGrp="1"/>
          </p:cNvSpPr>
          <p:nvPr>
            <p:custDataLst>
              <p:tags r:id="rId19"/>
            </p:custDataLst>
          </p:nvPr>
        </p:nvSpPr>
        <p:spPr bwMode="gray">
          <a:xfrm>
            <a:off x="5026025" y="4673600"/>
            <a:ext cx="749300" cy="425450"/>
          </a:xfrm>
          <a:prstGeom prst="rect">
            <a:avLst/>
          </a:prstGeom>
          <a:solidFill>
            <a:schemeClr val="accent1"/>
          </a:solidFill>
          <a:ln w="9525">
            <a:noFill/>
            <a:miter lim="800000"/>
            <a:headEnd/>
            <a:tailEnd/>
          </a:ln>
        </p:spPr>
        <p:txBody>
          <a:bodyPr vert="horz" wrap="none" lIns="25400" tIns="0" rIns="2540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bg1"/>
                </a:solidFill>
                <a:latin typeface="Arial"/>
                <a:sym typeface="Arial"/>
              </a:rPr>
              <a:t>Cherry </a:t>
            </a:r>
          </a:p>
          <a:p>
            <a:pPr marL="0" indent="0" algn="ctr">
              <a:buNone/>
            </a:pPr>
            <a:r>
              <a:rPr lang="en-US" sz="1400" dirty="0" smtClean="0">
                <a:solidFill>
                  <a:schemeClr val="bg1"/>
                </a:solidFill>
                <a:latin typeface="Arial"/>
                <a:sym typeface="Arial"/>
              </a:rPr>
              <a:t>transport</a:t>
            </a:r>
            <a:endParaRPr lang="en-US" sz="1400" dirty="0">
              <a:solidFill>
                <a:schemeClr val="bg1"/>
              </a:solidFill>
              <a:latin typeface="Arial"/>
              <a:sym typeface="Arial"/>
            </a:endParaRPr>
          </a:p>
        </p:txBody>
      </p:sp>
      <p:sp>
        <p:nvSpPr>
          <p:cNvPr id="13" name="Text Placeholder 52"/>
          <p:cNvSpPr>
            <a:spLocks noGrp="1"/>
          </p:cNvSpPr>
          <p:nvPr>
            <p:custDataLst>
              <p:tags r:id="rId20"/>
            </p:custDataLst>
          </p:nvPr>
        </p:nvSpPr>
        <p:spPr bwMode="auto">
          <a:xfrm>
            <a:off x="95250" y="2925763"/>
            <a:ext cx="874713" cy="425450"/>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0" tIns="0" rIns="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r">
              <a:buNone/>
            </a:pPr>
            <a:fld id="{35DB007D-2F2C-43C1-A6EE-18353B96B0E8}" type="datetime'''Ho''me''''''&#10;W''et-''M''il''''''''l''''''i''n''''''g'">
              <a:rPr lang="en-US" sz="1400">
                <a:solidFill>
                  <a:schemeClr val="accent1"/>
                </a:solidFill>
              </a:rPr>
              <a:pPr/>
              <a:t>Home
Wet-Milling</a:t>
            </a:fld>
            <a:endParaRPr lang="en-US" sz="1400" dirty="0">
              <a:solidFill>
                <a:schemeClr val="accent1"/>
              </a:solidFill>
              <a:latin typeface="Arial"/>
              <a:sym typeface="Arial"/>
            </a:endParaRPr>
          </a:p>
        </p:txBody>
      </p:sp>
      <p:sp>
        <p:nvSpPr>
          <p:cNvPr id="14" name="Text Placeholder 108"/>
          <p:cNvSpPr>
            <a:spLocks noGrp="1"/>
          </p:cNvSpPr>
          <p:nvPr>
            <p:custDataLst>
              <p:tags r:id="rId21"/>
            </p:custDataLst>
          </p:nvPr>
        </p:nvSpPr>
        <p:spPr bwMode="gray">
          <a:xfrm>
            <a:off x="1128713" y="3032125"/>
            <a:ext cx="735013" cy="212725"/>
          </a:xfrm>
          <a:prstGeom prst="rect">
            <a:avLst/>
          </a:prstGeom>
          <a:solidFill>
            <a:schemeClr val="accent1"/>
          </a:solidFill>
          <a:ln w="9525">
            <a:noFill/>
            <a:miter lim="800000"/>
            <a:headEnd/>
            <a:tailEnd/>
          </a:ln>
        </p:spPr>
        <p:txBody>
          <a:bodyPr vert="horz" wrap="none" lIns="25400" tIns="0" rIns="2540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bg1"/>
                </a:solidFill>
                <a:latin typeface="Arial"/>
                <a:sym typeface="Arial"/>
              </a:rPr>
              <a:t>Washing</a:t>
            </a:r>
            <a:endParaRPr lang="en-US" sz="1400" dirty="0">
              <a:solidFill>
                <a:schemeClr val="bg1"/>
              </a:solidFill>
              <a:latin typeface="Arial"/>
              <a:sym typeface="Arial"/>
            </a:endParaRPr>
          </a:p>
        </p:txBody>
      </p:sp>
      <p:sp>
        <p:nvSpPr>
          <p:cNvPr id="19" name="Text Placeholder 109"/>
          <p:cNvSpPr>
            <a:spLocks noGrp="1"/>
          </p:cNvSpPr>
          <p:nvPr>
            <p:custDataLst>
              <p:tags r:id="rId22"/>
            </p:custDataLst>
          </p:nvPr>
        </p:nvSpPr>
        <p:spPr bwMode="gray">
          <a:xfrm>
            <a:off x="1998663" y="3276600"/>
            <a:ext cx="898525"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25400" tIns="0" rIns="2540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bg1"/>
                </a:solidFill>
                <a:latin typeface="Arial"/>
                <a:sym typeface="Arial"/>
              </a:rPr>
              <a:t>Harvesting</a:t>
            </a:r>
            <a:endParaRPr lang="en-US" sz="1400" dirty="0">
              <a:solidFill>
                <a:schemeClr val="bg1"/>
              </a:solidFill>
              <a:latin typeface="Arial"/>
              <a:sym typeface="Arial"/>
            </a:endParaRPr>
          </a:p>
        </p:txBody>
      </p:sp>
      <p:sp>
        <p:nvSpPr>
          <p:cNvPr id="18" name="Text Placeholder 110"/>
          <p:cNvSpPr>
            <a:spLocks noGrp="1"/>
          </p:cNvSpPr>
          <p:nvPr>
            <p:custDataLst>
              <p:tags r:id="rId23"/>
            </p:custDataLst>
          </p:nvPr>
        </p:nvSpPr>
        <p:spPr bwMode="gray">
          <a:xfrm>
            <a:off x="2833688" y="2786063"/>
            <a:ext cx="563563" cy="212725"/>
          </a:xfrm>
          <a:prstGeom prst="rect">
            <a:avLst/>
          </a:prstGeom>
          <a:solidFill>
            <a:schemeClr val="accent1"/>
          </a:solidFill>
          <a:ln w="9525">
            <a:noFill/>
            <a:miter lim="800000"/>
            <a:headEnd/>
            <a:tailEnd/>
          </a:ln>
        </p:spPr>
        <p:txBody>
          <a:bodyPr vert="horz" wrap="none" lIns="25400" tIns="0" rIns="2540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bg1"/>
                </a:solidFill>
                <a:latin typeface="Arial"/>
                <a:sym typeface="Arial"/>
              </a:rPr>
              <a:t>Drying</a:t>
            </a:r>
            <a:endParaRPr lang="en-US" sz="1400" dirty="0">
              <a:solidFill>
                <a:schemeClr val="bg1"/>
              </a:solidFill>
              <a:latin typeface="Arial"/>
              <a:sym typeface="Arial"/>
            </a:endParaRPr>
          </a:p>
        </p:txBody>
      </p:sp>
      <p:sp>
        <p:nvSpPr>
          <p:cNvPr id="20" name="Text Placeholder 111"/>
          <p:cNvSpPr>
            <a:spLocks noGrp="1"/>
          </p:cNvSpPr>
          <p:nvPr>
            <p:custDataLst>
              <p:tags r:id="rId24"/>
            </p:custDataLst>
          </p:nvPr>
        </p:nvSpPr>
        <p:spPr bwMode="gray">
          <a:xfrm>
            <a:off x="3236913" y="3276600"/>
            <a:ext cx="898525" cy="212725"/>
          </a:xfrm>
          <a:prstGeom prst="rect">
            <a:avLst/>
          </a:prstGeom>
          <a:noFill/>
          <a:ln w="9525">
            <a:noFill/>
            <a:miter lim="800000"/>
            <a:headEnd/>
            <a:tailEnd/>
          </a:ln>
          <a:extLst>
            <a:ext uri="{909E8E84-426E-40DD-AFC4-6F175D3DCCD1}">
              <a14:hiddenFill xmlns:a14="http://schemas.microsoft.com/office/drawing/2010/main">
                <a:solidFill>
                  <a:srgbClr val="C0C0C0"/>
                </a:solidFill>
              </a14:hiddenFill>
            </a:ext>
          </a:extLst>
        </p:spPr>
        <p:txBody>
          <a:bodyPr vert="horz" wrap="none" lIns="25400" tIns="0" rIns="2540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bg1"/>
                </a:solidFill>
                <a:latin typeface="Arial"/>
                <a:sym typeface="Arial"/>
              </a:rPr>
              <a:t>Harvesting</a:t>
            </a:r>
            <a:endParaRPr lang="en-US" sz="1400" dirty="0">
              <a:solidFill>
                <a:schemeClr val="bg1"/>
              </a:solidFill>
              <a:latin typeface="Arial"/>
              <a:sym typeface="Arial"/>
            </a:endParaRPr>
          </a:p>
        </p:txBody>
      </p:sp>
      <p:sp>
        <p:nvSpPr>
          <p:cNvPr id="21" name="Text Placeholder 115"/>
          <p:cNvSpPr>
            <a:spLocks noGrp="1"/>
          </p:cNvSpPr>
          <p:nvPr>
            <p:custDataLst>
              <p:tags r:id="rId25"/>
            </p:custDataLst>
          </p:nvPr>
        </p:nvSpPr>
        <p:spPr bwMode="gray">
          <a:xfrm>
            <a:off x="3976688" y="2786063"/>
            <a:ext cx="563563" cy="212725"/>
          </a:xfrm>
          <a:prstGeom prst="rect">
            <a:avLst/>
          </a:prstGeom>
          <a:solidFill>
            <a:schemeClr val="accent1"/>
          </a:solidFill>
          <a:ln w="9525">
            <a:noFill/>
            <a:miter lim="800000"/>
            <a:headEnd/>
            <a:tailEnd/>
          </a:ln>
        </p:spPr>
        <p:txBody>
          <a:bodyPr vert="horz" wrap="none" lIns="25400" tIns="0" rIns="2540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bg1"/>
                </a:solidFill>
                <a:latin typeface="Arial"/>
                <a:sym typeface="Arial"/>
              </a:rPr>
              <a:t>Drying</a:t>
            </a:r>
            <a:endParaRPr lang="en-US" sz="1400" dirty="0">
              <a:solidFill>
                <a:schemeClr val="bg1"/>
              </a:solidFill>
              <a:latin typeface="Arial"/>
              <a:sym typeface="Arial"/>
            </a:endParaRPr>
          </a:p>
        </p:txBody>
      </p:sp>
      <p:sp>
        <p:nvSpPr>
          <p:cNvPr id="22" name="Text Placeholder 112"/>
          <p:cNvSpPr>
            <a:spLocks noGrp="1"/>
          </p:cNvSpPr>
          <p:nvPr>
            <p:custDataLst>
              <p:tags r:id="rId26"/>
            </p:custDataLst>
          </p:nvPr>
        </p:nvSpPr>
        <p:spPr bwMode="gray">
          <a:xfrm>
            <a:off x="4379913" y="3276600"/>
            <a:ext cx="898525" cy="212725"/>
          </a:xfrm>
          <a:prstGeom prst="rect">
            <a:avLst/>
          </a:prstGeom>
          <a:noFill/>
          <a:ln w="9525">
            <a:noFill/>
            <a:miter lim="800000"/>
            <a:headEnd/>
            <a:tailEnd/>
          </a:ln>
          <a:extLst>
            <a:ext uri="{909E8E84-426E-40DD-AFC4-6F175D3DCCD1}">
              <a14:hiddenFill xmlns:a14="http://schemas.microsoft.com/office/drawing/2010/main">
                <a:solidFill>
                  <a:srgbClr val="C0C0C0"/>
                </a:solidFill>
              </a14:hiddenFill>
            </a:ext>
          </a:extLst>
        </p:spPr>
        <p:txBody>
          <a:bodyPr vert="horz" wrap="none" lIns="25400" tIns="0" rIns="2540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bg1"/>
                </a:solidFill>
                <a:latin typeface="Arial"/>
                <a:sym typeface="Arial"/>
              </a:rPr>
              <a:t>Harvesting</a:t>
            </a:r>
            <a:endParaRPr lang="en-US" sz="1400" dirty="0">
              <a:solidFill>
                <a:schemeClr val="bg1"/>
              </a:solidFill>
              <a:latin typeface="Arial"/>
              <a:sym typeface="Arial"/>
            </a:endParaRPr>
          </a:p>
        </p:txBody>
      </p:sp>
      <p:sp>
        <p:nvSpPr>
          <p:cNvPr id="23" name="Text Placeholder 114"/>
          <p:cNvSpPr>
            <a:spLocks noGrp="1"/>
          </p:cNvSpPr>
          <p:nvPr>
            <p:custDataLst>
              <p:tags r:id="rId27"/>
            </p:custDataLst>
          </p:nvPr>
        </p:nvSpPr>
        <p:spPr bwMode="gray">
          <a:xfrm>
            <a:off x="5119688" y="2786063"/>
            <a:ext cx="563563" cy="212725"/>
          </a:xfrm>
          <a:prstGeom prst="rect">
            <a:avLst/>
          </a:prstGeom>
          <a:solidFill>
            <a:schemeClr val="accent1"/>
          </a:solidFill>
          <a:ln w="9525">
            <a:noFill/>
            <a:miter lim="800000"/>
            <a:headEnd/>
            <a:tailEnd/>
          </a:ln>
        </p:spPr>
        <p:txBody>
          <a:bodyPr vert="horz" wrap="none" lIns="25400" tIns="0" rIns="2540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bg1"/>
                </a:solidFill>
                <a:latin typeface="Arial"/>
                <a:sym typeface="Arial"/>
              </a:rPr>
              <a:t>Drying</a:t>
            </a:r>
            <a:endParaRPr lang="en-US" sz="1400" dirty="0">
              <a:solidFill>
                <a:schemeClr val="bg1"/>
              </a:solidFill>
              <a:latin typeface="Arial"/>
              <a:sym typeface="Arial"/>
            </a:endParaRPr>
          </a:p>
        </p:txBody>
      </p:sp>
      <p:sp>
        <p:nvSpPr>
          <p:cNvPr id="24" name="Text Placeholder 113"/>
          <p:cNvSpPr>
            <a:spLocks noGrp="1"/>
          </p:cNvSpPr>
          <p:nvPr>
            <p:custDataLst>
              <p:tags r:id="rId28"/>
            </p:custDataLst>
          </p:nvPr>
        </p:nvSpPr>
        <p:spPr bwMode="gray">
          <a:xfrm>
            <a:off x="5746750" y="3032125"/>
            <a:ext cx="642938" cy="212725"/>
          </a:xfrm>
          <a:prstGeom prst="rect">
            <a:avLst/>
          </a:prstGeom>
          <a:noFill/>
          <a:ln w="9525">
            <a:noFill/>
            <a:miter lim="800000"/>
            <a:headEnd/>
            <a:tailEnd/>
          </a:ln>
          <a:extLst>
            <a:ext uri="{909E8E84-426E-40DD-AFC4-6F175D3DCCD1}">
              <a14:hiddenFill xmlns:a14="http://schemas.microsoft.com/office/drawing/2010/main">
                <a:solidFill>
                  <a:scrgbClr r="0" g="0" b="0"/>
                </a:solidFill>
              </a14:hiddenFill>
            </a:ext>
          </a:extLst>
        </p:spPr>
        <p:txBody>
          <a:bodyPr vert="horz" wrap="none" lIns="25400" tIns="0" rIns="25400" bIns="0" numCol="1" spcCol="0" anchor="ctr" anchorCtr="0" compatLnSpc="1">
            <a:prstTxWarp prst="textNoShape">
              <a:avLst/>
            </a:prstTxWarp>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r>
              <a:rPr lang="en-US" sz="1400" dirty="0" smtClean="0">
                <a:solidFill>
                  <a:schemeClr val="bg1"/>
                </a:solidFill>
                <a:latin typeface="Arial"/>
                <a:sym typeface="Arial"/>
              </a:rPr>
              <a:t>Pulping</a:t>
            </a:r>
            <a:endParaRPr lang="en-US" sz="1400" dirty="0">
              <a:solidFill>
                <a:schemeClr val="bg1"/>
              </a:solidFill>
              <a:latin typeface="Arial"/>
              <a:sym typeface="Arial"/>
            </a:endParaRPr>
          </a:p>
        </p:txBody>
      </p:sp>
      <p:sp>
        <p:nvSpPr>
          <p:cNvPr id="25" name="Oval 24"/>
          <p:cNvSpPr/>
          <p:nvPr/>
        </p:nvSpPr>
        <p:spPr bwMode="auto">
          <a:xfrm>
            <a:off x="7616825" y="2657475"/>
            <a:ext cx="914400" cy="914400"/>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bg1"/>
                </a:solidFill>
                <a:effectLst/>
                <a:latin typeface="Arial" charset="0"/>
              </a:rPr>
              <a:t>5 </a:t>
            </a:r>
            <a:r>
              <a:rPr kumimoji="0" lang="en-US" sz="1400" b="1" i="0" u="none" strike="noStrike" cap="none" normalizeH="0" baseline="0" dirty="0" err="1" smtClean="0">
                <a:ln>
                  <a:noFill/>
                </a:ln>
                <a:solidFill>
                  <a:schemeClr val="bg1"/>
                </a:solidFill>
                <a:effectLst/>
                <a:latin typeface="Arial" charset="0"/>
              </a:rPr>
              <a:t>hrs</a:t>
            </a:r>
            <a:r>
              <a:rPr kumimoji="0" lang="en-US" sz="1400" b="1" i="0" u="none" strike="noStrike" cap="none" normalizeH="0" baseline="0" dirty="0" smtClean="0">
                <a:ln>
                  <a:noFill/>
                </a:ln>
                <a:solidFill>
                  <a:schemeClr val="bg1"/>
                </a:solidFill>
                <a:effectLst/>
                <a:latin typeface="Arial" charset="0"/>
              </a:rPr>
              <a:t> / day</a:t>
            </a:r>
          </a:p>
        </p:txBody>
      </p:sp>
      <p:sp>
        <p:nvSpPr>
          <p:cNvPr id="26" name="Oval 25"/>
          <p:cNvSpPr/>
          <p:nvPr/>
        </p:nvSpPr>
        <p:spPr bwMode="auto">
          <a:xfrm>
            <a:off x="7616825" y="4384675"/>
            <a:ext cx="914400" cy="914400"/>
          </a:xfrm>
          <a:prstGeom prst="ellipse">
            <a:avLst/>
          </a:prstGeom>
          <a:solidFill>
            <a:schemeClr val="accent1"/>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400" b="1" dirty="0" smtClean="0">
                <a:solidFill>
                  <a:schemeClr val="bg1"/>
                </a:solidFill>
                <a:latin typeface="Arial" charset="0"/>
              </a:rPr>
              <a:t>1.5 </a:t>
            </a:r>
            <a:r>
              <a:rPr kumimoji="0" lang="en-US" sz="1400" b="1" i="0" u="none" strike="noStrike" cap="none" normalizeH="0" baseline="0" dirty="0" err="1" smtClean="0">
                <a:ln>
                  <a:noFill/>
                </a:ln>
                <a:solidFill>
                  <a:schemeClr val="bg1"/>
                </a:solidFill>
                <a:effectLst/>
                <a:latin typeface="Arial" charset="0"/>
              </a:rPr>
              <a:t>hrs</a:t>
            </a:r>
            <a:r>
              <a:rPr kumimoji="0" lang="en-US" sz="1400" b="1" i="0" u="none" strike="noStrike" cap="none" normalizeH="0" baseline="0" dirty="0" smtClean="0">
                <a:ln>
                  <a:noFill/>
                </a:ln>
                <a:solidFill>
                  <a:schemeClr val="bg1"/>
                </a:solidFill>
                <a:effectLst/>
                <a:latin typeface="Arial" charset="0"/>
              </a:rPr>
              <a:t> / day</a:t>
            </a:r>
          </a:p>
        </p:txBody>
      </p:sp>
      <p:grpSp>
        <p:nvGrpSpPr>
          <p:cNvPr id="27" name="Group 26"/>
          <p:cNvGrpSpPr/>
          <p:nvPr/>
        </p:nvGrpSpPr>
        <p:grpSpPr>
          <a:xfrm>
            <a:off x="7245350" y="1447800"/>
            <a:ext cx="1657350" cy="523220"/>
            <a:chOff x="933450" y="1066800"/>
            <a:chExt cx="7448550" cy="523220"/>
          </a:xfrm>
        </p:grpSpPr>
        <p:sp>
          <p:nvSpPr>
            <p:cNvPr id="28" name="TextBox 27"/>
            <p:cNvSpPr txBox="1"/>
            <p:nvPr/>
          </p:nvSpPr>
          <p:spPr>
            <a:xfrm>
              <a:off x="933450" y="1066800"/>
              <a:ext cx="7448550" cy="523220"/>
            </a:xfrm>
            <a:prstGeom prst="rect">
              <a:avLst/>
            </a:prstGeom>
            <a:noFill/>
          </p:spPr>
          <p:txBody>
            <a:bodyPr wrap="square" rtlCol="0">
              <a:spAutoFit/>
            </a:bodyPr>
            <a:lstStyle/>
            <a:p>
              <a:pPr algn="ctr"/>
              <a:r>
                <a:rPr lang="en-US" sz="1400" b="1" dirty="0" smtClean="0">
                  <a:solidFill>
                    <a:schemeClr val="accent1"/>
                  </a:solidFill>
                </a:rPr>
                <a:t>Total time spent on wet-milling</a:t>
              </a:r>
              <a:endParaRPr lang="en-US" sz="1400" dirty="0" smtClean="0">
                <a:solidFill>
                  <a:schemeClr val="accent1"/>
                </a:solidFill>
              </a:endParaRPr>
            </a:p>
          </p:txBody>
        </p:sp>
        <p:cxnSp>
          <p:nvCxnSpPr>
            <p:cNvPr id="29" name="Straight Connector 28"/>
            <p:cNvCxnSpPr/>
            <p:nvPr/>
          </p:nvCxnSpPr>
          <p:spPr bwMode="auto">
            <a:xfrm>
              <a:off x="933450" y="1590020"/>
              <a:ext cx="744855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grpSp>
        <p:nvGrpSpPr>
          <p:cNvPr id="30" name="Group 29"/>
          <p:cNvGrpSpPr/>
          <p:nvPr/>
        </p:nvGrpSpPr>
        <p:grpSpPr>
          <a:xfrm>
            <a:off x="1192213" y="1447800"/>
            <a:ext cx="5486400" cy="523220"/>
            <a:chOff x="933450" y="1066800"/>
            <a:chExt cx="7448550" cy="523220"/>
          </a:xfrm>
        </p:grpSpPr>
        <p:sp>
          <p:nvSpPr>
            <p:cNvPr id="31" name="TextBox 30"/>
            <p:cNvSpPr txBox="1"/>
            <p:nvPr/>
          </p:nvSpPr>
          <p:spPr>
            <a:xfrm>
              <a:off x="933450" y="1066800"/>
              <a:ext cx="7448550" cy="523220"/>
            </a:xfrm>
            <a:prstGeom prst="rect">
              <a:avLst/>
            </a:prstGeom>
            <a:noFill/>
          </p:spPr>
          <p:txBody>
            <a:bodyPr wrap="square" rtlCol="0">
              <a:spAutoFit/>
            </a:bodyPr>
            <a:lstStyle/>
            <a:p>
              <a:endParaRPr lang="en-US" sz="1400" b="1" dirty="0" smtClean="0">
                <a:solidFill>
                  <a:schemeClr val="accent1"/>
                </a:solidFill>
              </a:endParaRPr>
            </a:p>
            <a:p>
              <a:r>
                <a:rPr lang="en-US" sz="1400" b="1" dirty="0">
                  <a:solidFill>
                    <a:schemeClr val="accent1"/>
                  </a:solidFill>
                  <a:latin typeface="Arial" pitchFamily="1" charset="0"/>
                  <a:ea typeface="ＭＳ Ｐゴシック" pitchFamily="1" charset="-128"/>
                  <a:cs typeface="ＭＳ Ｐゴシック" pitchFamily="1" charset="-128"/>
                </a:rPr>
                <a:t>Time allocation for coffee farming family during peak </a:t>
              </a:r>
              <a:r>
                <a:rPr lang="en-US" sz="1400" b="1" dirty="0" smtClean="0">
                  <a:solidFill>
                    <a:schemeClr val="accent1"/>
                  </a:solidFill>
                  <a:latin typeface="Arial" pitchFamily="1" charset="0"/>
                  <a:ea typeface="ＭＳ Ｐゴシック" pitchFamily="1" charset="-128"/>
                  <a:cs typeface="ＭＳ Ｐゴシック" pitchFamily="1" charset="-128"/>
                </a:rPr>
                <a:t>harvest</a:t>
              </a:r>
              <a:endParaRPr lang="en-US" sz="1400" b="1" dirty="0">
                <a:solidFill>
                  <a:schemeClr val="accent1"/>
                </a:solidFill>
                <a:latin typeface="Arial" pitchFamily="1" charset="0"/>
                <a:ea typeface="ＭＳ Ｐゴシック" pitchFamily="1" charset="-128"/>
                <a:cs typeface="ＭＳ Ｐゴシック" pitchFamily="1" charset="-128"/>
              </a:endParaRPr>
            </a:p>
          </p:txBody>
        </p:sp>
        <p:cxnSp>
          <p:nvCxnSpPr>
            <p:cNvPr id="32" name="Straight Connector 31"/>
            <p:cNvCxnSpPr/>
            <p:nvPr/>
          </p:nvCxnSpPr>
          <p:spPr bwMode="auto">
            <a:xfrm>
              <a:off x="933450" y="1590020"/>
              <a:ext cx="744855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sp>
        <p:nvSpPr>
          <p:cNvPr id="35" name="McK Footnote"/>
          <p:cNvSpPr txBox="1">
            <a:spLocks noChangeArrowheads="1"/>
          </p:cNvSpPr>
          <p:nvPr/>
        </p:nvSpPr>
        <p:spPr bwMode="auto">
          <a:xfrm>
            <a:off x="640326" y="6249544"/>
            <a:ext cx="7388434" cy="138499"/>
          </a:xfrm>
          <a:prstGeom prst="rect">
            <a:avLst/>
          </a:prstGeom>
          <a:noFill/>
          <a:ln w="9525">
            <a:noFill/>
            <a:miter lim="800000"/>
            <a:headEnd/>
            <a:tailEnd/>
          </a:ln>
        </p:spPr>
        <p:txBody>
          <a:bodyPr wrap="square"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TechnoServe analysis</a:t>
            </a:r>
          </a:p>
        </p:txBody>
      </p:sp>
      <p:sp>
        <p:nvSpPr>
          <p:cNvPr id="36" name="Rectangle 3"/>
          <p:cNvSpPr>
            <a:spLocks noChangeArrowheads="1"/>
          </p:cNvSpPr>
          <p:nvPr/>
        </p:nvSpPr>
        <p:spPr bwMode="auto">
          <a:xfrm>
            <a:off x="7848032" y="871662"/>
            <a:ext cx="1093487" cy="212349"/>
          </a:xfrm>
          <a:prstGeom prst="leftRightArrow">
            <a:avLst>
              <a:gd name="adj1" fmla="val 100000"/>
              <a:gd name="adj2" fmla="val 0"/>
            </a:avLst>
          </a:prstGeom>
          <a:noFill/>
          <a:ln>
            <a:noFill/>
          </a:ln>
          <a:extLst/>
        </p:spPr>
        <p:txBody>
          <a:bodyPr wrap="none" lIns="27415" tIns="0" rIns="0" bIns="27415">
            <a:spAutoFit/>
          </a:bodyPr>
          <a:lstStyle/>
          <a:p>
            <a:pPr marL="342900" indent="-342900" algn="r" defTabSz="895350" eaLnBrk="0" hangingPunct="0">
              <a:buSzPct val="120000"/>
              <a:defRPr/>
            </a:pPr>
            <a:r>
              <a:rPr lang="en-US" sz="1200" dirty="0" smtClean="0">
                <a:solidFill>
                  <a:schemeClr val="bg1">
                    <a:lumMod val="50000"/>
                  </a:schemeClr>
                </a:solidFill>
                <a:ea typeface="ＭＳ Ｐゴシック" pitchFamily="34" charset="-128"/>
              </a:rPr>
              <a:t>ILLUSTRATIVE</a:t>
            </a:r>
            <a:endParaRPr lang="en-US" sz="1200" dirty="0">
              <a:solidFill>
                <a:schemeClr val="bg1">
                  <a:lumMod val="50000"/>
                </a:schemeClr>
              </a:solidFill>
              <a:ea typeface="ＭＳ Ｐゴシック" pitchFamily="34" charset="-128"/>
            </a:endParaRPr>
          </a:p>
        </p:txBody>
      </p:sp>
      <p:cxnSp>
        <p:nvCxnSpPr>
          <p:cNvPr id="37" name="AutoShape 110"/>
          <p:cNvCxnSpPr>
            <a:cxnSpLocks noChangeShapeType="1"/>
            <a:stCxn id="36" idx="2"/>
            <a:endCxn id="36" idx="4"/>
          </p:cNvCxnSpPr>
          <p:nvPr/>
        </p:nvCxnSpPr>
        <p:spPr bwMode="auto">
          <a:xfrm>
            <a:off x="7848032" y="871662"/>
            <a:ext cx="0" cy="212349"/>
          </a:xfrm>
          <a:prstGeom prst="straightConnector1">
            <a:avLst/>
          </a:prstGeom>
          <a:noFill/>
          <a:ln w="9525">
            <a:solidFill>
              <a:schemeClr val="bg1">
                <a:lumMod val="50000"/>
              </a:schemeClr>
            </a:solidFill>
            <a:round/>
            <a:headEnd/>
            <a:tailEnd/>
          </a:ln>
          <a:extLst/>
        </p:spPr>
      </p:cxnSp>
      <p:cxnSp>
        <p:nvCxnSpPr>
          <p:cNvPr id="38" name="AutoShape 111"/>
          <p:cNvCxnSpPr>
            <a:cxnSpLocks noChangeShapeType="1"/>
            <a:stCxn id="36" idx="4"/>
            <a:endCxn id="36" idx="6"/>
          </p:cNvCxnSpPr>
          <p:nvPr/>
        </p:nvCxnSpPr>
        <p:spPr bwMode="auto">
          <a:xfrm>
            <a:off x="7848032" y="1084011"/>
            <a:ext cx="1093487" cy="0"/>
          </a:xfrm>
          <a:prstGeom prst="straightConnector1">
            <a:avLst/>
          </a:prstGeom>
          <a:noFill/>
          <a:ln w="25400">
            <a:solidFill>
              <a:schemeClr val="bg1">
                <a:lumMod val="50000"/>
              </a:schemeClr>
            </a:solidFill>
            <a:round/>
            <a:headEnd/>
            <a:tailEnd/>
          </a:ln>
          <a:extLst/>
        </p:spPr>
      </p:cxnSp>
      <p:sp>
        <p:nvSpPr>
          <p:cNvPr id="44" name="Oval 43"/>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45" name="TextBox 44"/>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2b</a:t>
            </a:r>
            <a:endParaRPr lang="en-US" sz="2400" dirty="0">
              <a:solidFill>
                <a:schemeClr val="bg1"/>
              </a:solidFill>
            </a:endParaRPr>
          </a:p>
        </p:txBody>
      </p:sp>
    </p:spTree>
    <p:extLst>
      <p:ext uri="{BB962C8B-B14F-4D97-AF65-F5344CB8AC3E}">
        <p14:creationId xmlns:p14="http://schemas.microsoft.com/office/powerpoint/2010/main" val="39766676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ext uri="{D42A27DB-BD31-4B8C-83A1-F6EECF244321}">
                <p14:modId xmlns:p14="http://schemas.microsoft.com/office/powerpoint/2010/main" val="39465902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6634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Rectangle 15"/>
          <p:cNvSpPr/>
          <p:nvPr/>
        </p:nvSpPr>
        <p:spPr>
          <a:xfrm>
            <a:off x="395869" y="5475248"/>
            <a:ext cx="8324386" cy="516523"/>
          </a:xfrm>
          <a:prstGeom prst="rect">
            <a:avLst/>
          </a:prstGeom>
          <a:solidFill>
            <a:srgbClr val="2124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p:cNvSpPr>
            <a:spLocks noGrp="1"/>
          </p:cNvSpPr>
          <p:nvPr>
            <p:ph type="title"/>
          </p:nvPr>
        </p:nvSpPr>
        <p:spPr/>
        <p:txBody>
          <a:bodyPr/>
          <a:lstStyle/>
          <a:p>
            <a:pPr marL="268288"/>
            <a:r>
              <a:rPr lang="en-US" b="0" dirty="0" smtClean="0"/>
              <a:t>However, it is uncertain how farmers will value or invest this additional time</a:t>
            </a:r>
            <a:endParaRPr lang="en-US" b="0" dirty="0"/>
          </a:p>
        </p:txBody>
      </p:sp>
      <p:sp>
        <p:nvSpPr>
          <p:cNvPr id="42" name="McK Footnote"/>
          <p:cNvSpPr txBox="1">
            <a:spLocks noChangeArrowheads="1"/>
          </p:cNvSpPr>
          <p:nvPr/>
        </p:nvSpPr>
        <p:spPr bwMode="auto">
          <a:xfrm>
            <a:off x="633636" y="6254173"/>
            <a:ext cx="8485187" cy="138499"/>
          </a:xfrm>
          <a:prstGeom prst="rect">
            <a:avLst/>
          </a:prstGeom>
          <a:noFill/>
          <a:ln w="9525">
            <a:noFill/>
            <a:miter lim="800000"/>
            <a:headEnd/>
            <a:tailEnd/>
          </a:ln>
        </p:spPr>
        <p:txBody>
          <a:bodyPr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TechnoServe analysis</a:t>
            </a:r>
          </a:p>
        </p:txBody>
      </p:sp>
      <p:sp>
        <p:nvSpPr>
          <p:cNvPr id="4" name="TextBox 3"/>
          <p:cNvSpPr txBox="1"/>
          <p:nvPr/>
        </p:nvSpPr>
        <p:spPr>
          <a:xfrm>
            <a:off x="1182016" y="5516280"/>
            <a:ext cx="7203703" cy="430887"/>
          </a:xfrm>
          <a:prstGeom prst="rect">
            <a:avLst/>
          </a:prstGeom>
          <a:noFill/>
        </p:spPr>
        <p:txBody>
          <a:bodyPr wrap="square" lIns="0" tIns="0" rIns="0" bIns="0" rtlCol="0">
            <a:spAutoFit/>
          </a:bodyPr>
          <a:lstStyle/>
          <a:p>
            <a:r>
              <a:rPr lang="en-US" sz="1400" b="1" dirty="0" smtClean="0">
                <a:solidFill>
                  <a:schemeClr val="bg1"/>
                </a:solidFill>
              </a:rPr>
              <a:t>More research is necessary to understand how farmers value their time and respond to the creation of additional time</a:t>
            </a:r>
            <a:endParaRPr lang="en-US" sz="1400" b="1" dirty="0">
              <a:solidFill>
                <a:schemeClr val="bg1"/>
              </a:solidFill>
            </a:endParaRPr>
          </a:p>
        </p:txBody>
      </p:sp>
      <p:sp>
        <p:nvSpPr>
          <p:cNvPr id="6" name="Rectangle 5"/>
          <p:cNvSpPr/>
          <p:nvPr/>
        </p:nvSpPr>
        <p:spPr>
          <a:xfrm>
            <a:off x="379141" y="1906874"/>
            <a:ext cx="1371599" cy="757841"/>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906862" y="1906874"/>
            <a:ext cx="4728114" cy="646331"/>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400" dirty="0" smtClean="0"/>
              <a:t>Farmers use additional time to take over some of the harvesting work previously done by external labor</a:t>
            </a:r>
          </a:p>
          <a:p>
            <a:endParaRPr lang="en-US" sz="1400" dirty="0"/>
          </a:p>
        </p:txBody>
      </p:sp>
      <p:sp>
        <p:nvSpPr>
          <p:cNvPr id="34" name="TextBox 33"/>
          <p:cNvSpPr txBox="1"/>
          <p:nvPr/>
        </p:nvSpPr>
        <p:spPr>
          <a:xfrm>
            <a:off x="1906862" y="3026293"/>
            <a:ext cx="4728115" cy="861774"/>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400" dirty="0" smtClean="0"/>
              <a:t>Farmers use additional time to pursue income generating opportunities, e.g., casual work, small business, growing other crops, etc.</a:t>
            </a:r>
          </a:p>
          <a:p>
            <a:pPr marL="285750" indent="-285750">
              <a:buFont typeface="Arial" panose="020B0604020202020204" pitchFamily="34" charset="0"/>
              <a:buChar char="•"/>
            </a:pPr>
            <a:r>
              <a:rPr lang="en-US" sz="1400" dirty="0" smtClean="0"/>
              <a:t>Income opportunities will vary considerably by locality</a:t>
            </a:r>
            <a:endParaRPr lang="en-US" sz="1400" dirty="0"/>
          </a:p>
        </p:txBody>
      </p:sp>
      <p:sp>
        <p:nvSpPr>
          <p:cNvPr id="9" name="TextBox 8"/>
          <p:cNvSpPr txBox="1"/>
          <p:nvPr/>
        </p:nvSpPr>
        <p:spPr>
          <a:xfrm>
            <a:off x="462775" y="2070351"/>
            <a:ext cx="1204331" cy="430887"/>
          </a:xfrm>
          <a:prstGeom prst="rect">
            <a:avLst/>
          </a:prstGeom>
          <a:noFill/>
        </p:spPr>
        <p:txBody>
          <a:bodyPr wrap="square" lIns="0" tIns="0" rIns="0" bIns="0" rtlCol="0">
            <a:spAutoFit/>
          </a:bodyPr>
          <a:lstStyle/>
          <a:p>
            <a:r>
              <a:rPr lang="en-US" sz="1400" b="1" dirty="0" smtClean="0">
                <a:solidFill>
                  <a:schemeClr val="accent1"/>
                </a:solidFill>
              </a:rPr>
              <a:t>Substitute paid labor</a:t>
            </a:r>
            <a:endParaRPr lang="en-US" sz="1400" b="1" dirty="0">
              <a:solidFill>
                <a:schemeClr val="accent1"/>
              </a:solidFill>
            </a:endParaRPr>
          </a:p>
        </p:txBody>
      </p:sp>
      <p:cxnSp>
        <p:nvCxnSpPr>
          <p:cNvPr id="13" name="Straight Connector 12"/>
          <p:cNvCxnSpPr/>
          <p:nvPr/>
        </p:nvCxnSpPr>
        <p:spPr>
          <a:xfrm>
            <a:off x="379141" y="1795360"/>
            <a:ext cx="8017727"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869150" y="1557468"/>
            <a:ext cx="1516569" cy="215444"/>
          </a:xfrm>
          <a:prstGeom prst="rect">
            <a:avLst/>
          </a:prstGeom>
          <a:noFill/>
        </p:spPr>
        <p:txBody>
          <a:bodyPr wrap="square" lIns="0" tIns="0" rIns="0" bIns="0" rtlCol="0">
            <a:spAutoFit/>
          </a:bodyPr>
          <a:lstStyle/>
          <a:p>
            <a:r>
              <a:rPr lang="en-US" sz="1400" b="1" dirty="0" smtClean="0">
                <a:solidFill>
                  <a:schemeClr val="accent1"/>
                </a:solidFill>
              </a:rPr>
              <a:t>Result</a:t>
            </a:r>
            <a:endParaRPr lang="en-US" sz="1400" b="1" dirty="0">
              <a:solidFill>
                <a:schemeClr val="accent1"/>
              </a:solidFill>
            </a:endParaRPr>
          </a:p>
        </p:txBody>
      </p:sp>
      <p:sp>
        <p:nvSpPr>
          <p:cNvPr id="43" name="TextBox 42"/>
          <p:cNvSpPr txBox="1"/>
          <p:nvPr/>
        </p:nvSpPr>
        <p:spPr>
          <a:xfrm>
            <a:off x="379141" y="1557468"/>
            <a:ext cx="6066264" cy="215444"/>
          </a:xfrm>
          <a:prstGeom prst="rect">
            <a:avLst/>
          </a:prstGeom>
          <a:noFill/>
        </p:spPr>
        <p:txBody>
          <a:bodyPr wrap="square" lIns="0" tIns="0" rIns="0" bIns="0" rtlCol="0">
            <a:spAutoFit/>
          </a:bodyPr>
          <a:lstStyle/>
          <a:p>
            <a:r>
              <a:rPr lang="en-US" sz="1400" b="1" dirty="0" smtClean="0">
                <a:solidFill>
                  <a:schemeClr val="accent1"/>
                </a:solidFill>
              </a:rPr>
              <a:t>Options how farmers could use additional time</a:t>
            </a:r>
            <a:endParaRPr lang="en-US" sz="1400" b="1" dirty="0">
              <a:solidFill>
                <a:schemeClr val="accent1"/>
              </a:solidFill>
            </a:endParaRPr>
          </a:p>
        </p:txBody>
      </p:sp>
      <p:sp>
        <p:nvSpPr>
          <p:cNvPr id="15" name="TextBox 14"/>
          <p:cNvSpPr txBox="1"/>
          <p:nvPr/>
        </p:nvSpPr>
        <p:spPr>
          <a:xfrm>
            <a:off x="6869150" y="1984929"/>
            <a:ext cx="1527718" cy="430887"/>
          </a:xfrm>
          <a:prstGeom prst="rect">
            <a:avLst/>
          </a:prstGeom>
          <a:noFill/>
        </p:spPr>
        <p:txBody>
          <a:bodyPr wrap="square" lIns="0" tIns="0" rIns="0" bIns="0" rtlCol="0">
            <a:spAutoFit/>
          </a:bodyPr>
          <a:lstStyle/>
          <a:p>
            <a:r>
              <a:rPr lang="en-US" sz="1400" dirty="0" smtClean="0">
                <a:solidFill>
                  <a:schemeClr val="accent1"/>
                </a:solidFill>
              </a:rPr>
              <a:t>Labor cash cost savings</a:t>
            </a:r>
            <a:endParaRPr lang="en-US" sz="1400" dirty="0">
              <a:solidFill>
                <a:schemeClr val="accent1"/>
              </a:solidFill>
            </a:endParaRPr>
          </a:p>
        </p:txBody>
      </p:sp>
      <p:sp>
        <p:nvSpPr>
          <p:cNvPr id="47" name="Rectangle 46"/>
          <p:cNvSpPr/>
          <p:nvPr/>
        </p:nvSpPr>
        <p:spPr>
          <a:xfrm>
            <a:off x="379142" y="2970537"/>
            <a:ext cx="1371599" cy="757841"/>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462775" y="3026292"/>
            <a:ext cx="1204331" cy="646331"/>
          </a:xfrm>
          <a:prstGeom prst="rect">
            <a:avLst/>
          </a:prstGeom>
          <a:noFill/>
        </p:spPr>
        <p:txBody>
          <a:bodyPr wrap="square" lIns="0" tIns="0" rIns="0" bIns="0" rtlCol="0">
            <a:spAutoFit/>
          </a:bodyPr>
          <a:lstStyle/>
          <a:p>
            <a:r>
              <a:rPr lang="en-US" sz="1400" b="1" dirty="0" smtClean="0">
                <a:solidFill>
                  <a:schemeClr val="accent1"/>
                </a:solidFill>
              </a:rPr>
              <a:t>Generate additional income</a:t>
            </a:r>
            <a:endParaRPr lang="en-US" sz="1400" b="1" dirty="0">
              <a:solidFill>
                <a:schemeClr val="accent1"/>
              </a:solidFill>
            </a:endParaRPr>
          </a:p>
        </p:txBody>
      </p:sp>
      <p:sp>
        <p:nvSpPr>
          <p:cNvPr id="54" name="TextBox 53"/>
          <p:cNvSpPr txBox="1"/>
          <p:nvPr/>
        </p:nvSpPr>
        <p:spPr>
          <a:xfrm>
            <a:off x="6869150" y="3033726"/>
            <a:ext cx="1527718" cy="430887"/>
          </a:xfrm>
          <a:prstGeom prst="rect">
            <a:avLst/>
          </a:prstGeom>
          <a:noFill/>
        </p:spPr>
        <p:txBody>
          <a:bodyPr wrap="square" lIns="0" tIns="0" rIns="0" bIns="0" rtlCol="0">
            <a:spAutoFit/>
          </a:bodyPr>
          <a:lstStyle/>
          <a:p>
            <a:r>
              <a:rPr lang="en-US" sz="1400" dirty="0" smtClean="0">
                <a:solidFill>
                  <a:schemeClr val="accent1"/>
                </a:solidFill>
              </a:rPr>
              <a:t>Higher overall household income</a:t>
            </a:r>
            <a:endParaRPr lang="en-US" sz="1400" dirty="0">
              <a:solidFill>
                <a:schemeClr val="accent1"/>
              </a:solidFill>
            </a:endParaRPr>
          </a:p>
        </p:txBody>
      </p:sp>
      <p:sp>
        <p:nvSpPr>
          <p:cNvPr id="55" name="TextBox 54"/>
          <p:cNvSpPr txBox="1"/>
          <p:nvPr/>
        </p:nvSpPr>
        <p:spPr>
          <a:xfrm>
            <a:off x="1906862" y="4263499"/>
            <a:ext cx="4728115" cy="430887"/>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400" dirty="0" smtClean="0"/>
              <a:t>Farmers use additional time for leisure, family activities, etc., rather than investing it  in additional work</a:t>
            </a:r>
            <a:endParaRPr lang="en-US" sz="1400" dirty="0"/>
          </a:p>
        </p:txBody>
      </p:sp>
      <p:sp>
        <p:nvSpPr>
          <p:cNvPr id="56" name="TextBox 55"/>
          <p:cNvSpPr txBox="1"/>
          <p:nvPr/>
        </p:nvSpPr>
        <p:spPr>
          <a:xfrm>
            <a:off x="6869149" y="4230036"/>
            <a:ext cx="1731925" cy="430887"/>
          </a:xfrm>
          <a:prstGeom prst="rect">
            <a:avLst/>
          </a:prstGeom>
          <a:noFill/>
        </p:spPr>
        <p:txBody>
          <a:bodyPr wrap="square" lIns="0" tIns="0" rIns="0" bIns="0" rtlCol="0">
            <a:spAutoFit/>
          </a:bodyPr>
          <a:lstStyle/>
          <a:p>
            <a:r>
              <a:rPr lang="en-US" sz="1400" dirty="0" smtClean="0">
                <a:solidFill>
                  <a:schemeClr val="accent1"/>
                </a:solidFill>
              </a:rPr>
              <a:t>Social benefits (higher quality of life)</a:t>
            </a:r>
            <a:endParaRPr lang="en-US" sz="1400" dirty="0">
              <a:solidFill>
                <a:schemeClr val="accent1"/>
              </a:solidFill>
            </a:endParaRPr>
          </a:p>
        </p:txBody>
      </p:sp>
      <p:sp>
        <p:nvSpPr>
          <p:cNvPr id="57" name="Rectangle 56"/>
          <p:cNvSpPr/>
          <p:nvPr/>
        </p:nvSpPr>
        <p:spPr>
          <a:xfrm>
            <a:off x="379142" y="4203795"/>
            <a:ext cx="1371599" cy="757841"/>
          </a:xfrm>
          <a:prstGeom prst="rec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462775" y="4259550"/>
            <a:ext cx="1204331" cy="646331"/>
          </a:xfrm>
          <a:prstGeom prst="rect">
            <a:avLst/>
          </a:prstGeom>
          <a:noFill/>
        </p:spPr>
        <p:txBody>
          <a:bodyPr wrap="square" lIns="0" tIns="0" rIns="0" bIns="0" rtlCol="0">
            <a:spAutoFit/>
          </a:bodyPr>
          <a:lstStyle/>
          <a:p>
            <a:r>
              <a:rPr lang="en-US" sz="1400" b="1" dirty="0" smtClean="0">
                <a:solidFill>
                  <a:schemeClr val="accent1"/>
                </a:solidFill>
              </a:rPr>
              <a:t>Do not use additional time</a:t>
            </a:r>
            <a:endParaRPr lang="en-US" sz="1400" b="1" dirty="0">
              <a:solidFill>
                <a:schemeClr val="accent1"/>
              </a:solidFill>
            </a:endParaRPr>
          </a:p>
        </p:txBody>
      </p:sp>
      <p:sp>
        <p:nvSpPr>
          <p:cNvPr id="21" name="Isosceles Triangle 20"/>
          <p:cNvSpPr/>
          <p:nvPr/>
        </p:nvSpPr>
        <p:spPr>
          <a:xfrm rot="10800000">
            <a:off x="2196792" y="4940369"/>
            <a:ext cx="5430641" cy="311855"/>
          </a:xfrm>
          <a:prstGeom prst="triangle">
            <a:avLst/>
          </a:prstGeom>
          <a:gradFill>
            <a:gsLst>
              <a:gs pos="0">
                <a:srgbClr val="212492"/>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26" name="TextBox 25"/>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2b</a:t>
            </a:r>
            <a:endParaRPr lang="en-US" sz="2400" dirty="0">
              <a:solidFill>
                <a:schemeClr val="bg1"/>
              </a:solidFill>
            </a:endParaRPr>
          </a:p>
        </p:txBody>
      </p:sp>
    </p:spTree>
    <p:extLst>
      <p:ext uri="{BB962C8B-B14F-4D97-AF65-F5344CB8AC3E}">
        <p14:creationId xmlns:p14="http://schemas.microsoft.com/office/powerpoint/2010/main" val="42641088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extLst>
              <p:ext uri="{D42A27DB-BD31-4B8C-83A1-F6EECF244321}">
                <p14:modId xmlns:p14="http://schemas.microsoft.com/office/powerpoint/2010/main" val="200682456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5975" name="think-cell Slide" r:id="rId39" imgW="270" imgH="270" progId="TCLayout.ActiveDocument.1">
                  <p:embed/>
                </p:oleObj>
              </mc:Choice>
              <mc:Fallback>
                <p:oleObj name="think-cell Slide" r:id="rId39" imgW="270" imgH="270" progId="TCLayout.ActiveDocument.1">
                  <p:embed/>
                  <p:pic>
                    <p:nvPicPr>
                      <p:cNvPr id="0" name=""/>
                      <p:cNvPicPr/>
                      <p:nvPr/>
                    </p:nvPicPr>
                    <p:blipFill>
                      <a:blip r:embed="rId40"/>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900" u="none" strike="noStrike" cap="none" normalizeH="0" smtClean="0">
              <a:ln>
                <a:noFill/>
              </a:ln>
              <a:solidFill>
                <a:schemeClr val="tx1"/>
              </a:solidFill>
              <a:effectLst/>
              <a:latin typeface="Arial"/>
              <a:sym typeface="Arial"/>
            </a:endParaRPr>
          </a:p>
        </p:txBody>
      </p:sp>
      <p:sp>
        <p:nvSpPr>
          <p:cNvPr id="86" name="Rectangle 85"/>
          <p:cNvSpPr/>
          <p:nvPr/>
        </p:nvSpPr>
        <p:spPr bwMode="auto">
          <a:xfrm>
            <a:off x="5827595" y="4748783"/>
            <a:ext cx="3108688" cy="1399819"/>
          </a:xfrm>
          <a:prstGeom prst="rect">
            <a:avLst/>
          </a:prstGeom>
          <a:solidFill>
            <a:schemeClr val="bg1"/>
          </a:solidFill>
          <a:ln w="127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accent1"/>
              </a:solidFill>
              <a:effectLst/>
              <a:latin typeface="Arial" charset="0"/>
            </a:endParaRPr>
          </a:p>
        </p:txBody>
      </p:sp>
      <p:sp>
        <p:nvSpPr>
          <p:cNvPr id="43" name="McK Footnote"/>
          <p:cNvSpPr txBox="1">
            <a:spLocks noChangeArrowheads="1"/>
          </p:cNvSpPr>
          <p:nvPr/>
        </p:nvSpPr>
        <p:spPr bwMode="auto">
          <a:xfrm>
            <a:off x="641163" y="6248450"/>
            <a:ext cx="7388434" cy="138499"/>
          </a:xfrm>
          <a:prstGeom prst="rect">
            <a:avLst/>
          </a:prstGeom>
          <a:noFill/>
          <a:ln w="9525">
            <a:noFill/>
            <a:miter lim="800000"/>
            <a:headEnd/>
            <a:tailEnd/>
          </a:ln>
        </p:spPr>
        <p:txBody>
          <a:bodyPr wrap="square"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Stakeholder interviews, TechnoServe analysis</a:t>
            </a:r>
          </a:p>
        </p:txBody>
      </p:sp>
      <p:sp>
        <p:nvSpPr>
          <p:cNvPr id="7" name="Title 6"/>
          <p:cNvSpPr>
            <a:spLocks noGrp="1"/>
          </p:cNvSpPr>
          <p:nvPr>
            <p:ph type="title"/>
          </p:nvPr>
        </p:nvSpPr>
        <p:spPr/>
        <p:txBody>
          <a:bodyPr/>
          <a:lstStyle/>
          <a:p>
            <a:pPr marL="268288"/>
            <a:r>
              <a:rPr lang="en-US" b="0" dirty="0" smtClean="0"/>
              <a:t>Besides improving labor productivity, central wet mills provide additional benefits</a:t>
            </a:r>
            <a:endParaRPr lang="en-US" b="0" dirty="0"/>
          </a:p>
        </p:txBody>
      </p:sp>
      <p:sp>
        <p:nvSpPr>
          <p:cNvPr id="8" name="Rectangle 7"/>
          <p:cNvSpPr/>
          <p:nvPr/>
        </p:nvSpPr>
        <p:spPr bwMode="auto">
          <a:xfrm>
            <a:off x="5827595" y="1452562"/>
            <a:ext cx="3108688" cy="1399819"/>
          </a:xfrm>
          <a:prstGeom prst="rect">
            <a:avLst/>
          </a:prstGeom>
          <a:solidFill>
            <a:schemeClr val="bg1"/>
          </a:solidFill>
          <a:ln w="127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accent1"/>
              </a:solidFill>
              <a:effectLst/>
              <a:latin typeface="Arial" charset="0"/>
            </a:endParaRPr>
          </a:p>
        </p:txBody>
      </p:sp>
      <p:sp>
        <p:nvSpPr>
          <p:cNvPr id="10" name="Rectangle 9"/>
          <p:cNvSpPr/>
          <p:nvPr/>
        </p:nvSpPr>
        <p:spPr bwMode="auto">
          <a:xfrm>
            <a:off x="414338" y="1511300"/>
            <a:ext cx="1372683" cy="949569"/>
          </a:xfrm>
          <a:prstGeom prst="rect">
            <a:avLst/>
          </a:prstGeom>
          <a:solidFill>
            <a:schemeClr val="bg1"/>
          </a:solidFill>
          <a:ln w="1270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accent1"/>
              </a:solidFill>
              <a:effectLst/>
              <a:latin typeface="Arial" charset="0"/>
            </a:endParaRPr>
          </a:p>
        </p:txBody>
      </p:sp>
      <p:sp>
        <p:nvSpPr>
          <p:cNvPr id="12" name="TextBox 11"/>
          <p:cNvSpPr txBox="1"/>
          <p:nvPr/>
        </p:nvSpPr>
        <p:spPr>
          <a:xfrm>
            <a:off x="401638" y="1655416"/>
            <a:ext cx="1383319" cy="646331"/>
          </a:xfrm>
          <a:prstGeom prst="rect">
            <a:avLst/>
          </a:prstGeom>
          <a:noFill/>
        </p:spPr>
        <p:txBody>
          <a:bodyPr wrap="square" rtlCol="0">
            <a:spAutoFit/>
          </a:bodyPr>
          <a:lstStyle/>
          <a:p>
            <a:pPr fontAlgn="base">
              <a:spcBef>
                <a:spcPct val="0"/>
              </a:spcBef>
              <a:spcAft>
                <a:spcPct val="0"/>
              </a:spcAft>
            </a:pPr>
            <a:r>
              <a:rPr lang="en-US" sz="1200" b="1" dirty="0" smtClean="0">
                <a:solidFill>
                  <a:schemeClr val="accent1"/>
                </a:solidFill>
                <a:latin typeface="Arial" charset="0"/>
              </a:rPr>
              <a:t>Improved quality and consistency</a:t>
            </a:r>
            <a:endParaRPr lang="en-US" sz="1200" b="1" dirty="0">
              <a:solidFill>
                <a:schemeClr val="accent1"/>
              </a:solidFill>
              <a:latin typeface="Arial" charset="0"/>
            </a:endParaRPr>
          </a:p>
        </p:txBody>
      </p:sp>
      <p:sp>
        <p:nvSpPr>
          <p:cNvPr id="13" name="Rectangle 12"/>
          <p:cNvSpPr/>
          <p:nvPr/>
        </p:nvSpPr>
        <p:spPr>
          <a:xfrm>
            <a:off x="1866900" y="1511300"/>
            <a:ext cx="3810569" cy="1238801"/>
          </a:xfrm>
          <a:prstGeom prst="rect">
            <a:avLst/>
          </a:prstGeom>
        </p:spPr>
        <p:txBody>
          <a:bodyPr wrap="square">
            <a:spAutoFit/>
          </a:bodyPr>
          <a:lstStyle/>
          <a:p>
            <a:pPr marL="171450" indent="-171450">
              <a:spcAft>
                <a:spcPts val="300"/>
              </a:spcAft>
              <a:buFont typeface="Arial" panose="020B0604020202020204" pitchFamily="34" charset="0"/>
              <a:buChar char="•"/>
            </a:pPr>
            <a:r>
              <a:rPr lang="en-US" sz="1200" b="1" dirty="0" smtClean="0"/>
              <a:t>Improved quality </a:t>
            </a:r>
            <a:r>
              <a:rPr lang="en-US" sz="1200" dirty="0" smtClean="0"/>
              <a:t>by reducing processing-related defects that are common at home wet-milling, e.g., over-fermentation, poor drying / storage, etc.</a:t>
            </a:r>
          </a:p>
          <a:p>
            <a:pPr marL="171450" indent="-171450">
              <a:spcAft>
                <a:spcPts val="300"/>
              </a:spcAft>
              <a:buFont typeface="Arial" panose="020B0604020202020204" pitchFamily="34" charset="0"/>
              <a:buChar char="•"/>
            </a:pPr>
            <a:r>
              <a:rPr lang="en-US" sz="1200" b="1" dirty="0" smtClean="0"/>
              <a:t>Improved consistency </a:t>
            </a:r>
            <a:r>
              <a:rPr lang="en-US" sz="1200" dirty="0" smtClean="0"/>
              <a:t>by employing standardized quality controls, versus each farmer employing different practices at his/her home wet mill</a:t>
            </a:r>
            <a:endParaRPr lang="en-US" sz="1200" dirty="0"/>
          </a:p>
        </p:txBody>
      </p:sp>
      <p:sp>
        <p:nvSpPr>
          <p:cNvPr id="14" name="Rectangle 13"/>
          <p:cNvSpPr/>
          <p:nvPr/>
        </p:nvSpPr>
        <p:spPr bwMode="auto">
          <a:xfrm>
            <a:off x="401638" y="3124200"/>
            <a:ext cx="1372683" cy="949569"/>
          </a:xfrm>
          <a:prstGeom prst="rect">
            <a:avLst/>
          </a:prstGeom>
          <a:solidFill>
            <a:schemeClr val="bg1"/>
          </a:solidFill>
          <a:ln w="1270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accent1"/>
              </a:solidFill>
              <a:effectLst/>
              <a:latin typeface="Arial" charset="0"/>
            </a:endParaRPr>
          </a:p>
        </p:txBody>
      </p:sp>
      <p:sp>
        <p:nvSpPr>
          <p:cNvPr id="15" name="TextBox 14"/>
          <p:cNvSpPr txBox="1"/>
          <p:nvPr/>
        </p:nvSpPr>
        <p:spPr>
          <a:xfrm>
            <a:off x="401638" y="3301769"/>
            <a:ext cx="1383319" cy="646331"/>
          </a:xfrm>
          <a:prstGeom prst="rect">
            <a:avLst/>
          </a:prstGeom>
          <a:noFill/>
        </p:spPr>
        <p:txBody>
          <a:bodyPr wrap="square" rtlCol="0">
            <a:spAutoFit/>
          </a:bodyPr>
          <a:lstStyle/>
          <a:p>
            <a:pPr fontAlgn="base">
              <a:spcBef>
                <a:spcPct val="0"/>
              </a:spcBef>
              <a:spcAft>
                <a:spcPct val="0"/>
              </a:spcAft>
            </a:pPr>
            <a:r>
              <a:rPr lang="en-US" sz="1200" b="1" dirty="0" smtClean="0">
                <a:solidFill>
                  <a:schemeClr val="accent1"/>
                </a:solidFill>
                <a:latin typeface="Arial" charset="0"/>
              </a:rPr>
              <a:t>Reduced aggregation costs</a:t>
            </a:r>
            <a:endParaRPr lang="en-US" sz="1200" b="1" dirty="0">
              <a:solidFill>
                <a:schemeClr val="accent1"/>
              </a:solidFill>
              <a:latin typeface="Arial" charset="0"/>
            </a:endParaRPr>
          </a:p>
        </p:txBody>
      </p:sp>
      <p:cxnSp>
        <p:nvCxnSpPr>
          <p:cNvPr id="23" name="Straight Connector 22"/>
          <p:cNvCxnSpPr/>
          <p:nvPr/>
        </p:nvCxnSpPr>
        <p:spPr bwMode="auto">
          <a:xfrm>
            <a:off x="436563" y="2952750"/>
            <a:ext cx="8535600"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cxnSp>
        <p:nvCxnSpPr>
          <p:cNvPr id="24" name="Straight Connector 23"/>
          <p:cNvCxnSpPr/>
          <p:nvPr/>
        </p:nvCxnSpPr>
        <p:spPr bwMode="auto">
          <a:xfrm>
            <a:off x="401638" y="4586288"/>
            <a:ext cx="8535600"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sp>
        <p:nvSpPr>
          <p:cNvPr id="5" name="TextBox 4"/>
          <p:cNvSpPr txBox="1"/>
          <p:nvPr/>
        </p:nvSpPr>
        <p:spPr>
          <a:xfrm>
            <a:off x="273231" y="1382713"/>
            <a:ext cx="337457" cy="615553"/>
          </a:xfrm>
          <a:prstGeom prst="rect">
            <a:avLst/>
          </a:prstGeom>
          <a:noFill/>
        </p:spPr>
        <p:txBody>
          <a:bodyPr wrap="square" lIns="0" tIns="0" rIns="0" bIns="0" rtlCol="0">
            <a:spAutoFit/>
          </a:bodyPr>
          <a:lstStyle/>
          <a:p>
            <a:r>
              <a:rPr lang="en-US" sz="4000" b="1" dirty="0" smtClean="0">
                <a:solidFill>
                  <a:schemeClr val="accent1"/>
                </a:solidFill>
                <a:sym typeface="Wingdings"/>
              </a:rPr>
              <a:t></a:t>
            </a:r>
            <a:endParaRPr lang="en-US" sz="4000" b="1" dirty="0">
              <a:solidFill>
                <a:schemeClr val="accent1"/>
              </a:solidFill>
            </a:endParaRPr>
          </a:p>
        </p:txBody>
      </p:sp>
      <p:sp>
        <p:nvSpPr>
          <p:cNvPr id="40" name="TextBox 39"/>
          <p:cNvSpPr txBox="1"/>
          <p:nvPr/>
        </p:nvSpPr>
        <p:spPr>
          <a:xfrm>
            <a:off x="273231" y="2984500"/>
            <a:ext cx="337457" cy="615553"/>
          </a:xfrm>
          <a:prstGeom prst="rect">
            <a:avLst/>
          </a:prstGeom>
          <a:noFill/>
        </p:spPr>
        <p:txBody>
          <a:bodyPr wrap="square" lIns="0" tIns="0" rIns="0" bIns="0" rtlCol="0">
            <a:spAutoFit/>
          </a:bodyPr>
          <a:lstStyle/>
          <a:p>
            <a:r>
              <a:rPr lang="en-US" sz="4000" b="1" dirty="0" smtClean="0">
                <a:solidFill>
                  <a:schemeClr val="accent1"/>
                </a:solidFill>
                <a:sym typeface="Wingdings"/>
              </a:rPr>
              <a:t></a:t>
            </a:r>
            <a:endParaRPr lang="en-US" sz="4000" b="1" dirty="0">
              <a:solidFill>
                <a:schemeClr val="accent1"/>
              </a:solidFill>
            </a:endParaRPr>
          </a:p>
        </p:txBody>
      </p:sp>
      <p:sp>
        <p:nvSpPr>
          <p:cNvPr id="47" name="Rectangle 46"/>
          <p:cNvSpPr/>
          <p:nvPr/>
        </p:nvSpPr>
        <p:spPr>
          <a:xfrm>
            <a:off x="1866900" y="4812285"/>
            <a:ext cx="3810569" cy="1277273"/>
          </a:xfrm>
          <a:prstGeom prst="rect">
            <a:avLst/>
          </a:prstGeom>
        </p:spPr>
        <p:txBody>
          <a:bodyPr wrap="square">
            <a:spAutoFit/>
          </a:bodyPr>
          <a:lstStyle/>
          <a:p>
            <a:pPr marL="171450" indent="-171450">
              <a:spcAft>
                <a:spcPts val="300"/>
              </a:spcAft>
              <a:buFont typeface="Arial" panose="020B0604020202020204" pitchFamily="34" charset="0"/>
              <a:buChar char="•"/>
            </a:pPr>
            <a:r>
              <a:rPr lang="en-US" sz="1200" b="1" dirty="0" smtClean="0"/>
              <a:t>Significantly lower water usage</a:t>
            </a:r>
            <a:r>
              <a:rPr lang="en-US" sz="1200" dirty="0" smtClean="0"/>
              <a:t> through eco-pulping technology</a:t>
            </a:r>
          </a:p>
          <a:p>
            <a:pPr marL="171450" indent="-171450">
              <a:spcAft>
                <a:spcPts val="300"/>
              </a:spcAft>
              <a:buFont typeface="Arial" panose="020B0604020202020204" pitchFamily="34" charset="0"/>
              <a:buChar char="•"/>
            </a:pPr>
            <a:r>
              <a:rPr lang="en-US" sz="1200" b="1" dirty="0" smtClean="0"/>
              <a:t>Simplified wastewater treatment</a:t>
            </a:r>
            <a:r>
              <a:rPr lang="en-US" sz="1200" dirty="0" smtClean="0"/>
              <a:t> by installing a system for one mill, instead of for every farm</a:t>
            </a:r>
            <a:endParaRPr lang="en-US" sz="1200" b="1" dirty="0" smtClean="0"/>
          </a:p>
          <a:p>
            <a:pPr marL="171450" indent="-171450">
              <a:spcAft>
                <a:spcPts val="300"/>
              </a:spcAft>
              <a:buFont typeface="Arial" panose="020B0604020202020204" pitchFamily="34" charset="0"/>
              <a:buChar char="•"/>
            </a:pPr>
            <a:r>
              <a:rPr lang="en-US" sz="1200" b="1" dirty="0" smtClean="0"/>
              <a:t>Improved and more cost-effective compliance with  laws and certification</a:t>
            </a:r>
            <a:r>
              <a:rPr lang="en-US" sz="1200" dirty="0" smtClean="0"/>
              <a:t> standards</a:t>
            </a:r>
            <a:endParaRPr lang="en-US" sz="1200" b="1" dirty="0" smtClean="0"/>
          </a:p>
        </p:txBody>
      </p:sp>
      <p:sp>
        <p:nvSpPr>
          <p:cNvPr id="48" name="Rectangle 47"/>
          <p:cNvSpPr/>
          <p:nvPr/>
        </p:nvSpPr>
        <p:spPr bwMode="auto">
          <a:xfrm>
            <a:off x="401638" y="4805935"/>
            <a:ext cx="1372683" cy="949569"/>
          </a:xfrm>
          <a:prstGeom prst="rect">
            <a:avLst/>
          </a:prstGeom>
          <a:solidFill>
            <a:schemeClr val="bg1"/>
          </a:solidFill>
          <a:ln w="1270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accent1"/>
              </a:solidFill>
              <a:effectLst/>
              <a:latin typeface="Arial" charset="0"/>
            </a:endParaRPr>
          </a:p>
        </p:txBody>
      </p:sp>
      <p:sp>
        <p:nvSpPr>
          <p:cNvPr id="49" name="TextBox 48"/>
          <p:cNvSpPr txBox="1"/>
          <p:nvPr/>
        </p:nvSpPr>
        <p:spPr>
          <a:xfrm>
            <a:off x="401638" y="4950051"/>
            <a:ext cx="1383319" cy="646331"/>
          </a:xfrm>
          <a:prstGeom prst="rect">
            <a:avLst/>
          </a:prstGeom>
          <a:noFill/>
        </p:spPr>
        <p:txBody>
          <a:bodyPr wrap="square" rtlCol="0">
            <a:spAutoFit/>
          </a:bodyPr>
          <a:lstStyle/>
          <a:p>
            <a:pPr fontAlgn="base">
              <a:spcBef>
                <a:spcPct val="0"/>
              </a:spcBef>
              <a:spcAft>
                <a:spcPct val="0"/>
              </a:spcAft>
            </a:pPr>
            <a:r>
              <a:rPr lang="en-US" sz="1200" b="1" dirty="0" smtClean="0">
                <a:solidFill>
                  <a:schemeClr val="accent1"/>
                </a:solidFill>
                <a:latin typeface="Arial" charset="0"/>
              </a:rPr>
              <a:t>Improved environmental compliance</a:t>
            </a:r>
            <a:endParaRPr lang="en-US" sz="1200" b="1" dirty="0">
              <a:solidFill>
                <a:schemeClr val="accent1"/>
              </a:solidFill>
              <a:latin typeface="Arial" charset="0"/>
            </a:endParaRPr>
          </a:p>
        </p:txBody>
      </p:sp>
      <p:graphicFrame>
        <p:nvGraphicFramePr>
          <p:cNvPr id="51" name="Object 50"/>
          <p:cNvGraphicFramePr>
            <a:graphicFrameLocks/>
          </p:cNvGraphicFramePr>
          <p:nvPr>
            <p:custDataLst>
              <p:tags r:id="rId4"/>
            </p:custDataLst>
            <p:extLst>
              <p:ext uri="{D42A27DB-BD31-4B8C-83A1-F6EECF244321}">
                <p14:modId xmlns:p14="http://schemas.microsoft.com/office/powerpoint/2010/main" val="2953679165"/>
              </p:ext>
            </p:extLst>
          </p:nvPr>
        </p:nvGraphicFramePr>
        <p:xfrm>
          <a:off x="5829300" y="5067300"/>
          <a:ext cx="2485957" cy="914400"/>
        </p:xfrm>
        <a:graphic>
          <a:graphicData uri="http://schemas.openxmlformats.org/presentationml/2006/ole">
            <mc:AlternateContent xmlns:mc="http://schemas.openxmlformats.org/markup-compatibility/2006">
              <mc:Choice xmlns:v="urn:schemas-microsoft-com:vml" Requires="v">
                <p:oleObj spid="_x0000_s225976" name="Chart" r:id="rId41" imgW="2485957" imgH="914400" progId="MSGraph.Chart.8">
                  <p:embed followColorScheme="full"/>
                </p:oleObj>
              </mc:Choice>
              <mc:Fallback>
                <p:oleObj name="Chart" r:id="rId41" imgW="2485957" imgH="914400" progId="MSGraph.Chart.8">
                  <p:embed followColorScheme="full"/>
                  <p:pic>
                    <p:nvPicPr>
                      <p:cNvPr id="0" name=""/>
                      <p:cNvPicPr/>
                      <p:nvPr/>
                    </p:nvPicPr>
                    <p:blipFill>
                      <a:blip r:embed="rId42"/>
                      <a:stretch>
                        <a:fillRect/>
                      </a:stretch>
                    </p:blipFill>
                    <p:spPr>
                      <a:xfrm>
                        <a:off x="5829300" y="5067300"/>
                        <a:ext cx="2485957" cy="914400"/>
                      </a:xfrm>
                      <a:prstGeom prst="rect">
                        <a:avLst/>
                      </a:prstGeom>
                    </p:spPr>
                  </p:pic>
                </p:oleObj>
              </mc:Fallback>
            </mc:AlternateContent>
          </a:graphicData>
        </a:graphic>
      </p:graphicFrame>
      <p:cxnSp>
        <p:nvCxnSpPr>
          <p:cNvPr id="52" name="Straight Connector 51"/>
          <p:cNvCxnSpPr/>
          <p:nvPr>
            <p:custDataLst>
              <p:tags r:id="rId5"/>
            </p:custDataLst>
          </p:nvPr>
        </p:nvCxnSpPr>
        <p:spPr bwMode="gray">
          <a:xfrm>
            <a:off x="8220075" y="5187950"/>
            <a:ext cx="0" cy="454025"/>
          </a:xfrm>
          <a:prstGeom prst="line">
            <a:avLst/>
          </a:prstGeom>
          <a:solidFill>
            <a:schemeClr val="accent1"/>
          </a:solidFill>
          <a:ln w="25400" cap="flat" cmpd="sng" algn="ctr">
            <a:solidFill>
              <a:srgbClr val="D52B1E"/>
            </a:solidFill>
            <a:prstDash val="solid"/>
            <a:round/>
            <a:headEnd type="none" w="med" len="med"/>
            <a:tailEnd type="triangle" w="med" len="med"/>
          </a:ln>
          <a:effectLst/>
        </p:spPr>
      </p:cxnSp>
      <p:cxnSp>
        <p:nvCxnSpPr>
          <p:cNvPr id="53" name="Straight Connector 52"/>
          <p:cNvCxnSpPr/>
          <p:nvPr>
            <p:custDataLst>
              <p:tags r:id="rId6"/>
            </p:custDataLst>
          </p:nvPr>
        </p:nvCxnSpPr>
        <p:spPr bwMode="auto">
          <a:xfrm>
            <a:off x="7964488" y="5638800"/>
            <a:ext cx="293688" cy="0"/>
          </a:xfrm>
          <a:prstGeom prst="line">
            <a:avLst/>
          </a:prstGeom>
          <a:solidFill>
            <a:schemeClr val="accent1"/>
          </a:solidFill>
          <a:ln w="6350" cap="flat" cmpd="sng" algn="ctr">
            <a:solidFill>
              <a:schemeClr val="tx1"/>
            </a:solidFill>
            <a:prstDash val="dash"/>
            <a:round/>
            <a:headEnd type="none" w="med" len="med"/>
            <a:tailEnd type="none" w="med" len="med"/>
          </a:ln>
          <a:effectLst/>
        </p:spPr>
      </p:cxnSp>
      <p:cxnSp>
        <p:nvCxnSpPr>
          <p:cNvPr id="54" name="Straight Connector 53"/>
          <p:cNvCxnSpPr/>
          <p:nvPr>
            <p:custDataLst>
              <p:tags r:id="rId7"/>
            </p:custDataLst>
          </p:nvPr>
        </p:nvCxnSpPr>
        <p:spPr bwMode="auto">
          <a:xfrm>
            <a:off x="6831013" y="5191125"/>
            <a:ext cx="1427163" cy="0"/>
          </a:xfrm>
          <a:prstGeom prst="line">
            <a:avLst/>
          </a:prstGeom>
          <a:solidFill>
            <a:schemeClr val="accent1"/>
          </a:solidFill>
          <a:ln w="6350" cap="flat" cmpd="sng" algn="ctr">
            <a:solidFill>
              <a:schemeClr val="tx1"/>
            </a:solidFill>
            <a:prstDash val="dash"/>
            <a:round/>
            <a:headEnd type="none" w="med" len="med"/>
            <a:tailEnd type="none" w="med" len="med"/>
          </a:ln>
          <a:effectLst/>
        </p:spPr>
      </p:cxnSp>
      <p:sp>
        <p:nvSpPr>
          <p:cNvPr id="55" name="Text Placeholder 53"/>
          <p:cNvSpPr>
            <a:spLocks noGrp="1"/>
          </p:cNvSpPr>
          <p:nvPr>
            <p:custDataLst>
              <p:tags r:id="rId8"/>
            </p:custDataLst>
          </p:nvPr>
        </p:nvSpPr>
        <p:spPr bwMode="gray">
          <a:xfrm>
            <a:off x="7561263" y="5461000"/>
            <a:ext cx="174625" cy="152400"/>
          </a:xfrm>
          <a:prstGeom prst="rect">
            <a:avLst/>
          </a:prstGeom>
          <a:noFill/>
          <a:extLst>
            <a:ext uri="{909E8E84-426E-40DD-AFC4-6F175D3DCCD1}">
              <a14:hiddenFill xmlns:a14="http://schemas.microsoft.com/office/drawing/2010/main">
                <a:solidFill>
                  <a:scrgbClr r="0" g="0" b="0"/>
                </a:solidFill>
              </a14:hiddenFill>
            </a:ext>
          </a:extLst>
        </p:spPr>
        <p:txBody>
          <a:bodyPr wrap="none" lIns="17463" tIns="0" rIns="17463"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000" dirty="0" smtClean="0">
                <a:solidFill>
                  <a:schemeClr val="accent1"/>
                </a:solidFill>
                <a:latin typeface="Arial"/>
                <a:sym typeface="Arial"/>
              </a:rPr>
              <a:t>10</a:t>
            </a:r>
            <a:endParaRPr lang="en-US" sz="1000" dirty="0">
              <a:solidFill>
                <a:schemeClr val="accent1"/>
              </a:solidFill>
              <a:latin typeface="Arial"/>
              <a:sym typeface="Arial"/>
            </a:endParaRPr>
          </a:p>
        </p:txBody>
      </p:sp>
      <p:sp>
        <p:nvSpPr>
          <p:cNvPr id="56" name="Text Placeholder 381"/>
          <p:cNvSpPr>
            <a:spLocks noGrp="1"/>
          </p:cNvSpPr>
          <p:nvPr>
            <p:custDataLst>
              <p:tags r:id="rId9"/>
            </p:custDataLst>
          </p:nvPr>
        </p:nvSpPr>
        <p:spPr bwMode="auto">
          <a:xfrm>
            <a:off x="8010525" y="5280025"/>
            <a:ext cx="419100" cy="193675"/>
          </a:xfrm>
          <a:prstGeom prst="ellipse">
            <a:avLst/>
          </a:prstGeom>
          <a:solidFill>
            <a:srgbClr val="FFFFFF"/>
          </a:solidFill>
          <a:ln w="9525">
            <a:solidFill>
              <a:srgbClr val="D52B1E"/>
            </a:solidFill>
          </a:ln>
        </p:spPr>
        <p:txBody>
          <a:bodyPr wrap="none" lIns="0" tIns="0" rIns="0" bIns="0" anchor="ctr"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lnSpc>
                <a:spcPct val="90000"/>
              </a:lnSpc>
              <a:buNone/>
            </a:pPr>
            <a:fld id="{C83ABCA3-B0CF-48C9-965D-F51B87C0D526}" type="datetime'-''''7''''''''''''''''''''''''5''''''''''%'''">
              <a:rPr lang="en-US" sz="1000" b="1">
                <a:solidFill>
                  <a:schemeClr val="accent1"/>
                </a:solidFill>
              </a:rPr>
              <a:pPr/>
              <a:t>-75%</a:t>
            </a:fld>
            <a:endParaRPr lang="en-US" sz="1000" b="1" dirty="0">
              <a:solidFill>
                <a:schemeClr val="accent1"/>
              </a:solidFill>
              <a:sym typeface="+mn-lt"/>
            </a:endParaRPr>
          </a:p>
        </p:txBody>
      </p:sp>
      <p:sp>
        <p:nvSpPr>
          <p:cNvPr id="57" name="Text Placeholder 380"/>
          <p:cNvSpPr>
            <a:spLocks noGrp="1"/>
          </p:cNvSpPr>
          <p:nvPr>
            <p:custDataLst>
              <p:tags r:id="rId10"/>
            </p:custDataLst>
          </p:nvPr>
        </p:nvSpPr>
        <p:spPr bwMode="auto">
          <a:xfrm>
            <a:off x="7385050" y="5908675"/>
            <a:ext cx="528638" cy="15240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3CDCC8D6-9AC4-4917-AFA3-A5D2C560066F}" type="datetime'''''''''''W''''''i''''''t''''h'''''''''''''' ''''''W''''''''M'">
              <a:rPr lang="en-US" sz="1000">
                <a:solidFill>
                  <a:schemeClr val="accent1"/>
                </a:solidFill>
              </a:rPr>
              <a:pPr/>
              <a:t>With WM</a:t>
            </a:fld>
            <a:endParaRPr lang="en-US" sz="1000" dirty="0">
              <a:solidFill>
                <a:schemeClr val="accent1"/>
              </a:solidFill>
              <a:latin typeface="Arial"/>
              <a:sym typeface="Arial"/>
            </a:endParaRPr>
          </a:p>
        </p:txBody>
      </p:sp>
      <p:sp>
        <p:nvSpPr>
          <p:cNvPr id="58" name="Text Placeholder 371"/>
          <p:cNvSpPr>
            <a:spLocks noGrp="1"/>
          </p:cNvSpPr>
          <p:nvPr>
            <p:custDataLst>
              <p:tags r:id="rId11"/>
            </p:custDataLst>
          </p:nvPr>
        </p:nvSpPr>
        <p:spPr bwMode="auto">
          <a:xfrm>
            <a:off x="6159500" y="5908675"/>
            <a:ext cx="703263" cy="15240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anchor="t" anchorCtr="0">
            <a:noAutofit/>
          </a:bodyPr>
          <a:lstStyle>
            <a:lvl1pPr marL="349787" indent="-349787" algn="l" defTabSz="913332" rtl="0" eaLnBrk="1" fontAlgn="base" hangingPunct="1">
              <a:spcBef>
                <a:spcPct val="0"/>
              </a:spcBef>
              <a:spcAft>
                <a:spcPct val="0"/>
              </a:spcAft>
              <a:buSzPct val="120000"/>
              <a:buChar char="•"/>
              <a:defRPr sz="1600">
                <a:solidFill>
                  <a:schemeClr val="tx1"/>
                </a:solidFill>
                <a:latin typeface="+mn-lt"/>
                <a:ea typeface="+mn-ea"/>
                <a:cs typeface="+mn-cs"/>
              </a:defRPr>
            </a:lvl1pPr>
            <a:lvl2pPr marL="147364" indent="-145745" algn="l" defTabSz="913332" rtl="0" eaLnBrk="1" fontAlgn="base" hangingPunct="1">
              <a:spcBef>
                <a:spcPct val="0"/>
              </a:spcBef>
              <a:spcAft>
                <a:spcPct val="0"/>
              </a:spcAft>
              <a:buSzPct val="120000"/>
              <a:buChar char="•"/>
              <a:defRPr sz="1600">
                <a:solidFill>
                  <a:schemeClr val="tx1"/>
                </a:solidFill>
                <a:latin typeface="+mn-lt"/>
              </a:defRPr>
            </a:lvl2pPr>
            <a:lvl3pPr marL="301205" indent="-152222" algn="l" defTabSz="913332" rtl="0" eaLnBrk="1" fontAlgn="base" hangingPunct="1">
              <a:spcBef>
                <a:spcPct val="0"/>
              </a:spcBef>
              <a:spcAft>
                <a:spcPct val="0"/>
              </a:spcAft>
              <a:buChar char="–"/>
              <a:defRPr sz="1600">
                <a:solidFill>
                  <a:schemeClr val="tx1"/>
                </a:solidFill>
                <a:latin typeface="+mn-lt"/>
              </a:defRPr>
            </a:lvl3pPr>
            <a:lvl4pPr marL="440474" indent="-137648" algn="l" defTabSz="913332" rtl="0" eaLnBrk="1" fontAlgn="base" hangingPunct="1">
              <a:spcBef>
                <a:spcPct val="0"/>
              </a:spcBef>
              <a:spcAft>
                <a:spcPct val="0"/>
              </a:spcAft>
              <a:buSzPct val="89000"/>
              <a:buChar char="•"/>
              <a:defRPr sz="1600">
                <a:solidFill>
                  <a:schemeClr val="tx1"/>
                </a:solidFill>
                <a:latin typeface="+mn-lt"/>
              </a:defRPr>
            </a:lvl4pPr>
            <a:lvl5pPr marL="594314" indent="-152222" algn="l" defTabSz="913332" rtl="0" eaLnBrk="1" fontAlgn="base" hangingPunct="1">
              <a:spcBef>
                <a:spcPct val="0"/>
              </a:spcBef>
              <a:spcAft>
                <a:spcPct val="0"/>
              </a:spcAft>
              <a:buSzPct val="75000"/>
              <a:buChar char="–"/>
              <a:defRPr sz="1600">
                <a:solidFill>
                  <a:schemeClr val="tx1"/>
                </a:solidFill>
                <a:latin typeface="+mn-lt"/>
              </a:defRPr>
            </a:lvl5pPr>
            <a:lvl6pPr marL="1060697" indent="-152222" algn="l" defTabSz="913332" rtl="0" eaLnBrk="1" fontAlgn="base" hangingPunct="1">
              <a:spcBef>
                <a:spcPct val="0"/>
              </a:spcBef>
              <a:spcAft>
                <a:spcPct val="0"/>
              </a:spcAft>
              <a:buSzPct val="75000"/>
              <a:buChar char="–"/>
              <a:defRPr sz="1600">
                <a:solidFill>
                  <a:schemeClr val="tx1"/>
                </a:solidFill>
                <a:latin typeface="+mn-lt"/>
              </a:defRPr>
            </a:lvl6pPr>
            <a:lvl7pPr marL="1527078" indent="-152222" algn="l" defTabSz="913332" rtl="0" eaLnBrk="1" fontAlgn="base" hangingPunct="1">
              <a:spcBef>
                <a:spcPct val="0"/>
              </a:spcBef>
              <a:spcAft>
                <a:spcPct val="0"/>
              </a:spcAft>
              <a:buSzPct val="75000"/>
              <a:buChar char="–"/>
              <a:defRPr sz="1600">
                <a:solidFill>
                  <a:schemeClr val="tx1"/>
                </a:solidFill>
                <a:latin typeface="+mn-lt"/>
              </a:defRPr>
            </a:lvl7pPr>
            <a:lvl8pPr marL="1993461" indent="-152222" algn="l" defTabSz="913332" rtl="0" eaLnBrk="1" fontAlgn="base" hangingPunct="1">
              <a:spcBef>
                <a:spcPct val="0"/>
              </a:spcBef>
              <a:spcAft>
                <a:spcPct val="0"/>
              </a:spcAft>
              <a:buSzPct val="75000"/>
              <a:buChar char="–"/>
              <a:defRPr sz="1600">
                <a:solidFill>
                  <a:schemeClr val="tx1"/>
                </a:solidFill>
                <a:latin typeface="+mn-lt"/>
              </a:defRPr>
            </a:lvl8pPr>
            <a:lvl9pPr marL="2459844" indent="-152222" algn="l" defTabSz="913332" rtl="0" eaLnBrk="1" fontAlgn="base" hangingPunct="1">
              <a:spcBef>
                <a:spcPct val="0"/>
              </a:spcBef>
              <a:spcAft>
                <a:spcPct val="0"/>
              </a:spcAft>
              <a:buSzPct val="75000"/>
              <a:buChar char="–"/>
              <a:defRPr sz="1600">
                <a:solidFill>
                  <a:schemeClr val="tx1"/>
                </a:solidFill>
                <a:latin typeface="+mn-lt"/>
              </a:defRPr>
            </a:lvl9pPr>
          </a:lstStyle>
          <a:p>
            <a:pPr marL="0" indent="0" algn="ctr">
              <a:buNone/>
            </a:pPr>
            <a:fld id="{2CD35878-7D0C-471C-9129-2C6B305AF9C5}" type="datetime'''W''i''''thou''''''''''''''''t ''''''''W''''''''M'''''''">
              <a:rPr lang="en-US" sz="1000">
                <a:solidFill>
                  <a:schemeClr val="accent1"/>
                </a:solidFill>
              </a:rPr>
              <a:pPr/>
              <a:t>Without WM</a:t>
            </a:fld>
            <a:endParaRPr lang="en-US" sz="1000" dirty="0">
              <a:solidFill>
                <a:schemeClr val="accent1"/>
              </a:solidFill>
              <a:sym typeface="+mn-lt"/>
            </a:endParaRPr>
          </a:p>
        </p:txBody>
      </p:sp>
      <p:sp>
        <p:nvSpPr>
          <p:cNvPr id="59" name="Text Placeholder 52"/>
          <p:cNvSpPr>
            <a:spLocks noGrp="1"/>
          </p:cNvSpPr>
          <p:nvPr>
            <p:custDataLst>
              <p:tags r:id="rId12"/>
            </p:custDataLst>
          </p:nvPr>
        </p:nvSpPr>
        <p:spPr bwMode="gray">
          <a:xfrm>
            <a:off x="6423025" y="5013325"/>
            <a:ext cx="174625" cy="152400"/>
          </a:xfrm>
          <a:prstGeom prst="rect">
            <a:avLst/>
          </a:prstGeom>
          <a:noFill/>
          <a:extLst>
            <a:ext uri="{909E8E84-426E-40DD-AFC4-6F175D3DCCD1}">
              <a14:hiddenFill xmlns:a14="http://schemas.microsoft.com/office/drawing/2010/main">
                <a:solidFill>
                  <a:scrgbClr r="0" g="0" b="0"/>
                </a:solidFill>
              </a14:hiddenFill>
            </a:ext>
          </a:extLst>
        </p:spPr>
        <p:txBody>
          <a:bodyPr wrap="none" lIns="17463" tIns="0" rIns="17463"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r>
              <a:rPr lang="en-US" sz="1000" dirty="0" smtClean="0">
                <a:solidFill>
                  <a:schemeClr val="accent1"/>
                </a:solidFill>
                <a:latin typeface="Arial"/>
                <a:sym typeface="Arial"/>
              </a:rPr>
              <a:t>40</a:t>
            </a:r>
            <a:endParaRPr lang="en-US" sz="1000" dirty="0">
              <a:solidFill>
                <a:schemeClr val="accent1"/>
              </a:solidFill>
              <a:latin typeface="Arial"/>
              <a:sym typeface="Arial"/>
            </a:endParaRPr>
          </a:p>
        </p:txBody>
      </p:sp>
      <p:sp>
        <p:nvSpPr>
          <p:cNvPr id="41" name="TextBox 40"/>
          <p:cNvSpPr txBox="1"/>
          <p:nvPr/>
        </p:nvSpPr>
        <p:spPr>
          <a:xfrm>
            <a:off x="273231" y="4576763"/>
            <a:ext cx="337457" cy="615553"/>
          </a:xfrm>
          <a:prstGeom prst="rect">
            <a:avLst/>
          </a:prstGeom>
          <a:noFill/>
        </p:spPr>
        <p:txBody>
          <a:bodyPr wrap="square" lIns="0" tIns="0" rIns="0" bIns="0" rtlCol="0">
            <a:spAutoFit/>
          </a:bodyPr>
          <a:lstStyle/>
          <a:p>
            <a:r>
              <a:rPr lang="en-US" sz="4000" b="1" dirty="0" smtClean="0">
                <a:solidFill>
                  <a:schemeClr val="accent1"/>
                </a:solidFill>
                <a:sym typeface="Wingdings"/>
              </a:rPr>
              <a:t></a:t>
            </a:r>
            <a:endParaRPr lang="en-US" sz="4000" b="1" dirty="0">
              <a:solidFill>
                <a:schemeClr val="accent1"/>
              </a:solidFill>
            </a:endParaRPr>
          </a:p>
        </p:txBody>
      </p:sp>
      <p:graphicFrame>
        <p:nvGraphicFramePr>
          <p:cNvPr id="2" name="Object 1"/>
          <p:cNvGraphicFramePr>
            <a:graphicFrameLocks/>
          </p:cNvGraphicFramePr>
          <p:nvPr>
            <p:custDataLst>
              <p:tags r:id="rId13"/>
            </p:custDataLst>
            <p:extLst>
              <p:ext uri="{D42A27DB-BD31-4B8C-83A1-F6EECF244321}">
                <p14:modId xmlns:p14="http://schemas.microsoft.com/office/powerpoint/2010/main" val="1840298863"/>
              </p:ext>
            </p:extLst>
          </p:nvPr>
        </p:nvGraphicFramePr>
        <p:xfrm>
          <a:off x="5829300" y="1409700"/>
          <a:ext cx="2438400" cy="980985"/>
        </p:xfrm>
        <a:graphic>
          <a:graphicData uri="http://schemas.openxmlformats.org/presentationml/2006/ole">
            <mc:AlternateContent xmlns:mc="http://schemas.openxmlformats.org/markup-compatibility/2006">
              <mc:Choice xmlns:v="urn:schemas-microsoft-com:vml" Requires="v">
                <p:oleObj spid="_x0000_s225977" name="Chart" r:id="rId43" imgW="2438400" imgH="980985" progId="MSGraph.Chart.8">
                  <p:embed followColorScheme="full"/>
                </p:oleObj>
              </mc:Choice>
              <mc:Fallback>
                <p:oleObj name="Chart" r:id="rId43" imgW="2438400" imgH="980985" progId="MSGraph.Chart.8">
                  <p:embed followColorScheme="full"/>
                  <p:pic>
                    <p:nvPicPr>
                      <p:cNvPr id="0" name=""/>
                      <p:cNvPicPr/>
                      <p:nvPr/>
                    </p:nvPicPr>
                    <p:blipFill>
                      <a:blip r:embed="rId44"/>
                      <a:stretch>
                        <a:fillRect/>
                      </a:stretch>
                    </p:blipFill>
                    <p:spPr>
                      <a:xfrm>
                        <a:off x="5829300" y="1409700"/>
                        <a:ext cx="2438400" cy="980985"/>
                      </a:xfrm>
                      <a:prstGeom prst="rect">
                        <a:avLst/>
                      </a:prstGeom>
                    </p:spPr>
                  </p:pic>
                </p:oleObj>
              </mc:Fallback>
            </mc:AlternateContent>
          </a:graphicData>
        </a:graphic>
      </p:graphicFrame>
      <p:sp useBgFill="1">
        <p:nvSpPr>
          <p:cNvPr id="17" name="Freeform 16"/>
          <p:cNvSpPr/>
          <p:nvPr>
            <p:custDataLst>
              <p:tags r:id="rId14"/>
            </p:custDataLst>
          </p:nvPr>
        </p:nvSpPr>
        <p:spPr bwMode="auto">
          <a:xfrm>
            <a:off x="7372350" y="2203450"/>
            <a:ext cx="96839" cy="146051"/>
          </a:xfrm>
          <a:custGeom>
            <a:avLst/>
            <a:gdLst/>
            <a:ahLst/>
            <a:cxnLst/>
            <a:rect l="0" t="0" r="0" b="0"/>
            <a:pathLst>
              <a:path w="96839" h="146051">
                <a:moveTo>
                  <a:pt x="96838" y="0"/>
                </a:moveTo>
                <a:lnTo>
                  <a:pt x="57150" y="146050"/>
                </a:lnTo>
                <a:lnTo>
                  <a:pt x="0" y="146050"/>
                </a:lnTo>
                <a:lnTo>
                  <a:pt x="39688" y="0"/>
                </a:lnTo>
                <a:close/>
              </a:path>
            </a:pathLst>
          </a:custGeom>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custDataLst>
              <p:tags r:id="rId15"/>
            </p:custDataLst>
          </p:nvPr>
        </p:nvSpPr>
        <p:spPr bwMode="auto">
          <a:xfrm>
            <a:off x="7429500" y="2203450"/>
            <a:ext cx="39689" cy="146051"/>
          </a:xfrm>
          <a:custGeom>
            <a:avLst/>
            <a:gdLst/>
            <a:ahLst/>
            <a:cxnLst/>
            <a:rect l="0" t="0" r="0" b="0"/>
            <a:pathLst>
              <a:path w="39689" h="146051">
                <a:moveTo>
                  <a:pt x="39688" y="0"/>
                </a:moveTo>
                <a:lnTo>
                  <a:pt x="0" y="146050"/>
                </a:lnTo>
              </a:path>
            </a:pathLst>
          </a:cu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Freeform 2"/>
          <p:cNvSpPr/>
          <p:nvPr>
            <p:custDataLst>
              <p:tags r:id="rId16"/>
            </p:custDataLst>
          </p:nvPr>
        </p:nvSpPr>
        <p:spPr bwMode="auto">
          <a:xfrm>
            <a:off x="7372350" y="2203450"/>
            <a:ext cx="39689" cy="146051"/>
          </a:xfrm>
          <a:custGeom>
            <a:avLst/>
            <a:gdLst/>
            <a:ahLst/>
            <a:cxnLst/>
            <a:rect l="0" t="0" r="0" b="0"/>
            <a:pathLst>
              <a:path w="39689" h="146051">
                <a:moveTo>
                  <a:pt x="39688" y="0"/>
                </a:moveTo>
                <a:lnTo>
                  <a:pt x="0" y="146050"/>
                </a:lnTo>
              </a:path>
            </a:pathLst>
          </a:custGeom>
          <a:ln w="9525">
            <a:solidFill>
              <a:srgbClr val="D52B1E"/>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0" name="Right Arrow 79"/>
          <p:cNvSpPr/>
          <p:nvPr>
            <p:custDataLst>
              <p:tags r:id="rId17"/>
            </p:custDataLst>
          </p:nvPr>
        </p:nvSpPr>
        <p:spPr bwMode="auto">
          <a:xfrm rot="10800000">
            <a:off x="8213725" y="1819275"/>
            <a:ext cx="128588" cy="152400"/>
          </a:xfrm>
          <a:prstGeom prst="rightArrow">
            <a:avLst>
              <a:gd name="adj1" fmla="val 100000"/>
              <a:gd name="adj2" fmla="val 100000"/>
            </a:avLst>
          </a:prstGeom>
          <a:solidFill>
            <a:schemeClr val="tx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p:cNvCxnSpPr/>
          <p:nvPr>
            <p:custDataLst>
              <p:tags r:id="rId18"/>
            </p:custDataLst>
          </p:nvPr>
        </p:nvCxnSpPr>
        <p:spPr bwMode="gray">
          <a:xfrm>
            <a:off x="5943600" y="1895475"/>
            <a:ext cx="2219325" cy="0"/>
          </a:xfrm>
          <a:prstGeom prst="line">
            <a:avLst/>
          </a:prstGeom>
          <a:ln w="952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sp>
        <p:nvSpPr>
          <p:cNvPr id="79" name="Text Placeholder 198"/>
          <p:cNvSpPr>
            <a:spLocks noGrp="1"/>
          </p:cNvSpPr>
          <p:nvPr>
            <p:custDataLst>
              <p:tags r:id="rId19"/>
            </p:custDataLst>
          </p:nvPr>
        </p:nvSpPr>
        <p:spPr bwMode="auto">
          <a:xfrm>
            <a:off x="8393113" y="1758950"/>
            <a:ext cx="431800" cy="27305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r>
              <a:rPr lang="en-US" sz="900" dirty="0" smtClean="0">
                <a:solidFill>
                  <a:schemeClr val="accent1"/>
                </a:solidFill>
              </a:rPr>
              <a:t>Inherent</a:t>
            </a:r>
          </a:p>
          <a:p>
            <a:pPr marL="0" indent="0">
              <a:spcBef>
                <a:spcPct val="0"/>
              </a:spcBef>
              <a:spcAft>
                <a:spcPct val="0"/>
              </a:spcAft>
              <a:buNone/>
            </a:pPr>
            <a:r>
              <a:rPr lang="en-US" sz="900" dirty="0" smtClean="0">
                <a:solidFill>
                  <a:schemeClr val="accent1"/>
                </a:solidFill>
                <a:latin typeface="Arial"/>
                <a:sym typeface="Arial"/>
              </a:rPr>
              <a:t>potential</a:t>
            </a:r>
            <a:endParaRPr lang="en-US" sz="900" dirty="0">
              <a:solidFill>
                <a:schemeClr val="accent1"/>
              </a:solidFill>
              <a:latin typeface="Arial"/>
              <a:sym typeface="Arial"/>
            </a:endParaRPr>
          </a:p>
        </p:txBody>
      </p:sp>
      <p:sp>
        <p:nvSpPr>
          <p:cNvPr id="73" name="Text Placeholder 195"/>
          <p:cNvSpPr>
            <a:spLocks noGrp="1"/>
          </p:cNvSpPr>
          <p:nvPr>
            <p:custDataLst>
              <p:tags r:id="rId20"/>
            </p:custDataLst>
          </p:nvPr>
        </p:nvSpPr>
        <p:spPr bwMode="auto">
          <a:xfrm>
            <a:off x="7477125" y="2411413"/>
            <a:ext cx="628650" cy="2730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14AB627-BDAB-4216-8E91-1AE827E06050}" type="datetime'C''e''ntr''''''a''l ''M''il''l''&#10;''''(''''''A+''B'''')'''''''">
              <a:rPr lang="en-US" sz="900" b="1">
                <a:solidFill>
                  <a:schemeClr val="accent1"/>
                </a:solidFill>
              </a:rPr>
              <a:pPr/>
              <a:t>Central Mill
(A+B)</a:t>
            </a:fld>
            <a:endParaRPr lang="en-US" sz="900" b="1" dirty="0">
              <a:solidFill>
                <a:schemeClr val="accent1"/>
              </a:solidFill>
              <a:latin typeface="Arial"/>
              <a:sym typeface="Arial"/>
            </a:endParaRPr>
          </a:p>
        </p:txBody>
      </p:sp>
      <p:sp>
        <p:nvSpPr>
          <p:cNvPr id="72" name="Text Placeholder 194"/>
          <p:cNvSpPr>
            <a:spLocks noGrp="1"/>
          </p:cNvSpPr>
          <p:nvPr>
            <p:custDataLst>
              <p:tags r:id="rId21"/>
            </p:custDataLst>
          </p:nvPr>
        </p:nvSpPr>
        <p:spPr bwMode="auto">
          <a:xfrm>
            <a:off x="6751638" y="2411413"/>
            <a:ext cx="603250" cy="40957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70D98CC7-C546-4E48-ADF9-86E49EF54364}" type="datetime'''''''''F''''arm B''&#10;''(poor pro''''''''''ce''s''s''''ing)'''">
              <a:rPr lang="en-US" sz="900">
                <a:solidFill>
                  <a:schemeClr val="accent1"/>
                </a:solidFill>
                <a:latin typeface="Arial"/>
                <a:sym typeface="Arial"/>
              </a:rPr>
              <a:pPr marL="0" indent="0" algn="ctr">
                <a:spcBef>
                  <a:spcPct val="0"/>
                </a:spcBef>
                <a:spcAft>
                  <a:spcPct val="0"/>
                </a:spcAft>
                <a:buNone/>
              </a:pPr>
              <a:t>Farm B
(poor processing)</a:t>
            </a:fld>
            <a:endParaRPr lang="en-US" sz="900" dirty="0">
              <a:solidFill>
                <a:schemeClr val="accent1"/>
              </a:solidFill>
              <a:latin typeface="Arial"/>
              <a:sym typeface="Arial"/>
            </a:endParaRPr>
          </a:p>
        </p:txBody>
      </p:sp>
      <p:sp>
        <p:nvSpPr>
          <p:cNvPr id="74" name="Text Placeholder 196"/>
          <p:cNvSpPr>
            <a:spLocks noGrp="1"/>
          </p:cNvSpPr>
          <p:nvPr>
            <p:custDataLst>
              <p:tags r:id="rId22"/>
            </p:custDataLst>
          </p:nvPr>
        </p:nvSpPr>
        <p:spPr bwMode="gray">
          <a:xfrm>
            <a:off x="6923088" y="2170113"/>
            <a:ext cx="260350" cy="136525"/>
          </a:xfrm>
          <a:prstGeom prst="rect">
            <a:avLst/>
          </a:prstGeom>
          <a:solidFill>
            <a:schemeClr val="accent1"/>
          </a:solidFill>
        </p:spPr>
        <p:txBody>
          <a:bodyPr wrap="none" lIns="15875" tIns="0" rIns="1587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7A646056-A3F7-4386-97C9-34E5E758983D}" type="datetime'''''''''''''''''''1''0''''''''''''%'''''''''''''''''''">
              <a:rPr lang="en-US" sz="900">
                <a:solidFill>
                  <a:schemeClr val="bg1"/>
                </a:solidFill>
                <a:latin typeface="Arial"/>
                <a:sym typeface="Arial"/>
              </a:rPr>
              <a:pPr marL="0" indent="0" algn="ctr">
                <a:spcBef>
                  <a:spcPct val="0"/>
                </a:spcBef>
                <a:spcAft>
                  <a:spcPct val="0"/>
                </a:spcAft>
                <a:buNone/>
              </a:pPr>
              <a:t>10%</a:t>
            </a:fld>
            <a:endParaRPr lang="en-US" sz="900">
              <a:solidFill>
                <a:schemeClr val="bg1"/>
              </a:solidFill>
              <a:latin typeface="Arial"/>
              <a:sym typeface="Arial"/>
            </a:endParaRPr>
          </a:p>
        </p:txBody>
      </p:sp>
      <p:sp>
        <p:nvSpPr>
          <p:cNvPr id="62" name="Text Placeholder 184"/>
          <p:cNvSpPr>
            <a:spLocks noGrp="1"/>
          </p:cNvSpPr>
          <p:nvPr>
            <p:custDataLst>
              <p:tags r:id="rId23"/>
            </p:custDataLst>
          </p:nvPr>
        </p:nvSpPr>
        <p:spPr bwMode="auto">
          <a:xfrm>
            <a:off x="6013450" y="2411413"/>
            <a:ext cx="603250" cy="40957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04C67B22-9324-4407-A3E1-5F46F9D5374A}" type="datetime'''''F''arm A''''&#10;''(go''o''''d'' pro''''c''''essi''''n''g)'''">
              <a:rPr lang="en-US" sz="900">
                <a:solidFill>
                  <a:schemeClr val="accent1"/>
                </a:solidFill>
              </a:rPr>
              <a:pPr/>
              <a:t>Farm A
(good processing)</a:t>
            </a:fld>
            <a:endParaRPr lang="en-US" sz="900" dirty="0">
              <a:solidFill>
                <a:schemeClr val="accent1"/>
              </a:solidFill>
              <a:latin typeface="Arial"/>
              <a:sym typeface="Arial"/>
            </a:endParaRPr>
          </a:p>
        </p:txBody>
      </p:sp>
      <p:sp>
        <p:nvSpPr>
          <p:cNvPr id="88" name="Rectangle 87"/>
          <p:cNvSpPr/>
          <p:nvPr>
            <p:custDataLst>
              <p:tags r:id="rId24"/>
            </p:custDataLst>
          </p:nvPr>
        </p:nvSpPr>
        <p:spPr bwMode="auto">
          <a:xfrm>
            <a:off x="8185150" y="2052638"/>
            <a:ext cx="160337" cy="120650"/>
          </a:xfrm>
          <a:prstGeom prst="rect">
            <a:avLst/>
          </a:prstGeom>
          <a:solidFill>
            <a:schemeClr val="accent1"/>
          </a:solidFill>
          <a:ln w="9525">
            <a:solidFill>
              <a:srgbClr val="D52B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 Placeholder 200"/>
          <p:cNvSpPr>
            <a:spLocks noGrp="1"/>
          </p:cNvSpPr>
          <p:nvPr>
            <p:custDataLst>
              <p:tags r:id="rId25"/>
            </p:custDataLst>
          </p:nvPr>
        </p:nvSpPr>
        <p:spPr bwMode="auto">
          <a:xfrm>
            <a:off x="8396288" y="2049463"/>
            <a:ext cx="48895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5BF3C7D5-1008-40A8-BAFA-3806B15B797F}" type="datetime'A''''''''''''''''''''''p''p''''''''ro''''''''''''''ved'">
              <a:rPr lang="en-US" sz="900">
                <a:solidFill>
                  <a:schemeClr val="accent1"/>
                </a:solidFill>
                <a:latin typeface="Arial"/>
                <a:sym typeface="Arial"/>
              </a:rPr>
              <a:pPr marL="0" indent="0">
                <a:spcBef>
                  <a:spcPct val="0"/>
                </a:spcBef>
                <a:spcAft>
                  <a:spcPct val="0"/>
                </a:spcAft>
                <a:buNone/>
              </a:pPr>
              <a:t>Approved</a:t>
            </a:fld>
            <a:endParaRPr lang="en-US" sz="900" dirty="0">
              <a:solidFill>
                <a:schemeClr val="accent1"/>
              </a:solidFill>
              <a:latin typeface="Arial"/>
              <a:sym typeface="Arial"/>
            </a:endParaRPr>
          </a:p>
        </p:txBody>
      </p:sp>
      <p:sp>
        <p:nvSpPr>
          <p:cNvPr id="89" name="Rectangle 88"/>
          <p:cNvSpPr/>
          <p:nvPr/>
        </p:nvSpPr>
        <p:spPr bwMode="auto">
          <a:xfrm>
            <a:off x="5827595" y="3065462"/>
            <a:ext cx="3108688" cy="1399819"/>
          </a:xfrm>
          <a:prstGeom prst="rect">
            <a:avLst/>
          </a:prstGeom>
          <a:solidFill>
            <a:schemeClr val="bg1"/>
          </a:solidFill>
          <a:ln w="127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accent1"/>
              </a:solidFill>
              <a:effectLst/>
              <a:latin typeface="Arial" charset="0"/>
            </a:endParaRPr>
          </a:p>
        </p:txBody>
      </p:sp>
      <p:sp>
        <p:nvSpPr>
          <p:cNvPr id="90" name="Rectangle 89"/>
          <p:cNvSpPr/>
          <p:nvPr/>
        </p:nvSpPr>
        <p:spPr>
          <a:xfrm>
            <a:off x="1866900" y="3124200"/>
            <a:ext cx="3810569" cy="1423467"/>
          </a:xfrm>
          <a:prstGeom prst="rect">
            <a:avLst/>
          </a:prstGeom>
        </p:spPr>
        <p:txBody>
          <a:bodyPr wrap="square">
            <a:spAutoFit/>
          </a:bodyPr>
          <a:lstStyle/>
          <a:p>
            <a:pPr marL="171450" indent="-171450">
              <a:spcAft>
                <a:spcPts val="300"/>
              </a:spcAft>
              <a:buFont typeface="Arial" panose="020B0604020202020204" pitchFamily="34" charset="0"/>
              <a:buChar char="•"/>
            </a:pPr>
            <a:r>
              <a:rPr lang="en-US" sz="1200" b="1" dirty="0" smtClean="0"/>
              <a:t>Reduced sampling</a:t>
            </a:r>
            <a:r>
              <a:rPr lang="en-US" sz="1200" dirty="0"/>
              <a:t> </a:t>
            </a:r>
            <a:r>
              <a:rPr lang="en-US" sz="1200" b="1" dirty="0" smtClean="0"/>
              <a:t>losses and costs </a:t>
            </a:r>
            <a:r>
              <a:rPr lang="en-US" sz="1200" dirty="0" smtClean="0"/>
              <a:t>by eliminating the need for a parchment sample to be taken from each delivery from each farmer in order to assess cup quality and net green weight (factor)</a:t>
            </a:r>
          </a:p>
          <a:p>
            <a:pPr marL="171450" indent="-171450">
              <a:spcAft>
                <a:spcPts val="300"/>
              </a:spcAft>
              <a:buFont typeface="Arial" panose="020B0604020202020204" pitchFamily="34" charset="0"/>
              <a:buChar char="•"/>
            </a:pPr>
            <a:r>
              <a:rPr lang="en-US" sz="1200" b="1" dirty="0" smtClean="0"/>
              <a:t>Faster payment</a:t>
            </a:r>
            <a:r>
              <a:rPr lang="en-US" sz="1200" dirty="0" smtClean="0"/>
              <a:t> for farmer by paying upon delivery of cherry instead of parchment (savings of 7-10 days and improved cash flow)</a:t>
            </a:r>
          </a:p>
        </p:txBody>
      </p:sp>
      <p:cxnSp>
        <p:nvCxnSpPr>
          <p:cNvPr id="16" name="Straight Connector 15"/>
          <p:cNvCxnSpPr/>
          <p:nvPr>
            <p:custDataLst>
              <p:tags r:id="rId26"/>
            </p:custDataLst>
          </p:nvPr>
        </p:nvCxnSpPr>
        <p:spPr bwMode="gray">
          <a:xfrm>
            <a:off x="7915275" y="3276600"/>
            <a:ext cx="3238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custDataLst>
              <p:tags r:id="rId27"/>
            </p:custDataLst>
          </p:nvPr>
        </p:nvCxnSpPr>
        <p:spPr bwMode="gray">
          <a:xfrm>
            <a:off x="7191375" y="3448050"/>
            <a:ext cx="3238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custDataLst>
              <p:tags r:id="rId28"/>
            </p:custDataLst>
          </p:nvPr>
        </p:nvCxnSpPr>
        <p:spPr bwMode="gray">
          <a:xfrm>
            <a:off x="6457950" y="3790950"/>
            <a:ext cx="32385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21" name="Object 20"/>
          <p:cNvGraphicFramePr>
            <a:graphicFrameLocks/>
          </p:cNvGraphicFramePr>
          <p:nvPr>
            <p:custDataLst>
              <p:tags r:id="rId29"/>
            </p:custDataLst>
            <p:extLst>
              <p:ext uri="{D42A27DB-BD31-4B8C-83A1-F6EECF244321}">
                <p14:modId xmlns:p14="http://schemas.microsoft.com/office/powerpoint/2010/main" val="1623906032"/>
              </p:ext>
            </p:extLst>
          </p:nvPr>
        </p:nvGraphicFramePr>
        <p:xfrm>
          <a:off x="5753100" y="3162300"/>
          <a:ext cx="3152843" cy="952410"/>
        </p:xfrm>
        <a:graphic>
          <a:graphicData uri="http://schemas.openxmlformats.org/presentationml/2006/ole">
            <mc:AlternateContent xmlns:mc="http://schemas.openxmlformats.org/markup-compatibility/2006">
              <mc:Choice xmlns:v="urn:schemas-microsoft-com:vml" Requires="v">
                <p:oleObj spid="_x0000_s225978" name="Chart" r:id="rId45" imgW="3152843" imgH="952410" progId="MSGraph.Chart.8">
                  <p:embed followColorScheme="full"/>
                </p:oleObj>
              </mc:Choice>
              <mc:Fallback>
                <p:oleObj name="Chart" r:id="rId45" imgW="3152843" imgH="952410" progId="MSGraph.Chart.8">
                  <p:embed followColorScheme="full"/>
                  <p:pic>
                    <p:nvPicPr>
                      <p:cNvPr id="0" name=""/>
                      <p:cNvPicPr/>
                      <p:nvPr/>
                    </p:nvPicPr>
                    <p:blipFill>
                      <a:blip r:embed="rId46"/>
                      <a:stretch>
                        <a:fillRect/>
                      </a:stretch>
                    </p:blipFill>
                    <p:spPr>
                      <a:xfrm>
                        <a:off x="5753100" y="3162300"/>
                        <a:ext cx="3152843" cy="952410"/>
                      </a:xfrm>
                      <a:prstGeom prst="rect">
                        <a:avLst/>
                      </a:prstGeom>
                    </p:spPr>
                  </p:pic>
                </p:oleObj>
              </mc:Fallback>
            </mc:AlternateContent>
          </a:graphicData>
        </a:graphic>
      </p:graphicFrame>
      <p:sp>
        <p:nvSpPr>
          <p:cNvPr id="68" name="Text Placeholder 7"/>
          <p:cNvSpPr>
            <a:spLocks noGrp="1"/>
          </p:cNvSpPr>
          <p:nvPr>
            <p:custDataLst>
              <p:tags r:id="rId30"/>
            </p:custDataLst>
          </p:nvPr>
        </p:nvSpPr>
        <p:spPr bwMode="auto">
          <a:xfrm>
            <a:off x="7461250" y="4114800"/>
            <a:ext cx="508000" cy="1365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E3C7DE5-DC92-440C-AE98-6A7B07C1F80D}" type="datetime'''''''F''''''i''''n''''''''''''''''a''''n''''''c''''i''ng'''">
              <a:rPr lang="en-US" sz="900">
                <a:solidFill>
                  <a:schemeClr val="accent1"/>
                </a:solidFill>
              </a:rPr>
              <a:pPr/>
              <a:t>Financing</a:t>
            </a:fld>
            <a:endParaRPr lang="en-US" sz="900" dirty="0">
              <a:solidFill>
                <a:schemeClr val="accent1"/>
              </a:solidFill>
              <a:latin typeface="Arial"/>
              <a:sym typeface="Arial"/>
            </a:endParaRPr>
          </a:p>
        </p:txBody>
      </p:sp>
      <p:sp>
        <p:nvSpPr>
          <p:cNvPr id="64" name="Text Placeholder 6"/>
          <p:cNvSpPr>
            <a:spLocks noGrp="1"/>
          </p:cNvSpPr>
          <p:nvPr>
            <p:custDataLst>
              <p:tags r:id="rId31"/>
            </p:custDataLst>
          </p:nvPr>
        </p:nvSpPr>
        <p:spPr bwMode="auto">
          <a:xfrm>
            <a:off x="8189913" y="4114800"/>
            <a:ext cx="508000" cy="2730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E7783A5-F1AC-4B62-990C-271CE69CBCAE}" type="datetime'T''ot''''a''l ''''''''''''''''cos''t ''s''av''i''''''ng''s'">
              <a:rPr lang="en-US" sz="900">
                <a:solidFill>
                  <a:schemeClr val="accent1"/>
                </a:solidFill>
              </a:rPr>
              <a:pPr/>
              <a:t>Total cost savings</a:t>
            </a:fld>
            <a:endParaRPr lang="en-US" sz="900" dirty="0">
              <a:solidFill>
                <a:schemeClr val="accent1"/>
              </a:solidFill>
              <a:latin typeface="Arial"/>
              <a:sym typeface="Arial"/>
            </a:endParaRPr>
          </a:p>
        </p:txBody>
      </p:sp>
      <p:sp>
        <p:nvSpPr>
          <p:cNvPr id="84" name="Text Placeholder 27"/>
          <p:cNvSpPr>
            <a:spLocks noGrp="1"/>
          </p:cNvSpPr>
          <p:nvPr>
            <p:custDataLst>
              <p:tags r:id="rId32"/>
            </p:custDataLst>
          </p:nvPr>
        </p:nvSpPr>
        <p:spPr bwMode="gray">
          <a:xfrm>
            <a:off x="8348663" y="3114675"/>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b"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671A2F6-278F-4D60-95A8-79D05F496444}" type="datetime'''''''''''2''.''''''''''''6'''''''">
              <a:rPr lang="en-US" sz="900">
                <a:solidFill>
                  <a:schemeClr val="accent1"/>
                </a:solidFill>
              </a:rPr>
              <a:pPr/>
              <a:t>2.6</a:t>
            </a:fld>
            <a:endParaRPr lang="en-US" sz="900" dirty="0">
              <a:solidFill>
                <a:schemeClr val="accent1"/>
              </a:solidFill>
              <a:latin typeface="Arial"/>
              <a:sym typeface="Arial"/>
            </a:endParaRPr>
          </a:p>
        </p:txBody>
      </p:sp>
      <p:sp>
        <p:nvSpPr>
          <p:cNvPr id="83" name="Text Placeholder 26"/>
          <p:cNvSpPr>
            <a:spLocks noGrp="1"/>
          </p:cNvSpPr>
          <p:nvPr>
            <p:custDataLst>
              <p:tags r:id="rId33"/>
            </p:custDataLst>
          </p:nvPr>
        </p:nvSpPr>
        <p:spPr bwMode="gray">
          <a:xfrm>
            <a:off x="7620000" y="3294063"/>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6D42C31-3573-40DE-A976-4368025B550A}" type="datetime'''''''''''''''''''''''''''''''''0''''''''''.''''''6'">
              <a:rPr lang="en-US" sz="900">
                <a:solidFill>
                  <a:schemeClr val="accent1"/>
                </a:solidFill>
              </a:rPr>
              <a:pPr/>
              <a:t>0.6</a:t>
            </a:fld>
            <a:endParaRPr lang="en-US" sz="900" dirty="0">
              <a:solidFill>
                <a:schemeClr val="accent1"/>
              </a:solidFill>
              <a:latin typeface="Arial"/>
              <a:sym typeface="Arial"/>
            </a:endParaRPr>
          </a:p>
        </p:txBody>
      </p:sp>
      <p:sp>
        <p:nvSpPr>
          <p:cNvPr id="63" name="Text Placeholder 5"/>
          <p:cNvSpPr>
            <a:spLocks noGrp="1"/>
          </p:cNvSpPr>
          <p:nvPr>
            <p:custDataLst>
              <p:tags r:id="rId34"/>
            </p:custDataLst>
          </p:nvPr>
        </p:nvSpPr>
        <p:spPr bwMode="auto">
          <a:xfrm>
            <a:off x="6742113" y="4114800"/>
            <a:ext cx="488950" cy="2730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569A131-C53D-4EA0-8547-864209309229}" type="datetime'''''S''''''''a''''''''''mpli''''n''g''''''&#10;''''c''o''st'''''''">
              <a:rPr lang="en-US" sz="900">
                <a:solidFill>
                  <a:schemeClr val="accent1"/>
                </a:solidFill>
              </a:rPr>
              <a:pPr/>
              <a:t>Sampling
cost</a:t>
            </a:fld>
            <a:endParaRPr lang="en-US" sz="900" dirty="0">
              <a:solidFill>
                <a:schemeClr val="accent1"/>
              </a:solidFill>
              <a:latin typeface="Arial"/>
              <a:sym typeface="Arial"/>
            </a:endParaRPr>
          </a:p>
        </p:txBody>
      </p:sp>
      <p:sp>
        <p:nvSpPr>
          <p:cNvPr id="81" name="Text Placeholder 25"/>
          <p:cNvSpPr>
            <a:spLocks noGrp="1"/>
          </p:cNvSpPr>
          <p:nvPr>
            <p:custDataLst>
              <p:tags r:id="rId35"/>
            </p:custDataLst>
          </p:nvPr>
        </p:nvSpPr>
        <p:spPr bwMode="gray">
          <a:xfrm>
            <a:off x="6891338" y="3551238"/>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C286BDC0-0511-48E0-B2D6-5F35B2D314C5}" type="datetime'''''''''''''''''1''''''''''.''''''''''''2'''''''''''''">
              <a:rPr lang="en-US" sz="900">
                <a:solidFill>
                  <a:schemeClr val="accent1"/>
                </a:solidFill>
              </a:rPr>
              <a:pPr/>
              <a:t>1.2</a:t>
            </a:fld>
            <a:endParaRPr lang="en-US" sz="900" dirty="0">
              <a:solidFill>
                <a:schemeClr val="accent1"/>
              </a:solidFill>
              <a:latin typeface="Arial"/>
              <a:sym typeface="Arial"/>
            </a:endParaRPr>
          </a:p>
        </p:txBody>
      </p:sp>
      <p:sp>
        <p:nvSpPr>
          <p:cNvPr id="61" name="Text Placeholder 4"/>
          <p:cNvSpPr>
            <a:spLocks noGrp="1"/>
          </p:cNvSpPr>
          <p:nvPr>
            <p:custDataLst>
              <p:tags r:id="rId36"/>
            </p:custDataLst>
          </p:nvPr>
        </p:nvSpPr>
        <p:spPr bwMode="auto">
          <a:xfrm>
            <a:off x="6043613" y="4114800"/>
            <a:ext cx="419100" cy="273050"/>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9499F8C-1D12-47B1-A38D-9A375EB0818F}" type="datetime'Sam''''''p''l''''e ''''''''m''''''a''t''e''''r''''ia''l'''''">
              <a:rPr lang="en-US" sz="900">
                <a:solidFill>
                  <a:schemeClr val="accent1"/>
                </a:solidFill>
              </a:rPr>
              <a:pPr/>
              <a:t>Sample material</a:t>
            </a:fld>
            <a:endParaRPr lang="en-US" sz="900" dirty="0">
              <a:solidFill>
                <a:schemeClr val="accent1"/>
              </a:solidFill>
              <a:latin typeface="Arial"/>
              <a:sym typeface="Arial"/>
            </a:endParaRPr>
          </a:p>
        </p:txBody>
      </p:sp>
      <p:sp>
        <p:nvSpPr>
          <p:cNvPr id="78" name="Text Placeholder 24"/>
          <p:cNvSpPr>
            <a:spLocks noGrp="1"/>
          </p:cNvSpPr>
          <p:nvPr>
            <p:custDataLst>
              <p:tags r:id="rId37"/>
            </p:custDataLst>
          </p:nvPr>
        </p:nvSpPr>
        <p:spPr bwMode="gray">
          <a:xfrm>
            <a:off x="6157913" y="3832225"/>
            <a:ext cx="190500" cy="136525"/>
          </a:xfrm>
          <a:prstGeom prst="rect">
            <a:avLst/>
          </a:prstGeom>
          <a:noFill/>
          <a:extLst>
            <a:ext uri="{909E8E84-426E-40DD-AFC4-6F175D3DCCD1}">
              <a14:hiddenFill xmlns:a14="http://schemas.microsoft.com/office/drawing/2010/main">
                <a:solidFill>
                  <a:scrgbClr r="0" g="0" b="0"/>
                </a:solidFill>
              </a14:hiddenFill>
            </a:ext>
          </a:extLst>
        </p:spPr>
        <p:txBody>
          <a:bodyPr wrap="none" lIns="15875" tIns="0" rIns="1587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70B2B7EC-6EC2-4916-9D74-BE166CFFF38F}" type="datetime'''''''''0''''''''''''''''''''''''.''''''''''''8'''">
              <a:rPr lang="en-US" sz="900">
                <a:solidFill>
                  <a:schemeClr val="accent1"/>
                </a:solidFill>
              </a:rPr>
              <a:pPr/>
              <a:t>0.8</a:t>
            </a:fld>
            <a:endParaRPr lang="en-US" sz="900" dirty="0">
              <a:solidFill>
                <a:schemeClr val="accent1"/>
              </a:solidFill>
              <a:latin typeface="Arial"/>
              <a:sym typeface="Arial"/>
            </a:endParaRPr>
          </a:p>
        </p:txBody>
      </p:sp>
      <p:sp>
        <p:nvSpPr>
          <p:cNvPr id="22" name="TextBox 21"/>
          <p:cNvSpPr txBox="1"/>
          <p:nvPr/>
        </p:nvSpPr>
        <p:spPr>
          <a:xfrm>
            <a:off x="5889626" y="3124200"/>
            <a:ext cx="947738" cy="138499"/>
          </a:xfrm>
          <a:prstGeom prst="rect">
            <a:avLst/>
          </a:prstGeom>
          <a:noFill/>
        </p:spPr>
        <p:txBody>
          <a:bodyPr wrap="square" lIns="0" tIns="0" rIns="0" bIns="0" rtlCol="0">
            <a:spAutoFit/>
          </a:bodyPr>
          <a:lstStyle/>
          <a:p>
            <a:r>
              <a:rPr lang="en-US" sz="900" b="1" dirty="0" smtClean="0">
                <a:solidFill>
                  <a:schemeClr val="accent1"/>
                </a:solidFill>
              </a:rPr>
              <a:t>US cents per lb</a:t>
            </a:r>
            <a:endParaRPr lang="en-US" sz="900" b="1" dirty="0">
              <a:solidFill>
                <a:schemeClr val="accent1"/>
              </a:solidFill>
            </a:endParaRPr>
          </a:p>
        </p:txBody>
      </p:sp>
      <p:sp>
        <p:nvSpPr>
          <p:cNvPr id="87" name="TextBox 86"/>
          <p:cNvSpPr txBox="1"/>
          <p:nvPr/>
        </p:nvSpPr>
        <p:spPr>
          <a:xfrm>
            <a:off x="5972175" y="4805935"/>
            <a:ext cx="2194560" cy="138499"/>
          </a:xfrm>
          <a:prstGeom prst="rect">
            <a:avLst/>
          </a:prstGeom>
          <a:noFill/>
        </p:spPr>
        <p:txBody>
          <a:bodyPr wrap="square" lIns="0" tIns="0" rIns="0" bIns="0" rtlCol="0">
            <a:spAutoFit/>
          </a:bodyPr>
          <a:lstStyle/>
          <a:p>
            <a:r>
              <a:rPr lang="en-US" sz="900" b="1" dirty="0" smtClean="0">
                <a:solidFill>
                  <a:schemeClr val="accent1"/>
                </a:solidFill>
              </a:rPr>
              <a:t>Average </a:t>
            </a:r>
            <a:r>
              <a:rPr lang="en-US" sz="900" b="1" dirty="0">
                <a:solidFill>
                  <a:schemeClr val="accent1"/>
                </a:solidFill>
              </a:rPr>
              <a:t>water usage per kg parchment</a:t>
            </a:r>
          </a:p>
        </p:txBody>
      </p:sp>
      <p:sp>
        <p:nvSpPr>
          <p:cNvPr id="25" name="TextBox 24"/>
          <p:cNvSpPr txBox="1"/>
          <p:nvPr/>
        </p:nvSpPr>
        <p:spPr>
          <a:xfrm>
            <a:off x="8091625" y="1511300"/>
            <a:ext cx="822188" cy="138499"/>
          </a:xfrm>
          <a:prstGeom prst="rect">
            <a:avLst/>
          </a:prstGeom>
          <a:noFill/>
        </p:spPr>
        <p:txBody>
          <a:bodyPr wrap="square" lIns="0" tIns="0" rIns="0" bIns="0" rtlCol="0">
            <a:spAutoFit/>
          </a:bodyPr>
          <a:lstStyle/>
          <a:p>
            <a:r>
              <a:rPr lang="en-US" sz="900" dirty="0" smtClean="0">
                <a:solidFill>
                  <a:schemeClr val="bg1">
                    <a:lumMod val="65000"/>
                  </a:schemeClr>
                </a:solidFill>
              </a:rPr>
              <a:t>ILLUSTRATIVE</a:t>
            </a:r>
            <a:endParaRPr lang="en-US" sz="900" dirty="0">
              <a:solidFill>
                <a:schemeClr val="bg1">
                  <a:lumMod val="65000"/>
                </a:schemeClr>
              </a:solidFill>
            </a:endParaRPr>
          </a:p>
        </p:txBody>
      </p:sp>
      <p:sp>
        <p:nvSpPr>
          <p:cNvPr id="66" name="Oval 65"/>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67" name="TextBox 66"/>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2b</a:t>
            </a:r>
            <a:endParaRPr lang="en-US" sz="2400" dirty="0">
              <a:solidFill>
                <a:schemeClr val="bg1"/>
              </a:solidFill>
            </a:endParaRPr>
          </a:p>
        </p:txBody>
      </p:sp>
    </p:spTree>
    <p:extLst>
      <p:ext uri="{BB962C8B-B14F-4D97-AF65-F5344CB8AC3E}">
        <p14:creationId xmlns:p14="http://schemas.microsoft.com/office/powerpoint/2010/main" val="390047557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extLst>
              <p:ext uri="{D42A27DB-BD31-4B8C-83A1-F6EECF244321}">
                <p14:modId xmlns:p14="http://schemas.microsoft.com/office/powerpoint/2010/main" val="420705861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5993" name="think-cell Slide" r:id="rId26" imgW="270" imgH="270" progId="TCLayout.ActiveDocument.1">
                  <p:embed/>
                </p:oleObj>
              </mc:Choice>
              <mc:Fallback>
                <p:oleObj name="think-cell Slide" r:id="rId26" imgW="270" imgH="270" progId="TCLayout.ActiveDocument.1">
                  <p:embed/>
                  <p:pic>
                    <p:nvPicPr>
                      <p:cNvPr id="0" name=""/>
                      <p:cNvPicPr/>
                      <p:nvPr/>
                    </p:nvPicPr>
                    <p:blipFill>
                      <a:blip r:embed="rId27"/>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200" u="none" strike="noStrike" cap="none" normalizeH="0" smtClean="0">
              <a:ln>
                <a:noFill/>
              </a:ln>
              <a:solidFill>
                <a:schemeClr val="tx1"/>
              </a:solidFill>
              <a:effectLst/>
              <a:latin typeface="Arial"/>
              <a:sym typeface="Arial"/>
            </a:endParaRPr>
          </a:p>
        </p:txBody>
      </p:sp>
      <p:sp>
        <p:nvSpPr>
          <p:cNvPr id="73" name="Rectangle 72"/>
          <p:cNvSpPr/>
          <p:nvPr/>
        </p:nvSpPr>
        <p:spPr>
          <a:xfrm>
            <a:off x="4591385" y="1731169"/>
            <a:ext cx="4132580" cy="3661569"/>
          </a:xfrm>
          <a:prstGeom prst="rect">
            <a:avLst/>
          </a:prstGeom>
          <a:noFill/>
          <a:ln w="127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dirty="0" smtClean="0">
                <a:solidFill>
                  <a:schemeClr val="accent1"/>
                </a:solidFill>
              </a:rPr>
              <a:t>Central mill owner</a:t>
            </a:r>
          </a:p>
          <a:p>
            <a:pPr marL="171450" indent="-171450">
              <a:buFont typeface="Arial" pitchFamily="34" charset="0"/>
              <a:buChar char="•"/>
            </a:pPr>
            <a:r>
              <a:rPr lang="en-US" sz="1200" dirty="0" smtClean="0">
                <a:solidFill>
                  <a:schemeClr val="accent1"/>
                </a:solidFill>
              </a:rPr>
              <a:t>Net cash benefits: -4 c/lb</a:t>
            </a:r>
          </a:p>
          <a:p>
            <a:pPr marL="171450" indent="-171450">
              <a:buFont typeface="Arial" pitchFamily="34" charset="0"/>
              <a:buChar char="•"/>
            </a:pPr>
            <a:r>
              <a:rPr lang="en-US" sz="1200" dirty="0" smtClean="0">
                <a:solidFill>
                  <a:schemeClr val="accent1"/>
                </a:solidFill>
              </a:rPr>
              <a:t>Net non-cash benefits: -5 c/lb</a:t>
            </a:r>
          </a:p>
        </p:txBody>
      </p:sp>
      <p:sp>
        <p:nvSpPr>
          <p:cNvPr id="43" name="McK Footnote"/>
          <p:cNvSpPr txBox="1">
            <a:spLocks noChangeArrowheads="1"/>
          </p:cNvSpPr>
          <p:nvPr/>
        </p:nvSpPr>
        <p:spPr bwMode="auto">
          <a:xfrm>
            <a:off x="640326" y="6227242"/>
            <a:ext cx="7388434" cy="138499"/>
          </a:xfrm>
          <a:prstGeom prst="rect">
            <a:avLst/>
          </a:prstGeom>
          <a:noFill/>
          <a:ln w="9525">
            <a:noFill/>
            <a:miter lim="800000"/>
            <a:headEnd/>
            <a:tailEnd/>
          </a:ln>
        </p:spPr>
        <p:txBody>
          <a:bodyPr wrap="square"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TechnoServe analysis</a:t>
            </a:r>
          </a:p>
        </p:txBody>
      </p:sp>
      <p:sp>
        <p:nvSpPr>
          <p:cNvPr id="7" name="Title 6"/>
          <p:cNvSpPr>
            <a:spLocks noGrp="1"/>
          </p:cNvSpPr>
          <p:nvPr>
            <p:ph type="title"/>
          </p:nvPr>
        </p:nvSpPr>
        <p:spPr/>
        <p:txBody>
          <a:bodyPr/>
          <a:lstStyle/>
          <a:p>
            <a:pPr marL="268288"/>
            <a:r>
              <a:rPr lang="en-US" b="0" dirty="0" smtClean="0"/>
              <a:t>These benefits are likely to be more attractive to farmers than to potential investors</a:t>
            </a:r>
            <a:endParaRPr lang="en-US" b="0" dirty="0"/>
          </a:p>
        </p:txBody>
      </p:sp>
      <p:cxnSp>
        <p:nvCxnSpPr>
          <p:cNvPr id="19" name="Straight Connector 18"/>
          <p:cNvCxnSpPr/>
          <p:nvPr>
            <p:custDataLst>
              <p:tags r:id="rId4"/>
            </p:custDataLst>
          </p:nvPr>
        </p:nvCxnSpPr>
        <p:spPr bwMode="gray">
          <a:xfrm>
            <a:off x="2276475" y="3038475"/>
            <a:ext cx="4572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5"/>
            </p:custDataLst>
          </p:nvPr>
        </p:nvCxnSpPr>
        <p:spPr bwMode="gray">
          <a:xfrm>
            <a:off x="1238250" y="4162425"/>
            <a:ext cx="4572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custDataLst>
              <p:tags r:id="rId6"/>
            </p:custDataLst>
          </p:nvPr>
        </p:nvCxnSpPr>
        <p:spPr bwMode="gray">
          <a:xfrm>
            <a:off x="7439025" y="3543300"/>
            <a:ext cx="4572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custDataLst>
              <p:tags r:id="rId7"/>
            </p:custDataLst>
          </p:nvPr>
        </p:nvCxnSpPr>
        <p:spPr bwMode="gray">
          <a:xfrm>
            <a:off x="6400800" y="2609850"/>
            <a:ext cx="4572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custDataLst>
              <p:tags r:id="rId8"/>
            </p:custDataLst>
          </p:nvPr>
        </p:nvCxnSpPr>
        <p:spPr bwMode="gray">
          <a:xfrm>
            <a:off x="5372100" y="2800350"/>
            <a:ext cx="4572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custDataLst>
              <p:tags r:id="rId9"/>
            </p:custDataLst>
          </p:nvPr>
        </p:nvCxnSpPr>
        <p:spPr bwMode="gray">
          <a:xfrm>
            <a:off x="4343400" y="3171825"/>
            <a:ext cx="4572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custDataLst>
              <p:tags r:id="rId10"/>
            </p:custDataLst>
          </p:nvPr>
        </p:nvCxnSpPr>
        <p:spPr bwMode="gray">
          <a:xfrm>
            <a:off x="3305175" y="3228975"/>
            <a:ext cx="457200" cy="0"/>
          </a:xfrm>
          <a:prstGeom prst="line">
            <a:avLst/>
          </a:prstGeom>
          <a:ln w="3175">
            <a:solidFill>
              <a:srgbClr val="D52B1E"/>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9" name="Object 8"/>
          <p:cNvGraphicFramePr>
            <a:graphicFrameLocks/>
          </p:cNvGraphicFramePr>
          <p:nvPr>
            <p:custDataLst>
              <p:tags r:id="rId11"/>
            </p:custDataLst>
            <p:extLst>
              <p:ext uri="{D42A27DB-BD31-4B8C-83A1-F6EECF244321}">
                <p14:modId xmlns:p14="http://schemas.microsoft.com/office/powerpoint/2010/main" val="2198114843"/>
              </p:ext>
            </p:extLst>
          </p:nvPr>
        </p:nvGraphicFramePr>
        <p:xfrm>
          <a:off x="304800" y="2476500"/>
          <a:ext cx="8496389" cy="2257455"/>
        </p:xfrm>
        <a:graphic>
          <a:graphicData uri="http://schemas.openxmlformats.org/presentationml/2006/ole">
            <mc:AlternateContent xmlns:mc="http://schemas.openxmlformats.org/markup-compatibility/2006">
              <mc:Choice xmlns:v="urn:schemas-microsoft-com:vml" Requires="v">
                <p:oleObj spid="_x0000_s245994" name="Chart" r:id="rId28" imgW="8496389" imgH="2257455" progId="MSGraph.Chart.8">
                  <p:embed followColorScheme="full"/>
                </p:oleObj>
              </mc:Choice>
              <mc:Fallback>
                <p:oleObj name="Chart" r:id="rId28" imgW="8496389" imgH="2257455" progId="MSGraph.Chart.8">
                  <p:embed followColorScheme="full"/>
                  <p:pic>
                    <p:nvPicPr>
                      <p:cNvPr id="0" name=""/>
                      <p:cNvPicPr/>
                      <p:nvPr/>
                    </p:nvPicPr>
                    <p:blipFill>
                      <a:blip r:embed="rId29"/>
                      <a:stretch>
                        <a:fillRect/>
                      </a:stretch>
                    </p:blipFill>
                    <p:spPr>
                      <a:xfrm>
                        <a:off x="304800" y="2476500"/>
                        <a:ext cx="8496389" cy="2257455"/>
                      </a:xfrm>
                      <a:prstGeom prst="rect">
                        <a:avLst/>
                      </a:prstGeom>
                    </p:spPr>
                  </p:pic>
                </p:oleObj>
              </mc:Fallback>
            </mc:AlternateContent>
          </a:graphicData>
        </a:graphic>
      </p:graphicFrame>
      <p:sp>
        <p:nvSpPr>
          <p:cNvPr id="60" name="Text Placeholder 45"/>
          <p:cNvSpPr>
            <a:spLocks noGrp="1"/>
          </p:cNvSpPr>
          <p:nvPr>
            <p:custDataLst>
              <p:tags r:id="rId12"/>
            </p:custDataLst>
          </p:nvPr>
        </p:nvSpPr>
        <p:spPr bwMode="auto">
          <a:xfrm>
            <a:off x="7762875" y="4768850"/>
            <a:ext cx="838200" cy="3651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37BD910-3ECC-4F3B-967A-4A0FA6B76A61}" type="datetime'Cent''ra''l'''' ''mi''''ll ''d''''epr''eci''''''a''''t''i''on'">
              <a:rPr lang="en-US" sz="1200">
                <a:solidFill>
                  <a:schemeClr val="accent1"/>
                </a:solidFill>
              </a:rPr>
              <a:pPr/>
              <a:t>Central mill depreciation</a:t>
            </a:fld>
            <a:endParaRPr lang="en-US" sz="1200" dirty="0">
              <a:solidFill>
                <a:schemeClr val="accent1"/>
              </a:solidFill>
              <a:latin typeface="Arial"/>
              <a:sym typeface="Arial"/>
            </a:endParaRPr>
          </a:p>
        </p:txBody>
      </p:sp>
      <p:sp>
        <p:nvSpPr>
          <p:cNvPr id="57" name="Text Placeholder 44"/>
          <p:cNvSpPr>
            <a:spLocks noGrp="1"/>
          </p:cNvSpPr>
          <p:nvPr>
            <p:custDataLst>
              <p:tags r:id="rId13"/>
            </p:custDataLst>
          </p:nvPr>
        </p:nvSpPr>
        <p:spPr bwMode="auto">
          <a:xfrm>
            <a:off x="6762750" y="4768850"/>
            <a:ext cx="771525" cy="547688"/>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79CD2A5-F5D3-4A40-883D-8DD8B463FB4D}" type="datetime'Centr''a''''l ''''mill o''''perating'' e''x''pens''''e''''''s'">
              <a:rPr lang="en-US" sz="1200">
                <a:solidFill>
                  <a:schemeClr val="accent1"/>
                </a:solidFill>
              </a:rPr>
              <a:pPr/>
              <a:t>Central mill operating expenses</a:t>
            </a:fld>
            <a:endParaRPr lang="en-US" sz="1200" dirty="0">
              <a:solidFill>
                <a:schemeClr val="accent1"/>
              </a:solidFill>
              <a:latin typeface="Arial"/>
              <a:sym typeface="Arial"/>
            </a:endParaRPr>
          </a:p>
        </p:txBody>
      </p:sp>
      <p:sp>
        <p:nvSpPr>
          <p:cNvPr id="50" name="Text Placeholder 41"/>
          <p:cNvSpPr>
            <a:spLocks noGrp="1"/>
          </p:cNvSpPr>
          <p:nvPr>
            <p:custDataLst>
              <p:tags r:id="rId14"/>
            </p:custDataLst>
          </p:nvPr>
        </p:nvSpPr>
        <p:spPr bwMode="auto">
          <a:xfrm>
            <a:off x="5708650" y="4768850"/>
            <a:ext cx="812800" cy="547688"/>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E0E8AB42-7D3C-4E2B-B4A1-5BBC22508ECB}" type="datetime'Sav''ing''''s ''on'''' pa''''rchment ''a''g''gregati''o''n'''">
              <a:rPr lang="en-US" sz="1200">
                <a:solidFill>
                  <a:schemeClr val="accent1"/>
                </a:solidFill>
                <a:latin typeface="Arial"/>
                <a:sym typeface="Arial"/>
              </a:rPr>
              <a:pPr marL="0" indent="0" algn="ctr">
                <a:spcBef>
                  <a:spcPct val="0"/>
                </a:spcBef>
                <a:spcAft>
                  <a:spcPct val="0"/>
                </a:spcAft>
                <a:buNone/>
              </a:pPr>
              <a:t>Savings on parchment aggregation</a:t>
            </a:fld>
            <a:endParaRPr lang="en-US" sz="1200" dirty="0">
              <a:solidFill>
                <a:schemeClr val="accent1"/>
              </a:solidFill>
              <a:latin typeface="Arial"/>
              <a:sym typeface="Arial"/>
            </a:endParaRPr>
          </a:p>
        </p:txBody>
      </p:sp>
      <p:sp>
        <p:nvSpPr>
          <p:cNvPr id="49" name="Text Placeholder 40"/>
          <p:cNvSpPr>
            <a:spLocks noGrp="1"/>
          </p:cNvSpPr>
          <p:nvPr>
            <p:custDataLst>
              <p:tags r:id="rId15"/>
            </p:custDataLst>
          </p:nvPr>
        </p:nvSpPr>
        <p:spPr bwMode="auto">
          <a:xfrm>
            <a:off x="4683125" y="4768850"/>
            <a:ext cx="806450" cy="547688"/>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66AA7A1-C31B-4BE2-AFDB-4125003DEB4C}" type="datetime'''''I''m''prov''ed qu''ality'' / c''on''sist''e''''''''n''cy'">
              <a:rPr lang="en-US" sz="1200">
                <a:solidFill>
                  <a:schemeClr val="accent1"/>
                </a:solidFill>
              </a:rPr>
              <a:pPr/>
              <a:t>Improved quality / consistency</a:t>
            </a:fld>
            <a:endParaRPr lang="en-US" sz="1200" dirty="0">
              <a:solidFill>
                <a:schemeClr val="accent1"/>
              </a:solidFill>
              <a:latin typeface="Arial"/>
              <a:sym typeface="Arial"/>
            </a:endParaRPr>
          </a:p>
        </p:txBody>
      </p:sp>
      <p:sp>
        <p:nvSpPr>
          <p:cNvPr id="54" name="Text Placeholder 42"/>
          <p:cNvSpPr>
            <a:spLocks noGrp="1"/>
          </p:cNvSpPr>
          <p:nvPr>
            <p:custDataLst>
              <p:tags r:id="rId16"/>
            </p:custDataLst>
          </p:nvPr>
        </p:nvSpPr>
        <p:spPr bwMode="auto">
          <a:xfrm>
            <a:off x="3730625" y="4768850"/>
            <a:ext cx="646113" cy="547688"/>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D743E030-C7DD-4C1A-AB30-F8CB5EF231B1}" type="datetime'Im''prov''ed fa''''''rm''''''er'' ca''''''s''''h''f''''''low'">
              <a:rPr lang="en-US" sz="1200">
                <a:solidFill>
                  <a:schemeClr val="accent1"/>
                </a:solidFill>
                <a:latin typeface="Arial"/>
                <a:sym typeface="Arial"/>
              </a:rPr>
              <a:pPr marL="0" indent="0" algn="ctr">
                <a:spcBef>
                  <a:spcPct val="0"/>
                </a:spcBef>
                <a:spcAft>
                  <a:spcPct val="0"/>
                </a:spcAft>
                <a:buNone/>
              </a:pPr>
              <a:t>Improved farmer cashflow</a:t>
            </a:fld>
            <a:endParaRPr lang="en-US" sz="1200" dirty="0">
              <a:solidFill>
                <a:schemeClr val="accent1"/>
              </a:solidFill>
              <a:latin typeface="Arial"/>
              <a:sym typeface="Arial"/>
            </a:endParaRPr>
          </a:p>
        </p:txBody>
      </p:sp>
      <p:sp>
        <p:nvSpPr>
          <p:cNvPr id="63" name="Text Placeholder 46"/>
          <p:cNvSpPr>
            <a:spLocks noGrp="1"/>
          </p:cNvSpPr>
          <p:nvPr>
            <p:custDataLst>
              <p:tags r:id="rId17"/>
            </p:custDataLst>
          </p:nvPr>
        </p:nvSpPr>
        <p:spPr bwMode="gray">
          <a:xfrm>
            <a:off x="3989388" y="3109913"/>
            <a:ext cx="128588" cy="182563"/>
          </a:xfrm>
          <a:prstGeom prst="rect">
            <a:avLst/>
          </a:prstGeom>
          <a:solidFill>
            <a:srgbClr val="212492"/>
          </a:solidFill>
        </p:spPr>
        <p:txBody>
          <a:bodyPr wrap="none" lIns="22225" tIns="0" rIns="22225"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9D865EF-E329-4FE9-BB26-F8431547698D}" type="datetime'''''''''''''''1'''''''''">
              <a:rPr lang="en-US" sz="1200">
                <a:solidFill>
                  <a:schemeClr val="bg1"/>
                </a:solidFill>
                <a:latin typeface="Arial"/>
                <a:sym typeface="Arial"/>
              </a:rPr>
              <a:pPr marL="0" indent="0" algn="ctr">
                <a:spcBef>
                  <a:spcPct val="0"/>
                </a:spcBef>
                <a:spcAft>
                  <a:spcPct val="0"/>
                </a:spcAft>
                <a:buNone/>
              </a:pPr>
              <a:t>1</a:t>
            </a:fld>
            <a:endParaRPr lang="en-US" sz="1200">
              <a:solidFill>
                <a:schemeClr val="bg1"/>
              </a:solidFill>
              <a:latin typeface="Arial"/>
              <a:sym typeface="Arial"/>
            </a:endParaRPr>
          </a:p>
        </p:txBody>
      </p:sp>
      <p:sp>
        <p:nvSpPr>
          <p:cNvPr id="38" name="Text Placeholder 35"/>
          <p:cNvSpPr>
            <a:spLocks noGrp="1"/>
          </p:cNvSpPr>
          <p:nvPr>
            <p:custDataLst>
              <p:tags r:id="rId18"/>
            </p:custDataLst>
          </p:nvPr>
        </p:nvSpPr>
        <p:spPr bwMode="auto">
          <a:xfrm>
            <a:off x="2514600" y="4768850"/>
            <a:ext cx="1011238" cy="3651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9BED98B0-DF5E-42EB-9EF7-DD9D44455464}" type="datetime'A''d''de''d ch''''e''rr''y'' t''ra''nspo''''r''t cos''t''''s'">
              <a:rPr lang="en-US" sz="1200">
                <a:solidFill>
                  <a:schemeClr val="accent1"/>
                </a:solidFill>
              </a:rPr>
              <a:pPr/>
              <a:t>Added cherry transport costs</a:t>
            </a:fld>
            <a:endParaRPr lang="en-US" sz="1200" dirty="0">
              <a:solidFill>
                <a:schemeClr val="accent1"/>
              </a:solidFill>
              <a:latin typeface="Arial"/>
              <a:sym typeface="Arial"/>
            </a:endParaRPr>
          </a:p>
        </p:txBody>
      </p:sp>
      <p:sp>
        <p:nvSpPr>
          <p:cNvPr id="36" name="Text Placeholder 33"/>
          <p:cNvSpPr>
            <a:spLocks noGrp="1"/>
          </p:cNvSpPr>
          <p:nvPr>
            <p:custDataLst>
              <p:tags r:id="rId19"/>
            </p:custDataLst>
          </p:nvPr>
        </p:nvSpPr>
        <p:spPr bwMode="auto">
          <a:xfrm>
            <a:off x="1576388" y="4768850"/>
            <a:ext cx="820738" cy="3651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7EB01DCF-6E81-4084-B091-1C1003408628}" type="datetime'''H''''''o''me'' ''''wet''-''milli''''ng'' ''l''''a''b''or'">
              <a:rPr lang="en-US" sz="1200">
                <a:solidFill>
                  <a:schemeClr val="accent1"/>
                </a:solidFill>
              </a:rPr>
              <a:pPr/>
              <a:t>Home wet-milling labor</a:t>
            </a:fld>
            <a:endParaRPr lang="en-US" sz="1200" dirty="0">
              <a:solidFill>
                <a:schemeClr val="accent1"/>
              </a:solidFill>
              <a:latin typeface="Arial"/>
              <a:sym typeface="Arial"/>
            </a:endParaRPr>
          </a:p>
        </p:txBody>
      </p:sp>
      <p:sp>
        <p:nvSpPr>
          <p:cNvPr id="35" name="Text Placeholder 32"/>
          <p:cNvSpPr>
            <a:spLocks noGrp="1"/>
          </p:cNvSpPr>
          <p:nvPr>
            <p:custDataLst>
              <p:tags r:id="rId20"/>
            </p:custDataLst>
          </p:nvPr>
        </p:nvSpPr>
        <p:spPr bwMode="auto">
          <a:xfrm>
            <a:off x="533400" y="4768850"/>
            <a:ext cx="839788" cy="365125"/>
          </a:xfrm>
          <a:prstGeom prst="rect">
            <a:avLst/>
          </a:prstGeom>
          <a:noFill/>
          <a:extLst>
            <a:ext uri="{909E8E84-426E-40DD-AFC4-6F175D3DCCD1}">
              <a14:hiddenFill xmlns:a14="http://schemas.microsoft.com/office/drawing/2010/main">
                <a:solidFill>
                  <a:scrgbClr r="0" g="0" b="0"/>
                </a:solidFill>
              </a14:hiddenFill>
            </a:ext>
          </a:extLst>
        </p:spPr>
        <p:txBody>
          <a:bodyPr wrap="square" lIns="0" tIns="0" rIns="0" bIns="0" numCol="1" spcCol="0" anchor="t"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8199BDDE-9C83-4C11-9316-979C43BD4541}" type="datetime'H''''o''me ''wet-m''illi''''''''''n''''g c''o''''''s''''t''s'">
              <a:rPr lang="en-US" sz="1200">
                <a:solidFill>
                  <a:schemeClr val="accent1"/>
                </a:solidFill>
              </a:rPr>
              <a:pPr/>
              <a:t>Home wet-milling costs</a:t>
            </a:fld>
            <a:endParaRPr lang="en-US" sz="1200" dirty="0">
              <a:solidFill>
                <a:schemeClr val="accent1"/>
              </a:solidFill>
              <a:latin typeface="Arial"/>
              <a:sym typeface="Arial"/>
            </a:endParaRPr>
          </a:p>
        </p:txBody>
      </p:sp>
      <p:sp>
        <p:nvSpPr>
          <p:cNvPr id="69" name="Rectangle 68"/>
          <p:cNvSpPr/>
          <p:nvPr/>
        </p:nvSpPr>
        <p:spPr>
          <a:xfrm>
            <a:off x="410844" y="1731169"/>
            <a:ext cx="4132580" cy="3661569"/>
          </a:xfrm>
          <a:prstGeom prst="rect">
            <a:avLst/>
          </a:prstGeom>
          <a:noFill/>
          <a:ln w="127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dirty="0" smtClean="0">
                <a:solidFill>
                  <a:schemeClr val="accent1"/>
                </a:solidFill>
              </a:rPr>
              <a:t>Farmer-level</a:t>
            </a:r>
          </a:p>
          <a:p>
            <a:pPr marL="171450" indent="-171450">
              <a:buFont typeface="Arial" pitchFamily="34" charset="0"/>
              <a:buChar char="•"/>
            </a:pPr>
            <a:r>
              <a:rPr lang="en-US" sz="1200" dirty="0" smtClean="0">
                <a:solidFill>
                  <a:schemeClr val="accent1"/>
                </a:solidFill>
              </a:rPr>
              <a:t>Net cash benefits: +3 c/lb</a:t>
            </a:r>
          </a:p>
          <a:p>
            <a:pPr marL="171450" indent="-171450">
              <a:buFont typeface="Arial" pitchFamily="34" charset="0"/>
              <a:buChar char="•"/>
            </a:pPr>
            <a:r>
              <a:rPr lang="en-US" sz="1200" dirty="0" smtClean="0">
                <a:solidFill>
                  <a:schemeClr val="accent1"/>
                </a:solidFill>
              </a:rPr>
              <a:t>Net non-cash benefits: +11 c/lb</a:t>
            </a:r>
          </a:p>
        </p:txBody>
      </p:sp>
      <p:sp>
        <p:nvSpPr>
          <p:cNvPr id="71" name="TextBox 70"/>
          <p:cNvSpPr txBox="1"/>
          <p:nvPr/>
        </p:nvSpPr>
        <p:spPr>
          <a:xfrm>
            <a:off x="339061" y="1143658"/>
            <a:ext cx="8275955" cy="461665"/>
          </a:xfrm>
          <a:prstGeom prst="rect">
            <a:avLst/>
          </a:prstGeom>
          <a:noFill/>
        </p:spPr>
        <p:txBody>
          <a:bodyPr wrap="square" rtlCol="0">
            <a:spAutoFit/>
          </a:bodyPr>
          <a:lstStyle/>
          <a:p>
            <a:r>
              <a:rPr lang="en-US" sz="1200" b="1" dirty="0">
                <a:solidFill>
                  <a:schemeClr val="accent1"/>
                </a:solidFill>
              </a:rPr>
              <a:t>Cost benefit analysis of central mill</a:t>
            </a:r>
          </a:p>
          <a:p>
            <a:r>
              <a:rPr lang="en-US" sz="1200" dirty="0">
                <a:solidFill>
                  <a:schemeClr val="accent1"/>
                </a:solidFill>
              </a:rPr>
              <a:t>US cents per lb green</a:t>
            </a:r>
          </a:p>
        </p:txBody>
      </p:sp>
      <p:cxnSp>
        <p:nvCxnSpPr>
          <p:cNvPr id="72" name="Straight Connector 71"/>
          <p:cNvCxnSpPr/>
          <p:nvPr/>
        </p:nvCxnSpPr>
        <p:spPr bwMode="auto">
          <a:xfrm>
            <a:off x="424188" y="1593588"/>
            <a:ext cx="8190828"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nvGrpSpPr>
          <p:cNvPr id="77" name="Group 76"/>
          <p:cNvGrpSpPr/>
          <p:nvPr/>
        </p:nvGrpSpPr>
        <p:grpSpPr>
          <a:xfrm>
            <a:off x="2891627" y="1985963"/>
            <a:ext cx="838998" cy="271462"/>
            <a:chOff x="2891627" y="1985963"/>
            <a:chExt cx="838998" cy="271462"/>
          </a:xfrm>
        </p:grpSpPr>
        <p:sp>
          <p:nvSpPr>
            <p:cNvPr id="75" name="Right Brace 74"/>
            <p:cNvSpPr/>
            <p:nvPr/>
          </p:nvSpPr>
          <p:spPr>
            <a:xfrm>
              <a:off x="2891627" y="1985963"/>
              <a:ext cx="45719" cy="27146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6" name="TextBox 75"/>
            <p:cNvSpPr txBox="1"/>
            <p:nvPr/>
          </p:nvSpPr>
          <p:spPr>
            <a:xfrm>
              <a:off x="3020219" y="2029361"/>
              <a:ext cx="710406" cy="184666"/>
            </a:xfrm>
            <a:prstGeom prst="rect">
              <a:avLst/>
            </a:prstGeom>
            <a:noFill/>
          </p:spPr>
          <p:txBody>
            <a:bodyPr wrap="square" lIns="0" tIns="0" rIns="0" bIns="0" rtlCol="0">
              <a:spAutoFit/>
            </a:bodyPr>
            <a:lstStyle/>
            <a:p>
              <a:r>
                <a:rPr lang="en-US" sz="1200" b="1" dirty="0" smtClean="0">
                  <a:solidFill>
                    <a:schemeClr val="accent1"/>
                  </a:solidFill>
                </a:rPr>
                <a:t>+14 c/lb</a:t>
              </a:r>
              <a:endParaRPr lang="en-US" sz="1200" b="1" dirty="0">
                <a:solidFill>
                  <a:schemeClr val="accent1"/>
                </a:solidFill>
              </a:endParaRPr>
            </a:p>
          </p:txBody>
        </p:sp>
      </p:grpSp>
      <p:grpSp>
        <p:nvGrpSpPr>
          <p:cNvPr id="78" name="Group 77"/>
          <p:cNvGrpSpPr/>
          <p:nvPr/>
        </p:nvGrpSpPr>
        <p:grpSpPr>
          <a:xfrm>
            <a:off x="7019526" y="1985963"/>
            <a:ext cx="838998" cy="271462"/>
            <a:chOff x="2891627" y="1985963"/>
            <a:chExt cx="838998" cy="271462"/>
          </a:xfrm>
        </p:grpSpPr>
        <p:sp>
          <p:nvSpPr>
            <p:cNvPr id="79" name="Right Brace 78"/>
            <p:cNvSpPr/>
            <p:nvPr/>
          </p:nvSpPr>
          <p:spPr>
            <a:xfrm>
              <a:off x="2891627" y="1985963"/>
              <a:ext cx="45719" cy="27146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0" name="TextBox 79"/>
            <p:cNvSpPr txBox="1"/>
            <p:nvPr/>
          </p:nvSpPr>
          <p:spPr>
            <a:xfrm>
              <a:off x="3020219" y="2029361"/>
              <a:ext cx="710406" cy="184666"/>
            </a:xfrm>
            <a:prstGeom prst="rect">
              <a:avLst/>
            </a:prstGeom>
            <a:noFill/>
          </p:spPr>
          <p:txBody>
            <a:bodyPr wrap="square" lIns="0" tIns="0" rIns="0" bIns="0" rtlCol="0">
              <a:spAutoFit/>
            </a:bodyPr>
            <a:lstStyle/>
            <a:p>
              <a:r>
                <a:rPr lang="en-US" sz="1200" b="1" dirty="0" smtClean="0">
                  <a:solidFill>
                    <a:schemeClr val="accent1"/>
                  </a:solidFill>
                </a:rPr>
                <a:t>-9 c/lb</a:t>
              </a:r>
              <a:endParaRPr lang="en-US" sz="1200" b="1" dirty="0">
                <a:solidFill>
                  <a:schemeClr val="accent1"/>
                </a:solidFill>
              </a:endParaRPr>
            </a:p>
          </p:txBody>
        </p:sp>
      </p:grpSp>
      <p:sp>
        <p:nvSpPr>
          <p:cNvPr id="68" name="Rectangle 67"/>
          <p:cNvSpPr/>
          <p:nvPr>
            <p:custDataLst>
              <p:tags r:id="rId21"/>
            </p:custDataLst>
          </p:nvPr>
        </p:nvSpPr>
        <p:spPr bwMode="auto">
          <a:xfrm>
            <a:off x="6721476" y="1331913"/>
            <a:ext cx="179388" cy="133350"/>
          </a:xfrm>
          <a:prstGeom prst="rect">
            <a:avLst/>
          </a:prstGeom>
          <a:solidFill>
            <a:srgbClr val="212492"/>
          </a:solidFill>
          <a:ln w="9525">
            <a:solidFill>
              <a:srgbClr val="D52B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custDataLst>
              <p:tags r:id="rId22"/>
            </p:custDataLst>
          </p:nvPr>
        </p:nvSpPr>
        <p:spPr bwMode="auto">
          <a:xfrm>
            <a:off x="6721475" y="1128713"/>
            <a:ext cx="179388" cy="133350"/>
          </a:xfrm>
          <a:prstGeom prst="rect">
            <a:avLst/>
          </a:prstGeom>
          <a:solidFill>
            <a:schemeClr val="accent1"/>
          </a:solidFill>
          <a:ln w="9525">
            <a:solidFill>
              <a:srgbClr val="D52B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 Placeholder 47"/>
          <p:cNvSpPr>
            <a:spLocks noGrp="1"/>
          </p:cNvSpPr>
          <p:nvPr>
            <p:custDataLst>
              <p:tags r:id="rId23"/>
            </p:custDataLst>
          </p:nvPr>
        </p:nvSpPr>
        <p:spPr bwMode="auto">
          <a:xfrm>
            <a:off x="6951663" y="1125538"/>
            <a:ext cx="1101725" cy="15240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FEE9D0B6-586B-421B-BD4F-9D7B3003D3C8}" type="datetime'''''''''''C''a''sh'' ''co''s''t''''''s''/be''n''efit''s'''''''">
              <a:rPr lang="en-US" sz="1000">
                <a:solidFill>
                  <a:schemeClr val="accent1"/>
                </a:solidFill>
                <a:latin typeface="Arial"/>
                <a:sym typeface="Arial"/>
              </a:rPr>
              <a:pPr marL="0" indent="0">
                <a:spcBef>
                  <a:spcPct val="0"/>
                </a:spcBef>
                <a:spcAft>
                  <a:spcPct val="0"/>
                </a:spcAft>
                <a:buNone/>
              </a:pPr>
              <a:t>Cash costs/benefits</a:t>
            </a:fld>
            <a:endParaRPr lang="en-US" sz="1200" dirty="0">
              <a:solidFill>
                <a:schemeClr val="accent1"/>
              </a:solidFill>
              <a:latin typeface="Arial"/>
              <a:sym typeface="Arial"/>
            </a:endParaRPr>
          </a:p>
        </p:txBody>
      </p:sp>
      <p:sp>
        <p:nvSpPr>
          <p:cNvPr id="65" name="Text Placeholder 48"/>
          <p:cNvSpPr>
            <a:spLocks noGrp="1"/>
          </p:cNvSpPr>
          <p:nvPr>
            <p:custDataLst>
              <p:tags r:id="rId24"/>
            </p:custDataLst>
          </p:nvPr>
        </p:nvSpPr>
        <p:spPr bwMode="auto">
          <a:xfrm>
            <a:off x="6951663" y="1328738"/>
            <a:ext cx="1347788" cy="15240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spcBef>
                <a:spcPct val="0"/>
              </a:spcBef>
              <a:spcAft>
                <a:spcPct val="0"/>
              </a:spcAft>
              <a:buNone/>
            </a:pPr>
            <a:fld id="{A80C9978-037F-4AFA-ADD0-753AB29E889A}" type="datetime'''''Non-cas''''h'' c''''''os''t''''s''''/''b''e''''n''''efits'">
              <a:rPr lang="en-US" sz="1000">
                <a:solidFill>
                  <a:schemeClr val="accent1"/>
                </a:solidFill>
              </a:rPr>
              <a:pPr marL="0" indent="0">
                <a:spcBef>
                  <a:spcPct val="0"/>
                </a:spcBef>
                <a:spcAft>
                  <a:spcPct val="0"/>
                </a:spcAft>
                <a:buNone/>
              </a:pPr>
              <a:t>Non-cash costs/benefits</a:t>
            </a:fld>
            <a:endParaRPr lang="en-US" sz="1000" dirty="0">
              <a:solidFill>
                <a:schemeClr val="accent1"/>
              </a:solidFill>
              <a:latin typeface="Arial"/>
              <a:sym typeface="Arial"/>
            </a:endParaRPr>
          </a:p>
        </p:txBody>
      </p:sp>
      <p:sp>
        <p:nvSpPr>
          <p:cNvPr id="37" name="Rectangle 36"/>
          <p:cNvSpPr/>
          <p:nvPr/>
        </p:nvSpPr>
        <p:spPr>
          <a:xfrm>
            <a:off x="424187" y="5738017"/>
            <a:ext cx="8299778" cy="425210"/>
          </a:xfrm>
          <a:prstGeom prst="rect">
            <a:avLst/>
          </a:prstGeom>
          <a:solidFill>
            <a:srgbClr val="2124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The overall cash benefit is negative (-1 c/lb), but the overall non-cash benefit is positive (+6 c/lb). Thus, central mills do create some added cost for the overall sector, but this is justified by reducing the amount of time required from farmers.</a:t>
            </a:r>
            <a:endParaRPr lang="en-US" sz="1200" dirty="0"/>
          </a:p>
        </p:txBody>
      </p:sp>
      <p:sp>
        <p:nvSpPr>
          <p:cNvPr id="39" name="Isosceles Triangle 38"/>
          <p:cNvSpPr/>
          <p:nvPr/>
        </p:nvSpPr>
        <p:spPr>
          <a:xfrm rot="10800000">
            <a:off x="1853880" y="5411873"/>
            <a:ext cx="5430641" cy="311855"/>
          </a:xfrm>
          <a:prstGeom prst="triangle">
            <a:avLst/>
          </a:prstGeom>
          <a:gradFill>
            <a:gsLst>
              <a:gs pos="0">
                <a:srgbClr val="212492"/>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44" name="TextBox 43"/>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2b</a:t>
            </a:r>
            <a:endParaRPr lang="en-US" sz="2400" dirty="0">
              <a:solidFill>
                <a:schemeClr val="bg1"/>
              </a:solidFill>
            </a:endParaRPr>
          </a:p>
        </p:txBody>
      </p:sp>
    </p:spTree>
    <p:extLst>
      <p:ext uri="{BB962C8B-B14F-4D97-AF65-F5344CB8AC3E}">
        <p14:creationId xmlns:p14="http://schemas.microsoft.com/office/powerpoint/2010/main" val="144924278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extLst>
              <p:ext uri="{D42A27DB-BD31-4B8C-83A1-F6EECF244321}">
                <p14:modId xmlns:p14="http://schemas.microsoft.com/office/powerpoint/2010/main" val="19327418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6903"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33" name="Flowchart: Extract 32"/>
          <p:cNvSpPr/>
          <p:nvPr/>
        </p:nvSpPr>
        <p:spPr>
          <a:xfrm rot="10800000">
            <a:off x="1383813" y="4799998"/>
            <a:ext cx="3598487" cy="432080"/>
          </a:xfrm>
          <a:prstGeom prst="flowChartExtract">
            <a:avLst/>
          </a:prstGeom>
          <a:gradFill>
            <a:gsLst>
              <a:gs pos="0">
                <a:schemeClr val="accent1"/>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5" name="Flowchart: Extract 34"/>
          <p:cNvSpPr/>
          <p:nvPr/>
        </p:nvSpPr>
        <p:spPr>
          <a:xfrm rot="10800000">
            <a:off x="5039452" y="4799998"/>
            <a:ext cx="3598487" cy="432080"/>
          </a:xfrm>
          <a:prstGeom prst="flowChartExtract">
            <a:avLst/>
          </a:prstGeom>
          <a:gradFill>
            <a:gsLst>
              <a:gs pos="0">
                <a:schemeClr val="accent1"/>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3" name="McK Footnote"/>
          <p:cNvSpPr txBox="1">
            <a:spLocks noChangeArrowheads="1"/>
          </p:cNvSpPr>
          <p:nvPr/>
        </p:nvSpPr>
        <p:spPr bwMode="auto">
          <a:xfrm>
            <a:off x="656107" y="6244112"/>
            <a:ext cx="8485187" cy="138499"/>
          </a:xfrm>
          <a:prstGeom prst="rect">
            <a:avLst/>
          </a:prstGeom>
          <a:noFill/>
          <a:ln w="9525">
            <a:noFill/>
            <a:miter lim="800000"/>
            <a:headEnd/>
            <a:tailEnd/>
          </a:ln>
        </p:spPr>
        <p:txBody>
          <a:bodyPr lIns="0" tIns="0" rIns="0" bIns="0" anchor="b">
            <a:spAutoFit/>
          </a:bodyPr>
          <a:lstStyle/>
          <a:p>
            <a:pPr defTabSz="895350">
              <a:tabLst>
                <a:tab pos="517525" algn="r"/>
              </a:tabLst>
            </a:pPr>
            <a:r>
              <a:rPr lang="en-US" sz="900" dirty="0" smtClean="0">
                <a:solidFill>
                  <a:schemeClr val="tx1">
                    <a:lumMod val="65000"/>
                    <a:lumOff val="35000"/>
                  </a:schemeClr>
                </a:solidFill>
              </a:rPr>
              <a:t>Source: Stakeholder interviews, TechnoServe analysis</a:t>
            </a:r>
            <a:endParaRPr lang="en-US" sz="900" dirty="0">
              <a:solidFill>
                <a:schemeClr val="tx1">
                  <a:lumMod val="65000"/>
                  <a:lumOff val="35000"/>
                </a:schemeClr>
              </a:solidFill>
            </a:endParaRPr>
          </a:p>
        </p:txBody>
      </p:sp>
      <p:sp>
        <p:nvSpPr>
          <p:cNvPr id="7" name="Title 6"/>
          <p:cNvSpPr>
            <a:spLocks noGrp="1"/>
          </p:cNvSpPr>
          <p:nvPr>
            <p:ph type="title"/>
          </p:nvPr>
        </p:nvSpPr>
        <p:spPr/>
        <p:txBody>
          <a:bodyPr/>
          <a:lstStyle/>
          <a:p>
            <a:pPr marL="268288"/>
            <a:r>
              <a:rPr lang="en-US" b="0" dirty="0" smtClean="0"/>
              <a:t>Some farmers are likely to shift from selling parchment to selling cherry more quickly than others</a:t>
            </a:r>
            <a:endParaRPr lang="en-US" b="0" dirty="0"/>
          </a:p>
        </p:txBody>
      </p:sp>
      <p:sp>
        <p:nvSpPr>
          <p:cNvPr id="9" name="TextBox 8"/>
          <p:cNvSpPr txBox="1"/>
          <p:nvPr/>
        </p:nvSpPr>
        <p:spPr>
          <a:xfrm>
            <a:off x="1440965" y="1231576"/>
            <a:ext cx="6045683" cy="215444"/>
          </a:xfrm>
          <a:prstGeom prst="rect">
            <a:avLst/>
          </a:prstGeom>
          <a:noFill/>
        </p:spPr>
        <p:txBody>
          <a:bodyPr wrap="square" lIns="0" tIns="0" rIns="0" bIns="0" rtlCol="0">
            <a:spAutoFit/>
          </a:bodyPr>
          <a:lstStyle/>
          <a:p>
            <a:r>
              <a:rPr lang="en-US" sz="1400" b="1" dirty="0" smtClean="0">
                <a:solidFill>
                  <a:schemeClr val="accent1"/>
                </a:solidFill>
              </a:rPr>
              <a:t>Rate of adoption of central wet mills</a:t>
            </a:r>
            <a:endParaRPr lang="en-US" sz="1400" b="1" dirty="0">
              <a:solidFill>
                <a:schemeClr val="accent1"/>
              </a:solidFill>
            </a:endParaRPr>
          </a:p>
        </p:txBody>
      </p:sp>
      <p:sp>
        <p:nvSpPr>
          <p:cNvPr id="8" name="TextBox 7"/>
          <p:cNvSpPr txBox="1"/>
          <p:nvPr/>
        </p:nvSpPr>
        <p:spPr>
          <a:xfrm>
            <a:off x="1439452" y="3178996"/>
            <a:ext cx="2846795" cy="200055"/>
          </a:xfrm>
          <a:prstGeom prst="rect">
            <a:avLst/>
          </a:prstGeom>
          <a:solidFill>
            <a:schemeClr val="bg1"/>
          </a:solidFill>
        </p:spPr>
        <p:txBody>
          <a:bodyPr wrap="square" lIns="0" tIns="0" rIns="0" bIns="0" rtlCol="0">
            <a:spAutoFit/>
          </a:bodyPr>
          <a:lstStyle/>
          <a:p>
            <a:r>
              <a:rPr lang="en-US" sz="1300" b="1" dirty="0" smtClean="0">
                <a:solidFill>
                  <a:schemeClr val="accent1"/>
                </a:solidFill>
              </a:rPr>
              <a:t>Fast adopters</a:t>
            </a:r>
            <a:endParaRPr lang="en-US" sz="1300" b="1" dirty="0">
              <a:solidFill>
                <a:schemeClr val="accent1"/>
              </a:solidFill>
            </a:endParaRPr>
          </a:p>
        </p:txBody>
      </p:sp>
      <p:sp>
        <p:nvSpPr>
          <p:cNvPr id="24" name="TextBox 23"/>
          <p:cNvSpPr txBox="1"/>
          <p:nvPr/>
        </p:nvSpPr>
        <p:spPr>
          <a:xfrm>
            <a:off x="5203701" y="3196947"/>
            <a:ext cx="3145911" cy="200055"/>
          </a:xfrm>
          <a:prstGeom prst="rect">
            <a:avLst/>
          </a:prstGeom>
          <a:solidFill>
            <a:schemeClr val="bg1"/>
          </a:solidFill>
        </p:spPr>
        <p:txBody>
          <a:bodyPr wrap="square" lIns="0" tIns="0" rIns="0" bIns="0" rtlCol="0">
            <a:spAutoFit/>
          </a:bodyPr>
          <a:lstStyle/>
          <a:p>
            <a:r>
              <a:rPr lang="en-US" sz="1300" b="1" dirty="0" smtClean="0">
                <a:solidFill>
                  <a:schemeClr val="accent1"/>
                </a:solidFill>
              </a:rPr>
              <a:t>Slow adopters</a:t>
            </a:r>
            <a:endParaRPr lang="en-US" sz="1300" b="1" dirty="0">
              <a:solidFill>
                <a:schemeClr val="accent1"/>
              </a:solidFill>
            </a:endParaRPr>
          </a:p>
        </p:txBody>
      </p:sp>
      <p:sp>
        <p:nvSpPr>
          <p:cNvPr id="21" name="TextBox 20"/>
          <p:cNvSpPr txBox="1"/>
          <p:nvPr/>
        </p:nvSpPr>
        <p:spPr>
          <a:xfrm>
            <a:off x="320038" y="3627834"/>
            <a:ext cx="1028700" cy="200055"/>
          </a:xfrm>
          <a:prstGeom prst="rect">
            <a:avLst/>
          </a:prstGeom>
          <a:noFill/>
        </p:spPr>
        <p:txBody>
          <a:bodyPr wrap="square" lIns="0" tIns="0" rIns="0" bIns="0" rtlCol="0">
            <a:spAutoFit/>
          </a:bodyPr>
          <a:lstStyle/>
          <a:p>
            <a:r>
              <a:rPr lang="en-US" sz="1300" b="1" dirty="0" smtClean="0">
                <a:solidFill>
                  <a:schemeClr val="accent1"/>
                </a:solidFill>
              </a:rPr>
              <a:t>Farm traits</a:t>
            </a:r>
            <a:endParaRPr lang="en-US" sz="1300" b="1" dirty="0">
              <a:solidFill>
                <a:schemeClr val="accent1"/>
              </a:solidFill>
            </a:endParaRPr>
          </a:p>
        </p:txBody>
      </p:sp>
      <p:cxnSp>
        <p:nvCxnSpPr>
          <p:cNvPr id="26" name="Straight Connector 25"/>
          <p:cNvCxnSpPr/>
          <p:nvPr/>
        </p:nvCxnSpPr>
        <p:spPr>
          <a:xfrm>
            <a:off x="1439452" y="3469541"/>
            <a:ext cx="36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203700" y="3469541"/>
            <a:ext cx="36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439452" y="3627834"/>
            <a:ext cx="3402096" cy="120032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300" dirty="0" smtClean="0"/>
              <a:t>Insufficient home wet-milling facilities (e.g., lack of drying space)</a:t>
            </a:r>
          </a:p>
          <a:p>
            <a:pPr marL="285750" indent="-285750">
              <a:buFont typeface="Arial" panose="020B0604020202020204" pitchFamily="34" charset="0"/>
              <a:buChar char="•"/>
            </a:pPr>
            <a:r>
              <a:rPr lang="en-US" sz="1300" dirty="0" smtClean="0"/>
              <a:t>High opportunity cost of labor / time</a:t>
            </a:r>
          </a:p>
          <a:p>
            <a:pPr marL="285750" indent="-285750">
              <a:buFont typeface="Arial" panose="020B0604020202020204" pitchFamily="34" charset="0"/>
              <a:buChar char="•"/>
            </a:pPr>
            <a:r>
              <a:rPr lang="en-US" sz="1300" dirty="0" smtClean="0"/>
              <a:t>High potential to improve quality</a:t>
            </a:r>
          </a:p>
          <a:p>
            <a:pPr marL="285750" indent="-285750">
              <a:buFont typeface="Arial" panose="020B0604020202020204" pitchFamily="34" charset="0"/>
              <a:buChar char="•"/>
            </a:pPr>
            <a:r>
              <a:rPr lang="en-US" sz="1300" dirty="0" smtClean="0"/>
              <a:t>Committed buyer present</a:t>
            </a:r>
          </a:p>
          <a:p>
            <a:pPr marL="285750" indent="-285750">
              <a:buFont typeface="Arial" panose="020B0604020202020204" pitchFamily="34" charset="0"/>
              <a:buChar char="•"/>
            </a:pPr>
            <a:r>
              <a:rPr lang="en-US" sz="1300" dirty="0" smtClean="0"/>
              <a:t>Good road access</a:t>
            </a:r>
            <a:endParaRPr lang="en-US" sz="1300" dirty="0"/>
          </a:p>
        </p:txBody>
      </p:sp>
      <p:sp>
        <p:nvSpPr>
          <p:cNvPr id="30" name="TextBox 29"/>
          <p:cNvSpPr txBox="1"/>
          <p:nvPr/>
        </p:nvSpPr>
        <p:spPr>
          <a:xfrm>
            <a:off x="5203700" y="3623282"/>
            <a:ext cx="3600000" cy="120032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300" dirty="0" smtClean="0"/>
              <a:t>Recently built and well-maintained home wet-milling facilities</a:t>
            </a:r>
          </a:p>
          <a:p>
            <a:pPr marL="285750" indent="-285750">
              <a:buFont typeface="Arial" panose="020B0604020202020204" pitchFamily="34" charset="0"/>
              <a:buChar char="•"/>
            </a:pPr>
            <a:r>
              <a:rPr lang="en-US" sz="1300" dirty="0" smtClean="0"/>
              <a:t>Low opportunity cost of labor / time</a:t>
            </a:r>
          </a:p>
          <a:p>
            <a:pPr marL="285750" indent="-285750">
              <a:buFont typeface="Arial" panose="020B0604020202020204" pitchFamily="34" charset="0"/>
              <a:buChar char="•"/>
            </a:pPr>
            <a:r>
              <a:rPr lang="en-US" sz="1300" dirty="0" smtClean="0"/>
              <a:t>Less potential to improve quality</a:t>
            </a:r>
          </a:p>
          <a:p>
            <a:pPr marL="285750" indent="-285750">
              <a:buFont typeface="Arial" panose="020B0604020202020204" pitchFamily="34" charset="0"/>
              <a:buChar char="•"/>
            </a:pPr>
            <a:r>
              <a:rPr lang="en-US" sz="1300" dirty="0" smtClean="0"/>
              <a:t>No committed buyer</a:t>
            </a:r>
          </a:p>
          <a:p>
            <a:pPr marL="285750" indent="-285750">
              <a:buFont typeface="Arial" panose="020B0604020202020204" pitchFamily="34" charset="0"/>
              <a:buChar char="•"/>
            </a:pPr>
            <a:r>
              <a:rPr lang="en-US" sz="1300" dirty="0" smtClean="0"/>
              <a:t>Poor road access / remote areas</a:t>
            </a:r>
            <a:endParaRPr lang="en-US" sz="1300" dirty="0"/>
          </a:p>
        </p:txBody>
      </p:sp>
      <p:sp>
        <p:nvSpPr>
          <p:cNvPr id="32" name="TextBox 31"/>
          <p:cNvSpPr txBox="1"/>
          <p:nvPr/>
        </p:nvSpPr>
        <p:spPr>
          <a:xfrm>
            <a:off x="1475255" y="5385364"/>
            <a:ext cx="3268193" cy="600164"/>
          </a:xfrm>
          <a:prstGeom prst="rect">
            <a:avLst/>
          </a:prstGeom>
          <a:noFill/>
          <a:ln>
            <a:noFill/>
          </a:ln>
        </p:spPr>
        <p:txBody>
          <a:bodyPr wrap="square" lIns="0" tIns="0" rIns="0" bIns="0" rtlCol="0">
            <a:spAutoFit/>
          </a:bodyPr>
          <a:lstStyle/>
          <a:p>
            <a:r>
              <a:rPr lang="en-US" sz="1300" dirty="0" smtClean="0"/>
              <a:t>Particularly relevant to archetypes in higher altitudes in the South (lack of infrastructure) and central parts with high opportunity costs </a:t>
            </a:r>
            <a:endParaRPr lang="en-US" sz="1300" dirty="0"/>
          </a:p>
        </p:txBody>
      </p:sp>
      <p:sp>
        <p:nvSpPr>
          <p:cNvPr id="36" name="TextBox 35"/>
          <p:cNvSpPr txBox="1"/>
          <p:nvPr/>
        </p:nvSpPr>
        <p:spPr>
          <a:xfrm>
            <a:off x="5222332" y="5388284"/>
            <a:ext cx="3268193" cy="600164"/>
          </a:xfrm>
          <a:prstGeom prst="rect">
            <a:avLst/>
          </a:prstGeom>
          <a:noFill/>
          <a:ln>
            <a:noFill/>
          </a:ln>
        </p:spPr>
        <p:txBody>
          <a:bodyPr wrap="square" lIns="0" tIns="0" rIns="0" bIns="0" rtlCol="0">
            <a:spAutoFit/>
          </a:bodyPr>
          <a:lstStyle/>
          <a:p>
            <a:r>
              <a:rPr lang="en-US" sz="1300" dirty="0" smtClean="0"/>
              <a:t>Particularly relevant to archetypes in lower altitudes in the South with low opportunity costs and in remote areas</a:t>
            </a:r>
            <a:endParaRPr lang="en-US" sz="1300" dirty="0"/>
          </a:p>
        </p:txBody>
      </p:sp>
      <p:pic>
        <p:nvPicPr>
          <p:cNvPr id="157709" name="Picture 13" descr="http://voyager2.dvc.edu/~alacayo/bell_curve_image.bmp"/>
          <p:cNvPicPr>
            <a:picLocks noChangeAspect="1" noChangeArrowheads="1"/>
          </p:cNvPicPr>
          <p:nvPr/>
        </p:nvPicPr>
        <p:blipFill rotWithShape="1">
          <a:blip r:embed="rId7">
            <a:extLst>
              <a:ext uri="{28A0092B-C50C-407E-A947-70E740481C1C}">
                <a14:useLocalDpi xmlns:a14="http://schemas.microsoft.com/office/drawing/2010/main" val="0"/>
              </a:ext>
            </a:extLst>
          </a:blip>
          <a:srcRect l="10131" t="15452" r="967" b="15849"/>
          <a:stretch/>
        </p:blipFill>
        <p:spPr bwMode="auto">
          <a:xfrm>
            <a:off x="1234438" y="1447020"/>
            <a:ext cx="7569262" cy="1613356"/>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6009965" y="1113745"/>
            <a:ext cx="3020779" cy="772187"/>
            <a:chOff x="6067117" y="1599537"/>
            <a:chExt cx="3020779" cy="772187"/>
          </a:xfrm>
        </p:grpSpPr>
        <p:sp>
          <p:nvSpPr>
            <p:cNvPr id="3" name="Rounded Rectangle 2"/>
            <p:cNvSpPr/>
            <p:nvPr/>
          </p:nvSpPr>
          <p:spPr>
            <a:xfrm>
              <a:off x="6067117" y="1599537"/>
              <a:ext cx="3020779" cy="77218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6114687" y="1685548"/>
              <a:ext cx="2925638" cy="600164"/>
            </a:xfrm>
            <a:prstGeom prst="rect">
              <a:avLst/>
            </a:prstGeom>
            <a:noFill/>
          </p:spPr>
          <p:txBody>
            <a:bodyPr wrap="square" lIns="0" tIns="0" rIns="0" bIns="0" rtlCol="0">
              <a:spAutoFit/>
            </a:bodyPr>
            <a:lstStyle/>
            <a:p>
              <a:pPr algn="ctr"/>
              <a:r>
                <a:rPr lang="en-US" sz="1300" dirty="0" smtClean="0">
                  <a:solidFill>
                    <a:schemeClr val="accent1"/>
                  </a:solidFill>
                </a:rPr>
                <a:t>Viability should be assessed on a case-by-case basis, evaluating likelihood of famers to change to central milling</a:t>
              </a:r>
              <a:endParaRPr lang="en-US" sz="1300" dirty="0">
                <a:solidFill>
                  <a:schemeClr val="accent1"/>
                </a:solidFill>
              </a:endParaRPr>
            </a:p>
          </p:txBody>
        </p:sp>
      </p:grpSp>
      <p:sp>
        <p:nvSpPr>
          <p:cNvPr id="25" name="Oval 24"/>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29" name="TextBox 28"/>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2b</a:t>
            </a:r>
            <a:endParaRPr lang="en-US" sz="2400" dirty="0">
              <a:solidFill>
                <a:schemeClr val="bg1"/>
              </a:solidFill>
            </a:endParaRPr>
          </a:p>
        </p:txBody>
      </p:sp>
    </p:spTree>
    <p:extLst>
      <p:ext uri="{BB962C8B-B14F-4D97-AF65-F5344CB8AC3E}">
        <p14:creationId xmlns:p14="http://schemas.microsoft.com/office/powerpoint/2010/main" val="30327162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extLst>
              <p:ext uri="{D42A27DB-BD31-4B8C-83A1-F6EECF244321}">
                <p14:modId xmlns:p14="http://schemas.microsoft.com/office/powerpoint/2010/main" val="79453273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8948"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noAutofit/>
          </a:bodyPr>
          <a:lstStyle/>
          <a:p>
            <a:pPr fontAlgn="base">
              <a:spcBef>
                <a:spcPct val="0"/>
              </a:spcBef>
              <a:spcAft>
                <a:spcPct val="0"/>
              </a:spcAft>
            </a:pPr>
            <a:endParaRPr kumimoji="0" lang="en-US" sz="1200" b="1" u="none" strike="noStrike" cap="none" normalizeH="0" smtClean="0">
              <a:ln>
                <a:noFill/>
              </a:ln>
              <a:solidFill>
                <a:schemeClr val="tx1"/>
              </a:solidFill>
              <a:effectLst/>
              <a:latin typeface="Arial"/>
              <a:sym typeface="Arial"/>
            </a:endParaRPr>
          </a:p>
        </p:txBody>
      </p:sp>
      <p:sp>
        <p:nvSpPr>
          <p:cNvPr id="43" name="McK Footnote"/>
          <p:cNvSpPr txBox="1">
            <a:spLocks noChangeArrowheads="1"/>
          </p:cNvSpPr>
          <p:nvPr/>
        </p:nvSpPr>
        <p:spPr bwMode="auto">
          <a:xfrm>
            <a:off x="641721" y="6249552"/>
            <a:ext cx="7388434" cy="138499"/>
          </a:xfrm>
          <a:prstGeom prst="rect">
            <a:avLst/>
          </a:prstGeom>
          <a:noFill/>
          <a:ln w="9525">
            <a:noFill/>
            <a:miter lim="800000"/>
            <a:headEnd/>
            <a:tailEnd/>
          </a:ln>
        </p:spPr>
        <p:txBody>
          <a:bodyPr wrap="square" lIns="0" tIns="0" rIns="0" bIns="0" anchor="b">
            <a:spAutoFit/>
          </a:bodyPr>
          <a:lstStyle/>
          <a:p>
            <a:pPr marL="563563" indent="-563563" defTabSz="895350">
              <a:tabLst>
                <a:tab pos="517525" algn="r"/>
              </a:tabLst>
            </a:pPr>
            <a:r>
              <a:rPr lang="en-US" sz="900" dirty="0" smtClean="0">
                <a:solidFill>
                  <a:schemeClr val="tx1">
                    <a:lumMod val="65000"/>
                    <a:lumOff val="35000"/>
                  </a:schemeClr>
                </a:solidFill>
              </a:rPr>
              <a:t>Source: Stakeholder interviews, TechnoServe analysis</a:t>
            </a:r>
          </a:p>
        </p:txBody>
      </p:sp>
      <p:sp>
        <p:nvSpPr>
          <p:cNvPr id="7" name="Title 6"/>
          <p:cNvSpPr>
            <a:spLocks noGrp="1"/>
          </p:cNvSpPr>
          <p:nvPr>
            <p:ph type="title"/>
          </p:nvPr>
        </p:nvSpPr>
        <p:spPr/>
        <p:txBody>
          <a:bodyPr/>
          <a:lstStyle/>
          <a:p>
            <a:pPr marL="268288"/>
            <a:r>
              <a:rPr lang="en-US" b="0" dirty="0" smtClean="0"/>
              <a:t>Several risks have to be managed to ensure successful implementation of central wet mills</a:t>
            </a:r>
            <a:endParaRPr lang="en-US" b="0" dirty="0"/>
          </a:p>
        </p:txBody>
      </p:sp>
      <p:graphicFrame>
        <p:nvGraphicFramePr>
          <p:cNvPr id="3" name="Table 2"/>
          <p:cNvGraphicFramePr>
            <a:graphicFrameLocks noGrp="1"/>
          </p:cNvGraphicFramePr>
          <p:nvPr>
            <p:extLst>
              <p:ext uri="{D42A27DB-BD31-4B8C-83A1-F6EECF244321}">
                <p14:modId xmlns:p14="http://schemas.microsoft.com/office/powerpoint/2010/main" val="1163865420"/>
              </p:ext>
            </p:extLst>
          </p:nvPr>
        </p:nvGraphicFramePr>
        <p:xfrm>
          <a:off x="393698" y="1075472"/>
          <a:ext cx="8358190" cy="4987652"/>
        </p:xfrm>
        <a:graphic>
          <a:graphicData uri="http://schemas.openxmlformats.org/drawingml/2006/table">
            <a:tbl>
              <a:tblPr firstRow="1" bandRow="1">
                <a:tableStyleId>{5C22544A-7EE6-4342-B048-85BDC9FD1C3A}</a:tableStyleId>
              </a:tblPr>
              <a:tblGrid>
                <a:gridCol w="1989149"/>
                <a:gridCol w="3149273"/>
                <a:gridCol w="3219768"/>
              </a:tblGrid>
              <a:tr h="333143">
                <a:tc>
                  <a:txBody>
                    <a:bodyPr/>
                    <a:lstStyle/>
                    <a:p>
                      <a:r>
                        <a:rPr lang="en-US" sz="1200" dirty="0" smtClean="0"/>
                        <a:t>Risk</a:t>
                      </a:r>
                      <a:endParaRPr lang="en-US" sz="1200" dirty="0"/>
                    </a:p>
                  </a:txBody>
                  <a:tcP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tc>
                  <a:txBody>
                    <a:bodyPr/>
                    <a:lstStyle/>
                    <a:p>
                      <a:r>
                        <a:rPr lang="en-US" sz="1200" dirty="0" smtClean="0"/>
                        <a:t>Description</a:t>
                      </a:r>
                      <a:endParaRPr lang="en-US" sz="1200" dirty="0"/>
                    </a:p>
                  </a:txBody>
                  <a:tcPr>
                    <a:lnT w="12700" cap="flat" cmpd="sng" algn="ctr">
                      <a:solidFill>
                        <a:schemeClr val="accent1"/>
                      </a:solidFill>
                      <a:prstDash val="solid"/>
                      <a:round/>
                      <a:headEnd type="none" w="med" len="med"/>
                      <a:tailEnd type="none" w="med" len="med"/>
                    </a:lnT>
                  </a:tcPr>
                </a:tc>
                <a:tc>
                  <a:txBody>
                    <a:bodyPr/>
                    <a:lstStyle/>
                    <a:p>
                      <a:r>
                        <a:rPr lang="en-US" sz="1200" dirty="0" smtClean="0"/>
                        <a:t>Mitigating factors</a:t>
                      </a:r>
                      <a:endParaRPr lang="en-US" sz="1200" dirty="0"/>
                    </a:p>
                  </a:txBody>
                  <a:tcP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r>
              <a:tr h="1111966">
                <a:tc>
                  <a:txBody>
                    <a:bodyPr/>
                    <a:lstStyle/>
                    <a:p>
                      <a:r>
                        <a:rPr lang="en-US" sz="1200" b="1" dirty="0" smtClean="0">
                          <a:solidFill>
                            <a:schemeClr val="accent1"/>
                          </a:solidFill>
                        </a:rPr>
                        <a:t>Reduced</a:t>
                      </a:r>
                      <a:r>
                        <a:rPr lang="en-US" sz="1200" b="1" baseline="0" dirty="0" smtClean="0">
                          <a:solidFill>
                            <a:schemeClr val="accent1"/>
                          </a:solidFill>
                        </a:rPr>
                        <a:t> negotiating power for farmers</a:t>
                      </a:r>
                      <a:endParaRPr lang="en-US" sz="1200" b="1" dirty="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solidFill>
                  </a:tcPr>
                </a:tc>
                <a:tc>
                  <a:txBody>
                    <a:bodyPr/>
                    <a:lstStyle/>
                    <a:p>
                      <a:r>
                        <a:rPr lang="en-US" sz="1200" baseline="0" dirty="0" smtClean="0">
                          <a:solidFill>
                            <a:schemeClr val="accent1"/>
                          </a:solidFill>
                        </a:rPr>
                        <a:t>Unprocessed coffee needs to be sold quicker and might lead to reduced negotiating power for farmers as they need to sell cherries within a specific timeframe. Farmers might not be able to hold coffee to wait for better prices</a:t>
                      </a:r>
                      <a:endParaRPr lang="en-US" sz="1200" dirty="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200" dirty="0" smtClean="0">
                          <a:solidFill>
                            <a:schemeClr val="accent1"/>
                          </a:solidFill>
                        </a:rPr>
                        <a:t>Ensure balanced ownership structure and</a:t>
                      </a:r>
                      <a:r>
                        <a:rPr lang="en-US" sz="1200" baseline="0" dirty="0" smtClean="0">
                          <a:solidFill>
                            <a:schemeClr val="accent1"/>
                          </a:solidFill>
                        </a:rPr>
                        <a:t> competition</a:t>
                      </a:r>
                      <a:endParaRPr lang="en-US" sz="1200" dirty="0" smtClean="0">
                        <a:solidFill>
                          <a:schemeClr val="accent1"/>
                        </a:solidFill>
                      </a:endParaRPr>
                    </a:p>
                    <a:p>
                      <a:pPr marL="171450" indent="-171450">
                        <a:buFont typeface="Arial" panose="020B0604020202020204" pitchFamily="34" charset="0"/>
                        <a:buChar char="•"/>
                      </a:pPr>
                      <a:r>
                        <a:rPr lang="en-US" sz="1200" dirty="0" smtClean="0">
                          <a:solidFill>
                            <a:schemeClr val="accent1"/>
                          </a:solidFill>
                        </a:rPr>
                        <a:t>Ensure transparency</a:t>
                      </a:r>
                    </a:p>
                    <a:p>
                      <a:pPr marL="171450" indent="-171450">
                        <a:buFont typeface="Arial" panose="020B0604020202020204" pitchFamily="34" charset="0"/>
                        <a:buChar char="•"/>
                      </a:pPr>
                      <a:r>
                        <a:rPr lang="en-US" sz="1200" dirty="0" smtClean="0">
                          <a:solidFill>
                            <a:schemeClr val="accent1"/>
                          </a:solidFill>
                        </a:rPr>
                        <a:t>Regular</a:t>
                      </a:r>
                      <a:r>
                        <a:rPr lang="en-US" sz="1200" baseline="0" dirty="0" smtClean="0">
                          <a:solidFill>
                            <a:schemeClr val="accent1"/>
                          </a:solidFill>
                        </a:rPr>
                        <a:t> monitoring of purchase prices</a:t>
                      </a:r>
                      <a:endParaRPr lang="en-US" sz="1200" dirty="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solidFill>
                  </a:tcPr>
                </a:tc>
              </a:tr>
              <a:tr h="1454109">
                <a:tc>
                  <a:txBody>
                    <a:bodyPr/>
                    <a:lstStyle/>
                    <a:p>
                      <a:r>
                        <a:rPr lang="en-US" sz="1200" b="1" dirty="0" smtClean="0">
                          <a:solidFill>
                            <a:schemeClr val="accent1"/>
                          </a:solidFill>
                        </a:rPr>
                        <a:t>Ownership</a:t>
                      </a:r>
                      <a:r>
                        <a:rPr lang="en-US" sz="1200" b="1" baseline="0" dirty="0" smtClean="0">
                          <a:solidFill>
                            <a:schemeClr val="accent1"/>
                          </a:solidFill>
                        </a:rPr>
                        <a:t> and c</a:t>
                      </a:r>
                      <a:r>
                        <a:rPr lang="en-US" sz="1200" b="1" dirty="0" smtClean="0">
                          <a:solidFill>
                            <a:schemeClr val="accent1"/>
                          </a:solidFill>
                        </a:rPr>
                        <a:t>orruption</a:t>
                      </a:r>
                      <a:endParaRPr lang="en-US" sz="1200" b="1" dirty="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r>
                        <a:rPr lang="en-US" sz="1200" dirty="0" smtClean="0">
                          <a:solidFill>
                            <a:schemeClr val="accent1"/>
                          </a:solidFill>
                        </a:rPr>
                        <a:t>Potential</a:t>
                      </a:r>
                      <a:r>
                        <a:rPr lang="en-US" sz="1200" baseline="0" dirty="0" smtClean="0">
                          <a:solidFill>
                            <a:schemeClr val="accent1"/>
                          </a:solidFill>
                        </a:rPr>
                        <a:t> for corruption in management of wet mill (misusage of wet mill income; farmers do not receive fair prices)</a:t>
                      </a:r>
                      <a:endParaRPr lang="en-US" sz="1200" dirty="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200" dirty="0" smtClean="0">
                          <a:solidFill>
                            <a:schemeClr val="accent1"/>
                          </a:solidFill>
                        </a:rPr>
                        <a:t>Establish sound financing model, using a mix of local banks and international</a:t>
                      </a:r>
                      <a:r>
                        <a:rPr lang="en-US" sz="1200" baseline="0" dirty="0" smtClean="0">
                          <a:solidFill>
                            <a:schemeClr val="accent1"/>
                          </a:solidFill>
                        </a:rPr>
                        <a:t> investors</a:t>
                      </a:r>
                      <a:endParaRPr lang="en-US" sz="1200" dirty="0" smtClean="0">
                        <a:solidFill>
                          <a:schemeClr val="accent1"/>
                        </a:solidFill>
                      </a:endParaRPr>
                    </a:p>
                    <a:p>
                      <a:pPr marL="171450" indent="-171450">
                        <a:buFont typeface="Arial" panose="020B0604020202020204" pitchFamily="34" charset="0"/>
                        <a:buChar char="•"/>
                      </a:pPr>
                      <a:r>
                        <a:rPr lang="en-US" sz="1200" baseline="0" dirty="0" smtClean="0">
                          <a:solidFill>
                            <a:schemeClr val="accent1"/>
                          </a:solidFill>
                        </a:rPr>
                        <a:t>Implement sound management controls</a:t>
                      </a:r>
                    </a:p>
                    <a:p>
                      <a:pPr marL="171450" indent="-171450">
                        <a:buFont typeface="Arial" panose="020B0604020202020204" pitchFamily="34" charset="0"/>
                        <a:buChar char="•"/>
                      </a:pPr>
                      <a:r>
                        <a:rPr lang="en-US" sz="1200" baseline="0" dirty="0" smtClean="0">
                          <a:solidFill>
                            <a:schemeClr val="accent1"/>
                          </a:solidFill>
                        </a:rPr>
                        <a:t>Implement rigid evaluation and monitoring system</a:t>
                      </a:r>
                    </a:p>
                    <a:p>
                      <a:pPr marL="171450" indent="-171450">
                        <a:buFont typeface="Arial" panose="020B0604020202020204" pitchFamily="34" charset="0"/>
                        <a:buChar char="•"/>
                      </a:pPr>
                      <a:r>
                        <a:rPr lang="en-US" sz="1200" baseline="0" dirty="0" smtClean="0">
                          <a:solidFill>
                            <a:schemeClr val="accent1"/>
                          </a:solidFill>
                        </a:rPr>
                        <a:t>Provide training on governance</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r>
              <a:tr h="769822">
                <a:tc>
                  <a:txBody>
                    <a:bodyPr/>
                    <a:lstStyle/>
                    <a:p>
                      <a:r>
                        <a:rPr lang="en-US" sz="1200" b="1" dirty="0" smtClean="0">
                          <a:solidFill>
                            <a:schemeClr val="accent1"/>
                          </a:solidFill>
                        </a:rPr>
                        <a:t>Negative</a:t>
                      </a:r>
                      <a:r>
                        <a:rPr lang="en-US" sz="1200" b="1" baseline="0" dirty="0" smtClean="0">
                          <a:solidFill>
                            <a:schemeClr val="accent1"/>
                          </a:solidFill>
                        </a:rPr>
                        <a:t> e</a:t>
                      </a:r>
                      <a:r>
                        <a:rPr lang="en-US" sz="1200" b="1" dirty="0" smtClean="0">
                          <a:solidFill>
                            <a:schemeClr val="accent1"/>
                          </a:solidFill>
                        </a:rPr>
                        <a:t>nvironmental</a:t>
                      </a:r>
                      <a:r>
                        <a:rPr lang="en-US" sz="1200" b="1" baseline="0" dirty="0" smtClean="0">
                          <a:solidFill>
                            <a:schemeClr val="accent1"/>
                          </a:solidFill>
                        </a:rPr>
                        <a:t> impact</a:t>
                      </a:r>
                      <a:endParaRPr lang="en-US" sz="1200" b="1" dirty="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r>
                        <a:rPr lang="en-US" sz="1200" dirty="0" smtClean="0">
                          <a:solidFill>
                            <a:schemeClr val="accent1"/>
                          </a:solidFill>
                        </a:rPr>
                        <a:t>Wet mills can</a:t>
                      </a:r>
                      <a:r>
                        <a:rPr lang="en-US" sz="1200" baseline="0" dirty="0" smtClean="0">
                          <a:solidFill>
                            <a:schemeClr val="accent1"/>
                          </a:solidFill>
                        </a:rPr>
                        <a:t> have negative environmental impact as pollution is highly concentrated in wastewater </a:t>
                      </a:r>
                      <a:endParaRPr lang="en-US" sz="1200" dirty="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200" dirty="0" smtClean="0">
                          <a:solidFill>
                            <a:schemeClr val="accent1"/>
                          </a:solidFill>
                        </a:rPr>
                        <a:t>Ensure correct management of concentrated wastewater pollution through implementation</a:t>
                      </a:r>
                      <a:r>
                        <a:rPr lang="en-US" sz="1200" baseline="0" dirty="0" smtClean="0">
                          <a:solidFill>
                            <a:schemeClr val="accent1"/>
                          </a:solidFill>
                        </a:rPr>
                        <a:t> of adequate systems/ processes</a:t>
                      </a:r>
                      <a:endParaRPr lang="en-US" sz="1200" dirty="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r>
              <a:tr h="1111966">
                <a:tc>
                  <a:txBody>
                    <a:bodyPr/>
                    <a:lstStyle/>
                    <a:p>
                      <a:r>
                        <a:rPr lang="en-US" sz="1200" b="1" dirty="0" smtClean="0">
                          <a:solidFill>
                            <a:schemeClr val="accent1"/>
                          </a:solidFill>
                        </a:rPr>
                        <a:t>Low capacity</a:t>
                      </a:r>
                      <a:r>
                        <a:rPr lang="en-US" sz="1200" b="1" baseline="0" dirty="0" smtClean="0">
                          <a:solidFill>
                            <a:schemeClr val="accent1"/>
                          </a:solidFill>
                        </a:rPr>
                        <a:t> usage</a:t>
                      </a:r>
                      <a:endParaRPr lang="en-US" sz="1200" b="1" dirty="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r>
                        <a:rPr lang="en-US" sz="1200" dirty="0" smtClean="0">
                          <a:solidFill>
                            <a:schemeClr val="accent1"/>
                          </a:solidFill>
                        </a:rPr>
                        <a:t>Farmers</a:t>
                      </a:r>
                      <a:r>
                        <a:rPr lang="en-US" sz="1200" baseline="0" dirty="0" smtClean="0">
                          <a:solidFill>
                            <a:schemeClr val="accent1"/>
                          </a:solidFill>
                        </a:rPr>
                        <a:t> might be reluctant to sell their whole harvest to wet mill, e.g., due to high transport cost</a:t>
                      </a:r>
                      <a:endParaRPr lang="en-US" sz="1200" dirty="0" smtClean="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200" dirty="0" smtClean="0">
                          <a:solidFill>
                            <a:schemeClr val="accent1"/>
                          </a:solidFill>
                        </a:rPr>
                        <a:t>Inform</a:t>
                      </a:r>
                      <a:r>
                        <a:rPr lang="en-US" sz="1200" baseline="0" dirty="0" smtClean="0">
                          <a:solidFill>
                            <a:schemeClr val="accent1"/>
                          </a:solidFill>
                        </a:rPr>
                        <a:t> farmers on costs and benefits of using wet mill </a:t>
                      </a:r>
                    </a:p>
                    <a:p>
                      <a:pPr marL="171450" indent="-171450">
                        <a:buFont typeface="Arial" panose="020B0604020202020204" pitchFamily="34" charset="0"/>
                        <a:buChar char="•"/>
                      </a:pPr>
                      <a:r>
                        <a:rPr lang="en-US" sz="1200" baseline="0" dirty="0" smtClean="0">
                          <a:solidFill>
                            <a:schemeClr val="accent1"/>
                          </a:solidFill>
                        </a:rPr>
                        <a:t>Assess transport aspect on a case by case basis and try to work with local/ regional authorities to overcome potential barriers</a:t>
                      </a:r>
                      <a:endParaRPr lang="en-US" sz="1200" dirty="0">
                        <a:solidFill>
                          <a:schemeClr val="accent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r>
            </a:tbl>
          </a:graphicData>
        </a:graphic>
      </p:graphicFrame>
      <p:sp>
        <p:nvSpPr>
          <p:cNvPr id="10" name="Oval 9"/>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smtClean="0">
              <a:ln>
                <a:noFill/>
              </a:ln>
              <a:solidFill>
                <a:schemeClr val="bg1"/>
              </a:solidFill>
              <a:effectLst/>
              <a:latin typeface="Arial" charset="0"/>
            </a:endParaRPr>
          </a:p>
        </p:txBody>
      </p:sp>
      <p:sp>
        <p:nvSpPr>
          <p:cNvPr id="12" name="TextBox 11"/>
          <p:cNvSpPr txBox="1"/>
          <p:nvPr/>
        </p:nvSpPr>
        <p:spPr>
          <a:xfrm>
            <a:off x="187587" y="268290"/>
            <a:ext cx="401444" cy="369332"/>
          </a:xfrm>
          <a:prstGeom prst="rect">
            <a:avLst/>
          </a:prstGeom>
          <a:noFill/>
        </p:spPr>
        <p:txBody>
          <a:bodyPr wrap="square" lIns="0" tIns="0" rIns="0" bIns="0" rtlCol="0">
            <a:spAutoFit/>
          </a:bodyPr>
          <a:lstStyle/>
          <a:p>
            <a:r>
              <a:rPr lang="en-US" sz="2400" dirty="0" smtClean="0">
                <a:solidFill>
                  <a:schemeClr val="bg1"/>
                </a:solidFill>
              </a:rPr>
              <a:t>2b</a:t>
            </a:r>
            <a:endParaRPr lang="en-US" sz="2400" dirty="0">
              <a:solidFill>
                <a:schemeClr val="bg1"/>
              </a:solidFill>
            </a:endParaRPr>
          </a:p>
        </p:txBody>
      </p:sp>
    </p:spTree>
    <p:extLst>
      <p:ext uri="{BB962C8B-B14F-4D97-AF65-F5344CB8AC3E}">
        <p14:creationId xmlns:p14="http://schemas.microsoft.com/office/powerpoint/2010/main" val="178044578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p:custDataLst>
              <p:tags r:id="rId2"/>
            </p:custDataLst>
            <p:extLst>
              <p:ext uri="{D42A27DB-BD31-4B8C-83A1-F6EECF244321}">
                <p14:modId xmlns:p14="http://schemas.microsoft.com/office/powerpoint/2010/main" val="53727767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5226" name="think-cell Slide" r:id="rId20" imgW="6350000" imgH="6350000" progId="TCLayout.ActiveDocument.1">
                  <p:embed/>
                </p:oleObj>
              </mc:Choice>
              <mc:Fallback>
                <p:oleObj name="think-cell Slide" r:id="rId20" imgW="6350000" imgH="6350000" progId="TCLayout.ActiveDocument.1">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fontAlgn="base">
              <a:spcBef>
                <a:spcPct val="0"/>
              </a:spcBef>
              <a:spcAft>
                <a:spcPct val="0"/>
              </a:spcAft>
            </a:pPr>
            <a:endParaRPr kumimoji="0" lang="en-US" sz="1400" u="none" strike="noStrike" cap="none" normalizeH="0" smtClean="0">
              <a:ln>
                <a:noFill/>
              </a:ln>
              <a:solidFill>
                <a:schemeClr val="tx1"/>
              </a:solidFill>
              <a:effectLst/>
              <a:latin typeface="Arial"/>
              <a:sym typeface="Arial"/>
            </a:endParaRPr>
          </a:p>
        </p:txBody>
      </p:sp>
      <p:sp>
        <p:nvSpPr>
          <p:cNvPr id="53" name="TextBox 52"/>
          <p:cNvSpPr txBox="1"/>
          <p:nvPr/>
        </p:nvSpPr>
        <p:spPr>
          <a:xfrm>
            <a:off x="585788" y="6220389"/>
            <a:ext cx="7578498" cy="369332"/>
          </a:xfrm>
          <a:prstGeom prst="rect">
            <a:avLst/>
          </a:prstGeom>
          <a:noFill/>
        </p:spPr>
        <p:txBody>
          <a:bodyPr wrap="square" rtlCol="0" anchor="b">
            <a:spAutoFit/>
          </a:bodyPr>
          <a:lstStyle/>
          <a:p>
            <a:r>
              <a:rPr lang="en-US" sz="900" dirty="0" smtClean="0">
                <a:solidFill>
                  <a:schemeClr val="tx1">
                    <a:lumMod val="65000"/>
                    <a:lumOff val="35000"/>
                  </a:schemeClr>
                </a:solidFill>
              </a:rPr>
              <a:t>* Including cash and non-cash costs</a:t>
            </a:r>
          </a:p>
          <a:p>
            <a:r>
              <a:rPr lang="en-US" sz="900" dirty="0" smtClean="0">
                <a:solidFill>
                  <a:schemeClr val="tx1">
                    <a:lumMod val="65000"/>
                    <a:lumOff val="35000"/>
                  </a:schemeClr>
                </a:solidFill>
              </a:rPr>
              <a:t>Source: Interviews; TechnoServe analysis </a:t>
            </a:r>
            <a:endParaRPr lang="en-US" sz="900" dirty="0">
              <a:solidFill>
                <a:schemeClr val="tx1">
                  <a:lumMod val="65000"/>
                  <a:lumOff val="35000"/>
                </a:schemeClr>
              </a:solidFill>
            </a:endParaRPr>
          </a:p>
        </p:txBody>
      </p:sp>
      <p:sp>
        <p:nvSpPr>
          <p:cNvPr id="34" name="Title 6"/>
          <p:cNvSpPr>
            <a:spLocks noGrp="1"/>
          </p:cNvSpPr>
          <p:nvPr>
            <p:ph type="title"/>
          </p:nvPr>
        </p:nvSpPr>
        <p:spPr>
          <a:xfrm>
            <a:off x="400869" y="326386"/>
            <a:ext cx="8229600" cy="533423"/>
          </a:xfrm>
        </p:spPr>
        <p:txBody>
          <a:bodyPr/>
          <a:lstStyle/>
          <a:p>
            <a:pPr marL="268288"/>
            <a:r>
              <a:rPr lang="en-US" b="0" dirty="0" smtClean="0"/>
              <a:t>Overall, on farm costs could be reduced by up to 10%</a:t>
            </a:r>
            <a:endParaRPr lang="en-US" b="0" dirty="0"/>
          </a:p>
        </p:txBody>
      </p:sp>
      <p:graphicFrame>
        <p:nvGraphicFramePr>
          <p:cNvPr id="5" name="Object 4"/>
          <p:cNvGraphicFramePr>
            <a:graphicFrameLocks/>
          </p:cNvGraphicFramePr>
          <p:nvPr>
            <p:custDataLst>
              <p:tags r:id="rId4"/>
            </p:custDataLst>
            <p:extLst>
              <p:ext uri="{D42A27DB-BD31-4B8C-83A1-F6EECF244321}">
                <p14:modId xmlns:p14="http://schemas.microsoft.com/office/powerpoint/2010/main" val="2678206224"/>
              </p:ext>
            </p:extLst>
          </p:nvPr>
        </p:nvGraphicFramePr>
        <p:xfrm>
          <a:off x="1905000" y="1981200"/>
          <a:ext cx="1562148" cy="3562313"/>
        </p:xfrm>
        <a:graphic>
          <a:graphicData uri="http://schemas.openxmlformats.org/presentationml/2006/ole">
            <mc:AlternateContent xmlns:mc="http://schemas.openxmlformats.org/markup-compatibility/2006">
              <mc:Choice xmlns:v="urn:schemas-microsoft-com:vml" Requires="v">
                <p:oleObj spid="_x0000_s245227" name="Chart" r:id="rId22" imgW="1562148" imgH="3562313" progId="MSGraph.Chart.8">
                  <p:embed followColorScheme="full"/>
                </p:oleObj>
              </mc:Choice>
              <mc:Fallback>
                <p:oleObj name="Chart" r:id="rId22" imgW="1562148" imgH="3562313" progId="MSGraph.Chart.8">
                  <p:embed followColorScheme="full"/>
                  <p:pic>
                    <p:nvPicPr>
                      <p:cNvPr id="0" name=""/>
                      <p:cNvPicPr/>
                      <p:nvPr/>
                    </p:nvPicPr>
                    <p:blipFill>
                      <a:blip r:embed="rId23"/>
                      <a:stretch>
                        <a:fillRect/>
                      </a:stretch>
                    </p:blipFill>
                    <p:spPr>
                      <a:xfrm>
                        <a:off x="1905000" y="1981200"/>
                        <a:ext cx="1562148" cy="3562313"/>
                      </a:xfrm>
                      <a:prstGeom prst="rect">
                        <a:avLst/>
                      </a:prstGeom>
                    </p:spPr>
                  </p:pic>
                </p:oleObj>
              </mc:Fallback>
            </mc:AlternateContent>
          </a:graphicData>
        </a:graphic>
      </p:graphicFrame>
      <p:sp>
        <p:nvSpPr>
          <p:cNvPr id="45" name="Text Placeholder 90"/>
          <p:cNvSpPr>
            <a:spLocks noGrp="1"/>
          </p:cNvSpPr>
          <p:nvPr>
            <p:custDataLst>
              <p:tags r:id="rId5"/>
            </p:custDataLst>
          </p:nvPr>
        </p:nvSpPr>
        <p:spPr bwMode="auto">
          <a:xfrm>
            <a:off x="1347788" y="4937125"/>
            <a:ext cx="777875" cy="425450"/>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4332FECE-7EAA-43D8-BF04-DA54DA2B096E}" type="datetime'''''O''''th''e''r''''''''''''&#10;f''''a''''rm''-''l''ev''el'''''">
              <a:rPr lang="en-US" sz="1400">
                <a:solidFill>
                  <a:schemeClr val="accent1"/>
                </a:solidFill>
              </a:rPr>
              <a:pPr/>
              <a:t>Other
farm-level</a:t>
            </a:fld>
            <a:endParaRPr lang="en-US" sz="1400" dirty="0">
              <a:solidFill>
                <a:schemeClr val="accent1"/>
              </a:solidFill>
              <a:latin typeface="Arial"/>
              <a:sym typeface="Arial"/>
            </a:endParaRPr>
          </a:p>
        </p:txBody>
      </p:sp>
      <p:sp>
        <p:nvSpPr>
          <p:cNvPr id="41" name="Text Placeholder 86"/>
          <p:cNvSpPr>
            <a:spLocks noGrp="1"/>
          </p:cNvSpPr>
          <p:nvPr>
            <p:custDataLst>
              <p:tags r:id="rId6"/>
            </p:custDataLst>
          </p:nvPr>
        </p:nvSpPr>
        <p:spPr bwMode="auto">
          <a:xfrm>
            <a:off x="1219200" y="4132263"/>
            <a:ext cx="90646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F322A7BE-324A-479F-860E-CAE2076E12F0}" type="datetime'A''''''g''''''r''''''''o-''''''''''''''in''''p''''''u''''t''s'">
              <a:rPr lang="en-US" sz="1400">
                <a:solidFill>
                  <a:schemeClr val="accent1"/>
                </a:solidFill>
              </a:rPr>
              <a:pPr marL="0" indent="0" algn="r">
                <a:spcBef>
                  <a:spcPct val="0"/>
                </a:spcBef>
                <a:spcAft>
                  <a:spcPct val="0"/>
                </a:spcAft>
                <a:buNone/>
              </a:pPr>
              <a:t>Agro-inputs</a:t>
            </a:fld>
            <a:endParaRPr lang="en-US" sz="1400" dirty="0">
              <a:solidFill>
                <a:schemeClr val="accent1"/>
              </a:solidFill>
              <a:latin typeface="Arial"/>
              <a:sym typeface="Arial"/>
            </a:endParaRPr>
          </a:p>
        </p:txBody>
      </p:sp>
      <p:sp>
        <p:nvSpPr>
          <p:cNvPr id="40" name="Text Placeholder 85"/>
          <p:cNvSpPr>
            <a:spLocks noGrp="1"/>
          </p:cNvSpPr>
          <p:nvPr>
            <p:custDataLst>
              <p:tags r:id="rId7"/>
            </p:custDataLst>
          </p:nvPr>
        </p:nvSpPr>
        <p:spPr bwMode="auto">
          <a:xfrm>
            <a:off x="1327150" y="2979738"/>
            <a:ext cx="798513" cy="212725"/>
          </a:xfrm>
          <a:prstGeom prst="rect">
            <a:avLst/>
          </a:prstGeom>
          <a:noFill/>
          <a:extLst>
            <a:ext uri="{909E8E84-426E-40DD-AFC4-6F175D3DCCD1}">
              <a14:hiddenFill xmlns:a14="http://schemas.microsoft.com/office/drawing/2010/main">
                <a:solidFill>
                  <a:scrgbClr r="0" g="0" b="0"/>
                </a:solidFill>
              </a14:hiddenFill>
            </a:ext>
          </a:extLst>
        </p:spPr>
        <p:txBody>
          <a:bodyPr wrap="none" lIns="0" tIns="0" rIns="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r">
              <a:spcBef>
                <a:spcPct val="0"/>
              </a:spcBef>
              <a:spcAft>
                <a:spcPct val="0"/>
              </a:spcAft>
              <a:buNone/>
            </a:pPr>
            <a:fld id="{5BB3EB9E-511F-444A-AC2D-2AC8C0093AF9}" type="datetime'Pa''''''''i''''''''d'''' ''''''''''''l''''''''ab''''''o''r'">
              <a:rPr lang="en-US" sz="1400">
                <a:solidFill>
                  <a:schemeClr val="accent1"/>
                </a:solidFill>
              </a:rPr>
              <a:pPr marL="0" indent="0" algn="r">
                <a:spcBef>
                  <a:spcPct val="0"/>
                </a:spcBef>
                <a:spcAft>
                  <a:spcPct val="0"/>
                </a:spcAft>
                <a:buNone/>
              </a:pPr>
              <a:t>Paid labor</a:t>
            </a:fld>
            <a:endParaRPr lang="en-US" sz="1400" dirty="0">
              <a:solidFill>
                <a:schemeClr val="accent1"/>
              </a:solidFill>
              <a:latin typeface="Arial"/>
              <a:sym typeface="Arial"/>
            </a:endParaRPr>
          </a:p>
        </p:txBody>
      </p:sp>
      <p:sp>
        <p:nvSpPr>
          <p:cNvPr id="38" name="Text Placeholder 162"/>
          <p:cNvSpPr>
            <a:spLocks noGrp="1"/>
          </p:cNvSpPr>
          <p:nvPr>
            <p:custDataLst>
              <p:tags r:id="rId8"/>
            </p:custDataLst>
          </p:nvPr>
        </p:nvSpPr>
        <p:spPr bwMode="gray">
          <a:xfrm>
            <a:off x="2489200" y="5065713"/>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076E02B0-5D21-4325-BF55-83531CA577D8}" type="datetime'''''0.''2''1'''''''''''''''''''''''''''''''''''''''''''''''''">
              <a:rPr lang="en-US" sz="1400">
                <a:solidFill>
                  <a:schemeClr val="accent1"/>
                </a:solidFill>
              </a:rPr>
              <a:pPr/>
              <a:t>0.21</a:t>
            </a:fld>
            <a:endParaRPr lang="en-US" sz="1400" dirty="0">
              <a:solidFill>
                <a:schemeClr val="accent1"/>
              </a:solidFill>
              <a:latin typeface="Arial"/>
              <a:sym typeface="Arial"/>
            </a:endParaRPr>
          </a:p>
        </p:txBody>
      </p:sp>
      <p:sp>
        <p:nvSpPr>
          <p:cNvPr id="39" name="Text Placeholder 163"/>
          <p:cNvSpPr>
            <a:spLocks noGrp="1"/>
          </p:cNvSpPr>
          <p:nvPr>
            <p:custDataLst>
              <p:tags r:id="rId9"/>
            </p:custDataLst>
          </p:nvPr>
        </p:nvSpPr>
        <p:spPr bwMode="gray">
          <a:xfrm>
            <a:off x="2489200" y="4132263"/>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A711C5E3-A6A7-405A-9D54-0B21B49B2241}" type="datetime'''''''''''''0''''''''''''''''''''''''''''.''5''''''2'''''''">
              <a:rPr lang="en-US" sz="1400">
                <a:solidFill>
                  <a:schemeClr val="accent1"/>
                </a:solidFill>
              </a:rPr>
              <a:pPr/>
              <a:t>0.52</a:t>
            </a:fld>
            <a:endParaRPr lang="en-US" sz="1400" dirty="0">
              <a:solidFill>
                <a:schemeClr val="accent1"/>
              </a:solidFill>
              <a:latin typeface="Arial"/>
              <a:sym typeface="Arial"/>
            </a:endParaRPr>
          </a:p>
        </p:txBody>
      </p:sp>
      <p:sp>
        <p:nvSpPr>
          <p:cNvPr id="42" name="Text Placeholder 164"/>
          <p:cNvSpPr>
            <a:spLocks noGrp="1"/>
          </p:cNvSpPr>
          <p:nvPr>
            <p:custDataLst>
              <p:tags r:id="rId10"/>
            </p:custDataLst>
          </p:nvPr>
        </p:nvSpPr>
        <p:spPr bwMode="gray">
          <a:xfrm>
            <a:off x="2489200" y="2979738"/>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BAD73816-4EC6-428F-AEFD-3551EE587058}" type="datetime'''''''''''''''''''0''.''3''''''''''''''''''''''''''''''8'''''">
              <a:rPr lang="en-US" sz="1400">
                <a:solidFill>
                  <a:schemeClr val="bg1"/>
                </a:solidFill>
              </a:rPr>
              <a:pPr/>
              <a:t>0.38</a:t>
            </a:fld>
            <a:endParaRPr lang="en-US" sz="1400">
              <a:solidFill>
                <a:schemeClr val="bg1"/>
              </a:solidFill>
              <a:latin typeface="Arial"/>
              <a:sym typeface="Arial"/>
            </a:endParaRPr>
          </a:p>
        </p:txBody>
      </p:sp>
      <p:grpSp>
        <p:nvGrpSpPr>
          <p:cNvPr id="2" name="Group 1"/>
          <p:cNvGrpSpPr/>
          <p:nvPr/>
        </p:nvGrpSpPr>
        <p:grpSpPr>
          <a:xfrm>
            <a:off x="1174750" y="934924"/>
            <a:ext cx="6640299" cy="523220"/>
            <a:chOff x="603251" y="1125996"/>
            <a:chExt cx="8222740" cy="523220"/>
          </a:xfrm>
        </p:grpSpPr>
        <p:sp>
          <p:nvSpPr>
            <p:cNvPr id="4" name="TextBox 3"/>
            <p:cNvSpPr txBox="1"/>
            <p:nvPr/>
          </p:nvSpPr>
          <p:spPr>
            <a:xfrm>
              <a:off x="603251" y="1125996"/>
              <a:ext cx="8222740" cy="523220"/>
            </a:xfrm>
            <a:prstGeom prst="rect">
              <a:avLst/>
            </a:prstGeom>
            <a:noFill/>
          </p:spPr>
          <p:txBody>
            <a:bodyPr wrap="square" rtlCol="0">
              <a:spAutoFit/>
            </a:bodyPr>
            <a:lstStyle/>
            <a:p>
              <a:r>
                <a:rPr lang="en-US" sz="1400" b="1" dirty="0" smtClean="0">
                  <a:solidFill>
                    <a:schemeClr val="accent1"/>
                  </a:solidFill>
                </a:rPr>
                <a:t>Average on-farm costs for mainstream archetypes*</a:t>
              </a:r>
            </a:p>
            <a:p>
              <a:r>
                <a:rPr lang="en-US" sz="1400" dirty="0">
                  <a:solidFill>
                    <a:schemeClr val="accent1"/>
                  </a:solidFill>
                </a:rPr>
                <a:t>US$  per lb </a:t>
              </a:r>
              <a:r>
                <a:rPr lang="en-US" sz="1400" dirty="0" smtClean="0">
                  <a:solidFill>
                    <a:schemeClr val="accent1"/>
                  </a:solidFill>
                </a:rPr>
                <a:t>green</a:t>
              </a:r>
              <a:endParaRPr lang="en-US" sz="1400" b="1" dirty="0" smtClean="0">
                <a:solidFill>
                  <a:schemeClr val="accent1"/>
                </a:solidFill>
              </a:endParaRPr>
            </a:p>
          </p:txBody>
        </p:sp>
        <p:cxnSp>
          <p:nvCxnSpPr>
            <p:cNvPr id="55" name="Straight Connector 54"/>
            <p:cNvCxnSpPr/>
            <p:nvPr/>
          </p:nvCxnSpPr>
          <p:spPr bwMode="auto">
            <a:xfrm>
              <a:off x="687831" y="1647366"/>
              <a:ext cx="8138160" cy="0"/>
            </a:xfrm>
            <a:prstGeom prst="line">
              <a:avLst/>
            </a:prstGeom>
            <a:solidFill>
              <a:schemeClr val="accent1"/>
            </a:solidFill>
            <a:ln w="9525" cap="flat" cmpd="sng" algn="ctr">
              <a:solidFill>
                <a:schemeClr val="accent1"/>
              </a:solidFill>
              <a:prstDash val="solid"/>
              <a:round/>
              <a:headEnd type="none" w="med" len="med"/>
              <a:tailEnd type="none" w="med" len="med"/>
            </a:ln>
            <a:effectLst/>
          </p:spPr>
        </p:cxnSp>
      </p:grpSp>
      <p:sp>
        <p:nvSpPr>
          <p:cNvPr id="3" name="Isosceles Triangle 2"/>
          <p:cNvSpPr/>
          <p:nvPr/>
        </p:nvSpPr>
        <p:spPr>
          <a:xfrm rot="5400000">
            <a:off x="2251075" y="3867624"/>
            <a:ext cx="2959423" cy="219927"/>
          </a:xfrm>
          <a:prstGeom prst="triangl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5" name="Object 64"/>
          <p:cNvGraphicFramePr>
            <a:graphicFrameLocks/>
          </p:cNvGraphicFramePr>
          <p:nvPr>
            <p:custDataLst>
              <p:tags r:id="rId11"/>
            </p:custDataLst>
            <p:extLst>
              <p:ext uri="{D42A27DB-BD31-4B8C-83A1-F6EECF244321}">
                <p14:modId xmlns:p14="http://schemas.microsoft.com/office/powerpoint/2010/main" val="1250092926"/>
              </p:ext>
            </p:extLst>
          </p:nvPr>
        </p:nvGraphicFramePr>
        <p:xfrm>
          <a:off x="3886200" y="1981201"/>
          <a:ext cx="1647719" cy="3562313"/>
        </p:xfrm>
        <a:graphic>
          <a:graphicData uri="http://schemas.openxmlformats.org/presentationml/2006/ole">
            <mc:AlternateContent xmlns:mc="http://schemas.openxmlformats.org/markup-compatibility/2006">
              <mc:Choice xmlns:v="urn:schemas-microsoft-com:vml" Requires="v">
                <p:oleObj spid="_x0000_s245228" name="Chart" r:id="rId24" imgW="1647719" imgH="3562313" progId="MSGraph.Chart.8">
                  <p:embed followColorScheme="full"/>
                </p:oleObj>
              </mc:Choice>
              <mc:Fallback>
                <p:oleObj name="Chart" r:id="rId24" imgW="1647719" imgH="3562313" progId="MSGraph.Chart.8">
                  <p:embed followColorScheme="full"/>
                  <p:pic>
                    <p:nvPicPr>
                      <p:cNvPr id="0" name=""/>
                      <p:cNvPicPr/>
                      <p:nvPr/>
                    </p:nvPicPr>
                    <p:blipFill>
                      <a:blip r:embed="rId25"/>
                      <a:stretch>
                        <a:fillRect/>
                      </a:stretch>
                    </p:blipFill>
                    <p:spPr>
                      <a:xfrm>
                        <a:off x="3886200" y="1981201"/>
                        <a:ext cx="1647719" cy="3562313"/>
                      </a:xfrm>
                      <a:prstGeom prst="rect">
                        <a:avLst/>
                      </a:prstGeom>
                    </p:spPr>
                  </p:pic>
                </p:oleObj>
              </mc:Fallback>
            </mc:AlternateContent>
          </a:graphicData>
        </a:graphic>
      </p:graphicFrame>
      <p:sp>
        <p:nvSpPr>
          <p:cNvPr id="44" name="Text Placeholder 166"/>
          <p:cNvSpPr>
            <a:spLocks noGrp="1"/>
          </p:cNvSpPr>
          <p:nvPr>
            <p:custDataLst>
              <p:tags r:id="rId12"/>
            </p:custDataLst>
          </p:nvPr>
        </p:nvSpPr>
        <p:spPr bwMode="gray">
          <a:xfrm>
            <a:off x="4522788" y="5103813"/>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632443D9-00D0-48C7-A901-AA18CB2892C6}" type="datetime'0''''''''''''''.''''1''''''''''''''''''''''''8'''''''''''">
              <a:rPr lang="en-US" sz="1400">
                <a:solidFill>
                  <a:schemeClr val="accent1"/>
                </a:solidFill>
              </a:rPr>
              <a:pPr/>
              <a:t>0.18</a:t>
            </a:fld>
            <a:endParaRPr lang="en-US" sz="1400" dirty="0">
              <a:solidFill>
                <a:schemeClr val="accent1"/>
              </a:solidFill>
              <a:latin typeface="Arial"/>
              <a:sym typeface="Arial"/>
            </a:endParaRPr>
          </a:p>
        </p:txBody>
      </p:sp>
      <p:sp>
        <p:nvSpPr>
          <p:cNvPr id="46" name="Text Placeholder 167"/>
          <p:cNvSpPr>
            <a:spLocks noGrp="1"/>
          </p:cNvSpPr>
          <p:nvPr>
            <p:custDataLst>
              <p:tags r:id="rId13"/>
            </p:custDataLst>
          </p:nvPr>
        </p:nvSpPr>
        <p:spPr bwMode="gray">
          <a:xfrm>
            <a:off x="4522788" y="4260850"/>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2E21C794-4B6D-4029-A5D4-AC75546BA3CD}" type="datetime'''''''''0''''''''''''''''.''''''4''''8'''''''''''">
              <a:rPr lang="en-US" sz="1400">
                <a:solidFill>
                  <a:schemeClr val="accent1"/>
                </a:solidFill>
              </a:rPr>
              <a:pPr/>
              <a:t>0.48</a:t>
            </a:fld>
            <a:endParaRPr lang="en-US" sz="1400" dirty="0">
              <a:solidFill>
                <a:schemeClr val="accent1"/>
              </a:solidFill>
              <a:latin typeface="Arial"/>
              <a:sym typeface="Arial"/>
            </a:endParaRPr>
          </a:p>
        </p:txBody>
      </p:sp>
      <p:sp>
        <p:nvSpPr>
          <p:cNvPr id="47" name="Text Placeholder 168"/>
          <p:cNvSpPr>
            <a:spLocks noGrp="1"/>
          </p:cNvSpPr>
          <p:nvPr>
            <p:custDataLst>
              <p:tags r:id="rId14"/>
            </p:custDataLst>
          </p:nvPr>
        </p:nvSpPr>
        <p:spPr bwMode="gray">
          <a:xfrm>
            <a:off x="4522788" y="3160713"/>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C4AF102-0FAD-4CBD-8A44-EAB79AE0DF61}" type="datetime'''''''''''0.''''''''3''''''''''''8'''''''''''''''''''''''''''">
              <a:rPr lang="en-US" sz="1400">
                <a:solidFill>
                  <a:schemeClr val="bg1"/>
                </a:solidFill>
              </a:rPr>
              <a:pPr/>
              <a:t>0.38</a:t>
            </a:fld>
            <a:endParaRPr lang="en-US" sz="1400">
              <a:solidFill>
                <a:schemeClr val="bg1"/>
              </a:solidFill>
              <a:latin typeface="Arial"/>
              <a:sym typeface="Arial"/>
            </a:endParaRPr>
          </a:p>
        </p:txBody>
      </p:sp>
      <p:sp>
        <p:nvSpPr>
          <p:cNvPr id="6" name="TextBox 5"/>
          <p:cNvSpPr txBox="1"/>
          <p:nvPr/>
        </p:nvSpPr>
        <p:spPr>
          <a:xfrm>
            <a:off x="2195513" y="1628544"/>
            <a:ext cx="979487" cy="215444"/>
          </a:xfrm>
          <a:prstGeom prst="rect">
            <a:avLst/>
          </a:prstGeom>
          <a:noFill/>
        </p:spPr>
        <p:txBody>
          <a:bodyPr wrap="square" lIns="0" tIns="0" rIns="0" bIns="0" rtlCol="0">
            <a:spAutoFit/>
          </a:bodyPr>
          <a:lstStyle/>
          <a:p>
            <a:pPr algn="ctr"/>
            <a:r>
              <a:rPr lang="en-US" sz="1400" b="1" dirty="0" smtClean="0">
                <a:solidFill>
                  <a:schemeClr val="accent1"/>
                </a:solidFill>
              </a:rPr>
              <a:t>CURRENT</a:t>
            </a:r>
            <a:endParaRPr lang="en-US" sz="1400" b="1" dirty="0">
              <a:solidFill>
                <a:schemeClr val="accent1"/>
              </a:solidFill>
            </a:endParaRPr>
          </a:p>
        </p:txBody>
      </p:sp>
      <p:sp>
        <p:nvSpPr>
          <p:cNvPr id="105" name="TextBox 104"/>
          <p:cNvSpPr txBox="1"/>
          <p:nvPr/>
        </p:nvSpPr>
        <p:spPr>
          <a:xfrm>
            <a:off x="3971925" y="1628544"/>
            <a:ext cx="1561649" cy="215444"/>
          </a:xfrm>
          <a:prstGeom prst="rect">
            <a:avLst/>
          </a:prstGeom>
          <a:noFill/>
        </p:spPr>
        <p:txBody>
          <a:bodyPr wrap="square" lIns="0" tIns="0" rIns="0" bIns="0" rtlCol="0">
            <a:spAutoFit/>
          </a:bodyPr>
          <a:lstStyle/>
          <a:p>
            <a:pPr algn="ctr"/>
            <a:r>
              <a:rPr lang="en-US" sz="1400" b="1" dirty="0" smtClean="0">
                <a:solidFill>
                  <a:schemeClr val="accent1"/>
                </a:solidFill>
              </a:rPr>
              <a:t>YIELD INCREASE</a:t>
            </a:r>
            <a:endParaRPr lang="en-US" sz="1400" b="1" dirty="0">
              <a:solidFill>
                <a:schemeClr val="accent1"/>
              </a:solidFill>
            </a:endParaRPr>
          </a:p>
        </p:txBody>
      </p:sp>
      <p:sp>
        <p:nvSpPr>
          <p:cNvPr id="7" name="TextBox 6"/>
          <p:cNvSpPr txBox="1"/>
          <p:nvPr/>
        </p:nvSpPr>
        <p:spPr>
          <a:xfrm>
            <a:off x="774700" y="5664822"/>
            <a:ext cx="1411287" cy="430887"/>
          </a:xfrm>
          <a:prstGeom prst="rect">
            <a:avLst/>
          </a:prstGeom>
          <a:noFill/>
        </p:spPr>
        <p:txBody>
          <a:bodyPr wrap="square" lIns="0" tIns="0" rIns="0" bIns="0" rtlCol="0">
            <a:spAutoFit/>
          </a:bodyPr>
          <a:lstStyle/>
          <a:p>
            <a:r>
              <a:rPr lang="en-US" sz="1400" b="1" dirty="0" smtClean="0">
                <a:solidFill>
                  <a:schemeClr val="accent1"/>
                </a:solidFill>
              </a:rPr>
              <a:t>Cash cost of production</a:t>
            </a:r>
            <a:endParaRPr lang="en-US" sz="1400" b="1" dirty="0">
              <a:solidFill>
                <a:schemeClr val="accent1"/>
              </a:solidFill>
            </a:endParaRPr>
          </a:p>
        </p:txBody>
      </p:sp>
      <p:sp>
        <p:nvSpPr>
          <p:cNvPr id="8" name="Oval 7"/>
          <p:cNvSpPr/>
          <p:nvPr/>
        </p:nvSpPr>
        <p:spPr>
          <a:xfrm>
            <a:off x="2249488" y="5687122"/>
            <a:ext cx="749762" cy="341681"/>
          </a:xfrm>
          <a:prstGeom prst="ellipse">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1.10</a:t>
            </a:r>
            <a:endParaRPr lang="en-US" sz="1400" b="1" dirty="0">
              <a:solidFill>
                <a:schemeClr val="accent1"/>
              </a:solidFill>
            </a:endParaRPr>
          </a:p>
        </p:txBody>
      </p:sp>
      <p:sp>
        <p:nvSpPr>
          <p:cNvPr id="50" name="Oval 49"/>
          <p:cNvSpPr/>
          <p:nvPr/>
        </p:nvSpPr>
        <p:spPr>
          <a:xfrm>
            <a:off x="4332288" y="5687122"/>
            <a:ext cx="749762" cy="341681"/>
          </a:xfrm>
          <a:prstGeom prst="ellipse">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1.04</a:t>
            </a:r>
            <a:endParaRPr lang="en-US" sz="1400" b="1" dirty="0">
              <a:solidFill>
                <a:schemeClr val="accent1"/>
              </a:solidFill>
            </a:endParaRPr>
          </a:p>
        </p:txBody>
      </p:sp>
      <p:sp>
        <p:nvSpPr>
          <p:cNvPr id="54" name="Oval 53"/>
          <p:cNvSpPr/>
          <p:nvPr/>
        </p:nvSpPr>
        <p:spPr>
          <a:xfrm>
            <a:off x="6469063" y="5687122"/>
            <a:ext cx="749762" cy="341681"/>
          </a:xfrm>
          <a:prstGeom prst="ellipse">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solidFill>
              </a:rPr>
              <a:t>1.00</a:t>
            </a:r>
            <a:endParaRPr lang="en-US" sz="1400" b="1" dirty="0">
              <a:solidFill>
                <a:schemeClr val="accent1"/>
              </a:solidFill>
            </a:endParaRPr>
          </a:p>
        </p:txBody>
      </p:sp>
      <p:cxnSp>
        <p:nvCxnSpPr>
          <p:cNvPr id="11" name="Straight Arrow Connector 10"/>
          <p:cNvCxnSpPr/>
          <p:nvPr/>
        </p:nvCxnSpPr>
        <p:spPr>
          <a:xfrm>
            <a:off x="4691063" y="2442112"/>
            <a:ext cx="0" cy="400050"/>
          </a:xfrm>
          <a:prstGeom prst="straightConnector1">
            <a:avLst/>
          </a:prstGeom>
          <a:ln w="12700">
            <a:solidFill>
              <a:srgbClr val="212492"/>
            </a:solidFill>
            <a:tailEnd type="arrow"/>
          </a:ln>
        </p:spPr>
        <p:style>
          <a:lnRef idx="1">
            <a:schemeClr val="accent1"/>
          </a:lnRef>
          <a:fillRef idx="0">
            <a:schemeClr val="accent1"/>
          </a:fillRef>
          <a:effectRef idx="0">
            <a:schemeClr val="accent1"/>
          </a:effectRef>
          <a:fontRef idx="minor">
            <a:schemeClr val="tx1"/>
          </a:fontRef>
        </p:style>
      </p:cxnSp>
      <p:sp>
        <p:nvSpPr>
          <p:cNvPr id="122" name="Isosceles Triangle 121"/>
          <p:cNvSpPr/>
          <p:nvPr/>
        </p:nvSpPr>
        <p:spPr>
          <a:xfrm rot="5400000">
            <a:off x="4295775" y="3867624"/>
            <a:ext cx="2959423" cy="219927"/>
          </a:xfrm>
          <a:prstGeom prst="triangl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3" name="Object 122"/>
          <p:cNvGraphicFramePr>
            <a:graphicFrameLocks/>
          </p:cNvGraphicFramePr>
          <p:nvPr>
            <p:custDataLst>
              <p:tags r:id="rId15"/>
            </p:custDataLst>
            <p:extLst>
              <p:ext uri="{D42A27DB-BD31-4B8C-83A1-F6EECF244321}">
                <p14:modId xmlns:p14="http://schemas.microsoft.com/office/powerpoint/2010/main" val="1194951411"/>
              </p:ext>
            </p:extLst>
          </p:nvPr>
        </p:nvGraphicFramePr>
        <p:xfrm>
          <a:off x="5981700" y="1981200"/>
          <a:ext cx="1657437" cy="3562313"/>
        </p:xfrm>
        <a:graphic>
          <a:graphicData uri="http://schemas.openxmlformats.org/presentationml/2006/ole">
            <mc:AlternateContent xmlns:mc="http://schemas.openxmlformats.org/markup-compatibility/2006">
              <mc:Choice xmlns:v="urn:schemas-microsoft-com:vml" Requires="v">
                <p:oleObj spid="_x0000_s245229" name="Chart" r:id="rId26" imgW="1657437" imgH="3562313" progId="MSGraph.Chart.8">
                  <p:embed followColorScheme="full"/>
                </p:oleObj>
              </mc:Choice>
              <mc:Fallback>
                <p:oleObj name="Chart" r:id="rId26" imgW="1657437" imgH="3562313" progId="MSGraph.Chart.8">
                  <p:embed followColorScheme="full"/>
                  <p:pic>
                    <p:nvPicPr>
                      <p:cNvPr id="0" name=""/>
                      <p:cNvPicPr/>
                      <p:nvPr/>
                    </p:nvPicPr>
                    <p:blipFill>
                      <a:blip r:embed="rId27"/>
                      <a:stretch>
                        <a:fillRect/>
                      </a:stretch>
                    </p:blipFill>
                    <p:spPr>
                      <a:xfrm>
                        <a:off x="5981700" y="1981200"/>
                        <a:ext cx="1657437" cy="3562313"/>
                      </a:xfrm>
                      <a:prstGeom prst="rect">
                        <a:avLst/>
                      </a:prstGeom>
                    </p:spPr>
                  </p:pic>
                </p:oleObj>
              </mc:Fallback>
            </mc:AlternateContent>
          </a:graphicData>
        </a:graphic>
      </p:graphicFrame>
      <p:sp>
        <p:nvSpPr>
          <p:cNvPr id="124" name="Text Placeholder 166"/>
          <p:cNvSpPr>
            <a:spLocks noGrp="1"/>
          </p:cNvSpPr>
          <p:nvPr>
            <p:custDataLst>
              <p:tags r:id="rId16"/>
            </p:custDataLst>
          </p:nvPr>
        </p:nvSpPr>
        <p:spPr bwMode="gray">
          <a:xfrm>
            <a:off x="6627813" y="5103813"/>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53734A86-7AC0-4CEE-B0FA-127A0564B4C2}" type="datetime'0''''''''''''''''''''''''''.''''''18'''''''''">
              <a:rPr lang="en-US" sz="1400">
                <a:solidFill>
                  <a:schemeClr val="accent1"/>
                </a:solidFill>
              </a:rPr>
              <a:pPr/>
              <a:t>0.18</a:t>
            </a:fld>
            <a:endParaRPr lang="en-US" sz="1400" dirty="0">
              <a:solidFill>
                <a:schemeClr val="accent1"/>
              </a:solidFill>
              <a:latin typeface="Arial"/>
              <a:sym typeface="Arial"/>
            </a:endParaRPr>
          </a:p>
        </p:txBody>
      </p:sp>
      <p:sp>
        <p:nvSpPr>
          <p:cNvPr id="125" name="Text Placeholder 167"/>
          <p:cNvSpPr>
            <a:spLocks noGrp="1"/>
          </p:cNvSpPr>
          <p:nvPr>
            <p:custDataLst>
              <p:tags r:id="rId17"/>
            </p:custDataLst>
          </p:nvPr>
        </p:nvSpPr>
        <p:spPr bwMode="gray">
          <a:xfrm>
            <a:off x="6627813" y="4260850"/>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19F29B3A-C183-467B-86E6-DDABF735964C}" type="datetime'''''''0''''''''.48'''''''''''''''''">
              <a:rPr lang="en-US" sz="1400">
                <a:solidFill>
                  <a:schemeClr val="accent1"/>
                </a:solidFill>
              </a:rPr>
              <a:pPr/>
              <a:t>0.48</a:t>
            </a:fld>
            <a:endParaRPr lang="en-US" sz="1400" dirty="0">
              <a:solidFill>
                <a:schemeClr val="accent1"/>
              </a:solidFill>
              <a:latin typeface="Arial"/>
              <a:sym typeface="Arial"/>
            </a:endParaRPr>
          </a:p>
        </p:txBody>
      </p:sp>
      <p:sp>
        <p:nvSpPr>
          <p:cNvPr id="126" name="Text Placeholder 168"/>
          <p:cNvSpPr>
            <a:spLocks noGrp="1"/>
          </p:cNvSpPr>
          <p:nvPr>
            <p:custDataLst>
              <p:tags r:id="rId18"/>
            </p:custDataLst>
          </p:nvPr>
        </p:nvSpPr>
        <p:spPr bwMode="gray">
          <a:xfrm>
            <a:off x="6627813" y="3213100"/>
            <a:ext cx="395288" cy="212725"/>
          </a:xfrm>
          <a:prstGeom prst="rect">
            <a:avLst/>
          </a:prstGeom>
          <a:noFill/>
          <a:extLst>
            <a:ext uri="{909E8E84-426E-40DD-AFC4-6F175D3DCCD1}">
              <a14:hiddenFill xmlns:a14="http://schemas.microsoft.com/office/drawing/2010/main">
                <a:solidFill>
                  <a:scrgbClr r="0" g="0" b="0"/>
                </a:solidFill>
              </a14:hiddenFill>
            </a:ext>
          </a:extLst>
        </p:spPr>
        <p:txBody>
          <a:bodyPr wrap="none" lIns="25400" tIns="0" rIns="25400" bIns="0" numCol="1" spcCol="0" anchor="ctr" anchorCtr="0">
            <a:noAutofit/>
          </a:bodyPr>
          <a:lstStyle>
            <a:lvl1pPr marL="539750" indent="-539750" algn="l" defTabSz="914400" rtl="0" eaLnBrk="1" latinLnBrk="0" hangingPunct="1">
              <a:spcBef>
                <a:spcPts val="2400"/>
              </a:spcBef>
              <a:buFont typeface="Arial" pitchFamily="34" charset="0"/>
              <a:buChar char="•"/>
              <a:defRPr sz="2400" b="0" kern="1200">
                <a:solidFill>
                  <a:schemeClr val="tx1"/>
                </a:solidFill>
                <a:latin typeface="+mn-lt"/>
                <a:ea typeface="+mn-ea"/>
                <a:cs typeface="+mn-cs"/>
              </a:defRPr>
            </a:lvl1pPr>
            <a:lvl2pPr marL="863600" indent="-323850" algn="l" defTabSz="914400" rtl="0" eaLnBrk="1" latinLnBrk="0" hangingPunct="1">
              <a:spcBef>
                <a:spcPts val="0"/>
              </a:spcBef>
              <a:buFont typeface="Arial" pitchFamily="34" charset="0"/>
              <a:buChar char="•"/>
              <a:defRPr sz="2400" kern="1200">
                <a:solidFill>
                  <a:schemeClr val="tx1"/>
                </a:solidFill>
                <a:latin typeface="+mn-lt"/>
                <a:ea typeface="+mn-ea"/>
                <a:cs typeface="+mn-cs"/>
              </a:defRPr>
            </a:lvl2pPr>
            <a:lvl3pPr marL="1114425" indent="-250825" algn="l" defTabSz="914400" rtl="0" eaLnBrk="1" latinLnBrk="0" hangingPunct="1">
              <a:spcBef>
                <a:spcPts val="0"/>
              </a:spcBef>
              <a:buFont typeface="Arial" pitchFamily="34" charset="0"/>
              <a:buChar char="•"/>
              <a:defRPr sz="1800" b="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2400" b="1"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5pPr>
            <a:lvl6pPr marL="53975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6pPr>
            <a:lvl7pPr marL="864000" indent="0" algn="l" defTabSz="914400" rtl="0" eaLnBrk="1" latinLnBrk="0" hangingPunct="1">
              <a:spcBef>
                <a:spcPts val="0"/>
              </a:spcBef>
              <a:buFont typeface="Arial" pitchFamily="34" charset="0"/>
              <a:buNone/>
              <a:defRPr sz="2400" kern="1200">
                <a:solidFill>
                  <a:schemeClr val="tx1"/>
                </a:solidFill>
                <a:latin typeface="+mn-lt"/>
                <a:ea typeface="+mn-ea"/>
                <a:cs typeface="+mn-cs"/>
              </a:defRPr>
            </a:lvl7pPr>
            <a:lvl8pPr marL="1114425"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8pPr>
            <a:lvl9pPr marL="0" indent="0" algn="l" defTabSz="914400" rtl="0" eaLnBrk="1" latinLnBrk="0" hangingPunct="1">
              <a:spcBef>
                <a:spcPts val="0"/>
              </a:spcBef>
              <a:buFont typeface="Arial" pitchFamily="34" charset="0"/>
              <a:buNone/>
              <a:defRPr sz="1400" kern="1200" baseline="0">
                <a:solidFill>
                  <a:schemeClr val="tx1"/>
                </a:solidFill>
                <a:latin typeface="+mn-lt"/>
                <a:ea typeface="+mn-ea"/>
                <a:cs typeface="+mn-cs"/>
              </a:defRPr>
            </a:lvl9pPr>
          </a:lstStyle>
          <a:p>
            <a:pPr marL="0" indent="0" algn="ctr">
              <a:spcBef>
                <a:spcPct val="0"/>
              </a:spcBef>
              <a:spcAft>
                <a:spcPct val="0"/>
              </a:spcAft>
              <a:buNone/>
            </a:pPr>
            <a:fld id="{F953CD29-B78B-4681-915E-AA230786B6E9}" type="datetime'''''''''''''''''''''0''''''.''''3''''''4'''''''">
              <a:rPr lang="en-US" sz="1400">
                <a:solidFill>
                  <a:schemeClr val="bg1"/>
                </a:solidFill>
              </a:rPr>
              <a:pPr/>
              <a:t>0.34</a:t>
            </a:fld>
            <a:endParaRPr lang="en-US" sz="1400">
              <a:solidFill>
                <a:schemeClr val="bg1"/>
              </a:solidFill>
              <a:latin typeface="Arial"/>
              <a:sym typeface="Arial"/>
            </a:endParaRPr>
          </a:p>
        </p:txBody>
      </p:sp>
      <p:sp>
        <p:nvSpPr>
          <p:cNvPr id="128" name="TextBox 127"/>
          <p:cNvSpPr txBox="1"/>
          <p:nvPr/>
        </p:nvSpPr>
        <p:spPr>
          <a:xfrm>
            <a:off x="5932488" y="1520823"/>
            <a:ext cx="1882562" cy="430887"/>
          </a:xfrm>
          <a:prstGeom prst="rect">
            <a:avLst/>
          </a:prstGeom>
          <a:noFill/>
        </p:spPr>
        <p:txBody>
          <a:bodyPr wrap="square" lIns="0" tIns="0" rIns="0" bIns="0" rtlCol="0">
            <a:spAutoFit/>
          </a:bodyPr>
          <a:lstStyle/>
          <a:p>
            <a:pPr algn="ctr"/>
            <a:r>
              <a:rPr lang="en-US" sz="1400" b="1" dirty="0" smtClean="0">
                <a:solidFill>
                  <a:schemeClr val="accent1"/>
                </a:solidFill>
              </a:rPr>
              <a:t>YIELD INCREASE + EFFICIENCY GAINS</a:t>
            </a:r>
            <a:endParaRPr lang="en-US" sz="1400" b="1" dirty="0">
              <a:solidFill>
                <a:schemeClr val="accent1"/>
              </a:solidFill>
            </a:endParaRPr>
          </a:p>
        </p:txBody>
      </p:sp>
      <p:cxnSp>
        <p:nvCxnSpPr>
          <p:cNvPr id="131" name="Straight Arrow Connector 130"/>
          <p:cNvCxnSpPr/>
          <p:nvPr/>
        </p:nvCxnSpPr>
        <p:spPr>
          <a:xfrm>
            <a:off x="6811963" y="2545488"/>
            <a:ext cx="0" cy="400050"/>
          </a:xfrm>
          <a:prstGeom prst="straightConnector1">
            <a:avLst/>
          </a:prstGeom>
          <a:ln w="12700">
            <a:solidFill>
              <a:srgbClr val="212492"/>
            </a:solidFill>
            <a:tailEnd type="arrow"/>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257675" y="2261155"/>
            <a:ext cx="874311" cy="314778"/>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1"/>
                </a:solidFill>
              </a:rPr>
              <a:t>-5%</a:t>
            </a:r>
            <a:endParaRPr lang="en-US" sz="1400" dirty="0">
              <a:solidFill>
                <a:schemeClr val="accent1"/>
              </a:solidFill>
            </a:endParaRPr>
          </a:p>
        </p:txBody>
      </p:sp>
      <p:sp>
        <p:nvSpPr>
          <p:cNvPr id="130" name="Oval 129"/>
          <p:cNvSpPr/>
          <p:nvPr/>
        </p:nvSpPr>
        <p:spPr>
          <a:xfrm>
            <a:off x="6394450" y="2261155"/>
            <a:ext cx="874311" cy="314778"/>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1"/>
                </a:solidFill>
              </a:rPr>
              <a:t>-10%</a:t>
            </a:r>
            <a:endParaRPr lang="en-US" sz="1400" dirty="0">
              <a:solidFill>
                <a:schemeClr val="accent1"/>
              </a:solidFill>
            </a:endParaRPr>
          </a:p>
        </p:txBody>
      </p:sp>
      <p:sp>
        <p:nvSpPr>
          <p:cNvPr id="37" name="Oval 36"/>
          <p:cNvSpPr/>
          <p:nvPr/>
        </p:nvSpPr>
        <p:spPr bwMode="auto">
          <a:xfrm>
            <a:off x="139822" y="260195"/>
            <a:ext cx="422031" cy="42203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smtClean="0">
                <a:solidFill>
                  <a:schemeClr val="bg1"/>
                </a:solidFill>
                <a:latin typeface="Arial" charset="0"/>
              </a:rPr>
              <a:t>2</a:t>
            </a:r>
            <a:endParaRPr kumimoji="0" lang="en-US" sz="2400" i="0" u="none" strike="noStrike" cap="none" normalizeH="0" baseline="0" dirty="0" smtClean="0">
              <a:ln>
                <a:noFill/>
              </a:ln>
              <a:solidFill>
                <a:schemeClr val="bg1"/>
              </a:solidFill>
              <a:effectLst/>
              <a:latin typeface="Arial" charset="0"/>
            </a:endParaRPr>
          </a:p>
        </p:txBody>
      </p:sp>
    </p:spTree>
    <p:extLst>
      <p:ext uri="{BB962C8B-B14F-4D97-AF65-F5344CB8AC3E}">
        <p14:creationId xmlns:p14="http://schemas.microsoft.com/office/powerpoint/2010/main" val="28688082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33" hidden="1"/>
          <p:cNvGraphicFramePr>
            <a:graphicFrameLocks/>
          </p:cNvGraphicFramePr>
          <p:nvPr>
            <p:custDataLst>
              <p:tags r:id="rId2"/>
            </p:custDataLst>
            <p:extLst>
              <p:ext uri="{D42A27DB-BD31-4B8C-83A1-F6EECF244321}">
                <p14:modId xmlns:p14="http://schemas.microsoft.com/office/powerpoint/2010/main" val="2807125571"/>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83713" name="think-cell Slide" r:id="rId11" imgW="360" imgH="360" progId="TCLayout.ActiveDocument.1">
                  <p:embed/>
                </p:oleObj>
              </mc:Choice>
              <mc:Fallback>
                <p:oleObj name="think-cell Slide" r:id="rId11" imgW="360" imgH="360" progId="TCLayout.ActiveDocument.1">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hidden="1"/>
          <p:cNvSpPr/>
          <p:nvPr>
            <p:custDataLst>
              <p:tags r:id="rId3"/>
            </p:custDataLst>
          </p:nvPr>
        </p:nvSpPr>
        <p:spPr bwMode="auto">
          <a:xfrm>
            <a:off x="0" y="0"/>
            <a:ext cx="158750" cy="1587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noAutofit/>
          </a:bodyPr>
          <a:lstStyle/>
          <a:p>
            <a:pPr fontAlgn="base">
              <a:spcBef>
                <a:spcPct val="0"/>
              </a:spcBef>
              <a:spcAft>
                <a:spcPct val="0"/>
              </a:spcAft>
            </a:pPr>
            <a:endParaRPr kumimoji="0" lang="en-US" sz="1400" b="1" u="none" strike="noStrike" cap="none" normalizeH="0" smtClean="0">
              <a:ln>
                <a:noFill/>
              </a:ln>
              <a:solidFill>
                <a:schemeClr val="tx1"/>
              </a:solidFill>
              <a:effectLst/>
              <a:latin typeface="Arial"/>
              <a:sym typeface="Arial"/>
            </a:endParaRPr>
          </a:p>
        </p:txBody>
      </p:sp>
      <p:sp>
        <p:nvSpPr>
          <p:cNvPr id="27" name="Rectangle 26"/>
          <p:cNvSpPr/>
          <p:nvPr/>
        </p:nvSpPr>
        <p:spPr>
          <a:xfrm>
            <a:off x="121491" y="4856250"/>
            <a:ext cx="8902766" cy="1498293"/>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8"/>
          <p:cNvSpPr txBox="1">
            <a:spLocks/>
          </p:cNvSpPr>
          <p:nvPr>
            <p:custDataLst>
              <p:tags r:id="rId4"/>
            </p:custDataLst>
          </p:nvPr>
        </p:nvSpPr>
        <p:spPr>
          <a:xfrm>
            <a:off x="252639" y="1594379"/>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85725" indent="0">
              <a:buNone/>
            </a:pPr>
            <a:r>
              <a:rPr lang="en-US" sz="1200" b="1" dirty="0" smtClean="0">
                <a:solidFill>
                  <a:schemeClr val="accent1"/>
                </a:solidFill>
              </a:rPr>
              <a:t>Farmers can increase yields through improved agronomy and technical assistance</a:t>
            </a:r>
            <a:endParaRPr lang="en-US" sz="1200" b="1" dirty="0">
              <a:solidFill>
                <a:schemeClr val="accent1"/>
              </a:solidFill>
            </a:endParaRPr>
          </a:p>
        </p:txBody>
      </p:sp>
      <p:sp>
        <p:nvSpPr>
          <p:cNvPr id="11" name="TextBox 8"/>
          <p:cNvSpPr txBox="1">
            <a:spLocks/>
          </p:cNvSpPr>
          <p:nvPr>
            <p:custDataLst>
              <p:tags r:id="rId5"/>
            </p:custDataLst>
          </p:nvPr>
        </p:nvSpPr>
        <p:spPr>
          <a:xfrm>
            <a:off x="252639" y="3226988"/>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defPPr>
              <a:defRPr lang="en-US"/>
            </a:defPPr>
            <a:lvl1pPr marL="85725" lvl="0" indent="0" defTabSz="913332" fontAlgn="base">
              <a:spcBef>
                <a:spcPct val="0"/>
              </a:spcBef>
              <a:spcAft>
                <a:spcPct val="0"/>
              </a:spcAft>
              <a:buSzPct val="120000"/>
              <a:buNone/>
              <a:defRPr sz="1200" b="1">
                <a:solidFill>
                  <a:schemeClr val="bg1"/>
                </a:solidFill>
              </a:defRPr>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r>
              <a:rPr lang="en-US" dirty="0" smtClean="0">
                <a:solidFill>
                  <a:schemeClr val="accent1"/>
                </a:solidFill>
              </a:rPr>
              <a:t>Production costs could be reduced modestly through various sector efficiencies</a:t>
            </a:r>
            <a:endParaRPr lang="en-US" dirty="0">
              <a:solidFill>
                <a:schemeClr val="accent1"/>
              </a:solidFill>
            </a:endParaRPr>
          </a:p>
        </p:txBody>
      </p:sp>
      <p:sp>
        <p:nvSpPr>
          <p:cNvPr id="12" name="TextBox 8"/>
          <p:cNvSpPr txBox="1">
            <a:spLocks/>
          </p:cNvSpPr>
          <p:nvPr>
            <p:custDataLst>
              <p:tags r:id="rId6"/>
            </p:custDataLst>
          </p:nvPr>
        </p:nvSpPr>
        <p:spPr>
          <a:xfrm>
            <a:off x="252639" y="4880352"/>
            <a:ext cx="1546000" cy="1463040"/>
          </a:xfrm>
          <a:prstGeom prst="rect">
            <a:avLst/>
          </a:prstGeom>
          <a:solidFill>
            <a:schemeClr val="bg1"/>
          </a:solidFill>
          <a:ln w="19050">
            <a:solidFill>
              <a:schemeClr val="accent1"/>
            </a:solidFill>
            <a:miter lim="800000"/>
            <a:headEnd/>
            <a:tailEnd/>
          </a:ln>
        </p:spPr>
        <p:txBody>
          <a:bodyPr vert="horz" wrap="square" lIns="76200" tIns="76200" rIns="76200" bIns="76200" numCol="1" anchor="ctr" anchorCtr="0" compatLnSpc="1">
            <a:prstTxWarp prst="textNoShape">
              <a:avLst/>
            </a:prstTxWarp>
            <a:noAutofit/>
          </a:bodyPr>
          <a:lstStyle>
            <a:defPPr>
              <a:defRPr lang="en-US"/>
            </a:defPPr>
            <a:lvl1pPr marL="85725" lvl="0" indent="0" defTabSz="913332" fontAlgn="base">
              <a:spcBef>
                <a:spcPct val="0"/>
              </a:spcBef>
              <a:spcAft>
                <a:spcPct val="0"/>
              </a:spcAft>
              <a:buSzPct val="120000"/>
              <a:buNone/>
              <a:defRPr sz="1200" b="1">
                <a:solidFill>
                  <a:schemeClr val="bg1"/>
                </a:solidFill>
              </a:defRPr>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a:lnSpc>
                <a:spcPct val="90000"/>
              </a:lnSpc>
            </a:pPr>
            <a:r>
              <a:rPr lang="en-US" dirty="0" smtClean="0">
                <a:solidFill>
                  <a:schemeClr val="accent1"/>
                </a:solidFill>
              </a:rPr>
              <a:t>Supply chains can meet stricter environmental standards with minimal added cost</a:t>
            </a:r>
            <a:endParaRPr lang="en-US" dirty="0">
              <a:solidFill>
                <a:schemeClr val="accent1"/>
              </a:solidFill>
            </a:endParaRPr>
          </a:p>
        </p:txBody>
      </p:sp>
      <p:sp>
        <p:nvSpPr>
          <p:cNvPr id="3" name="Rectangle 4"/>
          <p:cNvSpPr txBox="1"/>
          <p:nvPr/>
        </p:nvSpPr>
        <p:spPr>
          <a:xfrm>
            <a:off x="3345830" y="1553936"/>
            <a:ext cx="5515144" cy="15234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82563" indent="-182563"/>
            <a:r>
              <a:rPr lang="en-US" sz="1100" dirty="0"/>
              <a:t>Colombia’s farm yields could be increased by 20 to 30% by transferring improved agronomy practices to farmers, in particular effective fertilizer usage</a:t>
            </a:r>
          </a:p>
          <a:p>
            <a:pPr marL="182563" indent="-182563"/>
            <a:r>
              <a:rPr lang="en-US" sz="1100" dirty="0"/>
              <a:t>Achieving yield improvement requires high adoption level of best practices; high average age of farmer population could pose a challenge</a:t>
            </a:r>
          </a:p>
          <a:p>
            <a:pPr marL="182563" indent="-182563"/>
            <a:r>
              <a:rPr lang="en-US" sz="1100" dirty="0"/>
              <a:t>Higher yields contribute to a 5% cost reduction and net income increase of 30-50%</a:t>
            </a:r>
          </a:p>
          <a:p>
            <a:pPr marL="182563" indent="-182563"/>
            <a:r>
              <a:rPr lang="en-US" sz="1100" dirty="0"/>
              <a:t>Overall, production would increase by 1.5M bags and exports by US$ 260M per year</a:t>
            </a:r>
          </a:p>
          <a:p>
            <a:pPr marL="182563" indent="-182563"/>
            <a:r>
              <a:rPr lang="en-US" sz="1100" kern="0" dirty="0"/>
              <a:t>Cost of US$ 200M to train 50% of active farmers (230,000) over 10 years</a:t>
            </a:r>
          </a:p>
          <a:p>
            <a:pPr marL="182563" indent="-182563"/>
            <a:r>
              <a:rPr lang="en-US" sz="1100" kern="0" dirty="0"/>
              <a:t>Training should complement FNC’s individual farm extension visit s with a “farmer field schools” methodology and should actively try to involve the youth</a:t>
            </a:r>
          </a:p>
        </p:txBody>
      </p:sp>
      <p:sp>
        <p:nvSpPr>
          <p:cNvPr id="17" name="Rectangle 4"/>
          <p:cNvSpPr txBox="1"/>
          <p:nvPr/>
        </p:nvSpPr>
        <p:spPr>
          <a:xfrm>
            <a:off x="3345830" y="4902883"/>
            <a:ext cx="5515144" cy="129266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66688" indent="-166688">
              <a:buFont typeface="Arial" pitchFamily="34" charset="0"/>
              <a:buChar char="•"/>
            </a:pPr>
            <a:r>
              <a:rPr lang="en-US" sz="1100" dirty="0" smtClean="0"/>
              <a:t>Challenging for farms to meet new, stricter environmental regulations – requires new wastewater treatment systems that are complicated and expensive</a:t>
            </a:r>
          </a:p>
          <a:p>
            <a:pPr marL="166688" indent="-166688">
              <a:buFont typeface="Arial" pitchFamily="34" charset="0"/>
              <a:buChar char="•"/>
            </a:pPr>
            <a:r>
              <a:rPr lang="en-US" sz="1100" dirty="0" smtClean="0"/>
              <a:t>Ensure </a:t>
            </a:r>
            <a:r>
              <a:rPr lang="en-US" sz="1100" dirty="0"/>
              <a:t>compliance with environmental laws cost-effectively through central wet </a:t>
            </a:r>
            <a:r>
              <a:rPr lang="en-US" sz="1100" dirty="0" smtClean="0"/>
              <a:t>mills; a single system now benefits many farms</a:t>
            </a:r>
            <a:endParaRPr lang="en-US" sz="1100" dirty="0"/>
          </a:p>
          <a:p>
            <a:pPr marL="166688" indent="-166688">
              <a:buFont typeface="Arial" pitchFamily="34" charset="0"/>
              <a:buChar char="•"/>
            </a:pPr>
            <a:endParaRPr lang="en-US" sz="700" dirty="0" smtClean="0"/>
          </a:p>
          <a:p>
            <a:pPr marL="166688" indent="-166688">
              <a:buFont typeface="Arial" pitchFamily="34" charset="0"/>
              <a:buChar char="•"/>
            </a:pPr>
            <a:r>
              <a:rPr lang="en-US" sz="1100" i="1" dirty="0" smtClean="0"/>
              <a:t>The combination of all three business cases would increase net income by more than 50%  and reduce time spent for coffee farmers, enabling them to earn more from coffee than other rural employment options</a:t>
            </a:r>
            <a:endParaRPr lang="en-US" sz="1100" i="1" dirty="0"/>
          </a:p>
        </p:txBody>
      </p:sp>
      <p:cxnSp>
        <p:nvCxnSpPr>
          <p:cNvPr id="8" name="Straight Connector 7"/>
          <p:cNvCxnSpPr/>
          <p:nvPr/>
        </p:nvCxnSpPr>
        <p:spPr bwMode="auto">
          <a:xfrm>
            <a:off x="252639" y="4753147"/>
            <a:ext cx="8497661"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grpSp>
        <p:nvGrpSpPr>
          <p:cNvPr id="20" name="ACET"/>
          <p:cNvGrpSpPr>
            <a:grpSpLocks/>
          </p:cNvGrpSpPr>
          <p:nvPr/>
        </p:nvGrpSpPr>
        <p:grpSpPr bwMode="auto">
          <a:xfrm>
            <a:off x="252639" y="1272585"/>
            <a:ext cx="8497660" cy="203200"/>
            <a:chOff x="915" y="902"/>
            <a:chExt cx="2686" cy="128"/>
          </a:xfrm>
        </p:grpSpPr>
        <p:cxnSp>
          <p:nvCxnSpPr>
            <p:cNvPr id="21" name="AutoShape 70"/>
            <p:cNvCxnSpPr>
              <a:cxnSpLocks noChangeShapeType="1"/>
              <a:stCxn id="22" idx="4"/>
              <a:endCxn id="22" idx="6"/>
            </p:cNvCxnSpPr>
            <p:nvPr/>
          </p:nvCxnSpPr>
          <p:spPr bwMode="auto">
            <a:xfrm>
              <a:off x="915" y="1030"/>
              <a:ext cx="2686" cy="0"/>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AutoShape 71"/>
            <p:cNvSpPr>
              <a:spLocks noChangeArrowheads="1"/>
            </p:cNvSpPr>
            <p:nvPr/>
          </p:nvSpPr>
          <p:spPr bwMode="auto">
            <a:xfrm>
              <a:off x="915" y="902"/>
              <a:ext cx="2686" cy="128"/>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200" b="1" dirty="0" smtClean="0">
                  <a:solidFill>
                    <a:schemeClr val="accent1"/>
                  </a:solidFill>
                </a:rPr>
                <a:t>Business cases and key challenges</a:t>
              </a:r>
              <a:endParaRPr lang="en-US" sz="1200" dirty="0">
                <a:solidFill>
                  <a:schemeClr val="accent1"/>
                </a:solidFill>
              </a:endParaRPr>
            </a:p>
          </p:txBody>
        </p:sp>
      </p:grpSp>
      <p:cxnSp>
        <p:nvCxnSpPr>
          <p:cNvPr id="23" name="Straight Connector 22"/>
          <p:cNvCxnSpPr/>
          <p:nvPr/>
        </p:nvCxnSpPr>
        <p:spPr bwMode="auto">
          <a:xfrm>
            <a:off x="252639" y="3142483"/>
            <a:ext cx="8497661" cy="0"/>
          </a:xfrm>
          <a:prstGeom prst="line">
            <a:avLst/>
          </a:prstGeom>
          <a:solidFill>
            <a:schemeClr val="accent1"/>
          </a:solidFill>
          <a:ln w="9525" cap="flat" cmpd="sng" algn="ctr">
            <a:solidFill>
              <a:schemeClr val="accent1"/>
            </a:solidFill>
            <a:prstDash val="dash"/>
            <a:round/>
            <a:headEnd type="none" w="med" len="med"/>
            <a:tailEnd type="none" w="med" len="med"/>
          </a:ln>
          <a:effectLst/>
        </p:spPr>
      </p:cxnSp>
      <p:sp>
        <p:nvSpPr>
          <p:cNvPr id="5" name="TextBox 8"/>
          <p:cNvSpPr txBox="1"/>
          <p:nvPr>
            <p:custDataLst>
              <p:tags r:id="rId7"/>
            </p:custDataLst>
          </p:nvPr>
        </p:nvSpPr>
        <p:spPr>
          <a:xfrm>
            <a:off x="121491" y="2144591"/>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smtClean="0">
                <a:solidFill>
                  <a:schemeClr val="bg1"/>
                </a:solidFill>
              </a:rPr>
              <a:t>1</a:t>
            </a:r>
            <a:endParaRPr lang="en-US" sz="1200" b="1" dirty="0">
              <a:solidFill>
                <a:schemeClr val="bg1"/>
              </a:solidFill>
            </a:endParaRPr>
          </a:p>
        </p:txBody>
      </p:sp>
      <p:sp>
        <p:nvSpPr>
          <p:cNvPr id="33" name="TextBox 8"/>
          <p:cNvSpPr txBox="1"/>
          <p:nvPr>
            <p:custDataLst>
              <p:tags r:id="rId8"/>
            </p:custDataLst>
          </p:nvPr>
        </p:nvSpPr>
        <p:spPr>
          <a:xfrm>
            <a:off x="121491" y="3822217"/>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a:solidFill>
                  <a:schemeClr val="bg1"/>
                </a:solidFill>
              </a:rPr>
              <a:t>2</a:t>
            </a:r>
          </a:p>
        </p:txBody>
      </p:sp>
      <p:sp>
        <p:nvSpPr>
          <p:cNvPr id="35" name="TextBox 8"/>
          <p:cNvSpPr txBox="1"/>
          <p:nvPr>
            <p:custDataLst>
              <p:tags r:id="rId9"/>
            </p:custDataLst>
          </p:nvPr>
        </p:nvSpPr>
        <p:spPr>
          <a:xfrm>
            <a:off x="121491" y="5434067"/>
            <a:ext cx="263062" cy="263062"/>
          </a:xfrm>
          <a:prstGeom prst="ellipse">
            <a:avLst/>
          </a:prstGeom>
          <a:solidFill>
            <a:srgbClr val="C00000"/>
          </a:solidFill>
          <a:ln w="28575">
            <a:solidFill>
              <a:schemeClr val="bg1"/>
            </a:solidFill>
            <a:miter lim="800000"/>
            <a:headEnd/>
            <a:tailEnd/>
          </a:ln>
        </p:spPr>
        <p:txBody>
          <a:bodyPr vert="horz" wrap="square" lIns="3810" tIns="0" rIns="3810" bIns="0" numCol="1" anchor="ctr" anchorCtr="1" compatLnSpc="1">
            <a:prstTxWarp prst="textNoShape">
              <a:avLst/>
            </a:prstTxWarp>
            <a:no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0" indent="0" algn="ctr">
              <a:buNone/>
            </a:pPr>
            <a:r>
              <a:rPr lang="en-US" sz="1200" b="1" dirty="0">
                <a:solidFill>
                  <a:schemeClr val="bg1"/>
                </a:solidFill>
              </a:rPr>
              <a:t>3</a:t>
            </a:r>
          </a:p>
        </p:txBody>
      </p:sp>
      <p:pic>
        <p:nvPicPr>
          <p:cNvPr id="24" name="Picture 6" descr="http://bcassets.starbucks.com/1612549662/201403/3860/1612549662_3391264781001_cafe-video-732x412-HP.jpg?pubId=1612549662"/>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35188" r="7875"/>
          <a:stretch/>
        </p:blipFill>
        <p:spPr bwMode="auto">
          <a:xfrm>
            <a:off x="1820357" y="1594379"/>
            <a:ext cx="1479993" cy="146304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0" name="Picture 10" descr="CapacitacionTNS_Page_19"/>
          <p:cNvPicPr>
            <a:picLocks noChangeArrowheads="1"/>
          </p:cNvPicPr>
          <p:nvPr/>
        </p:nvPicPr>
        <p:blipFill rotWithShape="1">
          <a:blip r:embed="rId14">
            <a:extLst>
              <a:ext uri="{28A0092B-C50C-407E-A947-70E740481C1C}">
                <a14:useLocalDpi xmlns:a14="http://schemas.microsoft.com/office/drawing/2010/main" val="0"/>
              </a:ext>
            </a:extLst>
          </a:blip>
          <a:srcRect l="-83" t="5780" r="3586" b="4212"/>
          <a:stretch/>
        </p:blipFill>
        <p:spPr bwMode="auto">
          <a:xfrm>
            <a:off x="1820357" y="3226988"/>
            <a:ext cx="1481328" cy="146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Imagen 3" descr="IMG_0702.JPG"/>
          <p:cNvPicPr>
            <a:picLocks/>
          </p:cNvPicPr>
          <p:nvPr/>
        </p:nvPicPr>
        <p:blipFill rotWithShape="1">
          <a:blip r:embed="rId15" cstate="email">
            <a:extLst/>
          </a:blip>
          <a:srcRect r="25051"/>
          <a:stretch/>
        </p:blipFill>
        <p:spPr>
          <a:xfrm>
            <a:off x="1820357" y="4880352"/>
            <a:ext cx="1468088" cy="1463040"/>
          </a:xfrm>
          <a:prstGeom prst="rect">
            <a:avLst/>
          </a:prstGeom>
          <a:noFill/>
          <a:ln>
            <a:noFill/>
          </a:ln>
        </p:spPr>
      </p:pic>
      <p:sp>
        <p:nvSpPr>
          <p:cNvPr id="6" name="Title 5"/>
          <p:cNvSpPr>
            <a:spLocks noGrp="1"/>
          </p:cNvSpPr>
          <p:nvPr>
            <p:ph type="title"/>
          </p:nvPr>
        </p:nvSpPr>
        <p:spPr/>
        <p:txBody>
          <a:bodyPr/>
          <a:lstStyle/>
          <a:p>
            <a:r>
              <a:rPr lang="en-US" sz="1600" b="0" dirty="0"/>
              <a:t>BUSINESS CASE DISCUSSION</a:t>
            </a:r>
            <a:br>
              <a:rPr lang="en-US" sz="1600" b="0" dirty="0"/>
            </a:br>
            <a:r>
              <a:rPr lang="en-US" b="0" dirty="0"/>
              <a:t>Business case 3: Improving environmental management</a:t>
            </a:r>
          </a:p>
        </p:txBody>
      </p:sp>
      <p:sp>
        <p:nvSpPr>
          <p:cNvPr id="25" name="Rectangle 4"/>
          <p:cNvSpPr txBox="1"/>
          <p:nvPr/>
        </p:nvSpPr>
        <p:spPr>
          <a:xfrm>
            <a:off x="3345831" y="3217918"/>
            <a:ext cx="5515143" cy="15234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349787" lvl="0" indent="-349787" defTabSz="913332" fontAlgn="base">
              <a:spcBef>
                <a:spcPct val="0"/>
              </a:spcBef>
              <a:spcAft>
                <a:spcPct val="0"/>
              </a:spcAft>
              <a:buSzPct val="120000"/>
              <a:buChar char="•"/>
              <a:defRPr sz="1600"/>
            </a:lvl1pPr>
            <a:lvl2pPr marL="147364" lvl="1" indent="-145745" defTabSz="913332" fontAlgn="base">
              <a:spcBef>
                <a:spcPct val="0"/>
              </a:spcBef>
              <a:spcAft>
                <a:spcPct val="0"/>
              </a:spcAft>
              <a:buSzPct val="120000"/>
              <a:buChar char="•"/>
              <a:defRPr sz="1600"/>
            </a:lvl2pPr>
            <a:lvl3pPr marL="301205" lvl="2" indent="-152222" defTabSz="913332" fontAlgn="base">
              <a:spcBef>
                <a:spcPct val="0"/>
              </a:spcBef>
              <a:spcAft>
                <a:spcPct val="0"/>
              </a:spcAft>
              <a:buChar char="–"/>
              <a:defRPr sz="1600"/>
            </a:lvl3pPr>
            <a:lvl4pPr marL="440474" lvl="3" indent="-137648" defTabSz="913332" fontAlgn="base">
              <a:spcBef>
                <a:spcPct val="0"/>
              </a:spcBef>
              <a:spcAft>
                <a:spcPct val="0"/>
              </a:spcAft>
              <a:buSzPct val="89000"/>
              <a:buChar char="•"/>
              <a:defRPr sz="1600"/>
            </a:lvl4pPr>
            <a:lvl5pPr marL="594314" lvl="4" indent="-152222" defTabSz="913332" fontAlgn="base">
              <a:spcBef>
                <a:spcPct val="0"/>
              </a:spcBef>
              <a:spcAft>
                <a:spcPct val="0"/>
              </a:spcAft>
              <a:buSzPct val="75000"/>
              <a:buChar char="–"/>
              <a:defRPr sz="1600"/>
            </a:lvl5pPr>
            <a:lvl6pPr marL="1060697" indent="-152222" defTabSz="913332" fontAlgn="base">
              <a:spcBef>
                <a:spcPct val="0"/>
              </a:spcBef>
              <a:spcAft>
                <a:spcPct val="0"/>
              </a:spcAft>
              <a:buSzPct val="75000"/>
              <a:buChar char="–"/>
              <a:defRPr sz="1600"/>
            </a:lvl6pPr>
            <a:lvl7pPr marL="1527078" indent="-152222" defTabSz="913332" fontAlgn="base">
              <a:spcBef>
                <a:spcPct val="0"/>
              </a:spcBef>
              <a:spcAft>
                <a:spcPct val="0"/>
              </a:spcAft>
              <a:buSzPct val="75000"/>
              <a:buChar char="–"/>
              <a:defRPr sz="1600"/>
            </a:lvl7pPr>
            <a:lvl8pPr marL="1993461" indent="-152222" defTabSz="913332" fontAlgn="base">
              <a:spcBef>
                <a:spcPct val="0"/>
              </a:spcBef>
              <a:spcAft>
                <a:spcPct val="0"/>
              </a:spcAft>
              <a:buSzPct val="75000"/>
              <a:buChar char="–"/>
              <a:defRPr sz="1600"/>
            </a:lvl8pPr>
            <a:lvl9pPr marL="2459844" indent="-152222" defTabSz="913332" fontAlgn="base">
              <a:spcBef>
                <a:spcPct val="0"/>
              </a:spcBef>
              <a:spcAft>
                <a:spcPct val="0"/>
              </a:spcAft>
              <a:buSzPct val="75000"/>
              <a:buChar char="–"/>
              <a:defRPr sz="1600"/>
            </a:lvl9pPr>
          </a:lstStyle>
          <a:p>
            <a:pPr marL="174625" indent="-174625">
              <a:spcBef>
                <a:spcPts val="0"/>
              </a:spcBef>
              <a:spcAft>
                <a:spcPts val="0"/>
              </a:spcAft>
              <a:buFont typeface="Arial" panose="020B0604020202020204" pitchFamily="34" charset="0"/>
              <a:buChar char="•"/>
            </a:pPr>
            <a:r>
              <a:rPr lang="en-US" sz="1100" dirty="0" smtClean="0"/>
              <a:t>Colombia’s coffee farming is already quite sophisticated and shows limited potential for reducing production costs</a:t>
            </a:r>
          </a:p>
          <a:p>
            <a:pPr marL="174625" indent="-174625">
              <a:spcBef>
                <a:spcPts val="0"/>
              </a:spcBef>
              <a:spcAft>
                <a:spcPts val="0"/>
              </a:spcAft>
              <a:buFont typeface="Arial" panose="020B0604020202020204" pitchFamily="34" charset="0"/>
              <a:buChar char="•"/>
            </a:pPr>
            <a:r>
              <a:rPr lang="en-US" sz="1100" dirty="0" smtClean="0"/>
              <a:t>By reducing </a:t>
            </a:r>
            <a:r>
              <a:rPr lang="en-US" sz="1100" dirty="0"/>
              <a:t>farmers’ labor </a:t>
            </a:r>
            <a:r>
              <a:rPr lang="en-US" sz="1100" dirty="0" smtClean="0"/>
              <a:t>requirements for harvesting and in particular home wet-milling, production costs could be reduced by up to 10%, </a:t>
            </a:r>
            <a:endParaRPr lang="en-US" sz="1100" dirty="0"/>
          </a:p>
          <a:p>
            <a:pPr marL="174625" indent="-174625">
              <a:spcBef>
                <a:spcPts val="0"/>
              </a:spcBef>
              <a:spcAft>
                <a:spcPts val="0"/>
              </a:spcAft>
              <a:buFont typeface="Arial" panose="020B0604020202020204" pitchFamily="34" charset="0"/>
              <a:buChar char="•"/>
            </a:pPr>
            <a:r>
              <a:rPr lang="en-US" sz="1100" dirty="0" smtClean="0"/>
              <a:t>For harvesting, there are conceptually opportunities </a:t>
            </a:r>
            <a:r>
              <a:rPr lang="en-US" sz="1100" dirty="0"/>
              <a:t>for </a:t>
            </a:r>
            <a:r>
              <a:rPr lang="en-US" sz="1100" dirty="0" smtClean="0"/>
              <a:t>improving productivity; however, implementation will be difficult and results may not justify costs</a:t>
            </a:r>
          </a:p>
          <a:p>
            <a:pPr marL="174625" indent="-174625">
              <a:spcBef>
                <a:spcPts val="0"/>
              </a:spcBef>
              <a:spcAft>
                <a:spcPts val="0"/>
              </a:spcAft>
              <a:buFont typeface="Arial" panose="020B0604020202020204" pitchFamily="34" charset="0"/>
              <a:buChar char="•"/>
            </a:pPr>
            <a:r>
              <a:rPr lang="en-US" sz="1100" dirty="0" smtClean="0"/>
              <a:t>For wet-milling, the introduction of central milling could reduce labor requirements by 50-70% and produce other financial and nonfinancial benefits</a:t>
            </a:r>
          </a:p>
          <a:p>
            <a:pPr marL="174625" indent="-174625">
              <a:spcBef>
                <a:spcPts val="0"/>
              </a:spcBef>
              <a:spcAft>
                <a:spcPts val="0"/>
              </a:spcAft>
              <a:buFont typeface="Arial" panose="020B0604020202020204" pitchFamily="34" charset="0"/>
              <a:buChar char="•"/>
            </a:pPr>
            <a:r>
              <a:rPr lang="en-US" sz="1100" dirty="0" smtClean="0"/>
              <a:t>Farmers facing the highest opportunity costs to time and labor should be prioritized</a:t>
            </a:r>
          </a:p>
        </p:txBody>
      </p:sp>
    </p:spTree>
    <p:extLst>
      <p:ext uri="{BB962C8B-B14F-4D97-AF65-F5344CB8AC3E}">
        <p14:creationId xmlns:p14="http://schemas.microsoft.com/office/powerpoint/2010/main" val="679099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21047&quot;&gt;&lt;version val=&quot;23231&quot;/&gt;&lt;CPresentation id=&quot;1&quot;&gt;&lt;m_precDefaultNumber&gt;&lt;m_bNumberIsYear val=&quot;1&quot;/&gt;&lt;m_chMinusSymbol&gt;-&lt;/m_chMinusSymbol&gt;&lt;m_chDecimalSymbol17909&gt;.&lt;/m_chDecimalSymbol17909&gt;&lt;m_nGroupingDigits17909 val=&quot;3&quot;/&gt;&lt;m_chGroupingSymbol17909&gt;,&lt;/m_chGroupingSymbol17909&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precDefaultPercent&gt;&lt;m_precDefaultDate&gt;&lt;m_bNumberIsYear val=&quot;0&quot;/&gt;&lt;m_strFormatTime&gt;%#m/%#d/%Y&lt;/m_strFormatTime&gt;&lt;/m_precDefaultDate&gt;&lt;m_precDefaultYear/&gt;&lt;m_precDefaultQuarter/&gt;&lt;m_precDefaultMonth/&gt;&lt;m_precDefaultWeek/&gt;&lt;m_precDefaultDay/&gt;&lt;m_mruColor&gt;&lt;m_vecMRU length=&quot;8&quot;&gt;&lt;elem m_fUsage=&quot;7.68846190752308440000E+000&quot;&gt;&lt;m_msothmcolidx val=&quot;0&quot;/&gt;&lt;m_rgb r=&quot;21&quot; g=&quot;24&quot; b=&quot;92&quot;/&gt;&lt;m_ppcolschidx tagver0=&quot;23004&quot; tagname0=&quot;m_ppcolschidxUNRECOGNIZED&quot; val=&quot;0&quot;/&gt;&lt;m_nBrightness val=&quot;0&quot;/&gt;&lt;/elem&gt;&lt;elem m_fUsage=&quot;1.78554622836350290000E+000&quot;&gt;&lt;m_msothmcolidx val=&quot;0&quot;/&gt;&lt;m_rgb r=&quot;d5&quot; g=&quot;2b&quot; b=&quot;1e&quot;/&gt;&lt;m_ppcolschidx tagver0=&quot;23004&quot; tagname0=&quot;m_ppcolschidxUNRECOGNIZED&quot; val=&quot;0&quot;/&gt;&lt;m_nBrightness val=&quot;0&quot;/&gt;&lt;/elem&gt;&lt;elem m_fUsage=&quot;5.22212042277916950000E-001&quot;&gt;&lt;m_msothmcolidx val=&quot;0&quot;/&gt;&lt;m_rgb r=&quot;be&quot; g=&quot;bf&quot; b=&quot;f0&quot;/&gt;&lt;m_ppcolschidx tagver0=&quot;23004&quot; tagname0=&quot;m_ppcolschidxUNRECOGNIZED&quot; val=&quot;0&quot;/&gt;&lt;m_nBrightness val=&quot;0&quot;/&gt;&lt;/elem&gt;&lt;elem m_fUsage=&quot;3.77981616069631350000E-003&quot;&gt;&lt;m_msothmcolidx val=&quot;0&quot;/&gt;&lt;m_rgb r=&quot;ee&quot; g=&quot;8f&quot; b=&quot;88&quot;/&gt;&lt;m_ppcolschidx tagver0=&quot;23004&quot; tagname0=&quot;m_ppcolschidxUNRECOGNIZED&quot; val=&quot;0&quot;/&gt;&lt;m_nBrightness val=&quot;0&quot;/&gt;&lt;/elem&gt;&lt;elem m_fUsage=&quot;5.67480318019379770000E-009&quot;&gt;&lt;m_msothmcolidx val=&quot;0&quot;/&gt;&lt;m_rgb r=&quot;9d&quot; g=&quot;c9&quot; b=&quot;ea&quot;/&gt;&lt;m_ppcolschidx tagver0=&quot;23004&quot; tagname0=&quot;m_ppcolschidxUNRECOGNIZED&quot; val=&quot;0&quot;/&gt;&lt;m_nBrightness val=&quot;0&quot;/&gt;&lt;/elem&gt;&lt;elem m_fUsage=&quot;3.09248590203255190000E-016&quot;&gt;&lt;m_msothmcolidx val=&quot;0&quot;/&gt;&lt;m_rgb r=&quot;6e&quot; g=&quot;32&quot; b=&quot;19&quot;/&gt;&lt;m_ppcolschidx tagver0=&quot;23004&quot; tagname0=&quot;m_ppcolschidxUNRECOGNIZED&quot; val=&quot;0&quot;/&gt;&lt;m_nBrightness val=&quot;0&quot;/&gt;&lt;/elem&gt;&lt;elem m_fUsage=&quot;7.54358178584058100000E-020&quot;&gt;&lt;m_msothmcolidx val=&quot;0&quot;/&gt;&lt;m_rgb r=&quot;d9&quot; g=&quot;d9&quot; b=&quot;d9&quot;/&gt;&lt;m_ppcolschidx tagver0=&quot;23004&quot; tagname0=&quot;m_ppcolschidxUNRECOGNIZED&quot; val=&quot;0&quot;/&gt;&lt;m_nBrightness val=&quot;0&quot;/&gt;&lt;/elem&gt;&lt;elem m_fUsage=&quot;6.11030124653087190000E-020&quot;&gt;&lt;m_msothmcolidx val=&quot;0&quot;/&gt;&lt;m_rgb r=&quot;a6&quot; g=&quot;a6&quot; b=&quot;a6&quot;/&gt;&lt;m_ppcolschidx tagver0=&quot;23004&quot; tagname0=&quot;m_ppcolschidxUNRECOGNIZED&quot; val=&quot;0&quot;/&gt;&lt;m_nBrightness val=&quot;0&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erznpbiGf0KqQMma.r6.n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VLHj9IJzWkeqV5CHvZDCs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gCf.dW6ugUO3pbvXUEIO_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v2IBZXW80mYL88befDaA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e.h6qSnxz0SjOtN7w0Nr5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jhx_FF5s9EW9aQaJkCIRd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UzGHMjbVOUy0eZ_LKigAP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9qz8kktexUio2dnvNlJZa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rQ8gZ3Ji.Uqk3cwL2DF9T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jjh7V8pJVkCR4c3DBITIK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rdAZ8rJ5ukuVfrjwDcq_L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4eUyb3UPhkObeNAlwMVTN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8iJeK2rYiUi6GOnPj.ngp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z6CYJ0odkEmY0IAZqrc0s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rcdewGQd_k2Nw_YZbjImo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5Ik_1WAlqkukQGN.9dHPJ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E6MuuYteU2iIo.MoBX04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NLo4y8fRUCHHQM27sxWD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yCgYUo_SZkCpUtBdH4Mkq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SkBPSSK8xEKNPpIM3zSmo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TaIUBFLx00eKEFBIng.CD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3KtJyZGy00GTMTWfz2Lk6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bR1wvYC_306gZteXiyFlo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E_qzddkEWE.qAxfWvhYmJ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bMcqP5QwR0WUrzYJCT.t0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R4uKRruLDE6wzwhpn9scg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DMKp85eIWECOq_pZXNift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JkT5QM0nmEmiLDYEUdGib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6uypsUg.XEecf1yroFBDc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Uznj1O_sikO3vvZ3uloZz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8yJVMAB4MUmi5scJQlvr7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dI.GcecCb02MvzYS0KKtQ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yES5Mx44BESwjLSqkgwdT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70LbzZwBRU255hYWdt8br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i.si1L5i40GF.MqKCp4F5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cIZ2oRwwjkqzYAQznBVl3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kAYBqiC_uUWfF0ul6Rfsw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6MR2mwFfdka7FY2N2aO5_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A6kQKVEL0EiYwbunlsqdy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9RVk.dVhd0i1DV__VOmTU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UGurWtqCf0GKgZDjGWisI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S1s58TzIFEaogaFFujVJF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A7aoycLTwkqmVuNMA00db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RTiCAINFZEW9oKVq3b9dO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ph3wVAlBtkGV6kdRy7DT.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d1uEJ7tyhECRyChlxRXnh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RZBYmr6J02Hrh9YoBe96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dFPQRKx7KEaJONOQ2NFed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kGVBL3mTv0mHm4w_2J9Ed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xX1Slah8lkS6uT2I9M15i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VB34.c0G806t_CAM5.GDu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oFR30IKri0iJcGVLi.0kA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RQjNXn_VbUiLzu9E7oPHw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ypj04TuMlUmZkMBucsO6u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cIZ2oRwwjkqzYAQznBVl3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nyYvQ6x6jkW3QFhBEKiT9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K9EETBhG9UG0hvV5ND_38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ChqfkdliMU6fd6Nfjs.O_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ckuQKFaxP0Wc3Cdf8Dcni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84.5mkB6n0qpGAcdq.Hgt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O3keeoAVaE6HCSAUDKHWD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1zQBVrCDq0iFPPOQRLf3F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GTrY8zxeM0mxxH9.ytkNU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4lckhNqQtECuvbsBXu4x8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rN6tCLCjkSScJS1nOGSi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UDBfqrSU3kOV16IN5kyHE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jjyuhBOg7kSm6gDDoEwGs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qbkZoGFypUKKUs.CwRFA2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SczlgDMCzUGdwJuQXNZEa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lMxA2ESbwE2h9lgt327sl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6uTyIhcuRUa_cjpZvZDac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AzM_KA533kWgA4xEOFAbkg"/>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IxNbFnVzJUyzvMbYciasv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NApy_xmfHE.GlXlVt7FJG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ze.7eWk8u0W7RUZ48NTq6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cWr1mXzRXkye7vTvQDYI9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8kqxpjm4_0isn4Bpg9sp_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_97RjAkKJU.4eG5uuqFrZ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IHyFkPV9gU.vdXwNa0IG5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gE55TmDg40myvdepf7e7A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igz0Y2ObiUq8hwe_.Eac7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BCzYF4KFYUGJy26XPpoZZQ"/>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97yKmn6yW0K0dGgyodTtPw"/>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PG.0iweRMEqCaDSZ13Bk7A"/>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yUYOFEAzHUyqobA8kaASLA"/>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zjTb7l4PNEWTemCLgBasPQ"/>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MPb6QigCcUWffth8cItgmQ"/>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tiVku4acJU6A.ruWwL_Sd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DidVcVRW80Oh79W35KfyRg"/>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sxv._NZvR0WmREoZBD5P3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BkV_5MqLdkuzjxsj9yu1Hg"/>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UxF0WPMXLEWgxylUMB_7gw"/>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7Pf0rvCEt0CM0NaNWbJKJ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rUZnULws.UyJdv_XyZ6okg"/>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EzW.ZIReikin8aebwNA1IA"/>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qBy0Ng7arUOxyP_l_IrezQ"/>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DM9F67Vbp0OWl1NDcKhLZw"/>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M.HEB8Wnpk.ATSB43YSOnQ"/>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ib32swShnU6QPKYzAtZcZ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oQKMZAYtlE.8bON2R0IZP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Cm1o8dy5WU6dE7CEbmHCN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9OJyiX3S1UiSYyHZzyERCA"/>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ohZN1kWOCUStJnEP2xCjWw"/>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i9Qg9NJgtU6X.DUD0rRPP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00nbtqaHHkCaTW0a6DBF7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3CxCHqDuSUuWItKjnYk_h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fv8AuQ1Y9EWdH6_p59RuZw"/>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PgpwmRcGokKfHqvI.u0sC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rBbcnYVP5Eyx4YaT3G_5D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guYbEH9ka0Or5CsInX_3n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CocHwZmKD0O73z6YVztAgQ"/>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NLEc_qP8IUC70JeqvVkSDQ"/>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CLgU.cEC_k62aRIB8jFk2w"/>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DhNq4a_6S0eByjPxwC8rXQ"/>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9JW_eMfV5kCy1ZXW61v7R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DNXjcOu8zk.J3C5GTtRMZQ"/>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2nsvp49ilkKYgv9mb.A_sw"/>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6A4VdY31AEeYGWQFW3pbqg"/>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jEnuR3eybkSnMEE6j6bMhg"/>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gWPq1eY2gkq4k5QdqtpnuQ"/>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gRIB.OUPlEyq6ZHkUaSXdw"/>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8fFpUeEg0kySZ5YRgpEs.A"/>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J1D8VXPoOESk4Zor7tK2aw"/>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YYH6G0SK0EaYc_vJmWPoCw"/>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v0SALQtNqUav9YAasg2TNQ"/>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bXlMtV2Y00SQM7YR7mrVhA"/>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rBbcnYVP5Eyx4YaT3G_5DA"/>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Cfstd6zw0Kd4qaYQQksQQ"/>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ymcllwtatEeqlz_g_DGQJw"/>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5cVPN8qplECvZw0W7nJE6w"/>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RSBQW_lW3E6tqKzCOKO2DQ"/>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qoEySy1K50a8suTvN7QkNA"/>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8vrt0eJt0kOzBbJEd8A0og"/>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nTxIIzJRIUeE_YlPEP8EBQ"/>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NPTw52vKnUWs1AzbHeBkww"/>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kZNIhRG6y0esEnel1hhx8g"/>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dmxPhqNx.kK6aHIk0s_DfQ"/>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jSzrVKPlO0ieHIOnO3Z2Sw"/>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wsIPmanV5U.xkKh5wLWWzw"/>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ODUFCb_bEWx.tYe4JCvDw"/>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9eBfHGYTE0WebsCO_.7lbw"/>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ZXN0sIZoUKdD8mvrRrKHA"/>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udjOidztx0qqkojvILgqNg"/>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DANzUkpFdEiouz3fVu.kLA"/>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eSEy_PmyC06NndBFrKeZzQ"/>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f_EsmIRrjUu5NGa6478cAA"/>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l4r7EGJNb0qRJNinyJrAww"/>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4cGn6T8F_U6_7UoX8fDzig"/>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JR7FcTkIg0atmrLb81nKeg"/>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ToHLygIQU0y2IvHg4C073g"/>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XLhYMFgVEkuhZ9R3lGiICg"/>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ddQLjl.LRUev63TJ62jTHA"/>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sPRDJg7BgUmYh4v0.q8DRQ"/>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5IWW80p1R0uBUL7flJkMzA"/>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46tAAmbcY0GyY.Cxob2WgQ"/>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F7V8IIpM5EWwwSZ99gPzRA"/>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fJF749_ZRkeUpmZrHvrSOg"/>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21vM4Ir4L0K9AIkB.95wkQ"/>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iVyl9XbzY028t2RfDcwqaw"/>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tGbpTTsOwEyEWRrratEaqQ"/>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FZnUNh8be0aW8uF_L7mIZA"/>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i1pbeY9eMUCVHlRR.9fXOw"/>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FAPEVPuEOkyGKz7bbD011w"/>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Yzrus4pyeU.gf9GaQbm.Tg"/>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7XMXIyoEpUK718oRPzGx.A"/>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q0F57LNzeUajPZo.ieKsTQ"/>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jBTUojGJfUW9_rQMnLZLEQ"/>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1I7AwVQ.d06zwhHW3btPbg"/>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OVA_qfkm1EC7ENNiLLV1CA"/>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LqnqYIVLOEyT9tFNwwh9iA"/>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3koG7OY.HUGruoKCUz4c4g"/>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9.vDrOz2ckOEJYRKEJfVIQ"/>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xfsU.JuLDkO_21iCT.druw"/>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6HZin2V6XE.k31KKGqXXlg"/>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64cI2mUFMUu7qonbiE3r_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IKEhL_a7rUalTAtSUWYFqw"/>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LXUakrEUzUu8JHO_eO85EA"/>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IFLdT8x6XUKPMc_XDPqxbg"/>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fVMIURWodE.0HL1.LSuTIQ"/>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y0FtL3cuQUKdbbyg4JlsPg"/>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KeWO4dDwvkqC9VenCmIcRw"/>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X0Cs5wYT7UWIP1UOBx20Bg"/>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b7XW8R0N80eOnJusP_iTlg"/>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foCb6Xt6Hk6I.XQ7GiupWg"/>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TF0jpeq8X0aOFQIAnp65Ww"/>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4qGUAK47pUSSiZnP_qCR8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p8vmBrXy2EuMxEOuGlEJIA"/>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v0qVi0hw6kOD2sZMZ.fmt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_RxY9fStiU.FmLtitK3Nt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gCmDtTrSuUCoXdPVLW33og"/>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g_i5Bshcb0u0QvgCKUbCkg"/>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bUmTt3kRSk2CrJ04yeNI.w"/>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taQx99IjCUyPK_GdxsEUfw"/>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V7Ik46SLK0a8tunXzuZX6A"/>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vjjhOeFkREecOzTyNZH8pw"/>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yUYOFEAzHUyqobA8kaASLA"/>
</p:tagLst>
</file>

<file path=ppt/tags/tag208.xml><?xml version="1.0" encoding="utf-8"?>
<p:tagLst xmlns:a="http://schemas.openxmlformats.org/drawingml/2006/main" xmlns:r="http://schemas.openxmlformats.org/officeDocument/2006/relationships" xmlns:p="http://schemas.openxmlformats.org/presentationml/2006/main">
  <p:tag name="NAME" val="SingleBoatShape"/>
</p:tagLst>
</file>

<file path=ppt/tags/tag209.xml><?xml version="1.0" encoding="utf-8"?>
<p:tagLst xmlns:a="http://schemas.openxmlformats.org/drawingml/2006/main" xmlns:r="http://schemas.openxmlformats.org/officeDocument/2006/relationships" xmlns:p="http://schemas.openxmlformats.org/presentationml/2006/main">
  <p:tag name="NAME" val="SingleBoatShape"/>
</p:tagLst>
</file>

<file path=ppt/tags/tag210.xml><?xml version="1.0" encoding="utf-8"?>
<p:tagLst xmlns:a="http://schemas.openxmlformats.org/drawingml/2006/main" xmlns:r="http://schemas.openxmlformats.org/officeDocument/2006/relationships" xmlns:p="http://schemas.openxmlformats.org/presentationml/2006/main">
  <p:tag name="NAME" val="SingleBoatShape"/>
</p:tagLst>
</file>

<file path=ppt/tags/tag211.xml><?xml version="1.0" encoding="utf-8"?>
<p:tagLst xmlns:a="http://schemas.openxmlformats.org/drawingml/2006/main" xmlns:r="http://schemas.openxmlformats.org/officeDocument/2006/relationships" xmlns:p="http://schemas.openxmlformats.org/presentationml/2006/main">
  <p:tag name="NAME" val="SingleBoatShape"/>
</p:tagLst>
</file>

<file path=ppt/tags/tag212.xml><?xml version="1.0" encoding="utf-8"?>
<p:tagLst xmlns:a="http://schemas.openxmlformats.org/drawingml/2006/main" xmlns:r="http://schemas.openxmlformats.org/officeDocument/2006/relationships" xmlns:p="http://schemas.openxmlformats.org/presentationml/2006/main">
  <p:tag name="NAME" val="SingleBoatShape"/>
</p:tagLst>
</file>

<file path=ppt/tags/tag213.xml><?xml version="1.0" encoding="utf-8"?>
<p:tagLst xmlns:a="http://schemas.openxmlformats.org/drawingml/2006/main" xmlns:r="http://schemas.openxmlformats.org/officeDocument/2006/relationships" xmlns:p="http://schemas.openxmlformats.org/presentationml/2006/main">
  <p:tag name="NAME" val="SingleBoatText"/>
  <p:tag name="LEFT" val=" 143.875"/>
  <p:tag name="TOP" val=" 207"/>
  <p:tag name="LLEFT" val=" 143.875"/>
  <p:tag name="LTOP" val=" 207"/>
</p:tagLst>
</file>

<file path=ppt/tags/tag214.xml><?xml version="1.0" encoding="utf-8"?>
<p:tagLst xmlns:a="http://schemas.openxmlformats.org/drawingml/2006/main" xmlns:r="http://schemas.openxmlformats.org/officeDocument/2006/relationships" xmlns:p="http://schemas.openxmlformats.org/presentationml/2006/main">
  <p:tag name="LTOP" val=" 207"/>
  <p:tag name="LLEFT" val=" 143.875"/>
  <p:tag name="TOP" val=" 207"/>
  <p:tag name="LEFT" val=" 143.875"/>
  <p:tag name="NAME" val="SingleBoatText"/>
</p:tagLst>
</file>

<file path=ppt/tags/tag215.xml><?xml version="1.0" encoding="utf-8"?>
<p:tagLst xmlns:a="http://schemas.openxmlformats.org/drawingml/2006/main" xmlns:r="http://schemas.openxmlformats.org/officeDocument/2006/relationships" xmlns:p="http://schemas.openxmlformats.org/presentationml/2006/main">
  <p:tag name="NAME" val="SingleBoatText"/>
  <p:tag name="LEFT" val=" 143.875"/>
  <p:tag name="TOP" val=" 207"/>
  <p:tag name="LLEFT" val=" 143.875"/>
  <p:tag name="LTOP" val=" 207"/>
</p:tagLst>
</file>

<file path=ppt/tags/tag216.xml><?xml version="1.0" encoding="utf-8"?>
<p:tagLst xmlns:a="http://schemas.openxmlformats.org/drawingml/2006/main" xmlns:r="http://schemas.openxmlformats.org/officeDocument/2006/relationships" xmlns:p="http://schemas.openxmlformats.org/presentationml/2006/main">
  <p:tag name="NAME" val="SingleBoatText"/>
  <p:tag name="LEFT" val=" 143.875"/>
  <p:tag name="TOP" val=" 207"/>
  <p:tag name="LLEFT" val=" 143.875"/>
  <p:tag name="LTOP" val=" 207"/>
</p:tagLst>
</file>

<file path=ppt/tags/tag217.xml><?xml version="1.0" encoding="utf-8"?>
<p:tagLst xmlns:a="http://schemas.openxmlformats.org/drawingml/2006/main" xmlns:r="http://schemas.openxmlformats.org/officeDocument/2006/relationships" xmlns:p="http://schemas.openxmlformats.org/presentationml/2006/main">
  <p:tag name="NAME" val="SingleBoatText"/>
  <p:tag name="LEFT" val=" 143.875"/>
  <p:tag name="TOP" val=" 207"/>
  <p:tag name="LLEFT" val=" 143.875"/>
  <p:tag name="LTOP" val=" 207"/>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q34Ye6avFUa_6_a_t_HgZQ"/>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ewI55uVN0WWbSwvH18ypA"/>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gC0Vm8ucR06JORKY.T7RjA"/>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n0b4rcrYnE2R6iC1BK1JYw"/>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3E0SBE4te0OsYRvryNeljg"/>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AvIce.gvrEezhW9piIpSUQ"/>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uV6qHNW_6EuCg.Yrf5LoHg"/>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eFrlPWhL3EiN7.K4KSZnYA"/>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l3VtVdgTak2NY2n3ReF_3w"/>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SWQ3cWhmsEieSNaq.MKpig"/>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OOil2c2HzUaaI5lCNsDzTw"/>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vgc.YJTpyUm9Iw1GIrorIA"/>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t8ipIQKVa0uenPz2ZizIIQ"/>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kKOoMHtBmkG77u.4_X1M2A"/>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l9m9HtzndkuYL4CnwO7.cw"/>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_sXci68oRkq1_68bC36dTg"/>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S_UjpqBSpEGGKlqRvYiB_w"/>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Dz8hr.I0skGl1EpuUkMoZA"/>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kTyhpzQIzEGIKgX2R65P7w"/>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qbnyirBa2ki2h9EKMj1cww"/>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LqTGy6eJ4EiAILLiepIRiQ"/>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Rvz18.Tq1E6XhdK2IzPRZQ"/>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Sb7.AegYtEm2x8p071rFgQ"/>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MLwD9dUbHUCad8O.8ZfDsQ"/>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S2bLcU3GGEiz03jw6UxzQg"/>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vzSH97CiVE6dxtRTRM0mBg"/>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mI.tEBzMEkqae_RAtzc3fA"/>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Osd567TKTk2ddPXigoJ2cQ"/>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HWwcHTtJLU25AUGq4pddnw"/>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sukTywylBkCbC2cYTKIw1g"/>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FZxIPqE3p0eFN.u5UeEA5g"/>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SDb.wOYW9U6d54O3XBn3wA"/>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TJtYBRpsdEimxC_4csFQdA"/>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zStEG3iPlUe2yf.4.LM1tQ"/>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1NbOjcyyPEqHvdMQiRlhBg"/>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tOMPNUmshEO_QRd5rm_DbA"/>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zoK4WNGsBU6joalQUqg9yw"/>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0eowH7_r8EaqlIa21x3fOA"/>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P4zPJS8ykk2Fz5e9UtDDRQ"/>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toDnrNppakSXrhocw8TekA"/>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7Od_ZuvISU2GsuKRKHYav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_6iSHthQ.0iCKUrKkrBrgw"/>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ryM2n7r8dkGSCvEMlgSXkA"/>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8FA_TJvF4U.gk68U9rDiew"/>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xPl_NJnIX0umIZuD03SGEQ"/>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LoYQghyNLU6zh6bhPzr1Sg"/>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TfS3XRk_KEq7Mcoo3kHdxw"/>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ZIezxVGuyEWLbbcIjfOcYg"/>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3FjPtP3QiE6AE3FG8FoJQA"/>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MX0tRY7yvEivGp4FycQJDQ"/>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vokuuf0xjkGPIBOptrMUdA"/>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DOreuM2CCEKmO54q3ZKeMw"/>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iGtYsCNAqEW_O69cTLM3Tw"/>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q34Ye6avFUa_6_a_t_HgZQ"/>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WX9znm9PSEKl.Y49rXrXyg"/>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ANmL4f5BQEuFGqHAoEz0Dg"/>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JI4rVzeeCEyAWlJohWLRrw"/>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QCrqlKM.Z0ODF1QEbpEQsg"/>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X46XN0G1lEmzdfUWqyn2SQ"/>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TeY5obBHdE.WkQ3VuRIDLQ"/>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ZL1ebUw4L0CW5TiGF1OD5Q"/>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GIumhEqdc0.8l5.j8Lyyog"/>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oXQrdk1tyUOB_WiSW2ze.Q"/>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Ty1_Y5ZIcU2CFFx2GPKeGA"/>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DWJ_nT4VfkOXp5F8EOqc.g"/>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wTOMtjwkrkiIfAt7.8hamw"/>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KYfdA1KqAkanO9OLlaO4CA"/>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dEXdqMTB1E.JD7tbYpcoDg"/>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9yQpVhucdUuGVpM4qY_Zfg"/>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IiQetCIxA0uDQC0oks5A0g"/>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MqOneQUyGkSOzTwOld55RA"/>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D3I4TYPAzEqCYnYK0kpaSA"/>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NqFdnWTljEu3i11zjprAjQ"/>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PGihdzQpnEuAmuK6RehVGQ"/>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E85iev180EeMhltH8cs8NA"/>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2NJxDmqO00WiP6ELI4xzbQ"/>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LiISqsBzGEyDZIdvQHAzDQ"/>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aVBEos0bGkiK_6HDXYw3Jw"/>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zch5p_THQk.mrCKcClQ_ig"/>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OVdo2UlSUk.kDvD18cNXhg"/>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6B_k0Qez3EKmPeN_Qm2gLg"/>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3T1EV_T0jEyunv6fzEQ4IA"/>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RPGFaQJJCku3A4ZPat.Q6w"/>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wR6qd2CqFUOY1MiRbFB.xA"/>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q34Ye6avFUa_6_a_t_HgZQ"/>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fVgXcXEuB0O_ELb_vvtjMw"/>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F62LnO4EdEuV0u0jJlzvvw"/>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taj5UIiUVGUKsaQR3yvxnOg"/>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tqZjOCFeQ1UqA7FNgDqtTKw"/>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tqiljmS5DDESDjZk9z_dcAA"/>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wGZ87APOYUSrUk7mAmi6HA"/>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tP3JU0td3.06QG6INtZye9w"/>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tWcSQIuh_8kW4AA0hpy725g"/>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jDL_ZBXhbU2eelKd_tlfRg"/>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6P8Tek8EB0y6C5TL6m1LzA"/>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tI8dXDpAiRECZtHbKSW0R9A"/>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tInf9EPU.cUa7vUNFgJ7nXA"/>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tMrRxb6Ho60efmXugEqVf7w"/>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tWU5_vw1kc0uNDWA0JIrf7g"/>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tkw.lpyhMKE2Gsrp5POgreA"/>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tZCG_BJto9EWKXTCvGsC9yw"/>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teBaZMSqIX0yxPsf6Tn9Vxg"/>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j669qaQ0BE2z2IVJinjRuQ"/>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tKYQqEQfnUkKQKtya0ecXfQ"/>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trMdRMzu_9UG4A3Jot2IuPg"/>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t8yyMiKYfpEKMo3YqlxRl3w"/>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tM30Jt72t9EaEhOou6DMLjQ"/>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tNnVkOjcnLEW49.KWNuRzLQ"/>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tVCijkJiOwEyvOktVgr0AQw"/>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tYbzIZgemiECF4jMouys2rQ"/>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4SaJ43j18kqj071RpuBdOQ"/>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uORffeTzl0O7SX4a.yf72g"/>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tNd9W0DYOUk2.761Z870bGg"/>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MHPedyq0pkuPmAAopa5zjw"/>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tDVj_ujmTmEinqsmGk9VIfA"/>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tAy9y4Mqb1EOS3jbvxXP6xg"/>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tI2Qg8HSflk.YujYA62k8_g"/>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tsCYioKwnw0ynQ5Jg5ZqNFA"/>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tfLF6BIE2_US7dXIm0mC_Tw"/>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tLkXOmTAZ1UKU4.d7Bhk41Q"/>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t3L9AefEf.k.YBs.u74r_vA"/>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tIWhX.4iSNkKm3zLP20.xFA"/>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tlE3jzMfujkS3H3BP0iUiIg"/>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tfYGzpc3QVEuJzFkVmyt1jQ"/>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tz5d4Z45Ee0uVXaVXQbWGKg"/>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MfY3EOaWzE.BeXqiZd.Ayw"/>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ur1gEk.m40GY37torzmv0g"/>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l_tP4IDfyESF_CuACTnx6Q"/>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t4QW3hW_IXk6MQs0XIbcC_g"/>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tK0oRENHdJkuXG6Ul4yYYtw"/>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tye5cVGglkEGf.OW1XXygxw"/>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_kjxJ77jHU.JIav5YpbnAw"/>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14OaIqbL8UC543yXzNlpiw"/>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tZzDYkhsaNU6daln2oY0J6g"/>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q34Ye6avFUa_6_a_t_HgZQ"/>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MVoVkUWKHEGA4grhaq3AKA"/>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kRr9nS59C0qPvFxs6t44aQ"/>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MCuW9jgjHky5tMhOCQbhNg"/>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GF8fPSTpm0eMQZXYbeh7wg"/>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vu8bk12_Qk.g1cJzSgVo3g"/>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7f4gt.7gSka5UR8dZ3e2Zw"/>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qHxJPGQEX0inbA7uLBVWjw"/>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wYhwALw9EE6bFUklAZlShg"/>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tV3C.GABaMkmGoxH9vPaFzw"/>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tjEbtavivdkKIQppB7V8Ovw"/>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1tSfnOC2.Eag.IjcSb_6tw"/>
</p:tagLst>
</file>

<file path=ppt/tags/tag369.xml><?xml version="1.0" encoding="utf-8"?>
<p:tagLst xmlns:a="http://schemas.openxmlformats.org/drawingml/2006/main" xmlns:r="http://schemas.openxmlformats.org/officeDocument/2006/relationships" xmlns:p="http://schemas.openxmlformats.org/presentationml/2006/main">
  <p:tag name="THINKCELLSHAPEDONOTDELETE" val="t9oPQyPcaVUuhkaAtEvW7pg"/>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tid35X5DvtUqLvjoLw7xqUA"/>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WPwk8tn55UimrrLk_GxKQA"/>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taOW82Ub4o0i3ob.YGDMnrw"/>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_mosFuPqiUSsbnRbb2OOZg"/>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lsjCPIbRgEaYmfcjJKk3jg"/>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qxec5I0tbEC9PTV6mjbLRw"/>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CjR20RZ3aUy22GCxNXg4PA"/>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svHFBgF13Ei60R403H.W6w"/>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spbzZAP9WU6lVQ2XycBaiA"/>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M6AX4863Y0ew._uXpmG5zg"/>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K0uHs6J7fEm1gigQfobhvQ"/>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t9bju_reBkU6O6cb3JbyQNA"/>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G9oSrHdlWUSdwZJFdHit7w"/>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ti59.yhZaSEGGEtX8DVhQVA"/>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tjenjITpEwEu3E7uvIkN7LQ"/>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tQ2K_9lNLGEqIzRiaOxCihw"/>
</p:tagLst>
</file>

<file path=ppt/tags/tag387.xml><?xml version="1.0" encoding="utf-8"?>
<p:tagLst xmlns:a="http://schemas.openxmlformats.org/drawingml/2006/main" xmlns:r="http://schemas.openxmlformats.org/officeDocument/2006/relationships" xmlns:p="http://schemas.openxmlformats.org/presentationml/2006/main">
  <p:tag name="THINKCELLSHAPEDONOTDELETE" val="t3K.qnvWAgE.1cyzhH7gl.w"/>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NNuzJ9tv.UK4Nx5qKwuzsA"/>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skxEgEuLCk.5Kh8O8pPjJg"/>
</p:tagLst>
</file>

<file path=ppt/tags/tag390.xml><?xml version="1.0" encoding="utf-8"?>
<p:tagLst xmlns:a="http://schemas.openxmlformats.org/drawingml/2006/main" xmlns:r="http://schemas.openxmlformats.org/officeDocument/2006/relationships" xmlns:p="http://schemas.openxmlformats.org/presentationml/2006/main">
  <p:tag name="THINKCELLSHAPEDONOTDELETE" val="tSBJC4SCvOkaMAiUwEojUHg"/>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tqKvqL4LP9UCbifvuvfazzQ"/>
</p:tagLst>
</file>

<file path=ppt/tags/tag392.xml><?xml version="1.0" encoding="utf-8"?>
<p:tagLst xmlns:a="http://schemas.openxmlformats.org/drawingml/2006/main" xmlns:r="http://schemas.openxmlformats.org/officeDocument/2006/relationships" xmlns:p="http://schemas.openxmlformats.org/presentationml/2006/main">
  <p:tag name="THINKCELLSHAPEDONOTDELETE" val="tckXqBsuda0qnpuFRgvO5SA"/>
</p:tagLst>
</file>

<file path=ppt/tags/tag393.xml><?xml version="1.0" encoding="utf-8"?>
<p:tagLst xmlns:a="http://schemas.openxmlformats.org/drawingml/2006/main" xmlns:r="http://schemas.openxmlformats.org/officeDocument/2006/relationships" xmlns:p="http://schemas.openxmlformats.org/presentationml/2006/main">
  <p:tag name="THINKCELLSHAPEDONOTDELETE" val="tvprwY_12IEWcXOkiMIeTSg"/>
</p:tagLst>
</file>

<file path=ppt/tags/tag394.xml><?xml version="1.0" encoding="utf-8"?>
<p:tagLst xmlns:a="http://schemas.openxmlformats.org/drawingml/2006/main" xmlns:r="http://schemas.openxmlformats.org/officeDocument/2006/relationships" xmlns:p="http://schemas.openxmlformats.org/presentationml/2006/main">
  <p:tag name="THINKCELLSHAPEDONOTDELETE" val="thoBjw2uyrESBLKIHHDbUWg"/>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twoO1k93YC0.mKz4F1TnZlA"/>
</p:tagLst>
</file>

<file path=ppt/tags/tag396.xml><?xml version="1.0" encoding="utf-8"?>
<p:tagLst xmlns:a="http://schemas.openxmlformats.org/drawingml/2006/main" xmlns:r="http://schemas.openxmlformats.org/officeDocument/2006/relationships" xmlns:p="http://schemas.openxmlformats.org/presentationml/2006/main">
  <p:tag name="THINKCELLSHAPEDONOTDELETE" val="t3lt_kWM6hUulZWkQFsmxHg"/>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tYv9uGS3VY0KmZqMjHsHSZg"/>
</p:tagLst>
</file>

<file path=ppt/tags/tag398.xml><?xml version="1.0" encoding="utf-8"?>
<p:tagLst xmlns:a="http://schemas.openxmlformats.org/drawingml/2006/main" xmlns:r="http://schemas.openxmlformats.org/officeDocument/2006/relationships" xmlns:p="http://schemas.openxmlformats.org/presentationml/2006/main">
  <p:tag name="THINKCELLSHAPEDONOTDELETE" val="toEvnV.BRTkiFDy5X.Jk63g"/>
</p:tagLst>
</file>

<file path=ppt/tags/tag399.xml><?xml version="1.0" encoding="utf-8"?>
<p:tagLst xmlns:a="http://schemas.openxmlformats.org/drawingml/2006/main" xmlns:r="http://schemas.openxmlformats.org/officeDocument/2006/relationships" xmlns:p="http://schemas.openxmlformats.org/presentationml/2006/main">
  <p:tag name="THINKCELLSHAPEDONOTDELETE" val="tjWxt71OLp0.Q2bLEPLpEkw"/>
</p:tagLst>
</file>

<file path=ppt/tags/tag400.xml><?xml version="1.0" encoding="utf-8"?>
<p:tagLst xmlns:a="http://schemas.openxmlformats.org/drawingml/2006/main" xmlns:r="http://schemas.openxmlformats.org/officeDocument/2006/relationships" xmlns:p="http://schemas.openxmlformats.org/presentationml/2006/main">
  <p:tag name="THINKCELLSHAPEDONOTDELETE" val="tkucRA.zHB06HnUvIwyAoZg"/>
</p:tagLst>
</file>

<file path=ppt/tags/tag401.xml><?xml version="1.0" encoding="utf-8"?>
<p:tagLst xmlns:a="http://schemas.openxmlformats.org/drawingml/2006/main" xmlns:r="http://schemas.openxmlformats.org/officeDocument/2006/relationships" xmlns:p="http://schemas.openxmlformats.org/presentationml/2006/main">
  <p:tag name="THINKCELLSHAPEDONOTDELETE" val="tm0cRaexFGkKwEKLSoZqHcQ"/>
</p:tagLst>
</file>

<file path=ppt/tags/tag402.xml><?xml version="1.0" encoding="utf-8"?>
<p:tagLst xmlns:a="http://schemas.openxmlformats.org/drawingml/2006/main" xmlns:r="http://schemas.openxmlformats.org/officeDocument/2006/relationships" xmlns:p="http://schemas.openxmlformats.org/presentationml/2006/main">
  <p:tag name="THINKCELLSHAPEDONOTDELETE" val="tNnQJZpLGvEWqyD.BUVys6w"/>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tHg9WM6mO7EyfY_Z0r3TkOQ"/>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tf04LfDLbcEWIEUSkULolPg"/>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YIUxr4WuS06r5DO6vJ10lA"/>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txMmp5kBUcEqa1Ctcp1RcJw"/>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tYBwjqwUGoUGhbaRcfmWutA"/>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tfrU7U7p1b0a3LcVfdz0HTQ"/>
</p:tagLst>
</file>

<file path=ppt/tags/tag409.xml><?xml version="1.0" encoding="utf-8"?>
<p:tagLst xmlns:a="http://schemas.openxmlformats.org/drawingml/2006/main" xmlns:r="http://schemas.openxmlformats.org/officeDocument/2006/relationships" xmlns:p="http://schemas.openxmlformats.org/presentationml/2006/main">
  <p:tag name="THINKCELLSHAPEDONOTDELETE" val="tLfIXGNRpsE6cQapN5uVUWA"/>
</p:tagLst>
</file>

<file path=ppt/tags/tag410.xml><?xml version="1.0" encoding="utf-8"?>
<p:tagLst xmlns:a="http://schemas.openxmlformats.org/drawingml/2006/main" xmlns:r="http://schemas.openxmlformats.org/officeDocument/2006/relationships" xmlns:p="http://schemas.openxmlformats.org/presentationml/2006/main">
  <p:tag name="THINKCELLSHAPEDONOTDELETE" val="tlXAIQRXYfEmVjPccr0H5Tw"/>
</p:tagLst>
</file>

<file path=ppt/tags/tag411.xml><?xml version="1.0" encoding="utf-8"?>
<p:tagLst xmlns:a="http://schemas.openxmlformats.org/drawingml/2006/main" xmlns:r="http://schemas.openxmlformats.org/officeDocument/2006/relationships" xmlns:p="http://schemas.openxmlformats.org/presentationml/2006/main">
  <p:tag name="THINKCELLSHAPEDONOTDELETE" val="tnGZP0UucV0.sdxOGFaQrpA"/>
</p:tagLst>
</file>

<file path=ppt/tags/tag412.xml><?xml version="1.0" encoding="utf-8"?>
<p:tagLst xmlns:a="http://schemas.openxmlformats.org/drawingml/2006/main" xmlns:r="http://schemas.openxmlformats.org/officeDocument/2006/relationships" xmlns:p="http://schemas.openxmlformats.org/presentationml/2006/main">
  <p:tag name="THINKCELLSHAPEDONOTDELETE" val="t7lK_qkmDpE.YQxIIQDJ2jQ"/>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tQ_gzxiPf9UKTRTPIZ0o6XA"/>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5.xml><?xml version="1.0" encoding="utf-8"?>
<p:tagLst xmlns:a="http://schemas.openxmlformats.org/drawingml/2006/main" xmlns:r="http://schemas.openxmlformats.org/officeDocument/2006/relationships" xmlns:p="http://schemas.openxmlformats.org/presentationml/2006/main">
  <p:tag name="THINKCELLSHAPEDONOTDELETE" val="tq34Ye6avFUa_6_a_t_HgZQ"/>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ttmPEhMzxgEKWWJJWchHetQ"/>
</p:tagLst>
</file>

<file path=ppt/tags/tag417.xml><?xml version="1.0" encoding="utf-8"?>
<p:tagLst xmlns:a="http://schemas.openxmlformats.org/drawingml/2006/main" xmlns:r="http://schemas.openxmlformats.org/officeDocument/2006/relationships" xmlns:p="http://schemas.openxmlformats.org/presentationml/2006/main">
  <p:tag name="THINKCELLSHAPEDONOTDELETE" val="tW7K72h_pJ0uczaOWAiBLqw"/>
</p:tagLst>
</file>

<file path=ppt/tags/tag418.xml><?xml version="1.0" encoding="utf-8"?>
<p:tagLst xmlns:a="http://schemas.openxmlformats.org/drawingml/2006/main" xmlns:r="http://schemas.openxmlformats.org/officeDocument/2006/relationships" xmlns:p="http://schemas.openxmlformats.org/presentationml/2006/main">
  <p:tag name="THINKCELLSHAPEDONOTDELETE" val="tjS8.kYKWwU29P5Q1QP67gQ"/>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tXu7Za9YhIUi9FY90eiwYnA"/>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tqk.3R2lbjEyledczdQlgjw"/>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toevTJullQEereFLYQhilIg"/>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tqqsZncsMbU6GVyFywJ1nKw"/>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t4W4w6z3eTkusSDeBok0eAA"/>
</p:tagLst>
</file>

<file path=ppt/tags/tag424.xml><?xml version="1.0" encoding="utf-8"?>
<p:tagLst xmlns:a="http://schemas.openxmlformats.org/drawingml/2006/main" xmlns:r="http://schemas.openxmlformats.org/officeDocument/2006/relationships" xmlns:p="http://schemas.openxmlformats.org/presentationml/2006/main">
  <p:tag name="THINKCELLSHAPEDONOTDELETE" val="tIXKJzfn5IkqE1Qnnr4h.7w"/>
</p:tagLst>
</file>

<file path=ppt/tags/tag425.xml><?xml version="1.0" encoding="utf-8"?>
<p:tagLst xmlns:a="http://schemas.openxmlformats.org/drawingml/2006/main" xmlns:r="http://schemas.openxmlformats.org/officeDocument/2006/relationships" xmlns:p="http://schemas.openxmlformats.org/presentationml/2006/main">
  <p:tag name="THINKCELLSHAPEDONOTDELETE" val="tMdVkHaoFgk6CZEDvka.t7w"/>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tTuge.u0vd02PLtHsMuad0Q"/>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thneaTezlW0SBhIK3sIcW5A"/>
</p:tagLst>
</file>

<file path=ppt/tags/tag428.xml><?xml version="1.0" encoding="utf-8"?>
<p:tagLst xmlns:a="http://schemas.openxmlformats.org/drawingml/2006/main" xmlns:r="http://schemas.openxmlformats.org/officeDocument/2006/relationships" xmlns:p="http://schemas.openxmlformats.org/presentationml/2006/main">
  <p:tag name="THINKCELLSHAPEDONOTDELETE" val="tiiBmP1G7skSWowC8SbmShA"/>
</p:tagLst>
</file>

<file path=ppt/tags/tag429.xml><?xml version="1.0" encoding="utf-8"?>
<p:tagLst xmlns:a="http://schemas.openxmlformats.org/drawingml/2006/main" xmlns:r="http://schemas.openxmlformats.org/officeDocument/2006/relationships" xmlns:p="http://schemas.openxmlformats.org/presentationml/2006/main">
  <p:tag name="THINKCELLSHAPEDONOTDELETE" val="tN4dsg9jlL0i6NLoGykNnGg"/>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t7bIRGClOGEyBr_UXXV8fVg"/>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tFK3P5h_7UEKbwqZXKLwWpA"/>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t6b.jCuy7dUW2c86Rak6m8w"/>
</p:tagLst>
</file>

<file path=ppt/tags/tag433.xml><?xml version="1.0" encoding="utf-8"?>
<p:tagLst xmlns:a="http://schemas.openxmlformats.org/drawingml/2006/main" xmlns:r="http://schemas.openxmlformats.org/officeDocument/2006/relationships" xmlns:p="http://schemas.openxmlformats.org/presentationml/2006/main">
  <p:tag name="THINKCELLSHAPEDONOTDELETE" val="t_DYJnSjoSEy76d.4TZc0cA"/>
</p:tagLst>
</file>

<file path=ppt/tags/tag434.xml><?xml version="1.0" encoding="utf-8"?>
<p:tagLst xmlns:a="http://schemas.openxmlformats.org/drawingml/2006/main" xmlns:r="http://schemas.openxmlformats.org/officeDocument/2006/relationships" xmlns:p="http://schemas.openxmlformats.org/presentationml/2006/main">
  <p:tag name="THINKCELLSHAPEDONOTDELETE" val="tBgJu43ZmakmZ3H_uowQqBw"/>
</p:tagLst>
</file>

<file path=ppt/tags/tag435.xml><?xml version="1.0" encoding="utf-8"?>
<p:tagLst xmlns:a="http://schemas.openxmlformats.org/drawingml/2006/main" xmlns:r="http://schemas.openxmlformats.org/officeDocument/2006/relationships" xmlns:p="http://schemas.openxmlformats.org/presentationml/2006/main">
  <p:tag name="THINKCELLSHAPEDONOTDELETE" val="tKk33dp3au02FlnNrxJsWpg"/>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tWACBPLs5REyS2oazC5NocA"/>
</p:tagLst>
</file>

<file path=ppt/tags/tag437.xml><?xml version="1.0" encoding="utf-8"?>
<p:tagLst xmlns:a="http://schemas.openxmlformats.org/drawingml/2006/main" xmlns:r="http://schemas.openxmlformats.org/officeDocument/2006/relationships" xmlns:p="http://schemas.openxmlformats.org/presentationml/2006/main">
  <p:tag name="THINKCELLSHAPEDONOTDELETE" val="tjE9Za5yPy0qViw78AgEN6A"/>
</p:tagLst>
</file>

<file path=ppt/tags/tag438.xml><?xml version="1.0" encoding="utf-8"?>
<p:tagLst xmlns:a="http://schemas.openxmlformats.org/drawingml/2006/main" xmlns:r="http://schemas.openxmlformats.org/officeDocument/2006/relationships" xmlns:p="http://schemas.openxmlformats.org/presentationml/2006/main">
  <p:tag name="THINKCELLSHAPEDONOTDELETE" val="tkJz2nIQUQ0mK7LT4hhMQjw"/>
</p:tagLst>
</file>

<file path=ppt/tags/tag4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tT3QmNgWH8Ea7NIvLbqcN4Q"/>
</p:tagLst>
</file>

<file path=ppt/tags/tag443.xml><?xml version="1.0" encoding="utf-8"?>
<p:tagLst xmlns:a="http://schemas.openxmlformats.org/drawingml/2006/main" xmlns:r="http://schemas.openxmlformats.org/officeDocument/2006/relationships" xmlns:p="http://schemas.openxmlformats.org/presentationml/2006/main">
  <p:tag name="LLEFT" val=" 143.875"/>
  <p:tag name="LTOP" val=" 208.75"/>
</p:tagLst>
</file>

<file path=ppt/tags/tag444.xml><?xml version="1.0" encoding="utf-8"?>
<p:tagLst xmlns:a="http://schemas.openxmlformats.org/drawingml/2006/main" xmlns:r="http://schemas.openxmlformats.org/officeDocument/2006/relationships" xmlns:p="http://schemas.openxmlformats.org/presentationml/2006/main">
  <p:tag name="LLEFT" val=" 143.875"/>
  <p:tag name="LTOP" val=" 208.75"/>
</p:tagLst>
</file>

<file path=ppt/tags/tag445.xml><?xml version="1.0" encoding="utf-8"?>
<p:tagLst xmlns:a="http://schemas.openxmlformats.org/drawingml/2006/main" xmlns:r="http://schemas.openxmlformats.org/officeDocument/2006/relationships" xmlns:p="http://schemas.openxmlformats.org/presentationml/2006/main">
  <p:tag name="LLEFT" val=" 143.875"/>
  <p:tag name="LTOP" val=" 208.75"/>
</p:tagLst>
</file>

<file path=ppt/tags/tag446.xml><?xml version="1.0" encoding="utf-8"?>
<p:tagLst xmlns:a="http://schemas.openxmlformats.org/drawingml/2006/main" xmlns:r="http://schemas.openxmlformats.org/officeDocument/2006/relationships" xmlns:p="http://schemas.openxmlformats.org/presentationml/2006/main">
  <p:tag name="LLEFT" val=" 143.875"/>
  <p:tag name="LTOP" val=" 208.75"/>
</p:tagLst>
</file>

<file path=ppt/tags/tag447.xml><?xml version="1.0" encoding="utf-8"?>
<p:tagLst xmlns:a="http://schemas.openxmlformats.org/drawingml/2006/main" xmlns:r="http://schemas.openxmlformats.org/officeDocument/2006/relationships" xmlns:p="http://schemas.openxmlformats.org/presentationml/2006/main">
  <p:tag name="LLEFT" val=" 143.875"/>
  <p:tag name="LTOP" val=" 208.75"/>
</p:tagLst>
</file>

<file path=ppt/tags/tag448.xml><?xml version="1.0" encoding="utf-8"?>
<p:tagLst xmlns:a="http://schemas.openxmlformats.org/drawingml/2006/main" xmlns:r="http://schemas.openxmlformats.org/officeDocument/2006/relationships" xmlns:p="http://schemas.openxmlformats.org/presentationml/2006/main">
  <p:tag name="LLEFT" val=" 143.875"/>
  <p:tag name="LTOP" val=" 208.75"/>
</p:tagLst>
</file>

<file path=ppt/tags/tag449.xml><?xml version="1.0" encoding="utf-8"?>
<p:tagLst xmlns:a="http://schemas.openxmlformats.org/drawingml/2006/main" xmlns:r="http://schemas.openxmlformats.org/officeDocument/2006/relationships" xmlns:p="http://schemas.openxmlformats.org/presentationml/2006/main">
  <p:tag name="LLEFT" val=" 143.875"/>
  <p:tag name="LTOP" val=" 208.75"/>
</p:tagLst>
</file>

<file path=ppt/tags/tag450.xml><?xml version="1.0" encoding="utf-8"?>
<p:tagLst xmlns:a="http://schemas.openxmlformats.org/drawingml/2006/main" xmlns:r="http://schemas.openxmlformats.org/officeDocument/2006/relationships" xmlns:p="http://schemas.openxmlformats.org/presentationml/2006/main">
  <p:tag name="LLEFT" val=" 143.875"/>
  <p:tag name="LTOP" val=" 208.75"/>
</p:tagLst>
</file>

<file path=ppt/tags/tag451.xml><?xml version="1.0" encoding="utf-8"?>
<p:tagLst xmlns:a="http://schemas.openxmlformats.org/drawingml/2006/main" xmlns:r="http://schemas.openxmlformats.org/officeDocument/2006/relationships" xmlns:p="http://schemas.openxmlformats.org/presentationml/2006/main">
  <p:tag name="LLEFT" val=" 143.875"/>
  <p:tag name="LTOP" val=" 208.75"/>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t7VLd4tvfw0u7YM4Wvl8DxA"/>
</p:tagLst>
</file>

<file path=ppt/tags/tag453.xml><?xml version="1.0" encoding="utf-8"?>
<p:tagLst xmlns:a="http://schemas.openxmlformats.org/drawingml/2006/main" xmlns:r="http://schemas.openxmlformats.org/officeDocument/2006/relationships" xmlns:p="http://schemas.openxmlformats.org/presentationml/2006/main">
  <p:tag name="THINKCELLSHAPEDONOTDELETE" val="trBb6Ve_lUUCfSh7h8bl0.w"/>
</p:tagLst>
</file>

<file path=ppt/tags/tag454.xml><?xml version="1.0" encoding="utf-8"?>
<p:tagLst xmlns:a="http://schemas.openxmlformats.org/drawingml/2006/main" xmlns:r="http://schemas.openxmlformats.org/officeDocument/2006/relationships" xmlns:p="http://schemas.openxmlformats.org/presentationml/2006/main">
  <p:tag name="THINKCELLSHAPEDONOTDELETE" val="t7qTpY.dRA0msbkMk8SJjFg"/>
</p:tagLst>
</file>

<file path=ppt/tags/tag455.xml><?xml version="1.0" encoding="utf-8"?>
<p:tagLst xmlns:a="http://schemas.openxmlformats.org/drawingml/2006/main" xmlns:r="http://schemas.openxmlformats.org/officeDocument/2006/relationships" xmlns:p="http://schemas.openxmlformats.org/presentationml/2006/main">
  <p:tag name="THINKCELLSHAPEDONOTDELETE" val="tnAf8w5LiekiNvpqJVuwfgQ"/>
</p:tagLst>
</file>

<file path=ppt/tags/tag456.xml><?xml version="1.0" encoding="utf-8"?>
<p:tagLst xmlns:a="http://schemas.openxmlformats.org/drawingml/2006/main" xmlns:r="http://schemas.openxmlformats.org/officeDocument/2006/relationships" xmlns:p="http://schemas.openxmlformats.org/presentationml/2006/main">
  <p:tag name="THINKCELLSHAPEDONOTDELETE" val="t8JRY.akvREmOPtAPnefypg"/>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tD2ZNTCjKPk.FWleK1bvLfA"/>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tUoJ_I5ySm0Gi3jeyuWQYfw"/>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tIyhKSorfU0CmuDe6xk8ADQ"/>
</p:tagLst>
</file>

<file path=ppt/tags/tag460.xml><?xml version="1.0" encoding="utf-8"?>
<p:tagLst xmlns:a="http://schemas.openxmlformats.org/drawingml/2006/main" xmlns:r="http://schemas.openxmlformats.org/officeDocument/2006/relationships" xmlns:p="http://schemas.openxmlformats.org/presentationml/2006/main">
  <p:tag name="THINKCELLSHAPEDONOTDELETE" val="thphXjaJEFkuHY3T2i3FHcQ"/>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tXLv3aT2ZYkaZ7sTtT.8r0Q"/>
</p:tagLst>
</file>

<file path=ppt/tags/tag462.xml><?xml version="1.0" encoding="utf-8"?>
<p:tagLst xmlns:a="http://schemas.openxmlformats.org/drawingml/2006/main" xmlns:r="http://schemas.openxmlformats.org/officeDocument/2006/relationships" xmlns:p="http://schemas.openxmlformats.org/presentationml/2006/main">
  <p:tag name="THINKCELLSHAPEDONOTDELETE" val="tJNpFhdpuhk2RXtYmruE3Gg"/>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t3UpON55Oa0Wopnj95FKTtQ"/>
</p:tagLst>
</file>

<file path=ppt/tags/tag464.xml><?xml version="1.0" encoding="utf-8"?>
<p:tagLst xmlns:a="http://schemas.openxmlformats.org/drawingml/2006/main" xmlns:r="http://schemas.openxmlformats.org/officeDocument/2006/relationships" xmlns:p="http://schemas.openxmlformats.org/presentationml/2006/main">
  <p:tag name="THINKCELLSHAPEDONOTDELETE" val="tddrJBxLyvUiFb4tlEfyqIw"/>
</p:tagLst>
</file>

<file path=ppt/tags/tag465.xml><?xml version="1.0" encoding="utf-8"?>
<p:tagLst xmlns:a="http://schemas.openxmlformats.org/drawingml/2006/main" xmlns:r="http://schemas.openxmlformats.org/officeDocument/2006/relationships" xmlns:p="http://schemas.openxmlformats.org/presentationml/2006/main">
  <p:tag name="THINKCELLSHAPEDONOTDELETE" val="tkhkFn6WFhUCyX27cX3geog"/>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tDtMtausdkUm7mFqbrBHp3A"/>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tprbGlbPI5ECS8rMOLO4Aeg"/>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t1kJTrw.wskeEZkCE8Dtz2w"/>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tpEecoPCcr0C.lU3oJF9PHA"/>
</p:tagLst>
</file>

<file path=ppt/tags/tag470.xml><?xml version="1.0" encoding="utf-8"?>
<p:tagLst xmlns:a="http://schemas.openxmlformats.org/drawingml/2006/main" xmlns:r="http://schemas.openxmlformats.org/officeDocument/2006/relationships" xmlns:p="http://schemas.openxmlformats.org/presentationml/2006/main">
  <p:tag name="THINKCELLSHAPEDONOTDELETE" val="tCYJmXVIPH0G6DzKDbKW1kA"/>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tOcsT98OLrkKDtE4Drgvp4g"/>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3.xml><?xml version="1.0" encoding="utf-8"?>
<p:tagLst xmlns:a="http://schemas.openxmlformats.org/drawingml/2006/main" xmlns:r="http://schemas.openxmlformats.org/officeDocument/2006/relationships" xmlns:p="http://schemas.openxmlformats.org/presentationml/2006/main">
  <p:tag name="THINKCELLSHAPEDONOTDELETE" val="tPG.0iweRMEqCaDSZ13Bk7A"/>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tuFp2PN2NE0.JhuqnRI0LCg"/>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tBdTyXvClBkOfMhtf7._ZDw"/>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zDKJmI26xEq6eVL3sijMxA"/>
</p:tagLst>
</file>

<file path=ppt/tags/tag478.xml><?xml version="1.0" encoding="utf-8"?>
<p:tagLst xmlns:a="http://schemas.openxmlformats.org/drawingml/2006/main" xmlns:r="http://schemas.openxmlformats.org/officeDocument/2006/relationships" xmlns:p="http://schemas.openxmlformats.org/presentationml/2006/main">
  <p:tag name="THINKCELLSHAPEDONOTDELETE" val="t3vkKgQ6yPEykzviJWhF44w"/>
</p:tagLst>
</file>

<file path=ppt/tags/tag479.xml><?xml version="1.0" encoding="utf-8"?>
<p:tagLst xmlns:a="http://schemas.openxmlformats.org/drawingml/2006/main" xmlns:r="http://schemas.openxmlformats.org/officeDocument/2006/relationships" xmlns:p="http://schemas.openxmlformats.org/presentationml/2006/main">
  <p:tag name="THINKCELLSHAPEDONOTDELETE" val="tGjPjwruoP0.KcFDdOgv8Yw"/>
</p:tagLst>
</file>

<file path=ppt/tags/tag480.xml><?xml version="1.0" encoding="utf-8"?>
<p:tagLst xmlns:a="http://schemas.openxmlformats.org/drawingml/2006/main" xmlns:r="http://schemas.openxmlformats.org/officeDocument/2006/relationships" xmlns:p="http://schemas.openxmlformats.org/presentationml/2006/main">
  <p:tag name="THINKCELLSHAPEDONOTDELETE" val="tuMXmbJlju0W.0Zq7dDrPXA"/>
</p:tagLst>
</file>

<file path=ppt/tags/tag481.xml><?xml version="1.0" encoding="utf-8"?>
<p:tagLst xmlns:a="http://schemas.openxmlformats.org/drawingml/2006/main" xmlns:r="http://schemas.openxmlformats.org/officeDocument/2006/relationships" xmlns:p="http://schemas.openxmlformats.org/presentationml/2006/main">
  <p:tag name="THINKCELLSHAPEDONOTDELETE" val="tVD26aoPOkEGU8DHeM.GrTQ"/>
</p:tagLst>
</file>

<file path=ppt/tags/tag482.xml><?xml version="1.0" encoding="utf-8"?>
<p:tagLst xmlns:a="http://schemas.openxmlformats.org/drawingml/2006/main" xmlns:r="http://schemas.openxmlformats.org/officeDocument/2006/relationships" xmlns:p="http://schemas.openxmlformats.org/presentationml/2006/main">
  <p:tag name="THINKCELLSHAPEDONOTDELETE" val="t4pGNVACsDEeAXyTHzmTLfQ"/>
</p:tagLst>
</file>

<file path=ppt/tags/tag483.xml><?xml version="1.0" encoding="utf-8"?>
<p:tagLst xmlns:a="http://schemas.openxmlformats.org/drawingml/2006/main" xmlns:r="http://schemas.openxmlformats.org/officeDocument/2006/relationships" xmlns:p="http://schemas.openxmlformats.org/presentationml/2006/main">
  <p:tag name="THINKCELLSHAPEDONOTDELETE" val="tilcKV8xK20.uiiwpvk80Zg"/>
</p:tagLst>
</file>

<file path=ppt/tags/tag484.xml><?xml version="1.0" encoding="utf-8"?>
<p:tagLst xmlns:a="http://schemas.openxmlformats.org/drawingml/2006/main" xmlns:r="http://schemas.openxmlformats.org/officeDocument/2006/relationships" xmlns:p="http://schemas.openxmlformats.org/presentationml/2006/main">
  <p:tag name="THINKCELLSHAPEDONOTDELETE" val="twieTg8dRk0aYylktu_yS6A"/>
</p:tagLst>
</file>

<file path=ppt/tags/tag485.xml><?xml version="1.0" encoding="utf-8"?>
<p:tagLst xmlns:a="http://schemas.openxmlformats.org/drawingml/2006/main" xmlns:r="http://schemas.openxmlformats.org/officeDocument/2006/relationships" xmlns:p="http://schemas.openxmlformats.org/presentationml/2006/main">
  <p:tag name="THINKCELLSHAPEDONOTDELETE" val="tblhmoz4zpEKPNeV19thveg"/>
</p:tagLst>
</file>

<file path=ppt/tags/tag486.xml><?xml version="1.0" encoding="utf-8"?>
<p:tagLst xmlns:a="http://schemas.openxmlformats.org/drawingml/2006/main" xmlns:r="http://schemas.openxmlformats.org/officeDocument/2006/relationships" xmlns:p="http://schemas.openxmlformats.org/presentationml/2006/main">
  <p:tag name="THINKCELLSHAPEDONOTDELETE" val="tEUy2ikSnt02PX.Z313.QwQ"/>
</p:tagLst>
</file>

<file path=ppt/tags/tag487.xml><?xml version="1.0" encoding="utf-8"?>
<p:tagLst xmlns:a="http://schemas.openxmlformats.org/drawingml/2006/main" xmlns:r="http://schemas.openxmlformats.org/officeDocument/2006/relationships" xmlns:p="http://schemas.openxmlformats.org/presentationml/2006/main">
  <p:tag name="THINKCELLSHAPEDONOTDELETE" val="tszvi8H6VdU6SLGR5fSsA0g"/>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tHreec_lfcU6uOJ.WYQ7UUQ"/>
</p:tagLst>
</file>

<file path=ppt/tags/tag489.xml><?xml version="1.0" encoding="utf-8"?>
<p:tagLst xmlns:a="http://schemas.openxmlformats.org/drawingml/2006/main" xmlns:r="http://schemas.openxmlformats.org/officeDocument/2006/relationships" xmlns:p="http://schemas.openxmlformats.org/presentationml/2006/main">
  <p:tag name="THINKCELLSHAPEDONOTDELETE" val="tSldBK_1FwUKiYTBqV3owVQ"/>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tWrG7N0fSqEigST7G36WWnQ"/>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t5L0_L8b2QEy5VWs4_7uUSw"/>
</p:tagLst>
</file>

<file path=ppt/tags/tag492.xml><?xml version="1.0" encoding="utf-8"?>
<p:tagLst xmlns:a="http://schemas.openxmlformats.org/drawingml/2006/main" xmlns:r="http://schemas.openxmlformats.org/officeDocument/2006/relationships" xmlns:p="http://schemas.openxmlformats.org/presentationml/2006/main">
  <p:tag name="THINKCELLSHAPEDONOTDELETE" val="tGnUZcm7P40yWCIscx_aaZw"/>
</p:tagLst>
</file>

<file path=ppt/tags/tag493.xml><?xml version="1.0" encoding="utf-8"?>
<p:tagLst xmlns:a="http://schemas.openxmlformats.org/drawingml/2006/main" xmlns:r="http://schemas.openxmlformats.org/officeDocument/2006/relationships" xmlns:p="http://schemas.openxmlformats.org/presentationml/2006/main">
  <p:tag name="THINKCELLSHAPEDONOTDELETE" val="tso2f4EGonUm9EkAE7IHJGQ"/>
</p:tagLst>
</file>

<file path=ppt/tags/tag494.xml><?xml version="1.0" encoding="utf-8"?>
<p:tagLst xmlns:a="http://schemas.openxmlformats.org/drawingml/2006/main" xmlns:r="http://schemas.openxmlformats.org/officeDocument/2006/relationships" xmlns:p="http://schemas.openxmlformats.org/presentationml/2006/main">
  <p:tag name="THINKCELLSHAPEDONOTDELETE" val="tXQWBV3LO_UWsyeFSx_Icyw"/>
</p:tagLst>
</file>

<file path=ppt/tags/tag495.xml><?xml version="1.0" encoding="utf-8"?>
<p:tagLst xmlns:a="http://schemas.openxmlformats.org/drawingml/2006/main" xmlns:r="http://schemas.openxmlformats.org/officeDocument/2006/relationships" xmlns:p="http://schemas.openxmlformats.org/presentationml/2006/main">
  <p:tag name="THINKCELLSHAPEDONOTDELETE" val="tReHQJThiV0mtIMm9XTaTCg"/>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tQQCizepLTU63_xb_PfKmCA"/>
</p:tagLst>
</file>

<file path=ppt/tags/tag497.xml><?xml version="1.0" encoding="utf-8"?>
<p:tagLst xmlns:a="http://schemas.openxmlformats.org/drawingml/2006/main" xmlns:r="http://schemas.openxmlformats.org/officeDocument/2006/relationships" xmlns:p="http://schemas.openxmlformats.org/presentationml/2006/main">
  <p:tag name="THINKCELLSHAPEDONOTDELETE" val="tjoTLSfDHlU6sCijeL2tnKQ"/>
</p:tagLst>
</file>

<file path=ppt/tags/tag498.xml><?xml version="1.0" encoding="utf-8"?>
<p:tagLst xmlns:a="http://schemas.openxmlformats.org/drawingml/2006/main" xmlns:r="http://schemas.openxmlformats.org/officeDocument/2006/relationships" xmlns:p="http://schemas.openxmlformats.org/presentationml/2006/main">
  <p:tag name="THINKCELLSHAPEDONOTDELETE" val="tI35jAa__Jk.ZJKzLWtIkhQ"/>
</p:tagLst>
</file>

<file path=ppt/tags/tag499.xml><?xml version="1.0" encoding="utf-8"?>
<p:tagLst xmlns:a="http://schemas.openxmlformats.org/drawingml/2006/main" xmlns:r="http://schemas.openxmlformats.org/officeDocument/2006/relationships" xmlns:p="http://schemas.openxmlformats.org/presentationml/2006/main">
  <p:tag name="THINKCELLSHAPEDONOTDELETE" val="t11KX89PRLkqKrUEfVYDm5g"/>
</p:tagLst>
</file>

<file path=ppt/tags/tag500.xml><?xml version="1.0" encoding="utf-8"?>
<p:tagLst xmlns:a="http://schemas.openxmlformats.org/drawingml/2006/main" xmlns:r="http://schemas.openxmlformats.org/officeDocument/2006/relationships" xmlns:p="http://schemas.openxmlformats.org/presentationml/2006/main">
  <p:tag name="THINKCELLSHAPEDONOTDELETE" val="t_wQ5l5UutEGukdm4zyrSqw"/>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t8t37t1fYm0m9rDnNe7f5SA"/>
</p:tagLst>
</file>

<file path=ppt/tags/tag502.xml><?xml version="1.0" encoding="utf-8"?>
<p:tagLst xmlns:a="http://schemas.openxmlformats.org/drawingml/2006/main" xmlns:r="http://schemas.openxmlformats.org/officeDocument/2006/relationships" xmlns:p="http://schemas.openxmlformats.org/presentationml/2006/main">
  <p:tag name="THINKCELLSHAPEDONOTDELETE" val="tn_uDqilRgEukjHxsuOG29A"/>
</p:tagLst>
</file>

<file path=ppt/tags/tag503.xml><?xml version="1.0" encoding="utf-8"?>
<p:tagLst xmlns:a="http://schemas.openxmlformats.org/drawingml/2006/main" xmlns:r="http://schemas.openxmlformats.org/officeDocument/2006/relationships" xmlns:p="http://schemas.openxmlformats.org/presentationml/2006/main">
  <p:tag name="THINKCELLSHAPEDONOTDELETE" val="tU9vxAgkTeUq7QtR8NsedKg"/>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tNjLdpgb9V0usPqYe2ZkGPQ"/>
</p:tagLst>
</file>

<file path=ppt/tags/tag5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6.xml><?xml version="1.0" encoding="utf-8"?>
<p:tagLst xmlns:a="http://schemas.openxmlformats.org/drawingml/2006/main" xmlns:r="http://schemas.openxmlformats.org/officeDocument/2006/relationships" xmlns:p="http://schemas.openxmlformats.org/presentationml/2006/main">
  <p:tag name="THINKCELLSHAPEDONOTDELETE" val="tL0u906_iyUmc57ZS5gDURA"/>
</p:tagLst>
</file>

<file path=ppt/tags/tag507.xml><?xml version="1.0" encoding="utf-8"?>
<p:tagLst xmlns:a="http://schemas.openxmlformats.org/drawingml/2006/main" xmlns:r="http://schemas.openxmlformats.org/officeDocument/2006/relationships" xmlns:p="http://schemas.openxmlformats.org/presentationml/2006/main">
  <p:tag name="THINKCELLSHAPEDONOTDELETE" val="t8HQbPcBUdk6ohq.PCDFv_Q"/>
</p:tagLst>
</file>

<file path=ppt/tags/tag508.xml><?xml version="1.0" encoding="utf-8"?>
<p:tagLst xmlns:a="http://schemas.openxmlformats.org/drawingml/2006/main" xmlns:r="http://schemas.openxmlformats.org/officeDocument/2006/relationships" xmlns:p="http://schemas.openxmlformats.org/presentationml/2006/main">
  <p:tag name="THINKCELLSHAPEDONOTDELETE" val="tk2iJOFx7jUOTV0CnRhHwZQ"/>
</p:tagLst>
</file>

<file path=ppt/tags/tag509.xml><?xml version="1.0" encoding="utf-8"?>
<p:tagLst xmlns:a="http://schemas.openxmlformats.org/drawingml/2006/main" xmlns:r="http://schemas.openxmlformats.org/officeDocument/2006/relationships" xmlns:p="http://schemas.openxmlformats.org/presentationml/2006/main">
  <p:tag name="THINKCELLSHAPEDONOTDELETE" val="trCb_PpK.okuhj8pRCqCf0w"/>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tR8wZVJfxZE.KrpoTNocLnw"/>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tC7MF2iNc7k6xfh8hTpBmXQ"/>
</p:tagLst>
</file>

<file path=ppt/tags/tag512.xml><?xml version="1.0" encoding="utf-8"?>
<p:tagLst xmlns:a="http://schemas.openxmlformats.org/drawingml/2006/main" xmlns:r="http://schemas.openxmlformats.org/officeDocument/2006/relationships" xmlns:p="http://schemas.openxmlformats.org/presentationml/2006/main">
  <p:tag name="THINKCELLSHAPEDONOTDELETE" val="tMBCqWW4Ie0Cph7pvwsW_rA"/>
</p:tagLst>
</file>

<file path=ppt/tags/tag513.xml><?xml version="1.0" encoding="utf-8"?>
<p:tagLst xmlns:a="http://schemas.openxmlformats.org/drawingml/2006/main" xmlns:r="http://schemas.openxmlformats.org/officeDocument/2006/relationships" xmlns:p="http://schemas.openxmlformats.org/presentationml/2006/main">
  <p:tag name="THINKCELLSHAPEDONOTDELETE" val="tQWe8._t1u0OV5vgLEvvtvA"/>
</p:tagLst>
</file>

<file path=ppt/tags/tag514.xml><?xml version="1.0" encoding="utf-8"?>
<p:tagLst xmlns:a="http://schemas.openxmlformats.org/drawingml/2006/main" xmlns:r="http://schemas.openxmlformats.org/officeDocument/2006/relationships" xmlns:p="http://schemas.openxmlformats.org/presentationml/2006/main">
  <p:tag name="THINKCELLSHAPEDONOTDELETE" val="t.2VYpe22BkGvvSqH9XXlJA"/>
</p:tagLst>
</file>

<file path=ppt/tags/tag515.xml><?xml version="1.0" encoding="utf-8"?>
<p:tagLst xmlns:a="http://schemas.openxmlformats.org/drawingml/2006/main" xmlns:r="http://schemas.openxmlformats.org/officeDocument/2006/relationships" xmlns:p="http://schemas.openxmlformats.org/presentationml/2006/main">
  <p:tag name="THINKCELLSHAPEDONOTDELETE" val="tTTg20rGJrEWa6SMtSe9_.w"/>
</p:tagLst>
</file>

<file path=ppt/tags/tag516.xml><?xml version="1.0" encoding="utf-8"?>
<p:tagLst xmlns:a="http://schemas.openxmlformats.org/drawingml/2006/main" xmlns:r="http://schemas.openxmlformats.org/officeDocument/2006/relationships" xmlns:p="http://schemas.openxmlformats.org/presentationml/2006/main">
  <p:tag name="THINKCELLSHAPEDONOTDELETE" val="t7rDGATGS3k.bHgFqTybngw"/>
</p:tagLst>
</file>

<file path=ppt/tags/tag517.xml><?xml version="1.0" encoding="utf-8"?>
<p:tagLst xmlns:a="http://schemas.openxmlformats.org/drawingml/2006/main" xmlns:r="http://schemas.openxmlformats.org/officeDocument/2006/relationships" xmlns:p="http://schemas.openxmlformats.org/presentationml/2006/main">
  <p:tag name="THINKCELLSHAPEDONOTDELETE" val="tDvG0KIp5XUqVekLOQj5cbg"/>
</p:tagLst>
</file>

<file path=ppt/tags/tag518.xml><?xml version="1.0" encoding="utf-8"?>
<p:tagLst xmlns:a="http://schemas.openxmlformats.org/drawingml/2006/main" xmlns:r="http://schemas.openxmlformats.org/officeDocument/2006/relationships" xmlns:p="http://schemas.openxmlformats.org/presentationml/2006/main">
  <p:tag name="THINKCELLSHAPEDONOTDELETE" val="tx5OpsCIFIkaYwAkSuPlssA"/>
</p:tagLst>
</file>

<file path=ppt/tags/tag519.xml><?xml version="1.0" encoding="utf-8"?>
<p:tagLst xmlns:a="http://schemas.openxmlformats.org/drawingml/2006/main" xmlns:r="http://schemas.openxmlformats.org/officeDocument/2006/relationships" xmlns:p="http://schemas.openxmlformats.org/presentationml/2006/main">
  <p:tag name="THINKCELLSHAPEDONOTDELETE" val="tMXRHqqddPEKE3fEgLetAog"/>
</p:tagLst>
</file>

<file path=ppt/tags/tag520.xml><?xml version="1.0" encoding="utf-8"?>
<p:tagLst xmlns:a="http://schemas.openxmlformats.org/drawingml/2006/main" xmlns:r="http://schemas.openxmlformats.org/officeDocument/2006/relationships" xmlns:p="http://schemas.openxmlformats.org/presentationml/2006/main">
  <p:tag name="THINKCELLSHAPEDONOTDELETE" val="tGQSi56obsUyJIE9VEcLHOQ"/>
</p:tagLst>
</file>

<file path=ppt/tags/tag521.xml><?xml version="1.0" encoding="utf-8"?>
<p:tagLst xmlns:a="http://schemas.openxmlformats.org/drawingml/2006/main" xmlns:r="http://schemas.openxmlformats.org/officeDocument/2006/relationships" xmlns:p="http://schemas.openxmlformats.org/presentationml/2006/main">
  <p:tag name="THINKCELLSHAPEDONOTDELETE" val="tClSSiW3HAUCEKeAJx8NUww"/>
</p:tagLst>
</file>

<file path=ppt/tags/tag522.xml><?xml version="1.0" encoding="utf-8"?>
<p:tagLst xmlns:a="http://schemas.openxmlformats.org/drawingml/2006/main" xmlns:r="http://schemas.openxmlformats.org/officeDocument/2006/relationships" xmlns:p="http://schemas.openxmlformats.org/presentationml/2006/main">
  <p:tag name="THINKCELLSHAPEDONOTDELETE" val="t.TWdOOmRGUmpMDep8Wjplw"/>
</p:tagLst>
</file>

<file path=ppt/tags/tag523.xml><?xml version="1.0" encoding="utf-8"?>
<p:tagLst xmlns:a="http://schemas.openxmlformats.org/drawingml/2006/main" xmlns:r="http://schemas.openxmlformats.org/officeDocument/2006/relationships" xmlns:p="http://schemas.openxmlformats.org/presentationml/2006/main">
  <p:tag name="THINKCELLSHAPEDONOTDELETE" val="tLg8MetCa80CQ9T7dYm77OA"/>
</p:tagLst>
</file>

<file path=ppt/tags/tag524.xml><?xml version="1.0" encoding="utf-8"?>
<p:tagLst xmlns:a="http://schemas.openxmlformats.org/drawingml/2006/main" xmlns:r="http://schemas.openxmlformats.org/officeDocument/2006/relationships" xmlns:p="http://schemas.openxmlformats.org/presentationml/2006/main">
  <p:tag name="THINKCELLSHAPEDONOTDELETE" val="tessraVCenUSWO3PHzUYJRQ"/>
</p:tagLst>
</file>

<file path=ppt/tags/tag525.xml><?xml version="1.0" encoding="utf-8"?>
<p:tagLst xmlns:a="http://schemas.openxmlformats.org/drawingml/2006/main" xmlns:r="http://schemas.openxmlformats.org/officeDocument/2006/relationships" xmlns:p="http://schemas.openxmlformats.org/presentationml/2006/main">
  <p:tag name="THINKCELLSHAPEDONOTDELETE" val="tDePNT..rI0GCdY8WaUjjMA"/>
</p:tagLst>
</file>

<file path=ppt/tags/tag526.xml><?xml version="1.0" encoding="utf-8"?>
<p:tagLst xmlns:a="http://schemas.openxmlformats.org/drawingml/2006/main" xmlns:r="http://schemas.openxmlformats.org/officeDocument/2006/relationships" xmlns:p="http://schemas.openxmlformats.org/presentationml/2006/main">
  <p:tag name="THINKCELLSHAPEDONOTDELETE" val="tQTiiwgGru06wyIou2QEi7A"/>
</p:tagLst>
</file>

<file path=ppt/tags/tag527.xml><?xml version="1.0" encoding="utf-8"?>
<p:tagLst xmlns:a="http://schemas.openxmlformats.org/drawingml/2006/main" xmlns:r="http://schemas.openxmlformats.org/officeDocument/2006/relationships" xmlns:p="http://schemas.openxmlformats.org/presentationml/2006/main">
  <p:tag name="THINKCELLSHAPEDONOTDELETE" val="tNVxrgdEgKEW_7QDsYlPJ6g"/>
</p:tagLst>
</file>

<file path=ppt/tags/tag5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9.xml><?xml version="1.0" encoding="utf-8"?>
<p:tagLst xmlns:a="http://schemas.openxmlformats.org/drawingml/2006/main" xmlns:r="http://schemas.openxmlformats.org/officeDocument/2006/relationships" xmlns:p="http://schemas.openxmlformats.org/presentationml/2006/main">
  <p:tag name="THINKCELLSHAPEDONOTDELETE" val="tL0u906_iyUmc57ZS5gDURA"/>
</p:tagLst>
</file>

<file path=ppt/tags/tag530.xml><?xml version="1.0" encoding="utf-8"?>
<p:tagLst xmlns:a="http://schemas.openxmlformats.org/drawingml/2006/main" xmlns:r="http://schemas.openxmlformats.org/officeDocument/2006/relationships" xmlns:p="http://schemas.openxmlformats.org/presentationml/2006/main">
  <p:tag name="THINKCELLSHAPEDONOTDELETE" val="t9XTJ0RSDSEyvmkJnZWOsMw"/>
</p:tagLst>
</file>

<file path=ppt/tags/tag531.xml><?xml version="1.0" encoding="utf-8"?>
<p:tagLst xmlns:a="http://schemas.openxmlformats.org/drawingml/2006/main" xmlns:r="http://schemas.openxmlformats.org/officeDocument/2006/relationships" xmlns:p="http://schemas.openxmlformats.org/presentationml/2006/main">
  <p:tag name="THINKCELLSHAPEDONOTDELETE" val="t63NABC65X0ui9PfaGwScZw"/>
</p:tagLst>
</file>

<file path=ppt/tags/tag532.xml><?xml version="1.0" encoding="utf-8"?>
<p:tagLst xmlns:a="http://schemas.openxmlformats.org/drawingml/2006/main" xmlns:r="http://schemas.openxmlformats.org/officeDocument/2006/relationships" xmlns:p="http://schemas.openxmlformats.org/presentationml/2006/main">
  <p:tag name="THINKCELLSHAPEDONOTDELETE" val="tzac2I97Blk2522oSoZCwxg"/>
</p:tagLst>
</file>

<file path=ppt/tags/tag533.xml><?xml version="1.0" encoding="utf-8"?>
<p:tagLst xmlns:a="http://schemas.openxmlformats.org/drawingml/2006/main" xmlns:r="http://schemas.openxmlformats.org/officeDocument/2006/relationships" xmlns:p="http://schemas.openxmlformats.org/presentationml/2006/main">
  <p:tag name="THINKCELLSHAPEDONOTDELETE" val="tQQxEfSfDfUmsbjjPwkvshA"/>
</p:tagLst>
</file>

<file path=ppt/tags/tag534.xml><?xml version="1.0" encoding="utf-8"?>
<p:tagLst xmlns:a="http://schemas.openxmlformats.org/drawingml/2006/main" xmlns:r="http://schemas.openxmlformats.org/officeDocument/2006/relationships" xmlns:p="http://schemas.openxmlformats.org/presentationml/2006/main">
  <p:tag name="THINKCELLSHAPEDONOTDELETE" val="tnbbSxtSBe06KajidBealzA"/>
</p:tagLst>
</file>

<file path=ppt/tags/tag535.xml><?xml version="1.0" encoding="utf-8"?>
<p:tagLst xmlns:a="http://schemas.openxmlformats.org/drawingml/2006/main" xmlns:r="http://schemas.openxmlformats.org/officeDocument/2006/relationships" xmlns:p="http://schemas.openxmlformats.org/presentationml/2006/main">
  <p:tag name="THINKCELLSHAPEDONOTDELETE" val="t32uuMZE7cEKA.I_EPFKjaA"/>
</p:tagLst>
</file>

<file path=ppt/tags/tag536.xml><?xml version="1.0" encoding="utf-8"?>
<p:tagLst xmlns:a="http://schemas.openxmlformats.org/drawingml/2006/main" xmlns:r="http://schemas.openxmlformats.org/officeDocument/2006/relationships" xmlns:p="http://schemas.openxmlformats.org/presentationml/2006/main">
  <p:tag name="THINKCELLSHAPEDONOTDELETE" val="tHzXvgulThkW5.5GY_NewXA"/>
</p:tagLst>
</file>

<file path=ppt/tags/tag537.xml><?xml version="1.0" encoding="utf-8"?>
<p:tagLst xmlns:a="http://schemas.openxmlformats.org/drawingml/2006/main" xmlns:r="http://schemas.openxmlformats.org/officeDocument/2006/relationships" xmlns:p="http://schemas.openxmlformats.org/presentationml/2006/main">
  <p:tag name="THINKCELLSHAPEDONOTDELETE" val="tLzQTYyp.TkaduqZ3SmBZHw"/>
</p:tagLst>
</file>

<file path=ppt/tags/tag538.xml><?xml version="1.0" encoding="utf-8"?>
<p:tagLst xmlns:a="http://schemas.openxmlformats.org/drawingml/2006/main" xmlns:r="http://schemas.openxmlformats.org/officeDocument/2006/relationships" xmlns:p="http://schemas.openxmlformats.org/presentationml/2006/main">
  <p:tag name="THINKCELLSHAPEDONOTDELETE" val="ts9WwsPyMkkqXC9.fBlD3hw"/>
</p:tagLst>
</file>

<file path=ppt/tags/tag539.xml><?xml version="1.0" encoding="utf-8"?>
<p:tagLst xmlns:a="http://schemas.openxmlformats.org/drawingml/2006/main" xmlns:r="http://schemas.openxmlformats.org/officeDocument/2006/relationships" xmlns:p="http://schemas.openxmlformats.org/presentationml/2006/main">
  <p:tag name="THINKCELLSHAPEDONOTDELETE" val="tzMaYyt9ZIUCMCI3.LtNLbQ"/>
</p:tagLst>
</file>

<file path=ppt/tags/tag540.xml><?xml version="1.0" encoding="utf-8"?>
<p:tagLst xmlns:a="http://schemas.openxmlformats.org/drawingml/2006/main" xmlns:r="http://schemas.openxmlformats.org/officeDocument/2006/relationships" xmlns:p="http://schemas.openxmlformats.org/presentationml/2006/main">
  <p:tag name="THINKCELLSHAPEDONOTDELETE" val="tUVQZGPv_v0aNdIzDolIVVA"/>
</p:tagLst>
</file>

<file path=ppt/tags/tag541.xml><?xml version="1.0" encoding="utf-8"?>
<p:tagLst xmlns:a="http://schemas.openxmlformats.org/drawingml/2006/main" xmlns:r="http://schemas.openxmlformats.org/officeDocument/2006/relationships" xmlns:p="http://schemas.openxmlformats.org/presentationml/2006/main">
  <p:tag name="THINKCELLSHAPEDONOTDELETE" val="tvT9gExThzUmk11G9G1o0wg"/>
</p:tagLst>
</file>

<file path=ppt/tags/tag542.xml><?xml version="1.0" encoding="utf-8"?>
<p:tagLst xmlns:a="http://schemas.openxmlformats.org/drawingml/2006/main" xmlns:r="http://schemas.openxmlformats.org/officeDocument/2006/relationships" xmlns:p="http://schemas.openxmlformats.org/presentationml/2006/main">
  <p:tag name="THINKCELLSHAPEDONOTDELETE" val="tNchICJh2.0.bQ59iARkGkw"/>
</p:tagLst>
</file>

<file path=ppt/tags/tag543.xml><?xml version="1.0" encoding="utf-8"?>
<p:tagLst xmlns:a="http://schemas.openxmlformats.org/drawingml/2006/main" xmlns:r="http://schemas.openxmlformats.org/officeDocument/2006/relationships" xmlns:p="http://schemas.openxmlformats.org/presentationml/2006/main">
  <p:tag name="THINKCELLSHAPEDONOTDELETE" val="tmQRH2bRnxE6TGmxKfz_1HQ"/>
</p:tagLst>
</file>

<file path=ppt/tags/tag544.xml><?xml version="1.0" encoding="utf-8"?>
<p:tagLst xmlns:a="http://schemas.openxmlformats.org/drawingml/2006/main" xmlns:r="http://schemas.openxmlformats.org/officeDocument/2006/relationships" xmlns:p="http://schemas.openxmlformats.org/presentationml/2006/main">
  <p:tag name="THINKCELLSHAPEDONOTDELETE" val="txAHUjely7kmkeCjJG1XHBA"/>
</p:tagLst>
</file>

<file path=ppt/tags/tag545.xml><?xml version="1.0" encoding="utf-8"?>
<p:tagLst xmlns:a="http://schemas.openxmlformats.org/drawingml/2006/main" xmlns:r="http://schemas.openxmlformats.org/officeDocument/2006/relationships" xmlns:p="http://schemas.openxmlformats.org/presentationml/2006/main">
  <p:tag name="THINKCELLSHAPEDONOTDELETE" val="tk.UK4QsVWkONgr2EykIEww"/>
</p:tagLst>
</file>

<file path=ppt/tags/tag546.xml><?xml version="1.0" encoding="utf-8"?>
<p:tagLst xmlns:a="http://schemas.openxmlformats.org/drawingml/2006/main" xmlns:r="http://schemas.openxmlformats.org/officeDocument/2006/relationships" xmlns:p="http://schemas.openxmlformats.org/presentationml/2006/main">
  <p:tag name="THINKCELLSHAPEDONOTDELETE" val="t8kVKeimcOU2GXKZYFNeUpA"/>
</p:tagLst>
</file>

<file path=ppt/tags/tag547.xml><?xml version="1.0" encoding="utf-8"?>
<p:tagLst xmlns:a="http://schemas.openxmlformats.org/drawingml/2006/main" xmlns:r="http://schemas.openxmlformats.org/officeDocument/2006/relationships" xmlns:p="http://schemas.openxmlformats.org/presentationml/2006/main">
  <p:tag name="THINKCELLSHAPEDONOTDELETE" val="tQyhWLTyjWUuI0XlrkRZ._w"/>
</p:tagLst>
</file>

<file path=ppt/tags/tag548.xml><?xml version="1.0" encoding="utf-8"?>
<p:tagLst xmlns:a="http://schemas.openxmlformats.org/drawingml/2006/main" xmlns:r="http://schemas.openxmlformats.org/officeDocument/2006/relationships" xmlns:p="http://schemas.openxmlformats.org/presentationml/2006/main">
  <p:tag name="THINKCELLSHAPEDONOTDELETE" val="tK2fH_G7dO0KPllnSvKrJlw"/>
</p:tagLst>
</file>

<file path=ppt/tags/tag549.xml><?xml version="1.0" encoding="utf-8"?>
<p:tagLst xmlns:a="http://schemas.openxmlformats.org/drawingml/2006/main" xmlns:r="http://schemas.openxmlformats.org/officeDocument/2006/relationships" xmlns:p="http://schemas.openxmlformats.org/presentationml/2006/main">
  <p:tag name="THINKCELLSHAPEDONOTDELETE" val="t_0P8PFJY3kO4wOVvYcKDkw"/>
</p:tagLst>
</file>

<file path=ppt/tags/tag550.xml><?xml version="1.0" encoding="utf-8"?>
<p:tagLst xmlns:a="http://schemas.openxmlformats.org/drawingml/2006/main" xmlns:r="http://schemas.openxmlformats.org/officeDocument/2006/relationships" xmlns:p="http://schemas.openxmlformats.org/presentationml/2006/main">
  <p:tag name="THINKCELLSHAPEDONOTDELETE" val="tjSS2HvHxU0OtFuNMq7WMHg"/>
</p:tagLst>
</file>

<file path=ppt/tags/tag5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2.xml><?xml version="1.0" encoding="utf-8"?>
<p:tagLst xmlns:a="http://schemas.openxmlformats.org/drawingml/2006/main" xmlns:r="http://schemas.openxmlformats.org/officeDocument/2006/relationships" xmlns:p="http://schemas.openxmlformats.org/presentationml/2006/main">
  <p:tag name="THINKCELLSHAPEDONOTDELETE" val="t8SsbZKnu60mq8ISubzVO3w"/>
</p:tagLst>
</file>

<file path=ppt/tags/tag5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4.xml><?xml version="1.0" encoding="utf-8"?>
<p:tagLst xmlns:a="http://schemas.openxmlformats.org/drawingml/2006/main" xmlns:r="http://schemas.openxmlformats.org/officeDocument/2006/relationships" xmlns:p="http://schemas.openxmlformats.org/presentationml/2006/main">
  <p:tag name="THINKCELLSHAPEDONOTDELETE" val="tI9HJVIzRGkmbrlmUs.LmeA"/>
</p:tagLst>
</file>

<file path=ppt/tags/tag555.xml><?xml version="1.0" encoding="utf-8"?>
<p:tagLst xmlns:a="http://schemas.openxmlformats.org/drawingml/2006/main" xmlns:r="http://schemas.openxmlformats.org/officeDocument/2006/relationships" xmlns:p="http://schemas.openxmlformats.org/presentationml/2006/main">
  <p:tag name="THINKCELLSHAPEDONOTDELETE" val="tB9_9AjldOU2o5Fn7MLmV8Q"/>
</p:tagLst>
</file>

<file path=ppt/tags/tag556.xml><?xml version="1.0" encoding="utf-8"?>
<p:tagLst xmlns:a="http://schemas.openxmlformats.org/drawingml/2006/main" xmlns:r="http://schemas.openxmlformats.org/officeDocument/2006/relationships" xmlns:p="http://schemas.openxmlformats.org/presentationml/2006/main">
  <p:tag name="THINKCELLSHAPEDONOTDELETE" val="tEB1Jq3MreECf.bFK3Uqyvg"/>
</p:tagLst>
</file>

<file path=ppt/tags/tag557.xml><?xml version="1.0" encoding="utf-8"?>
<p:tagLst xmlns:a="http://schemas.openxmlformats.org/drawingml/2006/main" xmlns:r="http://schemas.openxmlformats.org/officeDocument/2006/relationships" xmlns:p="http://schemas.openxmlformats.org/presentationml/2006/main">
  <p:tag name="THINKCELLSHAPEDONOTDELETE" val="tRJwvulCpz0CfrA4g61WF_A"/>
</p:tagLst>
</file>

<file path=ppt/tags/tag558.xml><?xml version="1.0" encoding="utf-8"?>
<p:tagLst xmlns:a="http://schemas.openxmlformats.org/drawingml/2006/main" xmlns:r="http://schemas.openxmlformats.org/officeDocument/2006/relationships" xmlns:p="http://schemas.openxmlformats.org/presentationml/2006/main">
  <p:tag name="THINKCELLSHAPEDONOTDELETE" val="tvRfYJtfFG0OuNWN7cE5P8g"/>
</p:tagLst>
</file>

<file path=ppt/tags/tag559.xml><?xml version="1.0" encoding="utf-8"?>
<p:tagLst xmlns:a="http://schemas.openxmlformats.org/drawingml/2006/main" xmlns:r="http://schemas.openxmlformats.org/officeDocument/2006/relationships" xmlns:p="http://schemas.openxmlformats.org/presentationml/2006/main">
  <p:tag name="THINKCELLSHAPEDONOTDELETE" val="tb.MfR9Hbw0m6CnVgI_EA1A"/>
</p:tagLst>
</file>

<file path=ppt/tags/tag560.xml><?xml version="1.0" encoding="utf-8"?>
<p:tagLst xmlns:a="http://schemas.openxmlformats.org/drawingml/2006/main" xmlns:r="http://schemas.openxmlformats.org/officeDocument/2006/relationships" xmlns:p="http://schemas.openxmlformats.org/presentationml/2006/main">
  <p:tag name="THINKCELLSHAPEDONOTDELETE" val="tOxX._ddqU0Cl5Uvxxy_I9A"/>
</p:tagLst>
</file>

<file path=ppt/tags/tag561.xml><?xml version="1.0" encoding="utf-8"?>
<p:tagLst xmlns:a="http://schemas.openxmlformats.org/drawingml/2006/main" xmlns:r="http://schemas.openxmlformats.org/officeDocument/2006/relationships" xmlns:p="http://schemas.openxmlformats.org/presentationml/2006/main">
  <p:tag name="THINKCELLSHAPEDONOTDELETE" val="t_dyJBEdIlUGujVt6fjTdIg"/>
</p:tagLst>
</file>

<file path=ppt/tags/tag562.xml><?xml version="1.0" encoding="utf-8"?>
<p:tagLst xmlns:a="http://schemas.openxmlformats.org/drawingml/2006/main" xmlns:r="http://schemas.openxmlformats.org/officeDocument/2006/relationships" xmlns:p="http://schemas.openxmlformats.org/presentationml/2006/main">
  <p:tag name="THINKCELLSHAPEDONOTDELETE" val="tQW6.faBWy0ONZ._BtapsSg"/>
</p:tagLst>
</file>

<file path=ppt/tags/tag563.xml><?xml version="1.0" encoding="utf-8"?>
<p:tagLst xmlns:a="http://schemas.openxmlformats.org/drawingml/2006/main" xmlns:r="http://schemas.openxmlformats.org/officeDocument/2006/relationships" xmlns:p="http://schemas.openxmlformats.org/presentationml/2006/main">
  <p:tag name="THINKCELLSHAPEDONOTDELETE" val="tFZ3kKHMc90uD2lYuU_yoGg"/>
</p:tagLst>
</file>

<file path=ppt/tags/tag564.xml><?xml version="1.0" encoding="utf-8"?>
<p:tagLst xmlns:a="http://schemas.openxmlformats.org/drawingml/2006/main" xmlns:r="http://schemas.openxmlformats.org/officeDocument/2006/relationships" xmlns:p="http://schemas.openxmlformats.org/presentationml/2006/main">
  <p:tag name="THINKCELLSHAPEDONOTDELETE" val="t24ERnBeunkWTKBDZjHRH8w"/>
</p:tagLst>
</file>

<file path=ppt/tags/tag565.xml><?xml version="1.0" encoding="utf-8"?>
<p:tagLst xmlns:a="http://schemas.openxmlformats.org/drawingml/2006/main" xmlns:r="http://schemas.openxmlformats.org/officeDocument/2006/relationships" xmlns:p="http://schemas.openxmlformats.org/presentationml/2006/main">
  <p:tag name="THINKCELLSHAPEDONOTDELETE" val="tAAhSnKdu3USIxwuNoi8fxA"/>
</p:tagLst>
</file>

<file path=ppt/tags/tag566.xml><?xml version="1.0" encoding="utf-8"?>
<p:tagLst xmlns:a="http://schemas.openxmlformats.org/drawingml/2006/main" xmlns:r="http://schemas.openxmlformats.org/officeDocument/2006/relationships" xmlns:p="http://schemas.openxmlformats.org/presentationml/2006/main">
  <p:tag name="THINKCELLSHAPEDONOTDELETE" val="tT4lL6eD0d0eJyXt3RhXtTw"/>
</p:tagLst>
</file>

<file path=ppt/tags/tag567.xml><?xml version="1.0" encoding="utf-8"?>
<p:tagLst xmlns:a="http://schemas.openxmlformats.org/drawingml/2006/main" xmlns:r="http://schemas.openxmlformats.org/officeDocument/2006/relationships" xmlns:p="http://schemas.openxmlformats.org/presentationml/2006/main">
  <p:tag name="THINKCELLSHAPEDONOTDELETE" val="t6Ji308Lwfk.wwtYnpY2bkQ"/>
</p:tagLst>
</file>

<file path=ppt/tags/tag568.xml><?xml version="1.0" encoding="utf-8"?>
<p:tagLst xmlns:a="http://schemas.openxmlformats.org/drawingml/2006/main" xmlns:r="http://schemas.openxmlformats.org/officeDocument/2006/relationships" xmlns:p="http://schemas.openxmlformats.org/presentationml/2006/main">
  <p:tag name="THINKCELLSHAPEDONOTDELETE" val="ti8Xu0lmJ70KUDdfvZVVfpA"/>
</p:tagLst>
</file>

<file path=ppt/tags/tag569.xml><?xml version="1.0" encoding="utf-8"?>
<p:tagLst xmlns:a="http://schemas.openxmlformats.org/drawingml/2006/main" xmlns:r="http://schemas.openxmlformats.org/officeDocument/2006/relationships" xmlns:p="http://schemas.openxmlformats.org/presentationml/2006/main">
  <p:tag name="THINKCELLSHAPEDONOTDELETE" val="t1PStLLll2kmbjflwsAU9Rw"/>
</p:tagLst>
</file>

<file path=ppt/tags/tag570.xml><?xml version="1.0" encoding="utf-8"?>
<p:tagLst xmlns:a="http://schemas.openxmlformats.org/drawingml/2006/main" xmlns:r="http://schemas.openxmlformats.org/officeDocument/2006/relationships" xmlns:p="http://schemas.openxmlformats.org/presentationml/2006/main">
  <p:tag name="THINKCELLSHAPEDONOTDELETE" val="tLg3ZL_eLbkyOgck8RjiShA"/>
</p:tagLst>
</file>

<file path=ppt/tags/tag571.xml><?xml version="1.0" encoding="utf-8"?>
<p:tagLst xmlns:a="http://schemas.openxmlformats.org/drawingml/2006/main" xmlns:r="http://schemas.openxmlformats.org/officeDocument/2006/relationships" xmlns:p="http://schemas.openxmlformats.org/presentationml/2006/main">
  <p:tag name="THINKCELLSHAPEDONOTDELETE" val="tX.r7d4muFkOGo.jeAsx5DA"/>
</p:tagLst>
</file>

<file path=ppt/tags/tag572.xml><?xml version="1.0" encoding="utf-8"?>
<p:tagLst xmlns:a="http://schemas.openxmlformats.org/drawingml/2006/main" xmlns:r="http://schemas.openxmlformats.org/officeDocument/2006/relationships" xmlns:p="http://schemas.openxmlformats.org/presentationml/2006/main">
  <p:tag name="THINKCELLSHAPEDONOTDELETE" val="tq1tIyVgx2ESiBTeE2rupTg"/>
</p:tagLst>
</file>

<file path=ppt/tags/tag573.xml><?xml version="1.0" encoding="utf-8"?>
<p:tagLst xmlns:a="http://schemas.openxmlformats.org/drawingml/2006/main" xmlns:r="http://schemas.openxmlformats.org/officeDocument/2006/relationships" xmlns:p="http://schemas.openxmlformats.org/presentationml/2006/main">
  <p:tag name="THINKCELLSHAPEDONOTDELETE" val="tX1zCo2H4okmABIXa3fmhNg"/>
</p:tagLst>
</file>

<file path=ppt/tags/tag574.xml><?xml version="1.0" encoding="utf-8"?>
<p:tagLst xmlns:a="http://schemas.openxmlformats.org/drawingml/2006/main" xmlns:r="http://schemas.openxmlformats.org/officeDocument/2006/relationships" xmlns:p="http://schemas.openxmlformats.org/presentationml/2006/main">
  <p:tag name="THINKCELLSHAPEDONOTDELETE" val="tiP0EvcuDL0C9aW5wfFjjxg"/>
</p:tagLst>
</file>

<file path=ppt/tags/tag575.xml><?xml version="1.0" encoding="utf-8"?>
<p:tagLst xmlns:a="http://schemas.openxmlformats.org/drawingml/2006/main" xmlns:r="http://schemas.openxmlformats.org/officeDocument/2006/relationships" xmlns:p="http://schemas.openxmlformats.org/presentationml/2006/main">
  <p:tag name="THINKCELLSHAPEDONOTDELETE" val="ts1UYoqx8lUetH22sVIH97A"/>
</p:tagLst>
</file>

<file path=ppt/tags/tag576.xml><?xml version="1.0" encoding="utf-8"?>
<p:tagLst xmlns:a="http://schemas.openxmlformats.org/drawingml/2006/main" xmlns:r="http://schemas.openxmlformats.org/officeDocument/2006/relationships" xmlns:p="http://schemas.openxmlformats.org/presentationml/2006/main">
  <p:tag name="THINKCELLSHAPEDONOTDELETE" val="teNiPCUyBFk2t2R8cLfmKaA"/>
</p:tagLst>
</file>

<file path=ppt/tags/tag577.xml><?xml version="1.0" encoding="utf-8"?>
<p:tagLst xmlns:a="http://schemas.openxmlformats.org/drawingml/2006/main" xmlns:r="http://schemas.openxmlformats.org/officeDocument/2006/relationships" xmlns:p="http://schemas.openxmlformats.org/presentationml/2006/main">
  <p:tag name="THINKCELLSHAPEDONOTDELETE" val="tYAlB3Ex5S0qCy_G.LmEa0Q"/>
</p:tagLst>
</file>

<file path=ppt/tags/tag5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9.xml><?xml version="1.0" encoding="utf-8"?>
<p:tagLst xmlns:a="http://schemas.openxmlformats.org/drawingml/2006/main" xmlns:r="http://schemas.openxmlformats.org/officeDocument/2006/relationships" xmlns:p="http://schemas.openxmlformats.org/presentationml/2006/main">
  <p:tag name="THINKCELLSHAPEDONOTDELETE" val="tYahcDg9XaUKgidW48Ttccw"/>
</p:tagLst>
</file>

<file path=ppt/tags/tag580.xml><?xml version="1.0" encoding="utf-8"?>
<p:tagLst xmlns:a="http://schemas.openxmlformats.org/drawingml/2006/main" xmlns:r="http://schemas.openxmlformats.org/officeDocument/2006/relationships" xmlns:p="http://schemas.openxmlformats.org/presentationml/2006/main">
  <p:tag name="THINKCELLSHAPEDONOTDELETE" val="ta6o8c.4cQUGXCUv.eSmo9g"/>
</p:tagLst>
</file>

<file path=ppt/tags/tag581.xml><?xml version="1.0" encoding="utf-8"?>
<p:tagLst xmlns:a="http://schemas.openxmlformats.org/drawingml/2006/main" xmlns:r="http://schemas.openxmlformats.org/officeDocument/2006/relationships" xmlns:p="http://schemas.openxmlformats.org/presentationml/2006/main">
  <p:tag name="THINKCELLSHAPEDONOTDELETE" val="trQAoZ8leFk2e9rs4AH6Pow"/>
</p:tagLst>
</file>

<file path=ppt/tags/tag582.xml><?xml version="1.0" encoding="utf-8"?>
<p:tagLst xmlns:a="http://schemas.openxmlformats.org/drawingml/2006/main" xmlns:r="http://schemas.openxmlformats.org/officeDocument/2006/relationships" xmlns:p="http://schemas.openxmlformats.org/presentationml/2006/main">
  <p:tag name="THINKCELLSHAPEDONOTDELETE" val="tmtAKKbsoaEmdk1cl7uQ4UQ"/>
</p:tagLst>
</file>

<file path=ppt/tags/tag583.xml><?xml version="1.0" encoding="utf-8"?>
<p:tagLst xmlns:a="http://schemas.openxmlformats.org/drawingml/2006/main" xmlns:r="http://schemas.openxmlformats.org/officeDocument/2006/relationships" xmlns:p="http://schemas.openxmlformats.org/presentationml/2006/main">
  <p:tag name="THINKCELLSHAPEDONOTDELETE" val="t2bWqdEe5sUqVjGpNqfa.mQ"/>
</p:tagLst>
</file>

<file path=ppt/tags/tag584.xml><?xml version="1.0" encoding="utf-8"?>
<p:tagLst xmlns:a="http://schemas.openxmlformats.org/drawingml/2006/main" xmlns:r="http://schemas.openxmlformats.org/officeDocument/2006/relationships" xmlns:p="http://schemas.openxmlformats.org/presentationml/2006/main">
  <p:tag name="THINKCELLSHAPEDONOTDELETE" val="tBMUcsQP9L0i2TP97eKWezw"/>
</p:tagLst>
</file>

<file path=ppt/tags/tag585.xml><?xml version="1.0" encoding="utf-8"?>
<p:tagLst xmlns:a="http://schemas.openxmlformats.org/drawingml/2006/main" xmlns:r="http://schemas.openxmlformats.org/officeDocument/2006/relationships" xmlns:p="http://schemas.openxmlformats.org/presentationml/2006/main">
  <p:tag name="THINKCELLSHAPEDONOTDELETE" val="tRgnahpbzR0qzVlnnv2Z.lA"/>
</p:tagLst>
</file>

<file path=ppt/tags/tag586.xml><?xml version="1.0" encoding="utf-8"?>
<p:tagLst xmlns:a="http://schemas.openxmlformats.org/drawingml/2006/main" xmlns:r="http://schemas.openxmlformats.org/officeDocument/2006/relationships" xmlns:p="http://schemas.openxmlformats.org/presentationml/2006/main">
  <p:tag name="THINKCELLSHAPEDONOTDELETE" val="tnUAWVrrOL0GZkShTAdqs1g"/>
</p:tagLst>
</file>

<file path=ppt/tags/tag587.xml><?xml version="1.0" encoding="utf-8"?>
<p:tagLst xmlns:a="http://schemas.openxmlformats.org/drawingml/2006/main" xmlns:r="http://schemas.openxmlformats.org/officeDocument/2006/relationships" xmlns:p="http://schemas.openxmlformats.org/presentationml/2006/main">
  <p:tag name="THINKCELLSHAPEDONOTDELETE" val="t_8F16tTh0EGSyd_oUYiKHg"/>
</p:tagLst>
</file>

<file path=ppt/tags/tag588.xml><?xml version="1.0" encoding="utf-8"?>
<p:tagLst xmlns:a="http://schemas.openxmlformats.org/drawingml/2006/main" xmlns:r="http://schemas.openxmlformats.org/officeDocument/2006/relationships" xmlns:p="http://schemas.openxmlformats.org/presentationml/2006/main">
  <p:tag name="THINKCELLSHAPEDONOTDELETE" val="tNru1Maod20mJL18mYlS7Cw"/>
</p:tagLst>
</file>

<file path=ppt/tags/tag589.xml><?xml version="1.0" encoding="utf-8"?>
<p:tagLst xmlns:a="http://schemas.openxmlformats.org/drawingml/2006/main" xmlns:r="http://schemas.openxmlformats.org/officeDocument/2006/relationships" xmlns:p="http://schemas.openxmlformats.org/presentationml/2006/main">
  <p:tag name="THINKCELLSHAPEDONOTDELETE" val="tKrDr1L43_kupw3czS5B2VA"/>
</p:tagLst>
</file>

<file path=ppt/tags/tag590.xml><?xml version="1.0" encoding="utf-8"?>
<p:tagLst xmlns:a="http://schemas.openxmlformats.org/drawingml/2006/main" xmlns:r="http://schemas.openxmlformats.org/officeDocument/2006/relationships" xmlns:p="http://schemas.openxmlformats.org/presentationml/2006/main">
  <p:tag name="THINKCELLSHAPEDONOTDELETE" val="tVwMPln.SmE2a8Te7U5J2EA"/>
</p:tagLst>
</file>

<file path=ppt/tags/tag591.xml><?xml version="1.0" encoding="utf-8"?>
<p:tagLst xmlns:a="http://schemas.openxmlformats.org/drawingml/2006/main" xmlns:r="http://schemas.openxmlformats.org/officeDocument/2006/relationships" xmlns:p="http://schemas.openxmlformats.org/presentationml/2006/main">
  <p:tag name="THINKCELLSHAPEDONOTDELETE" val="ta7ENs8DfMkKSisjWomVKBA"/>
</p:tagLst>
</file>

<file path=ppt/tags/tag592.xml><?xml version="1.0" encoding="utf-8"?>
<p:tagLst xmlns:a="http://schemas.openxmlformats.org/drawingml/2006/main" xmlns:r="http://schemas.openxmlformats.org/officeDocument/2006/relationships" xmlns:p="http://schemas.openxmlformats.org/presentationml/2006/main">
  <p:tag name="THINKCELLSHAPEDONOTDELETE" val="taa7SC8aOX06sT3ZKZ0muHA"/>
</p:tagLst>
</file>

<file path=ppt/tags/tag593.xml><?xml version="1.0" encoding="utf-8"?>
<p:tagLst xmlns:a="http://schemas.openxmlformats.org/drawingml/2006/main" xmlns:r="http://schemas.openxmlformats.org/officeDocument/2006/relationships" xmlns:p="http://schemas.openxmlformats.org/presentationml/2006/main">
  <p:tag name="THINKCELLSHAPEDONOTDELETE" val="tymG9zqo4lk.6o185.bghbQ"/>
</p:tagLst>
</file>

<file path=ppt/tags/tag594.xml><?xml version="1.0" encoding="utf-8"?>
<p:tagLst xmlns:a="http://schemas.openxmlformats.org/drawingml/2006/main" xmlns:r="http://schemas.openxmlformats.org/officeDocument/2006/relationships" xmlns:p="http://schemas.openxmlformats.org/presentationml/2006/main">
  <p:tag name="THINKCELLSHAPEDONOTDELETE" val="t2ymhQhwyTEm3unQnqvzp_w"/>
</p:tagLst>
</file>

<file path=ppt/tags/tag595.xml><?xml version="1.0" encoding="utf-8"?>
<p:tagLst xmlns:a="http://schemas.openxmlformats.org/drawingml/2006/main" xmlns:r="http://schemas.openxmlformats.org/officeDocument/2006/relationships" xmlns:p="http://schemas.openxmlformats.org/presentationml/2006/main">
  <p:tag name="THINKCELLSHAPEDONOTDELETE" val="t.TXuI_of10KvWCw.jDro7w"/>
</p:tagLst>
</file>

<file path=ppt/tags/tag596.xml><?xml version="1.0" encoding="utf-8"?>
<p:tagLst xmlns:a="http://schemas.openxmlformats.org/drawingml/2006/main" xmlns:r="http://schemas.openxmlformats.org/officeDocument/2006/relationships" xmlns:p="http://schemas.openxmlformats.org/presentationml/2006/main">
  <p:tag name="THINKCELLSHAPEDONOTDELETE" val="tmEhl6dkg50.bgnugfxrziw"/>
</p:tagLst>
</file>

<file path=ppt/tags/tag5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8.xml><?xml version="1.0" encoding="utf-8"?>
<p:tagLst xmlns:a="http://schemas.openxmlformats.org/drawingml/2006/main" xmlns:r="http://schemas.openxmlformats.org/officeDocument/2006/relationships" xmlns:p="http://schemas.openxmlformats.org/presentationml/2006/main">
  <p:tag name="THINKCELLSHAPEDONOTDELETE" val="txb2iM8Z34Ue_lWA.aDK_aQ"/>
</p:tagLst>
</file>

<file path=ppt/tags/tag599.xml><?xml version="1.0" encoding="utf-8"?>
<p:tagLst xmlns:a="http://schemas.openxmlformats.org/drawingml/2006/main" xmlns:r="http://schemas.openxmlformats.org/officeDocument/2006/relationships" xmlns:p="http://schemas.openxmlformats.org/presentationml/2006/main">
  <p:tag name="NAME" val="Rectangle"/>
</p:tagLst>
</file>

<file path=ppt/tags/tag600.xml><?xml version="1.0" encoding="utf-8"?>
<p:tagLst xmlns:a="http://schemas.openxmlformats.org/drawingml/2006/main" xmlns:r="http://schemas.openxmlformats.org/officeDocument/2006/relationships" xmlns:p="http://schemas.openxmlformats.org/presentationml/2006/main">
  <p:tag name="NAME" val="Rectangle"/>
</p:tagLst>
</file>

<file path=ppt/tags/tag601.xml><?xml version="1.0" encoding="utf-8"?>
<p:tagLst xmlns:a="http://schemas.openxmlformats.org/drawingml/2006/main" xmlns:r="http://schemas.openxmlformats.org/officeDocument/2006/relationships" xmlns:p="http://schemas.openxmlformats.org/presentationml/2006/main">
  <p:tag name="NAME" val="Rectangle"/>
</p:tagLst>
</file>

<file path=ppt/tags/tag602.xml><?xml version="1.0" encoding="utf-8"?>
<p:tagLst xmlns:a="http://schemas.openxmlformats.org/drawingml/2006/main" xmlns:r="http://schemas.openxmlformats.org/officeDocument/2006/relationships" xmlns:p="http://schemas.openxmlformats.org/presentationml/2006/main">
  <p:tag name="NAME" val="Oval"/>
</p:tagLst>
</file>

<file path=ppt/tags/tag603.xml><?xml version="1.0" encoding="utf-8"?>
<p:tagLst xmlns:a="http://schemas.openxmlformats.org/drawingml/2006/main" xmlns:r="http://schemas.openxmlformats.org/officeDocument/2006/relationships" xmlns:p="http://schemas.openxmlformats.org/presentationml/2006/main">
  <p:tag name="NAME" val="Oval"/>
</p:tagLst>
</file>

<file path=ppt/tags/tag604.xml><?xml version="1.0" encoding="utf-8"?>
<p:tagLst xmlns:a="http://schemas.openxmlformats.org/drawingml/2006/main" xmlns:r="http://schemas.openxmlformats.org/officeDocument/2006/relationships" xmlns:p="http://schemas.openxmlformats.org/presentationml/2006/main">
  <p:tag name="NAME" val="Oval"/>
</p:tagLst>
</file>

<file path=ppt/tags/tag6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7.xml><?xml version="1.0" encoding="utf-8"?>
<p:tagLst xmlns:a="http://schemas.openxmlformats.org/drawingml/2006/main" xmlns:r="http://schemas.openxmlformats.org/officeDocument/2006/relationships" xmlns:p="http://schemas.openxmlformats.org/presentationml/2006/main">
  <p:tag name="THINKCELLSHAPEDONOTDELETE" val="txb2iM8Z34Ue_lWA.aDK_aQ"/>
</p:tagLst>
</file>

<file path=ppt/tags/tag608.xml><?xml version="1.0" encoding="utf-8"?>
<p:tagLst xmlns:a="http://schemas.openxmlformats.org/drawingml/2006/main" xmlns:r="http://schemas.openxmlformats.org/officeDocument/2006/relationships" xmlns:p="http://schemas.openxmlformats.org/presentationml/2006/main">
  <p:tag name="NAME" val="Rectangle"/>
</p:tagLst>
</file>

<file path=ppt/tags/tag609.xml><?xml version="1.0" encoding="utf-8"?>
<p:tagLst xmlns:a="http://schemas.openxmlformats.org/drawingml/2006/main" xmlns:r="http://schemas.openxmlformats.org/officeDocument/2006/relationships" xmlns:p="http://schemas.openxmlformats.org/presentationml/2006/main">
  <p:tag name="NAME" val="Rectangle"/>
</p:tagLst>
</file>

<file path=ppt/tags/tag610.xml><?xml version="1.0" encoding="utf-8"?>
<p:tagLst xmlns:a="http://schemas.openxmlformats.org/drawingml/2006/main" xmlns:r="http://schemas.openxmlformats.org/officeDocument/2006/relationships" xmlns:p="http://schemas.openxmlformats.org/presentationml/2006/main">
  <p:tag name="NAME" val="Rectangle"/>
</p:tagLst>
</file>

<file path=ppt/tags/tag611.xml><?xml version="1.0" encoding="utf-8"?>
<p:tagLst xmlns:a="http://schemas.openxmlformats.org/drawingml/2006/main" xmlns:r="http://schemas.openxmlformats.org/officeDocument/2006/relationships" xmlns:p="http://schemas.openxmlformats.org/presentationml/2006/main">
  <p:tag name="NAME" val="Oval"/>
</p:tagLst>
</file>

<file path=ppt/tags/tag612.xml><?xml version="1.0" encoding="utf-8"?>
<p:tagLst xmlns:a="http://schemas.openxmlformats.org/drawingml/2006/main" xmlns:r="http://schemas.openxmlformats.org/officeDocument/2006/relationships" xmlns:p="http://schemas.openxmlformats.org/presentationml/2006/main">
  <p:tag name="NAME" val="Oval"/>
</p:tagLst>
</file>

<file path=ppt/tags/tag613.xml><?xml version="1.0" encoding="utf-8"?>
<p:tagLst xmlns:a="http://schemas.openxmlformats.org/drawingml/2006/main" xmlns:r="http://schemas.openxmlformats.org/officeDocument/2006/relationships" xmlns:p="http://schemas.openxmlformats.org/presentationml/2006/main">
  <p:tag name="NAME" val="Oval"/>
</p:tagLst>
</file>

<file path=ppt/tags/tag6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5.xml><?xml version="1.0" encoding="utf-8"?>
<p:tagLst xmlns:a="http://schemas.openxmlformats.org/drawingml/2006/main" xmlns:r="http://schemas.openxmlformats.org/officeDocument/2006/relationships" xmlns:p="http://schemas.openxmlformats.org/presentationml/2006/main">
  <p:tag name="THINKCELLSHAPEDONOTDELETE" val="tcIZ2oRwwjkqzYAQznBVl3w"/>
</p:tagLst>
</file>

<file path=ppt/tags/tag616.xml><?xml version="1.0" encoding="utf-8"?>
<p:tagLst xmlns:a="http://schemas.openxmlformats.org/drawingml/2006/main" xmlns:r="http://schemas.openxmlformats.org/officeDocument/2006/relationships" xmlns:p="http://schemas.openxmlformats.org/presentationml/2006/main">
  <p:tag name="THINKCELLSHAPEDONOTDELETE" val="tVsNyBR4LO0yIpq_hn6JQMw"/>
</p:tagLst>
</file>

<file path=ppt/tags/tag617.xml><?xml version="1.0" encoding="utf-8"?>
<p:tagLst xmlns:a="http://schemas.openxmlformats.org/drawingml/2006/main" xmlns:r="http://schemas.openxmlformats.org/officeDocument/2006/relationships" xmlns:p="http://schemas.openxmlformats.org/presentationml/2006/main">
  <p:tag name="THINKCELLSHAPEDONOTDELETE" val="teB7.Fky7TEyxC6s1AIBltQ"/>
</p:tagLst>
</file>

<file path=ppt/tags/tag618.xml><?xml version="1.0" encoding="utf-8"?>
<p:tagLst xmlns:a="http://schemas.openxmlformats.org/drawingml/2006/main" xmlns:r="http://schemas.openxmlformats.org/officeDocument/2006/relationships" xmlns:p="http://schemas.openxmlformats.org/presentationml/2006/main">
  <p:tag name="THINKCELLSHAPEDONOTDELETE" val="tDFwKW3xeT0.y2iw6itcW8Q"/>
</p:tagLst>
</file>

<file path=ppt/tags/tag619.xml><?xml version="1.0" encoding="utf-8"?>
<p:tagLst xmlns:a="http://schemas.openxmlformats.org/drawingml/2006/main" xmlns:r="http://schemas.openxmlformats.org/officeDocument/2006/relationships" xmlns:p="http://schemas.openxmlformats.org/presentationml/2006/main">
  <p:tag name="THINKCELLSHAPEDONOTDELETE" val="tzRaevBkb5kKxM6KnDaE_YA"/>
</p:tagLst>
</file>

<file path=ppt/tags/tag620.xml><?xml version="1.0" encoding="utf-8"?>
<p:tagLst xmlns:a="http://schemas.openxmlformats.org/drawingml/2006/main" xmlns:r="http://schemas.openxmlformats.org/officeDocument/2006/relationships" xmlns:p="http://schemas.openxmlformats.org/presentationml/2006/main">
  <p:tag name="THINKCELLSHAPEDONOTDELETE" val="t6wLSKlgB4kGcOscH1baJxA"/>
</p:tagLst>
</file>

<file path=ppt/tags/tag621.xml><?xml version="1.0" encoding="utf-8"?>
<p:tagLst xmlns:a="http://schemas.openxmlformats.org/drawingml/2006/main" xmlns:r="http://schemas.openxmlformats.org/officeDocument/2006/relationships" xmlns:p="http://schemas.openxmlformats.org/presentationml/2006/main">
  <p:tag name="THINKCELLSHAPEDONOTDELETE" val="t86UReHgTxEWzyAz5CyLnIg"/>
</p:tagLst>
</file>

<file path=ppt/tags/tag622.xml><?xml version="1.0" encoding="utf-8"?>
<p:tagLst xmlns:a="http://schemas.openxmlformats.org/drawingml/2006/main" xmlns:r="http://schemas.openxmlformats.org/officeDocument/2006/relationships" xmlns:p="http://schemas.openxmlformats.org/presentationml/2006/main">
  <p:tag name="THINKCELLSHAPEDONOTDELETE" val="tSL8TOUyh2kaUqOyNP8j3Jw"/>
</p:tagLst>
</file>

<file path=ppt/tags/tag623.xml><?xml version="1.0" encoding="utf-8"?>
<p:tagLst xmlns:a="http://schemas.openxmlformats.org/drawingml/2006/main" xmlns:r="http://schemas.openxmlformats.org/officeDocument/2006/relationships" xmlns:p="http://schemas.openxmlformats.org/presentationml/2006/main">
  <p:tag name="THINKCELLSHAPEDONOTDELETE" val="tOdMhfiJPxEyaYZCoiGjRRQ"/>
</p:tagLst>
</file>

<file path=ppt/tags/tag624.xml><?xml version="1.0" encoding="utf-8"?>
<p:tagLst xmlns:a="http://schemas.openxmlformats.org/drawingml/2006/main" xmlns:r="http://schemas.openxmlformats.org/officeDocument/2006/relationships" xmlns:p="http://schemas.openxmlformats.org/presentationml/2006/main">
  <p:tag name="THINKCELLSHAPEDONOTDELETE" val="tY5SS7Mrw50u454gGys0RoA"/>
</p:tagLst>
</file>

<file path=ppt/tags/tag625.xml><?xml version="1.0" encoding="utf-8"?>
<p:tagLst xmlns:a="http://schemas.openxmlformats.org/drawingml/2006/main" xmlns:r="http://schemas.openxmlformats.org/officeDocument/2006/relationships" xmlns:p="http://schemas.openxmlformats.org/presentationml/2006/main">
  <p:tag name="THINKCELLSHAPEDONOTDELETE" val="tO2bkieUZjkS4se_FWbqyeQ"/>
</p:tagLst>
</file>

<file path=ppt/tags/tag626.xml><?xml version="1.0" encoding="utf-8"?>
<p:tagLst xmlns:a="http://schemas.openxmlformats.org/drawingml/2006/main" xmlns:r="http://schemas.openxmlformats.org/officeDocument/2006/relationships" xmlns:p="http://schemas.openxmlformats.org/presentationml/2006/main">
  <p:tag name="THINKCELLSHAPEDONOTDELETE" val="t.OwKKRwFA0W7tngcqGxScA"/>
</p:tagLst>
</file>

<file path=ppt/tags/tag627.xml><?xml version="1.0" encoding="utf-8"?>
<p:tagLst xmlns:a="http://schemas.openxmlformats.org/drawingml/2006/main" xmlns:r="http://schemas.openxmlformats.org/officeDocument/2006/relationships" xmlns:p="http://schemas.openxmlformats.org/presentationml/2006/main">
  <p:tag name="THINKCELLSHAPEDONOTDELETE" val="t28JHTqwErkCWdGPgSdwCMQ"/>
</p:tagLst>
</file>

<file path=ppt/tags/tag628.xml><?xml version="1.0" encoding="utf-8"?>
<p:tagLst xmlns:a="http://schemas.openxmlformats.org/drawingml/2006/main" xmlns:r="http://schemas.openxmlformats.org/officeDocument/2006/relationships" xmlns:p="http://schemas.openxmlformats.org/presentationml/2006/main">
  <p:tag name="THINKCELLSHAPEDONOTDELETE" val="tWPxvOMEPC0iBx070gogsaA"/>
</p:tagLst>
</file>

<file path=ppt/tags/tag629.xml><?xml version="1.0" encoding="utf-8"?>
<p:tagLst xmlns:a="http://schemas.openxmlformats.org/drawingml/2006/main" xmlns:r="http://schemas.openxmlformats.org/officeDocument/2006/relationships" xmlns:p="http://schemas.openxmlformats.org/presentationml/2006/main">
  <p:tag name="THINKCELLSHAPEDONOTDELETE" val="tiTyw8H9FWkiSMiDfmrxX4Q"/>
</p:tagLst>
</file>

<file path=ppt/tags/tag630.xml><?xml version="1.0" encoding="utf-8"?>
<p:tagLst xmlns:a="http://schemas.openxmlformats.org/drawingml/2006/main" xmlns:r="http://schemas.openxmlformats.org/officeDocument/2006/relationships" xmlns:p="http://schemas.openxmlformats.org/presentationml/2006/main">
  <p:tag name="THINKCELLSHAPEDONOTDELETE" val="tdI5SWL1i3E.NX8GsOIYb4Q"/>
</p:tagLst>
</file>

<file path=ppt/tags/tag631.xml><?xml version="1.0" encoding="utf-8"?>
<p:tagLst xmlns:a="http://schemas.openxmlformats.org/drawingml/2006/main" xmlns:r="http://schemas.openxmlformats.org/officeDocument/2006/relationships" xmlns:p="http://schemas.openxmlformats.org/presentationml/2006/main">
  <p:tag name="THINKCELLSHAPEDONOTDELETE" val="tRayZtS7c5E29JCZ4jqBmxA"/>
</p:tagLst>
</file>

<file path=ppt/tags/tag6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3.xml><?xml version="1.0" encoding="utf-8"?>
<p:tagLst xmlns:a="http://schemas.openxmlformats.org/drawingml/2006/main" xmlns:r="http://schemas.openxmlformats.org/officeDocument/2006/relationships" xmlns:p="http://schemas.openxmlformats.org/presentationml/2006/main">
  <p:tag name="THINKCELLSHAPEDONOTDELETE" val="tcIZ2oRwwjkqzYAQznBVl3w"/>
</p:tagLst>
</file>

<file path=ppt/tags/tag634.xml><?xml version="1.0" encoding="utf-8"?>
<p:tagLst xmlns:a="http://schemas.openxmlformats.org/drawingml/2006/main" xmlns:r="http://schemas.openxmlformats.org/officeDocument/2006/relationships" xmlns:p="http://schemas.openxmlformats.org/presentationml/2006/main">
  <p:tag name="THINKCELLSHAPEDONOTDELETE" val="tkbvnk.7spEaMgFSpMesYOQ"/>
</p:tagLst>
</file>

<file path=ppt/tags/tag635.xml><?xml version="1.0" encoding="utf-8"?>
<p:tagLst xmlns:a="http://schemas.openxmlformats.org/drawingml/2006/main" xmlns:r="http://schemas.openxmlformats.org/officeDocument/2006/relationships" xmlns:p="http://schemas.openxmlformats.org/presentationml/2006/main">
  <p:tag name="THINKCELLSHAPEDONOTDELETE" val="tLnyO1b8Q_0GxmIgHHZkfdQ"/>
</p:tagLst>
</file>

<file path=ppt/tags/tag636.xml><?xml version="1.0" encoding="utf-8"?>
<p:tagLst xmlns:a="http://schemas.openxmlformats.org/drawingml/2006/main" xmlns:r="http://schemas.openxmlformats.org/officeDocument/2006/relationships" xmlns:p="http://schemas.openxmlformats.org/presentationml/2006/main">
  <p:tag name="THINKCELLSHAPEDONOTDELETE" val="tXsyZbnbQGUyr8jbtIoXW5A"/>
</p:tagLst>
</file>

<file path=ppt/tags/tag637.xml><?xml version="1.0" encoding="utf-8"?>
<p:tagLst xmlns:a="http://schemas.openxmlformats.org/drawingml/2006/main" xmlns:r="http://schemas.openxmlformats.org/officeDocument/2006/relationships" xmlns:p="http://schemas.openxmlformats.org/presentationml/2006/main">
  <p:tag name="THINKCELLSHAPEDONOTDELETE" val="tPsKkfSAMA0GMBxbP4GbDmg"/>
</p:tagLst>
</file>

<file path=ppt/tags/tag638.xml><?xml version="1.0" encoding="utf-8"?>
<p:tagLst xmlns:a="http://schemas.openxmlformats.org/drawingml/2006/main" xmlns:r="http://schemas.openxmlformats.org/officeDocument/2006/relationships" xmlns:p="http://schemas.openxmlformats.org/presentationml/2006/main">
  <p:tag name="THINKCELLSHAPEDONOTDELETE" val="tc55g1r0KrkeHKoapACQzNw"/>
</p:tagLst>
</file>

<file path=ppt/tags/tag639.xml><?xml version="1.0" encoding="utf-8"?>
<p:tagLst xmlns:a="http://schemas.openxmlformats.org/drawingml/2006/main" xmlns:r="http://schemas.openxmlformats.org/officeDocument/2006/relationships" xmlns:p="http://schemas.openxmlformats.org/presentationml/2006/main">
  <p:tag name="THINKCELLSHAPEDONOTDELETE" val="t5ys4H3shjUeUgLoOWix3NQ"/>
</p:tagLst>
</file>

<file path=ppt/tags/tag640.xml><?xml version="1.0" encoding="utf-8"?>
<p:tagLst xmlns:a="http://schemas.openxmlformats.org/drawingml/2006/main" xmlns:r="http://schemas.openxmlformats.org/officeDocument/2006/relationships" xmlns:p="http://schemas.openxmlformats.org/presentationml/2006/main">
  <p:tag name="THINKCELLSHAPEDONOTDELETE" val="tzFURRnOGFUmUFrXKCpeBpQ"/>
</p:tagLst>
</file>

<file path=ppt/tags/tag641.xml><?xml version="1.0" encoding="utf-8"?>
<p:tagLst xmlns:a="http://schemas.openxmlformats.org/drawingml/2006/main" xmlns:r="http://schemas.openxmlformats.org/officeDocument/2006/relationships" xmlns:p="http://schemas.openxmlformats.org/presentationml/2006/main">
  <p:tag name="THINKCELLSHAPEDONOTDELETE" val="t29nhle6PLUiTfvFMeXgxUQ"/>
</p:tagLst>
</file>

<file path=ppt/tags/tag642.xml><?xml version="1.0" encoding="utf-8"?>
<p:tagLst xmlns:a="http://schemas.openxmlformats.org/drawingml/2006/main" xmlns:r="http://schemas.openxmlformats.org/officeDocument/2006/relationships" xmlns:p="http://schemas.openxmlformats.org/presentationml/2006/main">
  <p:tag name="THINKCELLSHAPEDONOTDELETE" val="tg4zqx7ELDkulqJDEvL0Kkg"/>
</p:tagLst>
</file>

<file path=ppt/tags/tag643.xml><?xml version="1.0" encoding="utf-8"?>
<p:tagLst xmlns:a="http://schemas.openxmlformats.org/drawingml/2006/main" xmlns:r="http://schemas.openxmlformats.org/officeDocument/2006/relationships" xmlns:p="http://schemas.openxmlformats.org/presentationml/2006/main">
  <p:tag name="THINKCELLSHAPEDONOTDELETE" val="tZLDiKPvQ_Uq716KDkieMoQ"/>
</p:tagLst>
</file>

<file path=ppt/tags/tag644.xml><?xml version="1.0" encoding="utf-8"?>
<p:tagLst xmlns:a="http://schemas.openxmlformats.org/drawingml/2006/main" xmlns:r="http://schemas.openxmlformats.org/officeDocument/2006/relationships" xmlns:p="http://schemas.openxmlformats.org/presentationml/2006/main">
  <p:tag name="THINKCELLSHAPEDONOTDELETE" val="tJVH0.AyhT0uNZXl4ma1I8w"/>
</p:tagLst>
</file>

<file path=ppt/tags/tag645.xml><?xml version="1.0" encoding="utf-8"?>
<p:tagLst xmlns:a="http://schemas.openxmlformats.org/drawingml/2006/main" xmlns:r="http://schemas.openxmlformats.org/officeDocument/2006/relationships" xmlns:p="http://schemas.openxmlformats.org/presentationml/2006/main">
  <p:tag name="THINKCELLSHAPEDONOTDELETE" val="th67P1nf8AE2nUcsz9R1pvg"/>
</p:tagLst>
</file>

<file path=ppt/tags/tag646.xml><?xml version="1.0" encoding="utf-8"?>
<p:tagLst xmlns:a="http://schemas.openxmlformats.org/drawingml/2006/main" xmlns:r="http://schemas.openxmlformats.org/officeDocument/2006/relationships" xmlns:p="http://schemas.openxmlformats.org/presentationml/2006/main">
  <p:tag name="THINKCELLSHAPEDONOTDELETE" val="tucawZJuyhUqZLGPkJr5_Fw"/>
</p:tagLst>
</file>

<file path=ppt/tags/tag6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8.xml><?xml version="1.0" encoding="utf-8"?>
<p:tagLst xmlns:a="http://schemas.openxmlformats.org/drawingml/2006/main" xmlns:r="http://schemas.openxmlformats.org/officeDocument/2006/relationships" xmlns:p="http://schemas.openxmlformats.org/presentationml/2006/main">
  <p:tag name="THINKCELLSHAPEDONOTDELETE" val="tRWND6EpTZ0uB9S1.lk1dJg"/>
</p:tagLst>
</file>

<file path=ppt/tags/tag649.xml><?xml version="1.0" encoding="utf-8"?>
<p:tagLst xmlns:a="http://schemas.openxmlformats.org/drawingml/2006/main" xmlns:r="http://schemas.openxmlformats.org/officeDocument/2006/relationships" xmlns:p="http://schemas.openxmlformats.org/presentationml/2006/main">
  <p:tag name="THINKCELLSHAPEDONOTDELETE" val="t6r1N9PYaA0GNIL2oOBr_BA"/>
</p:tagLst>
</file>

<file path=ppt/tags/tag650.xml><?xml version="1.0" encoding="utf-8"?>
<p:tagLst xmlns:a="http://schemas.openxmlformats.org/drawingml/2006/main" xmlns:r="http://schemas.openxmlformats.org/officeDocument/2006/relationships" xmlns:p="http://schemas.openxmlformats.org/presentationml/2006/main">
  <p:tag name="THINKCELLSHAPEDONOTDELETE" val="tBGa37CLlIUW5std9IgrDdg"/>
</p:tagLst>
</file>

<file path=ppt/tags/tag651.xml><?xml version="1.0" encoding="utf-8"?>
<p:tagLst xmlns:a="http://schemas.openxmlformats.org/drawingml/2006/main" xmlns:r="http://schemas.openxmlformats.org/officeDocument/2006/relationships" xmlns:p="http://schemas.openxmlformats.org/presentationml/2006/main">
  <p:tag name="THINKCELLSHAPEDONOTDELETE" val="tbNFcyBidv06yU9jbGPgo0g"/>
</p:tagLst>
</file>

<file path=ppt/tags/tag652.xml><?xml version="1.0" encoding="utf-8"?>
<p:tagLst xmlns:a="http://schemas.openxmlformats.org/drawingml/2006/main" xmlns:r="http://schemas.openxmlformats.org/officeDocument/2006/relationships" xmlns:p="http://schemas.openxmlformats.org/presentationml/2006/main">
  <p:tag name="THINKCELLSHAPEDONOTDELETE" val="tN3q_u86x.0aRR6H3OLUI7A"/>
</p:tagLst>
</file>

<file path=ppt/tags/tag653.xml><?xml version="1.0" encoding="utf-8"?>
<p:tagLst xmlns:a="http://schemas.openxmlformats.org/drawingml/2006/main" xmlns:r="http://schemas.openxmlformats.org/officeDocument/2006/relationships" xmlns:p="http://schemas.openxmlformats.org/presentationml/2006/main">
  <p:tag name="THINKCELLSHAPEDONOTDELETE" val="teCl0JUNzHUq2vOJItNFTew"/>
</p:tagLst>
</file>

<file path=ppt/tags/tag654.xml><?xml version="1.0" encoding="utf-8"?>
<p:tagLst xmlns:a="http://schemas.openxmlformats.org/drawingml/2006/main" xmlns:r="http://schemas.openxmlformats.org/officeDocument/2006/relationships" xmlns:p="http://schemas.openxmlformats.org/presentationml/2006/main">
  <p:tag name="THINKCELLSHAPEDONOTDELETE" val="trykIZhf1X0ayQfWDz_k7hg"/>
</p:tagLst>
</file>

<file path=ppt/tags/tag655.xml><?xml version="1.0" encoding="utf-8"?>
<p:tagLst xmlns:a="http://schemas.openxmlformats.org/drawingml/2006/main" xmlns:r="http://schemas.openxmlformats.org/officeDocument/2006/relationships" xmlns:p="http://schemas.openxmlformats.org/presentationml/2006/main">
  <p:tag name="THINKCELLSHAPEDONOTDELETE" val="twmxg6R0ZMUqGBLL_6bIpmA"/>
</p:tagLst>
</file>

<file path=ppt/tags/tag656.xml><?xml version="1.0" encoding="utf-8"?>
<p:tagLst xmlns:a="http://schemas.openxmlformats.org/drawingml/2006/main" xmlns:r="http://schemas.openxmlformats.org/officeDocument/2006/relationships" xmlns:p="http://schemas.openxmlformats.org/presentationml/2006/main">
  <p:tag name="THINKCELLSHAPEDONOTDELETE" val="tko1Rqtfdl0.3FyztnBiJAg"/>
</p:tagLst>
</file>

<file path=ppt/tags/tag657.xml><?xml version="1.0" encoding="utf-8"?>
<p:tagLst xmlns:a="http://schemas.openxmlformats.org/drawingml/2006/main" xmlns:r="http://schemas.openxmlformats.org/officeDocument/2006/relationships" xmlns:p="http://schemas.openxmlformats.org/presentationml/2006/main">
  <p:tag name="THINKCELLSHAPEDONOTDELETE" val="t2w4ZBNbDIUG1_6vFD6IBQw"/>
</p:tagLst>
</file>

<file path=ppt/tags/tag658.xml><?xml version="1.0" encoding="utf-8"?>
<p:tagLst xmlns:a="http://schemas.openxmlformats.org/drawingml/2006/main" xmlns:r="http://schemas.openxmlformats.org/officeDocument/2006/relationships" xmlns:p="http://schemas.openxmlformats.org/presentationml/2006/main">
  <p:tag name="THINKCELLSHAPEDONOTDELETE" val="tQi1BrIPesUOa7LBPHfF.IA"/>
</p:tagLst>
</file>

<file path=ppt/tags/tag659.xml><?xml version="1.0" encoding="utf-8"?>
<p:tagLst xmlns:a="http://schemas.openxmlformats.org/drawingml/2006/main" xmlns:r="http://schemas.openxmlformats.org/officeDocument/2006/relationships" xmlns:p="http://schemas.openxmlformats.org/presentationml/2006/main">
  <p:tag name="THINKCELLSHAPEDONOTDELETE" val="t34KqEtoHS0SsOQI1Rlz8bg"/>
</p:tagLst>
</file>

<file path=ppt/tags/tag660.xml><?xml version="1.0" encoding="utf-8"?>
<p:tagLst xmlns:a="http://schemas.openxmlformats.org/drawingml/2006/main" xmlns:r="http://schemas.openxmlformats.org/officeDocument/2006/relationships" xmlns:p="http://schemas.openxmlformats.org/presentationml/2006/main">
  <p:tag name="THINKCELLSHAPEDONOTDELETE" val="tNcAMhnzS.EGrt5NwvLhimQ"/>
</p:tagLst>
</file>

<file path=ppt/tags/tag661.xml><?xml version="1.0" encoding="utf-8"?>
<p:tagLst xmlns:a="http://schemas.openxmlformats.org/drawingml/2006/main" xmlns:r="http://schemas.openxmlformats.org/officeDocument/2006/relationships" xmlns:p="http://schemas.openxmlformats.org/presentationml/2006/main">
  <p:tag name="THINKCELLSHAPEDONOTDELETE" val="t4r4_xpqTL0GmL4Jvm35pnA"/>
</p:tagLst>
</file>

<file path=ppt/tags/tag662.xml><?xml version="1.0" encoding="utf-8"?>
<p:tagLst xmlns:a="http://schemas.openxmlformats.org/drawingml/2006/main" xmlns:r="http://schemas.openxmlformats.org/officeDocument/2006/relationships" xmlns:p="http://schemas.openxmlformats.org/presentationml/2006/main">
  <p:tag name="THINKCELLSHAPEDONOTDELETE" val="t5B5gnMYfwkefPc2m2IlHcA"/>
</p:tagLst>
</file>

<file path=ppt/tags/tag663.xml><?xml version="1.0" encoding="utf-8"?>
<p:tagLst xmlns:a="http://schemas.openxmlformats.org/drawingml/2006/main" xmlns:r="http://schemas.openxmlformats.org/officeDocument/2006/relationships" xmlns:p="http://schemas.openxmlformats.org/presentationml/2006/main">
  <p:tag name="THINKCELLSHAPEDONOTDELETE" val="tc0yqUtsPDEK70J8JKiBkJA"/>
</p:tagLst>
</file>

<file path=ppt/tags/tag664.xml><?xml version="1.0" encoding="utf-8"?>
<p:tagLst xmlns:a="http://schemas.openxmlformats.org/drawingml/2006/main" xmlns:r="http://schemas.openxmlformats.org/officeDocument/2006/relationships" xmlns:p="http://schemas.openxmlformats.org/presentationml/2006/main">
  <p:tag name="THINKCELLSHAPEDONOTDELETE" val="t2L7GHOb0HkWK9Ebmyb0QWg"/>
</p:tagLst>
</file>

<file path=ppt/tags/tag665.xml><?xml version="1.0" encoding="utf-8"?>
<p:tagLst xmlns:a="http://schemas.openxmlformats.org/drawingml/2006/main" xmlns:r="http://schemas.openxmlformats.org/officeDocument/2006/relationships" xmlns:p="http://schemas.openxmlformats.org/presentationml/2006/main">
  <p:tag name="THINKCELLSHAPEDONOTDELETE" val="tf2r.VV3fHEyKBlcVY6RloQ"/>
</p:tagLst>
</file>

<file path=ppt/tags/tag666.xml><?xml version="1.0" encoding="utf-8"?>
<p:tagLst xmlns:a="http://schemas.openxmlformats.org/drawingml/2006/main" xmlns:r="http://schemas.openxmlformats.org/officeDocument/2006/relationships" xmlns:p="http://schemas.openxmlformats.org/presentationml/2006/main">
  <p:tag name="THINKCELLSHAPEDONOTDELETE" val="t3uXZ.7Cx4UKIZNnbXsBpKw"/>
</p:tagLst>
</file>

<file path=ppt/tags/tag667.xml><?xml version="1.0" encoding="utf-8"?>
<p:tagLst xmlns:a="http://schemas.openxmlformats.org/drawingml/2006/main" xmlns:r="http://schemas.openxmlformats.org/officeDocument/2006/relationships" xmlns:p="http://schemas.openxmlformats.org/presentationml/2006/main">
  <p:tag name="THINKCELLSHAPEDONOTDELETE" val="t10bNIWIVO0Grbuc0RUm7Rw"/>
</p:tagLst>
</file>

<file path=ppt/tags/tag668.xml><?xml version="1.0" encoding="utf-8"?>
<p:tagLst xmlns:a="http://schemas.openxmlformats.org/drawingml/2006/main" xmlns:r="http://schemas.openxmlformats.org/officeDocument/2006/relationships" xmlns:p="http://schemas.openxmlformats.org/presentationml/2006/main">
  <p:tag name="THINKCELLSHAPEDONOTDELETE" val="tjPOAZh_0kEm.PywieYAC_Q"/>
</p:tagLst>
</file>

<file path=ppt/tags/tag669.xml><?xml version="1.0" encoding="utf-8"?>
<p:tagLst xmlns:a="http://schemas.openxmlformats.org/drawingml/2006/main" xmlns:r="http://schemas.openxmlformats.org/officeDocument/2006/relationships" xmlns:p="http://schemas.openxmlformats.org/presentationml/2006/main">
  <p:tag name="THINKCELLSHAPEDONOTDELETE" val="tlnOuay_ZLkir4j.8QcuY2w"/>
</p:tagLst>
</file>

<file path=ppt/tags/tag6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1.xml><?xml version="1.0" encoding="utf-8"?>
<p:tagLst xmlns:a="http://schemas.openxmlformats.org/drawingml/2006/main" xmlns:r="http://schemas.openxmlformats.org/officeDocument/2006/relationships" xmlns:p="http://schemas.openxmlformats.org/presentationml/2006/main">
  <p:tag name="THINKCELLSHAPEDONOTDELETE" val="tcIZ2oRwwjkqzYAQznBVl3w"/>
</p:tagLst>
</file>

<file path=ppt/tags/tag672.xml><?xml version="1.0" encoding="utf-8"?>
<p:tagLst xmlns:a="http://schemas.openxmlformats.org/drawingml/2006/main" xmlns:r="http://schemas.openxmlformats.org/officeDocument/2006/relationships" xmlns:p="http://schemas.openxmlformats.org/presentationml/2006/main">
  <p:tag name="THINKCELLSHAPEDONOTDELETE" val="tlcl0IDKCk0GfBz_zH5b..g"/>
</p:tagLst>
</file>

<file path=ppt/tags/tag6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4.xml><?xml version="1.0" encoding="utf-8"?>
<p:tagLst xmlns:a="http://schemas.openxmlformats.org/drawingml/2006/main" xmlns:r="http://schemas.openxmlformats.org/officeDocument/2006/relationships" xmlns:p="http://schemas.openxmlformats.org/presentationml/2006/main">
  <p:tag name="THINKCELLSHAPEDONOTDELETE" val="tRWND6EpTZ0uB9S1.lk1dJg"/>
</p:tagLst>
</file>

<file path=ppt/tags/tag675.xml><?xml version="1.0" encoding="utf-8"?>
<p:tagLst xmlns:a="http://schemas.openxmlformats.org/drawingml/2006/main" xmlns:r="http://schemas.openxmlformats.org/officeDocument/2006/relationships" xmlns:p="http://schemas.openxmlformats.org/presentationml/2006/main">
  <p:tag name="THINKCELLSHAPEDONOTDELETE" val="tgQMb.V6nf0mj6iHS4eD3RQ"/>
</p:tagLst>
</file>

<file path=ppt/tags/tag676.xml><?xml version="1.0" encoding="utf-8"?>
<p:tagLst xmlns:a="http://schemas.openxmlformats.org/drawingml/2006/main" xmlns:r="http://schemas.openxmlformats.org/officeDocument/2006/relationships" xmlns:p="http://schemas.openxmlformats.org/presentationml/2006/main">
  <p:tag name="THINKCELLSHAPEDONOTDELETE" val="t_wJE2EThO0OcdVsO3DnSSg"/>
</p:tagLst>
</file>

<file path=ppt/tags/tag677.xml><?xml version="1.0" encoding="utf-8"?>
<p:tagLst xmlns:a="http://schemas.openxmlformats.org/drawingml/2006/main" xmlns:r="http://schemas.openxmlformats.org/officeDocument/2006/relationships" xmlns:p="http://schemas.openxmlformats.org/presentationml/2006/main">
  <p:tag name="THINKCELLSHAPEDONOTDELETE" val="tNCkAXcTMpEOKtq8q6nPIUA"/>
</p:tagLst>
</file>

<file path=ppt/tags/tag678.xml><?xml version="1.0" encoding="utf-8"?>
<p:tagLst xmlns:a="http://schemas.openxmlformats.org/drawingml/2006/main" xmlns:r="http://schemas.openxmlformats.org/officeDocument/2006/relationships" xmlns:p="http://schemas.openxmlformats.org/presentationml/2006/main">
  <p:tag name="THINKCELLSHAPEDONOTDELETE" val="td_ka5BtV7UOlU1vR0sp8BA"/>
</p:tagLst>
</file>

<file path=ppt/tags/tag679.xml><?xml version="1.0" encoding="utf-8"?>
<p:tagLst xmlns:a="http://schemas.openxmlformats.org/drawingml/2006/main" xmlns:r="http://schemas.openxmlformats.org/officeDocument/2006/relationships" xmlns:p="http://schemas.openxmlformats.org/presentationml/2006/main">
  <p:tag name="THINKCELLSHAPEDONOTDELETE" val="tgceSwptVr0auoVOosKRIaw"/>
</p:tagLst>
</file>

<file path=ppt/tags/tag680.xml><?xml version="1.0" encoding="utf-8"?>
<p:tagLst xmlns:a="http://schemas.openxmlformats.org/drawingml/2006/main" xmlns:r="http://schemas.openxmlformats.org/officeDocument/2006/relationships" xmlns:p="http://schemas.openxmlformats.org/presentationml/2006/main">
  <p:tag name="THINKCELLSHAPEDONOTDELETE" val="tF94THSinmEa27qPu53tefw"/>
</p:tagLst>
</file>

<file path=ppt/tags/tag681.xml><?xml version="1.0" encoding="utf-8"?>
<p:tagLst xmlns:a="http://schemas.openxmlformats.org/drawingml/2006/main" xmlns:r="http://schemas.openxmlformats.org/officeDocument/2006/relationships" xmlns:p="http://schemas.openxmlformats.org/presentationml/2006/main">
  <p:tag name="THINKCELLSHAPEDONOTDELETE" val="t8FQsWg2nmkur2wQTLppEtA"/>
</p:tagLst>
</file>

<file path=ppt/tags/tag682.xml><?xml version="1.0" encoding="utf-8"?>
<p:tagLst xmlns:a="http://schemas.openxmlformats.org/drawingml/2006/main" xmlns:r="http://schemas.openxmlformats.org/officeDocument/2006/relationships" xmlns:p="http://schemas.openxmlformats.org/presentationml/2006/main">
  <p:tag name="THINKCELLSHAPEDONOTDELETE" val="tn7XlXdVG5kSlRVMorOM9Mg"/>
</p:tagLst>
</file>

<file path=ppt/tags/tag683.xml><?xml version="1.0" encoding="utf-8"?>
<p:tagLst xmlns:a="http://schemas.openxmlformats.org/drawingml/2006/main" xmlns:r="http://schemas.openxmlformats.org/officeDocument/2006/relationships" xmlns:p="http://schemas.openxmlformats.org/presentationml/2006/main">
  <p:tag name="THINKCELLSHAPEDONOTDELETE" val="t459FxHWwNEOM1EC9GHKZKQ"/>
</p:tagLst>
</file>

<file path=ppt/tags/tag684.xml><?xml version="1.0" encoding="utf-8"?>
<p:tagLst xmlns:a="http://schemas.openxmlformats.org/drawingml/2006/main" xmlns:r="http://schemas.openxmlformats.org/officeDocument/2006/relationships" xmlns:p="http://schemas.openxmlformats.org/presentationml/2006/main">
  <p:tag name="THINKCELLSHAPEDONOTDELETE" val="twmaPN7eAn0W_2ncpGr3xjQ"/>
</p:tagLst>
</file>

<file path=ppt/tags/tag685.xml><?xml version="1.0" encoding="utf-8"?>
<p:tagLst xmlns:a="http://schemas.openxmlformats.org/drawingml/2006/main" xmlns:r="http://schemas.openxmlformats.org/officeDocument/2006/relationships" xmlns:p="http://schemas.openxmlformats.org/presentationml/2006/main">
  <p:tag name="THINKCELLSHAPEDONOTDELETE" val="tNfTq0ZujZUSYDbYueOrN5Q"/>
</p:tagLst>
</file>

<file path=ppt/tags/tag686.xml><?xml version="1.0" encoding="utf-8"?>
<p:tagLst xmlns:a="http://schemas.openxmlformats.org/drawingml/2006/main" xmlns:r="http://schemas.openxmlformats.org/officeDocument/2006/relationships" xmlns:p="http://schemas.openxmlformats.org/presentationml/2006/main">
  <p:tag name="THINKCELLSHAPEDONOTDELETE" val="t8yOX0yNxIUubpI1_f7KLbQ"/>
</p:tagLst>
</file>

<file path=ppt/tags/tag687.xml><?xml version="1.0" encoding="utf-8"?>
<p:tagLst xmlns:a="http://schemas.openxmlformats.org/drawingml/2006/main" xmlns:r="http://schemas.openxmlformats.org/officeDocument/2006/relationships" xmlns:p="http://schemas.openxmlformats.org/presentationml/2006/main">
  <p:tag name="THINKCELLSHAPEDONOTDELETE" val="t_MNsQiFN60eUjDQp.vpOEw"/>
</p:tagLst>
</file>

<file path=ppt/tags/tag688.xml><?xml version="1.0" encoding="utf-8"?>
<p:tagLst xmlns:a="http://schemas.openxmlformats.org/drawingml/2006/main" xmlns:r="http://schemas.openxmlformats.org/officeDocument/2006/relationships" xmlns:p="http://schemas.openxmlformats.org/presentationml/2006/main">
  <p:tag name="THINKCELLSHAPEDONOTDELETE" val="tvQsvmRvn_EeoNZC.CqNBqw"/>
</p:tagLst>
</file>

<file path=ppt/tags/tag689.xml><?xml version="1.0" encoding="utf-8"?>
<p:tagLst xmlns:a="http://schemas.openxmlformats.org/drawingml/2006/main" xmlns:r="http://schemas.openxmlformats.org/officeDocument/2006/relationships" xmlns:p="http://schemas.openxmlformats.org/presentationml/2006/main">
  <p:tag name="THINKCELLSHAPEDONOTDELETE" val="tSbBKmtxxb0.UqkcHcaj5Fg"/>
</p:tagLst>
</file>

<file path=ppt/tags/tag690.xml><?xml version="1.0" encoding="utf-8"?>
<p:tagLst xmlns:a="http://schemas.openxmlformats.org/drawingml/2006/main" xmlns:r="http://schemas.openxmlformats.org/officeDocument/2006/relationships" xmlns:p="http://schemas.openxmlformats.org/presentationml/2006/main">
  <p:tag name="THINKCELLSHAPEDONOTDELETE" val="t5Rr8VlQTEk2zsFn4zkjBUw"/>
</p:tagLst>
</file>

<file path=ppt/tags/tag691.xml><?xml version="1.0" encoding="utf-8"?>
<p:tagLst xmlns:a="http://schemas.openxmlformats.org/drawingml/2006/main" xmlns:r="http://schemas.openxmlformats.org/officeDocument/2006/relationships" xmlns:p="http://schemas.openxmlformats.org/presentationml/2006/main">
  <p:tag name="THINKCELLSHAPEDONOTDELETE" val="t0PlcNRAv80SMN73w8sNDFg"/>
</p:tagLst>
</file>

<file path=ppt/tags/tag692.xml><?xml version="1.0" encoding="utf-8"?>
<p:tagLst xmlns:a="http://schemas.openxmlformats.org/drawingml/2006/main" xmlns:r="http://schemas.openxmlformats.org/officeDocument/2006/relationships" xmlns:p="http://schemas.openxmlformats.org/presentationml/2006/main">
  <p:tag name="THINKCELLSHAPEDONOTDELETE" val="tPofrJWMBpUiZZ4McdDXixQ"/>
</p:tagLst>
</file>

<file path=ppt/tags/tag693.xml><?xml version="1.0" encoding="utf-8"?>
<p:tagLst xmlns:a="http://schemas.openxmlformats.org/drawingml/2006/main" xmlns:r="http://schemas.openxmlformats.org/officeDocument/2006/relationships" xmlns:p="http://schemas.openxmlformats.org/presentationml/2006/main">
  <p:tag name="THINKCELLSHAPEDONOTDELETE" val="t4vB3p8ua3UeUQTvFDPnZXw"/>
</p:tagLst>
</file>

<file path=ppt/tags/tag694.xml><?xml version="1.0" encoding="utf-8"?>
<p:tagLst xmlns:a="http://schemas.openxmlformats.org/drawingml/2006/main" xmlns:r="http://schemas.openxmlformats.org/officeDocument/2006/relationships" xmlns:p="http://schemas.openxmlformats.org/presentationml/2006/main">
  <p:tag name="THINKCELLSHAPEDONOTDELETE" val="t.HGcDVr8RkOD.ClTUCogrQ"/>
</p:tagLst>
</file>

<file path=ppt/tags/tag695.xml><?xml version="1.0" encoding="utf-8"?>
<p:tagLst xmlns:a="http://schemas.openxmlformats.org/drawingml/2006/main" xmlns:r="http://schemas.openxmlformats.org/officeDocument/2006/relationships" xmlns:p="http://schemas.openxmlformats.org/presentationml/2006/main">
  <p:tag name="THINKCELLSHAPEDONOTDELETE" val="txxvchBMU_ke346fY1cJ9fQ"/>
</p:tagLst>
</file>

<file path=ppt/tags/tag696.xml><?xml version="1.0" encoding="utf-8"?>
<p:tagLst xmlns:a="http://schemas.openxmlformats.org/drawingml/2006/main" xmlns:r="http://schemas.openxmlformats.org/officeDocument/2006/relationships" xmlns:p="http://schemas.openxmlformats.org/presentationml/2006/main">
  <p:tag name="NAME" val="Rectangle"/>
</p:tagLst>
</file>

<file path=ppt/tags/tag697.xml><?xml version="1.0" encoding="utf-8"?>
<p:tagLst xmlns:a="http://schemas.openxmlformats.org/drawingml/2006/main" xmlns:r="http://schemas.openxmlformats.org/officeDocument/2006/relationships" xmlns:p="http://schemas.openxmlformats.org/presentationml/2006/main">
  <p:tag name="NAME" val="Rectangle"/>
</p:tagLst>
</file>

<file path=ppt/tags/tag6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9.xml><?xml version="1.0" encoding="utf-8"?>
<p:tagLst xmlns:a="http://schemas.openxmlformats.org/drawingml/2006/main" xmlns:r="http://schemas.openxmlformats.org/officeDocument/2006/relationships" xmlns:p="http://schemas.openxmlformats.org/presentationml/2006/main">
  <p:tag name="THINKCELLSHAPEDONOTDELETE" val="tb3m3zhPKIEmczYLjMzS3gA"/>
</p:tagLst>
</file>

<file path=ppt/tags/tag7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1.xml><?xml version="1.0" encoding="utf-8"?>
<p:tagLst xmlns:a="http://schemas.openxmlformats.org/drawingml/2006/main" xmlns:r="http://schemas.openxmlformats.org/officeDocument/2006/relationships" xmlns:p="http://schemas.openxmlformats.org/presentationml/2006/main">
  <p:tag name="THINKCELLSHAPEDONOTDELETE" val="tcIZ2oRwwjkqzYAQznBVl3w"/>
</p:tagLst>
</file>

<file path=ppt/tags/tag7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3.xml><?xml version="1.0" encoding="utf-8"?>
<p:tagLst xmlns:a="http://schemas.openxmlformats.org/drawingml/2006/main" xmlns:r="http://schemas.openxmlformats.org/officeDocument/2006/relationships" xmlns:p="http://schemas.openxmlformats.org/presentationml/2006/main">
  <p:tag name="THINKCELLSHAPEDONOTDELETE" val="tcIZ2oRwwjkqzYAQznBVl3w"/>
</p:tagLst>
</file>

<file path=ppt/tags/tag7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5.xml><?xml version="1.0" encoding="utf-8"?>
<p:tagLst xmlns:a="http://schemas.openxmlformats.org/drawingml/2006/main" xmlns:r="http://schemas.openxmlformats.org/officeDocument/2006/relationships" xmlns:p="http://schemas.openxmlformats.org/presentationml/2006/main">
  <p:tag name="THINKCELLSHAPEDONOTDELETE" val="tcIZ2oRwwjkqzYAQznBVl3w"/>
</p:tagLst>
</file>

<file path=ppt/tags/tag706.xml><?xml version="1.0" encoding="utf-8"?>
<p:tagLst xmlns:a="http://schemas.openxmlformats.org/drawingml/2006/main" xmlns:r="http://schemas.openxmlformats.org/officeDocument/2006/relationships" xmlns:p="http://schemas.openxmlformats.org/presentationml/2006/main">
  <p:tag name="THINKCELLSHAPEDONOTDELETE" val="toqApJH1MEEiCjcwb6Isleg"/>
</p:tagLst>
</file>

<file path=ppt/tags/tag707.xml><?xml version="1.0" encoding="utf-8"?>
<p:tagLst xmlns:a="http://schemas.openxmlformats.org/drawingml/2006/main" xmlns:r="http://schemas.openxmlformats.org/officeDocument/2006/relationships" xmlns:p="http://schemas.openxmlformats.org/presentationml/2006/main">
  <p:tag name="THINKCELLSHAPEDONOTDELETE" val="t7G5tvZ4AdkeEZq1_3ojDPQ"/>
</p:tagLst>
</file>

<file path=ppt/tags/tag708.xml><?xml version="1.0" encoding="utf-8"?>
<p:tagLst xmlns:a="http://schemas.openxmlformats.org/drawingml/2006/main" xmlns:r="http://schemas.openxmlformats.org/officeDocument/2006/relationships" xmlns:p="http://schemas.openxmlformats.org/presentationml/2006/main">
  <p:tag name="THINKCELLSHAPEDONOTDELETE" val="tvzSlmYxLsk.0hfn..1AaVA"/>
</p:tagLst>
</file>

<file path=ppt/tags/tag709.xml><?xml version="1.0" encoding="utf-8"?>
<p:tagLst xmlns:a="http://schemas.openxmlformats.org/drawingml/2006/main" xmlns:r="http://schemas.openxmlformats.org/officeDocument/2006/relationships" xmlns:p="http://schemas.openxmlformats.org/presentationml/2006/main">
  <p:tag name="THINKCELLSHAPEDONOTDELETE" val="t4DwU3eNwO0G7mywdssTUzQ"/>
</p:tagLst>
</file>

<file path=ppt/tags/tag710.xml><?xml version="1.0" encoding="utf-8"?>
<p:tagLst xmlns:a="http://schemas.openxmlformats.org/drawingml/2006/main" xmlns:r="http://schemas.openxmlformats.org/officeDocument/2006/relationships" xmlns:p="http://schemas.openxmlformats.org/presentationml/2006/main">
  <p:tag name="THINKCELLSHAPEDONOTDELETE" val="t3MOo50PGnE6klPTt1W8J.Q"/>
</p:tagLst>
</file>

<file path=ppt/tags/tag711.xml><?xml version="1.0" encoding="utf-8"?>
<p:tagLst xmlns:a="http://schemas.openxmlformats.org/drawingml/2006/main" xmlns:r="http://schemas.openxmlformats.org/officeDocument/2006/relationships" xmlns:p="http://schemas.openxmlformats.org/presentationml/2006/main">
  <p:tag name="THINKCELLSHAPEDONOTDELETE" val="tP.yMuR_sr0e..uhtjr9LGQ"/>
</p:tagLst>
</file>

<file path=ppt/tags/tag712.xml><?xml version="1.0" encoding="utf-8"?>
<p:tagLst xmlns:a="http://schemas.openxmlformats.org/drawingml/2006/main" xmlns:r="http://schemas.openxmlformats.org/officeDocument/2006/relationships" xmlns:p="http://schemas.openxmlformats.org/presentationml/2006/main">
  <p:tag name="THINKCELLSHAPEDONOTDELETE" val="tKfm.9Z7Ow0qzuISSUqnd3w"/>
</p:tagLst>
</file>

<file path=ppt/tags/tag713.xml><?xml version="1.0" encoding="utf-8"?>
<p:tagLst xmlns:a="http://schemas.openxmlformats.org/drawingml/2006/main" xmlns:r="http://schemas.openxmlformats.org/officeDocument/2006/relationships" xmlns:p="http://schemas.openxmlformats.org/presentationml/2006/main">
  <p:tag name="THINKCELLSHAPEDONOTDELETE" val="tx2GOLYV7wU6t8rKxlMqUMA"/>
</p:tagLst>
</file>

<file path=ppt/tags/tag714.xml><?xml version="1.0" encoding="utf-8"?>
<p:tagLst xmlns:a="http://schemas.openxmlformats.org/drawingml/2006/main" xmlns:r="http://schemas.openxmlformats.org/officeDocument/2006/relationships" xmlns:p="http://schemas.openxmlformats.org/presentationml/2006/main">
  <p:tag name="THINKCELLSHAPEDONOTDELETE" val="tdrScAauApEy6eOsIXlKRRw"/>
</p:tagLst>
</file>

<file path=ppt/tags/tag715.xml><?xml version="1.0" encoding="utf-8"?>
<p:tagLst xmlns:a="http://schemas.openxmlformats.org/drawingml/2006/main" xmlns:r="http://schemas.openxmlformats.org/officeDocument/2006/relationships" xmlns:p="http://schemas.openxmlformats.org/presentationml/2006/main">
  <p:tag name="THINKCELLSHAPEDONOTDELETE" val="tNdUyeeA._0W_8aFUeyC4Hw"/>
</p:tagLst>
</file>

<file path=ppt/tags/tag716.xml><?xml version="1.0" encoding="utf-8"?>
<p:tagLst xmlns:a="http://schemas.openxmlformats.org/drawingml/2006/main" xmlns:r="http://schemas.openxmlformats.org/officeDocument/2006/relationships" xmlns:p="http://schemas.openxmlformats.org/presentationml/2006/main">
  <p:tag name="THINKCELLSHAPEDONOTDELETE" val="tYYiqNT0o7UablaPNbjAPXA"/>
</p:tagLst>
</file>

<file path=ppt/tags/tag717.xml><?xml version="1.0" encoding="utf-8"?>
<p:tagLst xmlns:a="http://schemas.openxmlformats.org/drawingml/2006/main" xmlns:r="http://schemas.openxmlformats.org/officeDocument/2006/relationships" xmlns:p="http://schemas.openxmlformats.org/presentationml/2006/main">
  <p:tag name="THINKCELLSHAPEDONOTDELETE" val="tq_BnymJH3E6yFg_Yc8wwvw"/>
</p:tagLst>
</file>

<file path=ppt/tags/tag718.xml><?xml version="1.0" encoding="utf-8"?>
<p:tagLst xmlns:a="http://schemas.openxmlformats.org/drawingml/2006/main" xmlns:r="http://schemas.openxmlformats.org/officeDocument/2006/relationships" xmlns:p="http://schemas.openxmlformats.org/presentationml/2006/main">
  <p:tag name="THINKCELLSHAPEDONOTDELETE" val="tbFij5nYS9k.1Yvdtn90bbA"/>
</p:tagLst>
</file>

<file path=ppt/tags/tag719.xml><?xml version="1.0" encoding="utf-8"?>
<p:tagLst xmlns:a="http://schemas.openxmlformats.org/drawingml/2006/main" xmlns:r="http://schemas.openxmlformats.org/officeDocument/2006/relationships" xmlns:p="http://schemas.openxmlformats.org/presentationml/2006/main">
  <p:tag name="THINKCELLSHAPEDONOTDELETE" val="t6yxepJjZVkCaK9fsO4mcwA"/>
</p:tagLst>
</file>

<file path=ppt/tags/tag720.xml><?xml version="1.0" encoding="utf-8"?>
<p:tagLst xmlns:a="http://schemas.openxmlformats.org/drawingml/2006/main" xmlns:r="http://schemas.openxmlformats.org/officeDocument/2006/relationships" xmlns:p="http://schemas.openxmlformats.org/presentationml/2006/main">
  <p:tag name="THINKCELLSHAPEDONOTDELETE" val="tr22Z45Qov0ajAQ9AhvPHfQ"/>
</p:tagLst>
</file>

<file path=ppt/tags/tag721.xml><?xml version="1.0" encoding="utf-8"?>
<p:tagLst xmlns:a="http://schemas.openxmlformats.org/drawingml/2006/main" xmlns:r="http://schemas.openxmlformats.org/officeDocument/2006/relationships" xmlns:p="http://schemas.openxmlformats.org/presentationml/2006/main">
  <p:tag name="THINKCELLSHAPEDONOTDELETE" val="t19U6fy0dFk.GYUgb1OwQKA"/>
</p:tagLst>
</file>

<file path=ppt/tags/tag722.xml><?xml version="1.0" encoding="utf-8"?>
<p:tagLst xmlns:a="http://schemas.openxmlformats.org/drawingml/2006/main" xmlns:r="http://schemas.openxmlformats.org/officeDocument/2006/relationships" xmlns:p="http://schemas.openxmlformats.org/presentationml/2006/main">
  <p:tag name="THINKCELLSHAPEDONOTDELETE" val="trUqplz7GHki1hzq0WcamOQ"/>
</p:tagLst>
</file>

<file path=ppt/tags/tag723.xml><?xml version="1.0" encoding="utf-8"?>
<p:tagLst xmlns:a="http://schemas.openxmlformats.org/drawingml/2006/main" xmlns:r="http://schemas.openxmlformats.org/officeDocument/2006/relationships" xmlns:p="http://schemas.openxmlformats.org/presentationml/2006/main">
  <p:tag name="THINKCELLSHAPEDONOTDELETE" val="thUfFqXBE_UWCPMJckokykg"/>
</p:tagLst>
</file>

<file path=ppt/tags/tag7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5.xml><?xml version="1.0" encoding="utf-8"?>
<p:tagLst xmlns:a="http://schemas.openxmlformats.org/drawingml/2006/main" xmlns:r="http://schemas.openxmlformats.org/officeDocument/2006/relationships" xmlns:p="http://schemas.openxmlformats.org/presentationml/2006/main">
  <p:tag name="THINKCELLSHAPEDONOTDELETE" val="tW0eiWfQJ00.j_pJNjyzkqg"/>
</p:tagLst>
</file>

<file path=ppt/tags/tag726.xml><?xml version="1.0" encoding="utf-8"?>
<p:tagLst xmlns:a="http://schemas.openxmlformats.org/drawingml/2006/main" xmlns:r="http://schemas.openxmlformats.org/officeDocument/2006/relationships" xmlns:p="http://schemas.openxmlformats.org/presentationml/2006/main">
  <p:tag name="NAME" val="SingleBoatShape"/>
</p:tagLst>
</file>

<file path=ppt/tags/tag727.xml><?xml version="1.0" encoding="utf-8"?>
<p:tagLst xmlns:a="http://schemas.openxmlformats.org/drawingml/2006/main" xmlns:r="http://schemas.openxmlformats.org/officeDocument/2006/relationships" xmlns:p="http://schemas.openxmlformats.org/presentationml/2006/main">
  <p:tag name="NAME" val="Rectangle"/>
</p:tagLst>
</file>

<file path=ppt/tags/tag728.xml><?xml version="1.0" encoding="utf-8"?>
<p:tagLst xmlns:a="http://schemas.openxmlformats.org/drawingml/2006/main" xmlns:r="http://schemas.openxmlformats.org/officeDocument/2006/relationships" xmlns:p="http://schemas.openxmlformats.org/presentationml/2006/main">
  <p:tag name="THINKCELLSHAPEDONOTDELETE" val="tjVJoT_DZCEe7I8DzRh2H0w"/>
</p:tagLst>
</file>

<file path=ppt/tags/tag729.xml><?xml version="1.0" encoding="utf-8"?>
<p:tagLst xmlns:a="http://schemas.openxmlformats.org/drawingml/2006/main" xmlns:r="http://schemas.openxmlformats.org/officeDocument/2006/relationships" xmlns:p="http://schemas.openxmlformats.org/presentationml/2006/main">
  <p:tag name="THINKCELLSHAPEDONOTDELETE" val="tk3.yTOufakuNRoEiURbevw"/>
</p:tagLst>
</file>

<file path=ppt/tags/tag730.xml><?xml version="1.0" encoding="utf-8"?>
<p:tagLst xmlns:a="http://schemas.openxmlformats.org/drawingml/2006/main" xmlns:r="http://schemas.openxmlformats.org/officeDocument/2006/relationships" xmlns:p="http://schemas.openxmlformats.org/presentationml/2006/main">
  <p:tag name="THINKCELLSHAPEDONOTDELETE" val="t7LDaL8a2zUm9nVtgFFR2Jw"/>
</p:tagLst>
</file>

<file path=ppt/tags/tag731.xml><?xml version="1.0" encoding="utf-8"?>
<p:tagLst xmlns:a="http://schemas.openxmlformats.org/drawingml/2006/main" xmlns:r="http://schemas.openxmlformats.org/officeDocument/2006/relationships" xmlns:p="http://schemas.openxmlformats.org/presentationml/2006/main">
  <p:tag name="THINKCELLSHAPEDONOTDELETE" val="tZAv.7tms1U.YS5M6m6yMPw"/>
</p:tagLst>
</file>

<file path=ppt/tags/tag732.xml><?xml version="1.0" encoding="utf-8"?>
<p:tagLst xmlns:a="http://schemas.openxmlformats.org/drawingml/2006/main" xmlns:r="http://schemas.openxmlformats.org/officeDocument/2006/relationships" xmlns:p="http://schemas.openxmlformats.org/presentationml/2006/main">
  <p:tag name="THINKCELLSHAPEDONOTDELETE" val="trC2cbUnbEECvrawEVt82Dw"/>
</p:tagLst>
</file>

<file path=ppt/tags/tag733.xml><?xml version="1.0" encoding="utf-8"?>
<p:tagLst xmlns:a="http://schemas.openxmlformats.org/drawingml/2006/main" xmlns:r="http://schemas.openxmlformats.org/officeDocument/2006/relationships" xmlns:p="http://schemas.openxmlformats.org/presentationml/2006/main">
  <p:tag name="THINKCELLSHAPEDONOTDELETE" val="thrkmZj9uAEqul8eWyoBVrQ"/>
</p:tagLst>
</file>

<file path=ppt/tags/tag734.xml><?xml version="1.0" encoding="utf-8"?>
<p:tagLst xmlns:a="http://schemas.openxmlformats.org/drawingml/2006/main" xmlns:r="http://schemas.openxmlformats.org/officeDocument/2006/relationships" xmlns:p="http://schemas.openxmlformats.org/presentationml/2006/main">
  <p:tag name="THINKCELLSHAPEDONOTDELETE" val="teF8s6tu21EOG3bFvE_FpQQ"/>
</p:tagLst>
</file>

<file path=ppt/tags/tag735.xml><?xml version="1.0" encoding="utf-8"?>
<p:tagLst xmlns:a="http://schemas.openxmlformats.org/drawingml/2006/main" xmlns:r="http://schemas.openxmlformats.org/officeDocument/2006/relationships" xmlns:p="http://schemas.openxmlformats.org/presentationml/2006/main">
  <p:tag name="THINKCELLSHAPEDONOTDELETE" val="tRFo6P0tGvE6RnbQRGijKCw"/>
</p:tagLst>
</file>

<file path=ppt/tags/tag736.xml><?xml version="1.0" encoding="utf-8"?>
<p:tagLst xmlns:a="http://schemas.openxmlformats.org/drawingml/2006/main" xmlns:r="http://schemas.openxmlformats.org/officeDocument/2006/relationships" xmlns:p="http://schemas.openxmlformats.org/presentationml/2006/main">
  <p:tag name="THINKCELLSHAPEDONOTDELETE" val="t_Nj1rIFsn0eqesS1Spt4JA"/>
</p:tagLst>
</file>

<file path=ppt/tags/tag737.xml><?xml version="1.0" encoding="utf-8"?>
<p:tagLst xmlns:a="http://schemas.openxmlformats.org/drawingml/2006/main" xmlns:r="http://schemas.openxmlformats.org/officeDocument/2006/relationships" xmlns:p="http://schemas.openxmlformats.org/presentationml/2006/main">
  <p:tag name="THINKCELLSHAPEDONOTDELETE" val="tqy6id9Ktvk.m724QQ1lq0Q"/>
</p:tagLst>
</file>

<file path=ppt/tags/tag738.xml><?xml version="1.0" encoding="utf-8"?>
<p:tagLst xmlns:a="http://schemas.openxmlformats.org/drawingml/2006/main" xmlns:r="http://schemas.openxmlformats.org/officeDocument/2006/relationships" xmlns:p="http://schemas.openxmlformats.org/presentationml/2006/main">
  <p:tag name="THINKCELLSHAPEDONOTDELETE" val="tNLLVwJBvW0SwCEJrNb7m5g"/>
</p:tagLst>
</file>

<file path=ppt/tags/tag739.xml><?xml version="1.0" encoding="utf-8"?>
<p:tagLst xmlns:a="http://schemas.openxmlformats.org/drawingml/2006/main" xmlns:r="http://schemas.openxmlformats.org/officeDocument/2006/relationships" xmlns:p="http://schemas.openxmlformats.org/presentationml/2006/main">
  <p:tag name="THINKCELLSHAPEDONOTDELETE" val="tRpKmYbpDCESffJUpFRehvA"/>
</p:tagLst>
</file>

<file path=ppt/tags/tag740.xml><?xml version="1.0" encoding="utf-8"?>
<p:tagLst xmlns:a="http://schemas.openxmlformats.org/drawingml/2006/main" xmlns:r="http://schemas.openxmlformats.org/officeDocument/2006/relationships" xmlns:p="http://schemas.openxmlformats.org/presentationml/2006/main">
  <p:tag name="THINKCELLSHAPEDONOTDELETE" val="t6zBHdWl.eEWWsn4GFO6fPQ"/>
</p:tagLst>
</file>

<file path=ppt/tags/tag741.xml><?xml version="1.0" encoding="utf-8"?>
<p:tagLst xmlns:a="http://schemas.openxmlformats.org/drawingml/2006/main" xmlns:r="http://schemas.openxmlformats.org/officeDocument/2006/relationships" xmlns:p="http://schemas.openxmlformats.org/presentationml/2006/main">
  <p:tag name="THINKCELLSHAPEDONOTDELETE" val="tJl3.ntDwC02hYna0RMqPxA"/>
</p:tagLst>
</file>

<file path=ppt/tags/tag742.xml><?xml version="1.0" encoding="utf-8"?>
<p:tagLst xmlns:a="http://schemas.openxmlformats.org/drawingml/2006/main" xmlns:r="http://schemas.openxmlformats.org/officeDocument/2006/relationships" xmlns:p="http://schemas.openxmlformats.org/presentationml/2006/main">
  <p:tag name="THINKCELLSHAPEDONOTDELETE" val="tNg6m_z3d.0eavm6ShXoAnw"/>
</p:tagLst>
</file>

<file path=ppt/tags/tag743.xml><?xml version="1.0" encoding="utf-8"?>
<p:tagLst xmlns:a="http://schemas.openxmlformats.org/drawingml/2006/main" xmlns:r="http://schemas.openxmlformats.org/officeDocument/2006/relationships" xmlns:p="http://schemas.openxmlformats.org/presentationml/2006/main">
  <p:tag name="THINKCELLSHAPEDONOTDELETE" val="tMhPaF_UBHkOOVVQNaUN1CQ"/>
</p:tagLst>
</file>

<file path=ppt/tags/tag744.xml><?xml version="1.0" encoding="utf-8"?>
<p:tagLst xmlns:a="http://schemas.openxmlformats.org/drawingml/2006/main" xmlns:r="http://schemas.openxmlformats.org/officeDocument/2006/relationships" xmlns:p="http://schemas.openxmlformats.org/presentationml/2006/main">
  <p:tag name="THINKCELLSHAPEDONOTDELETE" val="tbl6qwZaMZkKcGID1j7Zqmw"/>
</p:tagLst>
</file>

<file path=ppt/tags/tag745.xml><?xml version="1.0" encoding="utf-8"?>
<p:tagLst xmlns:a="http://schemas.openxmlformats.org/drawingml/2006/main" xmlns:r="http://schemas.openxmlformats.org/officeDocument/2006/relationships" xmlns:p="http://schemas.openxmlformats.org/presentationml/2006/main">
  <p:tag name="THINKCELLSHAPEDONOTDELETE" val="tbBZgXD7g_kyJOzoUoepaWA"/>
</p:tagLst>
</file>

<file path=ppt/tags/tag746.xml><?xml version="1.0" encoding="utf-8"?>
<p:tagLst xmlns:a="http://schemas.openxmlformats.org/drawingml/2006/main" xmlns:r="http://schemas.openxmlformats.org/officeDocument/2006/relationships" xmlns:p="http://schemas.openxmlformats.org/presentationml/2006/main">
  <p:tag name="THINKCELLSHAPEDONOTDELETE" val="tzlGndcJwcUSLrZxUUUlrgQ"/>
</p:tagLst>
</file>

<file path=ppt/tags/tag747.xml><?xml version="1.0" encoding="utf-8"?>
<p:tagLst xmlns:a="http://schemas.openxmlformats.org/drawingml/2006/main" xmlns:r="http://schemas.openxmlformats.org/officeDocument/2006/relationships" xmlns:p="http://schemas.openxmlformats.org/presentationml/2006/main">
  <p:tag name="THINKCELLSHAPEDONOTDELETE" val="trE30aXjqhEGkQtukq0ze9A"/>
</p:tagLst>
</file>

<file path=ppt/tags/tag748.xml><?xml version="1.0" encoding="utf-8"?>
<p:tagLst xmlns:a="http://schemas.openxmlformats.org/drawingml/2006/main" xmlns:r="http://schemas.openxmlformats.org/officeDocument/2006/relationships" xmlns:p="http://schemas.openxmlformats.org/presentationml/2006/main">
  <p:tag name="THINKCELLSHAPEDONOTDELETE" val="tGVvqHLnwU0Si1ePgdFLf9Q"/>
</p:tagLst>
</file>

<file path=ppt/tags/tag749.xml><?xml version="1.0" encoding="utf-8"?>
<p:tagLst xmlns:a="http://schemas.openxmlformats.org/drawingml/2006/main" xmlns:r="http://schemas.openxmlformats.org/officeDocument/2006/relationships" xmlns:p="http://schemas.openxmlformats.org/presentationml/2006/main">
  <p:tag name="THINKCELLSHAPEDONOTDELETE" val="tN2K0X6JFLk.tQo4D3cP.vA"/>
</p:tagLst>
</file>

<file path=ppt/tags/tag750.xml><?xml version="1.0" encoding="utf-8"?>
<p:tagLst xmlns:a="http://schemas.openxmlformats.org/drawingml/2006/main" xmlns:r="http://schemas.openxmlformats.org/officeDocument/2006/relationships" xmlns:p="http://schemas.openxmlformats.org/presentationml/2006/main">
  <p:tag name="NAME" val="SingleBoatShape"/>
</p:tagLst>
</file>

<file path=ppt/tags/tag751.xml><?xml version="1.0" encoding="utf-8"?>
<p:tagLst xmlns:a="http://schemas.openxmlformats.org/drawingml/2006/main" xmlns:r="http://schemas.openxmlformats.org/officeDocument/2006/relationships" xmlns:p="http://schemas.openxmlformats.org/presentationml/2006/main">
  <p:tag name="NAME" val="Rectangle"/>
</p:tagLst>
</file>

<file path=ppt/tags/tag752.xml><?xml version="1.0" encoding="utf-8"?>
<p:tagLst xmlns:a="http://schemas.openxmlformats.org/drawingml/2006/main" xmlns:r="http://schemas.openxmlformats.org/officeDocument/2006/relationships" xmlns:p="http://schemas.openxmlformats.org/presentationml/2006/main">
  <p:tag name="THINKCELLSHAPEDONOTDELETE" val="tdLkP2pj.jkWfbGPaKyo5hQ"/>
</p:tagLst>
</file>

<file path=ppt/tags/tag753.xml><?xml version="1.0" encoding="utf-8"?>
<p:tagLst xmlns:a="http://schemas.openxmlformats.org/drawingml/2006/main" xmlns:r="http://schemas.openxmlformats.org/officeDocument/2006/relationships" xmlns:p="http://schemas.openxmlformats.org/presentationml/2006/main">
  <p:tag name="THINKCELLSHAPEDONOTDELETE" val="tutyKVi.QkUGwoU775BTWrA"/>
</p:tagLst>
</file>

<file path=ppt/tags/tag754.xml><?xml version="1.0" encoding="utf-8"?>
<p:tagLst xmlns:a="http://schemas.openxmlformats.org/drawingml/2006/main" xmlns:r="http://schemas.openxmlformats.org/officeDocument/2006/relationships" xmlns:p="http://schemas.openxmlformats.org/presentationml/2006/main">
  <p:tag name="THINKCELLSHAPEDONOTDELETE" val="tvfmTOJrEfU6F1Ydt1xZuHw"/>
</p:tagLst>
</file>

<file path=ppt/tags/tag755.xml><?xml version="1.0" encoding="utf-8"?>
<p:tagLst xmlns:a="http://schemas.openxmlformats.org/drawingml/2006/main" xmlns:r="http://schemas.openxmlformats.org/officeDocument/2006/relationships" xmlns:p="http://schemas.openxmlformats.org/presentationml/2006/main">
  <p:tag name="THINKCELLSHAPEDONOTDELETE" val="tddjJ6krqGE2mHYjH2i7RpQ"/>
</p:tagLst>
</file>

<file path=ppt/tags/tag756.xml><?xml version="1.0" encoding="utf-8"?>
<p:tagLst xmlns:a="http://schemas.openxmlformats.org/drawingml/2006/main" xmlns:r="http://schemas.openxmlformats.org/officeDocument/2006/relationships" xmlns:p="http://schemas.openxmlformats.org/presentationml/2006/main">
  <p:tag name="THINKCELLSHAPEDONOTDELETE" val="tS7BqVebabkqudTA.8sbfBQ"/>
</p:tagLst>
</file>

<file path=ppt/tags/tag757.xml><?xml version="1.0" encoding="utf-8"?>
<p:tagLst xmlns:a="http://schemas.openxmlformats.org/drawingml/2006/main" xmlns:r="http://schemas.openxmlformats.org/officeDocument/2006/relationships" xmlns:p="http://schemas.openxmlformats.org/presentationml/2006/main">
  <p:tag name="THINKCELLSHAPEDONOTDELETE" val="tgWcTdVRmeEGcPI.KHI8tdQ"/>
</p:tagLst>
</file>

<file path=ppt/tags/tag758.xml><?xml version="1.0" encoding="utf-8"?>
<p:tagLst xmlns:a="http://schemas.openxmlformats.org/drawingml/2006/main" xmlns:r="http://schemas.openxmlformats.org/officeDocument/2006/relationships" xmlns:p="http://schemas.openxmlformats.org/presentationml/2006/main">
  <p:tag name="THINKCELLSHAPEDONOTDELETE" val="toEgxP8jURE6BankNYAvYDQ"/>
</p:tagLst>
</file>

<file path=ppt/tags/tag759.xml><?xml version="1.0" encoding="utf-8"?>
<p:tagLst xmlns:a="http://schemas.openxmlformats.org/drawingml/2006/main" xmlns:r="http://schemas.openxmlformats.org/officeDocument/2006/relationships" xmlns:p="http://schemas.openxmlformats.org/presentationml/2006/main">
  <p:tag name="THINKCELLSHAPEDONOTDELETE" val="tCyU0MrOPE0q5IegB1HD91Q"/>
</p:tagLst>
</file>

<file path=ppt/tags/tag760.xml><?xml version="1.0" encoding="utf-8"?>
<p:tagLst xmlns:a="http://schemas.openxmlformats.org/drawingml/2006/main" xmlns:r="http://schemas.openxmlformats.org/officeDocument/2006/relationships" xmlns:p="http://schemas.openxmlformats.org/presentationml/2006/main">
  <p:tag name="THINKCELLSHAPEDONOTDELETE" val="tUseK48U_SkqRJ96EiNSVaQ"/>
</p:tagLst>
</file>

<file path=ppt/tags/tag761.xml><?xml version="1.0" encoding="utf-8"?>
<p:tagLst xmlns:a="http://schemas.openxmlformats.org/drawingml/2006/main" xmlns:r="http://schemas.openxmlformats.org/officeDocument/2006/relationships" xmlns:p="http://schemas.openxmlformats.org/presentationml/2006/main">
  <p:tag name="THINKCELLSHAPEDONOTDELETE" val="ttyx9IXk0fEyUVT8c9CSruQ"/>
</p:tagLst>
</file>

<file path=ppt/tags/tag762.xml><?xml version="1.0" encoding="utf-8"?>
<p:tagLst xmlns:a="http://schemas.openxmlformats.org/drawingml/2006/main" xmlns:r="http://schemas.openxmlformats.org/officeDocument/2006/relationships" xmlns:p="http://schemas.openxmlformats.org/presentationml/2006/main">
  <p:tag name="THINKCELLSHAPEDONOTDELETE" val="tfbqlxUxVj0autJsK94PDZw"/>
</p:tagLst>
</file>

<file path=ppt/tags/tag763.xml><?xml version="1.0" encoding="utf-8"?>
<p:tagLst xmlns:a="http://schemas.openxmlformats.org/drawingml/2006/main" xmlns:r="http://schemas.openxmlformats.org/officeDocument/2006/relationships" xmlns:p="http://schemas.openxmlformats.org/presentationml/2006/main">
  <p:tag name="THINKCELLSHAPEDONOTDELETE" val="tsaSFCmjtz0y.qAPd.ZVxpg"/>
</p:tagLst>
</file>

<file path=ppt/tags/tag764.xml><?xml version="1.0" encoding="utf-8"?>
<p:tagLst xmlns:a="http://schemas.openxmlformats.org/drawingml/2006/main" xmlns:r="http://schemas.openxmlformats.org/officeDocument/2006/relationships" xmlns:p="http://schemas.openxmlformats.org/presentationml/2006/main">
  <p:tag name="THINKCELLSHAPEDONOTDELETE" val="txoUxnYa5V0eWsCHxYZky0Q"/>
</p:tagLst>
</file>

<file path=ppt/tags/tag765.xml><?xml version="1.0" encoding="utf-8"?>
<p:tagLst xmlns:a="http://schemas.openxmlformats.org/drawingml/2006/main" xmlns:r="http://schemas.openxmlformats.org/officeDocument/2006/relationships" xmlns:p="http://schemas.openxmlformats.org/presentationml/2006/main">
  <p:tag name="THINKCELLSHAPEDONOTDELETE" val="tCdUuf0DTtEiHd8J0Fh77yw"/>
</p:tagLst>
</file>

<file path=ppt/tags/tag766.xml><?xml version="1.0" encoding="utf-8"?>
<p:tagLst xmlns:a="http://schemas.openxmlformats.org/drawingml/2006/main" xmlns:r="http://schemas.openxmlformats.org/officeDocument/2006/relationships" xmlns:p="http://schemas.openxmlformats.org/presentationml/2006/main">
  <p:tag name="THINKCELLSHAPEDONOTDELETE" val="twlm6p9zk_0SXMuZQlhgtIw"/>
</p:tagLst>
</file>

<file path=ppt/tags/tag767.xml><?xml version="1.0" encoding="utf-8"?>
<p:tagLst xmlns:a="http://schemas.openxmlformats.org/drawingml/2006/main" xmlns:r="http://schemas.openxmlformats.org/officeDocument/2006/relationships" xmlns:p="http://schemas.openxmlformats.org/presentationml/2006/main">
  <p:tag name="THINKCELLSHAPEDONOTDELETE" val="t2mkss9pTVkuvOtUqnd2KHg"/>
</p:tagLst>
</file>

<file path=ppt/tags/tag768.xml><?xml version="1.0" encoding="utf-8"?>
<p:tagLst xmlns:a="http://schemas.openxmlformats.org/drawingml/2006/main" xmlns:r="http://schemas.openxmlformats.org/officeDocument/2006/relationships" xmlns:p="http://schemas.openxmlformats.org/presentationml/2006/main">
  <p:tag name="THINKCELLSHAPEDONOTDELETE" val="tvF2LeW97NUSxJGk2G5Cs6g"/>
</p:tagLst>
</file>

<file path=ppt/tags/tag769.xml><?xml version="1.0" encoding="utf-8"?>
<p:tagLst xmlns:a="http://schemas.openxmlformats.org/drawingml/2006/main" xmlns:r="http://schemas.openxmlformats.org/officeDocument/2006/relationships" xmlns:p="http://schemas.openxmlformats.org/presentationml/2006/main">
  <p:tag name="THINKCELLSHAPEDONOTDELETE" val="tNSFCqz8PGUmkOr_D7qk9Bg"/>
</p:tagLst>
</file>

<file path=ppt/tags/tag770.xml><?xml version="1.0" encoding="utf-8"?>
<p:tagLst xmlns:a="http://schemas.openxmlformats.org/drawingml/2006/main" xmlns:r="http://schemas.openxmlformats.org/officeDocument/2006/relationships" xmlns:p="http://schemas.openxmlformats.org/presentationml/2006/main">
  <p:tag name="THINKCELLSHAPEDONOTDELETE" val="t_aYcN5chmUOANR2soD2DRQ"/>
</p:tagLst>
</file>

<file path=ppt/tags/tag771.xml><?xml version="1.0" encoding="utf-8"?>
<p:tagLst xmlns:a="http://schemas.openxmlformats.org/drawingml/2006/main" xmlns:r="http://schemas.openxmlformats.org/officeDocument/2006/relationships" xmlns:p="http://schemas.openxmlformats.org/presentationml/2006/main">
  <p:tag name="THINKCELLSHAPEDONOTDELETE" val="thIpo3D9a8kqZJyd329T4rQ"/>
</p:tagLst>
</file>

<file path=ppt/tags/tag772.xml><?xml version="1.0" encoding="utf-8"?>
<p:tagLst xmlns:a="http://schemas.openxmlformats.org/drawingml/2006/main" xmlns:r="http://schemas.openxmlformats.org/officeDocument/2006/relationships" xmlns:p="http://schemas.openxmlformats.org/presentationml/2006/main">
  <p:tag name="THINKCELLSHAPEDONOTDELETE" val="tToEb2w9Ot0ehWBO8Pq1zxQ"/>
</p:tagLst>
</file>

<file path=ppt/tags/tag773.xml><?xml version="1.0" encoding="utf-8"?>
<p:tagLst xmlns:a="http://schemas.openxmlformats.org/drawingml/2006/main" xmlns:r="http://schemas.openxmlformats.org/officeDocument/2006/relationships" xmlns:p="http://schemas.openxmlformats.org/presentationml/2006/main">
  <p:tag name="THINKCELLSHAPEDONOTDELETE" val="tyWiFP8gNvkyMufVStu6PaA"/>
</p:tagLst>
</file>

<file path=ppt/tags/tag774.xml><?xml version="1.0" encoding="utf-8"?>
<p:tagLst xmlns:a="http://schemas.openxmlformats.org/drawingml/2006/main" xmlns:r="http://schemas.openxmlformats.org/officeDocument/2006/relationships" xmlns:p="http://schemas.openxmlformats.org/presentationml/2006/main">
  <p:tag name="THINKCELLSHAPEDONOTDELETE" val="ta9YXk61b4kSLr.T9ozCJEg"/>
</p:tagLst>
</file>

<file path=ppt/tags/tag775.xml><?xml version="1.0" encoding="utf-8"?>
<p:tagLst xmlns:a="http://schemas.openxmlformats.org/drawingml/2006/main" xmlns:r="http://schemas.openxmlformats.org/officeDocument/2006/relationships" xmlns:p="http://schemas.openxmlformats.org/presentationml/2006/main">
  <p:tag name="THINKCELLSHAPEDONOTDELETE" val="tXX0UHITz.06dpRer1nV7aA"/>
</p:tagLst>
</file>

<file path=ppt/tags/tag776.xml><?xml version="1.0" encoding="utf-8"?>
<p:tagLst xmlns:a="http://schemas.openxmlformats.org/drawingml/2006/main" xmlns:r="http://schemas.openxmlformats.org/officeDocument/2006/relationships" xmlns:p="http://schemas.openxmlformats.org/presentationml/2006/main">
  <p:tag name="THINKCELLSHAPEDONOTDELETE" val="tV_QO2s394k6eTey5LzBTEg"/>
</p:tagLst>
</file>

<file path=ppt/tags/tag777.xml><?xml version="1.0" encoding="utf-8"?>
<p:tagLst xmlns:a="http://schemas.openxmlformats.org/drawingml/2006/main" xmlns:r="http://schemas.openxmlformats.org/officeDocument/2006/relationships" xmlns:p="http://schemas.openxmlformats.org/presentationml/2006/main">
  <p:tag name="THINKCELLSHAPEDONOTDELETE" val="tbRwtt2XNZki3A62_EXxDMA"/>
</p:tagLst>
</file>

<file path=ppt/tags/tag778.xml><?xml version="1.0" encoding="utf-8"?>
<p:tagLst xmlns:a="http://schemas.openxmlformats.org/drawingml/2006/main" xmlns:r="http://schemas.openxmlformats.org/officeDocument/2006/relationships" xmlns:p="http://schemas.openxmlformats.org/presentationml/2006/main">
  <p:tag name="THINKCELLSHAPEDONOTDELETE" val="t.PnbVfXk3kST9xcN1aJ.1w"/>
</p:tagLst>
</file>

<file path=ppt/tags/tag779.xml><?xml version="1.0" encoding="utf-8"?>
<p:tagLst xmlns:a="http://schemas.openxmlformats.org/drawingml/2006/main" xmlns:r="http://schemas.openxmlformats.org/officeDocument/2006/relationships" xmlns:p="http://schemas.openxmlformats.org/presentationml/2006/main">
  <p:tag name="THINKCELLSHAPEDONOTDELETE" val="tY2FcLlxGaE6_jegVp4Vd5A"/>
</p:tagLst>
</file>

<file path=ppt/tags/tag780.xml><?xml version="1.0" encoding="utf-8"?>
<p:tagLst xmlns:a="http://schemas.openxmlformats.org/drawingml/2006/main" xmlns:r="http://schemas.openxmlformats.org/officeDocument/2006/relationships" xmlns:p="http://schemas.openxmlformats.org/presentationml/2006/main">
  <p:tag name="THINKCELLSHAPEDONOTDELETE" val="tn.AowWAVCkODozCsEZfwEg"/>
</p:tagLst>
</file>

<file path=ppt/tags/tag781.xml><?xml version="1.0" encoding="utf-8"?>
<p:tagLst xmlns:a="http://schemas.openxmlformats.org/drawingml/2006/main" xmlns:r="http://schemas.openxmlformats.org/officeDocument/2006/relationships" xmlns:p="http://schemas.openxmlformats.org/presentationml/2006/main">
  <p:tag name="THINKCELLSHAPEDONOTDELETE" val="tNQisvfvwz0q4.FzcOxp.zA"/>
</p:tagLst>
</file>

<file path=ppt/tags/tag782.xml><?xml version="1.0" encoding="utf-8"?>
<p:tagLst xmlns:a="http://schemas.openxmlformats.org/drawingml/2006/main" xmlns:r="http://schemas.openxmlformats.org/officeDocument/2006/relationships" xmlns:p="http://schemas.openxmlformats.org/presentationml/2006/main">
  <p:tag name="THINKCELLSHAPEDONOTDELETE" val="tubdwGlGRsUieflSh49xkXA"/>
</p:tagLst>
</file>

<file path=ppt/tags/tag783.xml><?xml version="1.0" encoding="utf-8"?>
<p:tagLst xmlns:a="http://schemas.openxmlformats.org/drawingml/2006/main" xmlns:r="http://schemas.openxmlformats.org/officeDocument/2006/relationships" xmlns:p="http://schemas.openxmlformats.org/presentationml/2006/main">
  <p:tag name="THINKCELLSHAPEDONOTDELETE" val="ticwr1e0nqUuohl4tYrHiTA"/>
</p:tagLst>
</file>

<file path=ppt/tags/tag784.xml><?xml version="1.0" encoding="utf-8"?>
<p:tagLst xmlns:a="http://schemas.openxmlformats.org/drawingml/2006/main" xmlns:r="http://schemas.openxmlformats.org/officeDocument/2006/relationships" xmlns:p="http://schemas.openxmlformats.org/presentationml/2006/main">
  <p:tag name="NAME" val="SingleBoatShape"/>
</p:tagLst>
</file>

<file path=ppt/tags/tag785.xml><?xml version="1.0" encoding="utf-8"?>
<p:tagLst xmlns:a="http://schemas.openxmlformats.org/drawingml/2006/main" xmlns:r="http://schemas.openxmlformats.org/officeDocument/2006/relationships" xmlns:p="http://schemas.openxmlformats.org/presentationml/2006/main">
  <p:tag name="NAME" val="Rectangle"/>
</p:tagLst>
</file>

<file path=ppt/tags/tag786.xml><?xml version="1.0" encoding="utf-8"?>
<p:tagLst xmlns:a="http://schemas.openxmlformats.org/drawingml/2006/main" xmlns:r="http://schemas.openxmlformats.org/officeDocument/2006/relationships" xmlns:p="http://schemas.openxmlformats.org/presentationml/2006/main">
  <p:tag name="NAME" val="Rectangle"/>
</p:tagLst>
</file>

<file path=ppt/tags/tag7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9.xml><?xml version="1.0" encoding="utf-8"?>
<p:tagLst xmlns:a="http://schemas.openxmlformats.org/drawingml/2006/main" xmlns:r="http://schemas.openxmlformats.org/officeDocument/2006/relationships" xmlns:p="http://schemas.openxmlformats.org/presentationml/2006/main">
  <p:tag name="THINKCELLSHAPEDONOTDELETE" val="txb2iM8Z34Ue_lWA.aDK_aQ"/>
</p:tagLst>
</file>

<file path=ppt/tags/tag790.xml><?xml version="1.0" encoding="utf-8"?>
<p:tagLst xmlns:a="http://schemas.openxmlformats.org/drawingml/2006/main" xmlns:r="http://schemas.openxmlformats.org/officeDocument/2006/relationships" xmlns:p="http://schemas.openxmlformats.org/presentationml/2006/main">
  <p:tag name="NAME" val="Rectangle"/>
</p:tagLst>
</file>

<file path=ppt/tags/tag791.xml><?xml version="1.0" encoding="utf-8"?>
<p:tagLst xmlns:a="http://schemas.openxmlformats.org/drawingml/2006/main" xmlns:r="http://schemas.openxmlformats.org/officeDocument/2006/relationships" xmlns:p="http://schemas.openxmlformats.org/presentationml/2006/main">
  <p:tag name="NAME" val="Rectangle"/>
</p:tagLst>
</file>

<file path=ppt/tags/tag792.xml><?xml version="1.0" encoding="utf-8"?>
<p:tagLst xmlns:a="http://schemas.openxmlformats.org/drawingml/2006/main" xmlns:r="http://schemas.openxmlformats.org/officeDocument/2006/relationships" xmlns:p="http://schemas.openxmlformats.org/presentationml/2006/main">
  <p:tag name="NAME" val="Rectangle"/>
</p:tagLst>
</file>

<file path=ppt/tags/tag793.xml><?xml version="1.0" encoding="utf-8"?>
<p:tagLst xmlns:a="http://schemas.openxmlformats.org/drawingml/2006/main" xmlns:r="http://schemas.openxmlformats.org/officeDocument/2006/relationships" xmlns:p="http://schemas.openxmlformats.org/presentationml/2006/main">
  <p:tag name="NAME" val="Oval"/>
</p:tagLst>
</file>

<file path=ppt/tags/tag794.xml><?xml version="1.0" encoding="utf-8"?>
<p:tagLst xmlns:a="http://schemas.openxmlformats.org/drawingml/2006/main" xmlns:r="http://schemas.openxmlformats.org/officeDocument/2006/relationships" xmlns:p="http://schemas.openxmlformats.org/presentationml/2006/main">
  <p:tag name="NAME" val="Oval"/>
</p:tagLst>
</file>

<file path=ppt/tags/tag795.xml><?xml version="1.0" encoding="utf-8"?>
<p:tagLst xmlns:a="http://schemas.openxmlformats.org/drawingml/2006/main" xmlns:r="http://schemas.openxmlformats.org/officeDocument/2006/relationships" xmlns:p="http://schemas.openxmlformats.org/presentationml/2006/main">
  <p:tag name="NAME" val="Oval"/>
</p:tagLst>
</file>

<file path=ppt/tags/tag7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7.xml><?xml version="1.0" encoding="utf-8"?>
<p:tagLst xmlns:a="http://schemas.openxmlformats.org/drawingml/2006/main" xmlns:r="http://schemas.openxmlformats.org/officeDocument/2006/relationships" xmlns:p="http://schemas.openxmlformats.org/presentationml/2006/main">
  <p:tag name="THINKCELLSHAPEDONOTDELETE" val="tq34Ye6avFUa_6_a_t_HgZQ"/>
</p:tagLst>
</file>

<file path=ppt/tags/tag798.xml><?xml version="1.0" encoding="utf-8"?>
<p:tagLst xmlns:a="http://schemas.openxmlformats.org/drawingml/2006/main" xmlns:r="http://schemas.openxmlformats.org/officeDocument/2006/relationships" xmlns:p="http://schemas.openxmlformats.org/presentationml/2006/main">
  <p:tag name="THINKCELLSHAPEDONOTDELETE" val="tn0b4rcrYnE2R6iC1BK1JYw"/>
</p:tagLst>
</file>

<file path=ppt/tags/tag799.xml><?xml version="1.0" encoding="utf-8"?>
<p:tagLst xmlns:a="http://schemas.openxmlformats.org/drawingml/2006/main" xmlns:r="http://schemas.openxmlformats.org/officeDocument/2006/relationships" xmlns:p="http://schemas.openxmlformats.org/presentationml/2006/main">
  <p:tag name="THINKCELLSHAPEDONOTDELETE" val="t3E0SBE4te0OsYRvryNeljg"/>
</p:tagLst>
</file>

<file path=ppt/tags/tag800.xml><?xml version="1.0" encoding="utf-8"?>
<p:tagLst xmlns:a="http://schemas.openxmlformats.org/drawingml/2006/main" xmlns:r="http://schemas.openxmlformats.org/officeDocument/2006/relationships" xmlns:p="http://schemas.openxmlformats.org/presentationml/2006/main">
  <p:tag name="THINKCELLSHAPEDONOTDELETE" val="tAvIce.gvrEezhW9piIpSUQ"/>
</p:tagLst>
</file>

<file path=ppt/tags/tag801.xml><?xml version="1.0" encoding="utf-8"?>
<p:tagLst xmlns:a="http://schemas.openxmlformats.org/drawingml/2006/main" xmlns:r="http://schemas.openxmlformats.org/officeDocument/2006/relationships" xmlns:p="http://schemas.openxmlformats.org/presentationml/2006/main">
  <p:tag name="THINKCELLSHAPEDONOTDELETE" val="tuV6qHNW_6EuCg.Yrf5LoHg"/>
</p:tagLst>
</file>

<file path=ppt/tags/tag802.xml><?xml version="1.0" encoding="utf-8"?>
<p:tagLst xmlns:a="http://schemas.openxmlformats.org/drawingml/2006/main" xmlns:r="http://schemas.openxmlformats.org/officeDocument/2006/relationships" xmlns:p="http://schemas.openxmlformats.org/presentationml/2006/main">
  <p:tag name="THINKCELLSHAPEDONOTDELETE" val="tl3VtVdgTak2NY2n3ReF_3w"/>
</p:tagLst>
</file>

<file path=ppt/tags/tag803.xml><?xml version="1.0" encoding="utf-8"?>
<p:tagLst xmlns:a="http://schemas.openxmlformats.org/drawingml/2006/main" xmlns:r="http://schemas.openxmlformats.org/officeDocument/2006/relationships" xmlns:p="http://schemas.openxmlformats.org/presentationml/2006/main">
  <p:tag name="THINKCELLSHAPEDONOTDELETE" val="tSWQ3cWhmsEieSNaq.MKpig"/>
</p:tagLst>
</file>

<file path=ppt/tags/tag804.xml><?xml version="1.0" encoding="utf-8"?>
<p:tagLst xmlns:a="http://schemas.openxmlformats.org/drawingml/2006/main" xmlns:r="http://schemas.openxmlformats.org/officeDocument/2006/relationships" xmlns:p="http://schemas.openxmlformats.org/presentationml/2006/main">
  <p:tag name="THINKCELLSHAPEDONOTDELETE" val="teFrlPWhL3EiN7.K4KSZnYA"/>
</p:tagLst>
</file>

<file path=ppt/tags/tag805.xml><?xml version="1.0" encoding="utf-8"?>
<p:tagLst xmlns:a="http://schemas.openxmlformats.org/drawingml/2006/main" xmlns:r="http://schemas.openxmlformats.org/officeDocument/2006/relationships" xmlns:p="http://schemas.openxmlformats.org/presentationml/2006/main">
  <p:tag name="THINKCELLSHAPEDONOTDELETE" val="tgC0Vm8ucR06JORKY.T7RjA"/>
</p:tagLst>
</file>

<file path=ppt/tags/tag806.xml><?xml version="1.0" encoding="utf-8"?>
<p:tagLst xmlns:a="http://schemas.openxmlformats.org/drawingml/2006/main" xmlns:r="http://schemas.openxmlformats.org/officeDocument/2006/relationships" xmlns:p="http://schemas.openxmlformats.org/presentationml/2006/main">
  <p:tag name="THINKCELLSHAPEDONOTDELETE" val="tHewI55uVN0WWbSwvH18ypA"/>
</p:tagLst>
</file>

<file path=ppt/tags/tag807.xml><?xml version="1.0" encoding="utf-8"?>
<p:tagLst xmlns:a="http://schemas.openxmlformats.org/drawingml/2006/main" xmlns:r="http://schemas.openxmlformats.org/officeDocument/2006/relationships" xmlns:p="http://schemas.openxmlformats.org/presentationml/2006/main">
  <p:tag name="THINKCELLSHAPEDONOTDELETE" val="tOOil2c2HzUaaI5lCNsDzTw"/>
</p:tagLst>
</file>

<file path=ppt/tags/tag808.xml><?xml version="1.0" encoding="utf-8"?>
<p:tagLst xmlns:a="http://schemas.openxmlformats.org/drawingml/2006/main" xmlns:r="http://schemas.openxmlformats.org/officeDocument/2006/relationships" xmlns:p="http://schemas.openxmlformats.org/presentationml/2006/main">
  <p:tag name="THINKCELLSHAPEDONOTDELETE" val="tDz8hr.I0skGl1EpuUkMoZA"/>
</p:tagLst>
</file>

<file path=ppt/tags/tag809.xml><?xml version="1.0" encoding="utf-8"?>
<p:tagLst xmlns:a="http://schemas.openxmlformats.org/drawingml/2006/main" xmlns:r="http://schemas.openxmlformats.org/officeDocument/2006/relationships" xmlns:p="http://schemas.openxmlformats.org/presentationml/2006/main">
  <p:tag name="THINKCELLSHAPEDONOTDELETE" val="tkTyhpzQIzEGIKgX2R65P7w"/>
</p:tagLst>
</file>

<file path=ppt/tags/tag810.xml><?xml version="1.0" encoding="utf-8"?>
<p:tagLst xmlns:a="http://schemas.openxmlformats.org/drawingml/2006/main" xmlns:r="http://schemas.openxmlformats.org/officeDocument/2006/relationships" xmlns:p="http://schemas.openxmlformats.org/presentationml/2006/main">
  <p:tag name="THINKCELLSHAPEDONOTDELETE" val="tqbnyirBa2ki2h9EKMj1cww"/>
</p:tagLst>
</file>

<file path=ppt/tags/tag811.xml><?xml version="1.0" encoding="utf-8"?>
<p:tagLst xmlns:a="http://schemas.openxmlformats.org/drawingml/2006/main" xmlns:r="http://schemas.openxmlformats.org/officeDocument/2006/relationships" xmlns:p="http://schemas.openxmlformats.org/presentationml/2006/main">
  <p:tag name="THINKCELLSHAPEDONOTDELETE" val="tmDDoeaVZ2kq6MiG.BVnjGQ"/>
</p:tagLst>
</file>

<file path=ppt/tags/tag812.xml><?xml version="1.0" encoding="utf-8"?>
<p:tagLst xmlns:a="http://schemas.openxmlformats.org/drawingml/2006/main" xmlns:r="http://schemas.openxmlformats.org/officeDocument/2006/relationships" xmlns:p="http://schemas.openxmlformats.org/presentationml/2006/main">
  <p:tag name="THINKCELLSHAPEDONOTDELETE" val="tRvz18.Tq1E6XhdK2IzPRZQ"/>
</p:tagLst>
</file>

<file path=ppt/tags/tag813.xml><?xml version="1.0" encoding="utf-8"?>
<p:tagLst xmlns:a="http://schemas.openxmlformats.org/drawingml/2006/main" xmlns:r="http://schemas.openxmlformats.org/officeDocument/2006/relationships" xmlns:p="http://schemas.openxmlformats.org/presentationml/2006/main">
  <p:tag name="THINKCELLSHAPEDONOTDELETE" val="t7eRico.5B06yyA1XO8eKCw"/>
</p:tagLst>
</file>

<file path=ppt/tags/tag814.xml><?xml version="1.0" encoding="utf-8"?>
<p:tagLst xmlns:a="http://schemas.openxmlformats.org/drawingml/2006/main" xmlns:r="http://schemas.openxmlformats.org/officeDocument/2006/relationships" xmlns:p="http://schemas.openxmlformats.org/presentationml/2006/main">
  <p:tag name="THINKCELLSHAPEDONOTDELETE" val="tMLwD9dUbHUCad8O.8ZfDsQ"/>
</p:tagLst>
</file>

<file path=ppt/tags/tag815.xml><?xml version="1.0" encoding="utf-8"?>
<p:tagLst xmlns:a="http://schemas.openxmlformats.org/drawingml/2006/main" xmlns:r="http://schemas.openxmlformats.org/officeDocument/2006/relationships" xmlns:p="http://schemas.openxmlformats.org/presentationml/2006/main">
  <p:tag name="THINKCELLSHAPEDONOTDELETE" val="tS2bLcU3GGEiz03jw6UxzQg"/>
</p:tagLst>
</file>

<file path=ppt/tags/tag816.xml><?xml version="1.0" encoding="utf-8"?>
<p:tagLst xmlns:a="http://schemas.openxmlformats.org/drawingml/2006/main" xmlns:r="http://schemas.openxmlformats.org/officeDocument/2006/relationships" xmlns:p="http://schemas.openxmlformats.org/presentationml/2006/main">
  <p:tag name="THINKCELLSHAPEDONOTDELETE" val="tvzSH97CiVE6dxtRTRM0mBg"/>
</p:tagLst>
</file>

<file path=ppt/tags/tag817.xml><?xml version="1.0" encoding="utf-8"?>
<p:tagLst xmlns:a="http://schemas.openxmlformats.org/drawingml/2006/main" xmlns:r="http://schemas.openxmlformats.org/officeDocument/2006/relationships" xmlns:p="http://schemas.openxmlformats.org/presentationml/2006/main">
  <p:tag name="THINKCELLSHAPEDONOTDELETE" val="t_ZeNdBE.PECRlF36Z.dmFQ"/>
</p:tagLst>
</file>

<file path=ppt/tags/tag818.xml><?xml version="1.0" encoding="utf-8"?>
<p:tagLst xmlns:a="http://schemas.openxmlformats.org/drawingml/2006/main" xmlns:r="http://schemas.openxmlformats.org/officeDocument/2006/relationships" xmlns:p="http://schemas.openxmlformats.org/presentationml/2006/main">
  <p:tag name="THINKCELLSHAPEDONOTDELETE" val="tOsd567TKTk2ddPXigoJ2cQ"/>
</p:tagLst>
</file>

<file path=ppt/tags/tag819.xml><?xml version="1.0" encoding="utf-8"?>
<p:tagLst xmlns:a="http://schemas.openxmlformats.org/drawingml/2006/main" xmlns:r="http://schemas.openxmlformats.org/officeDocument/2006/relationships" xmlns:p="http://schemas.openxmlformats.org/presentationml/2006/main">
  <p:tag name="THINKCELLSHAPEDONOTDELETE" val="tdnNXPsHmc0uizatB7zYjpw"/>
</p:tagLst>
</file>

<file path=ppt/tags/tag820.xml><?xml version="1.0" encoding="utf-8"?>
<p:tagLst xmlns:a="http://schemas.openxmlformats.org/drawingml/2006/main" xmlns:r="http://schemas.openxmlformats.org/officeDocument/2006/relationships" xmlns:p="http://schemas.openxmlformats.org/presentationml/2006/main">
  <p:tag name="THINKCELLSHAPEDONOTDELETE" val="tsukTywylBkCbC2cYTKIw1g"/>
</p:tagLst>
</file>

<file path=ppt/tags/tag821.xml><?xml version="1.0" encoding="utf-8"?>
<p:tagLst xmlns:a="http://schemas.openxmlformats.org/drawingml/2006/main" xmlns:r="http://schemas.openxmlformats.org/officeDocument/2006/relationships" xmlns:p="http://schemas.openxmlformats.org/presentationml/2006/main">
  <p:tag name="THINKCELLSHAPEDONOTDELETE" val="txDcRM7rJlUqc19yFsyOTKg"/>
</p:tagLst>
</file>

<file path=ppt/tags/tag822.xml><?xml version="1.0" encoding="utf-8"?>
<p:tagLst xmlns:a="http://schemas.openxmlformats.org/drawingml/2006/main" xmlns:r="http://schemas.openxmlformats.org/officeDocument/2006/relationships" xmlns:p="http://schemas.openxmlformats.org/presentationml/2006/main">
  <p:tag name="THINKCELLSHAPEDONOTDELETE" val="tl9m9HtzndkuYL4CnwO7.cw"/>
</p:tagLst>
</file>

<file path=ppt/tags/tag823.xml><?xml version="1.0" encoding="utf-8"?>
<p:tagLst xmlns:a="http://schemas.openxmlformats.org/drawingml/2006/main" xmlns:r="http://schemas.openxmlformats.org/officeDocument/2006/relationships" xmlns:p="http://schemas.openxmlformats.org/presentationml/2006/main">
  <p:tag name="THINKCELLSHAPEDONOTDELETE" val="t8ueGH5vfikeKuq8rnk5GVg"/>
</p:tagLst>
</file>

<file path=ppt/tags/tag824.xml><?xml version="1.0" encoding="utf-8"?>
<p:tagLst xmlns:a="http://schemas.openxmlformats.org/drawingml/2006/main" xmlns:r="http://schemas.openxmlformats.org/officeDocument/2006/relationships" xmlns:p="http://schemas.openxmlformats.org/presentationml/2006/main">
  <p:tag name="THINKCELLSHAPEDONOTDELETE" val="tkKOoMHtBmkG77u.4_X1M2A"/>
</p:tagLst>
</file>

<file path=ppt/tags/tag825.xml><?xml version="1.0" encoding="utf-8"?>
<p:tagLst xmlns:a="http://schemas.openxmlformats.org/drawingml/2006/main" xmlns:r="http://schemas.openxmlformats.org/officeDocument/2006/relationships" xmlns:p="http://schemas.openxmlformats.org/presentationml/2006/main">
  <p:tag name="THINKCELLSHAPEDONOTDELETE" val="tt8ipIQKVa0uenPz2ZizIIQ"/>
</p:tagLst>
</file>

<file path=ppt/tags/tag826.xml><?xml version="1.0" encoding="utf-8"?>
<p:tagLst xmlns:a="http://schemas.openxmlformats.org/drawingml/2006/main" xmlns:r="http://schemas.openxmlformats.org/officeDocument/2006/relationships" xmlns:p="http://schemas.openxmlformats.org/presentationml/2006/main">
  <p:tag name="THINKCELLSHAPEDONOTDELETE" val="tvgc.YJTpyUm9Iw1GIrorIA"/>
</p:tagLst>
</file>

<file path=ppt/tags/tag827.xml><?xml version="1.0" encoding="utf-8"?>
<p:tagLst xmlns:a="http://schemas.openxmlformats.org/drawingml/2006/main" xmlns:r="http://schemas.openxmlformats.org/officeDocument/2006/relationships" xmlns:p="http://schemas.openxmlformats.org/presentationml/2006/main">
  <p:tag name="THINKCELLSHAPEDONOTDELETE" val="tBA6tgEVZ302m6p5qxiA8Lw"/>
</p:tagLst>
</file>

<file path=ppt/tags/tag8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9.xml><?xml version="1.0" encoding="utf-8"?>
<p:tagLst xmlns:a="http://schemas.openxmlformats.org/drawingml/2006/main" xmlns:r="http://schemas.openxmlformats.org/officeDocument/2006/relationships" xmlns:p="http://schemas.openxmlformats.org/presentationml/2006/main">
  <p:tag name="THINKCELLSHAPEDONOTDELETE" val="tCkrgz0IAI0.4PF2H2vBkgg"/>
</p:tagLst>
</file>

<file path=ppt/tags/tag830.xml><?xml version="1.0" encoding="utf-8"?>
<p:tagLst xmlns:a="http://schemas.openxmlformats.org/drawingml/2006/main" xmlns:r="http://schemas.openxmlformats.org/officeDocument/2006/relationships" xmlns:p="http://schemas.openxmlformats.org/presentationml/2006/main">
  <p:tag name="THINKCELLSHAPEDONOTDELETE" val="tQmye22979EKpuGFrC_jLkg"/>
</p:tagLst>
</file>

<file path=ppt/tags/tag831.xml><?xml version="1.0" encoding="utf-8"?>
<p:tagLst xmlns:a="http://schemas.openxmlformats.org/drawingml/2006/main" xmlns:r="http://schemas.openxmlformats.org/officeDocument/2006/relationships" xmlns:p="http://schemas.openxmlformats.org/presentationml/2006/main">
  <p:tag name="THINKCELLSHAPEDONOTDELETE" val="twNluYCqwqkuAh1Rfdvk_4w"/>
</p:tagLst>
</file>

<file path=ppt/tags/tag832.xml><?xml version="1.0" encoding="utf-8"?>
<p:tagLst xmlns:a="http://schemas.openxmlformats.org/drawingml/2006/main" xmlns:r="http://schemas.openxmlformats.org/officeDocument/2006/relationships" xmlns:p="http://schemas.openxmlformats.org/presentationml/2006/main">
  <p:tag name="THINKCELLSHAPEDONOTDELETE" val="tNE37KIViUk2eWp687rvb2A"/>
</p:tagLst>
</file>

<file path=ppt/tags/tag833.xml><?xml version="1.0" encoding="utf-8"?>
<p:tagLst xmlns:a="http://schemas.openxmlformats.org/drawingml/2006/main" xmlns:r="http://schemas.openxmlformats.org/officeDocument/2006/relationships" xmlns:p="http://schemas.openxmlformats.org/presentationml/2006/main">
  <p:tag name="THINKCELLSHAPEDONOTDELETE" val="tkXadyxdoDE.LYCL9N0OgTA"/>
</p:tagLst>
</file>

<file path=ppt/tags/tag834.xml><?xml version="1.0" encoding="utf-8"?>
<p:tagLst xmlns:a="http://schemas.openxmlformats.org/drawingml/2006/main" xmlns:r="http://schemas.openxmlformats.org/officeDocument/2006/relationships" xmlns:p="http://schemas.openxmlformats.org/presentationml/2006/main">
  <p:tag name="THINKCELLSHAPEDONOTDELETE" val="t9eh8DH5PRUayUdrhlU4WvQ"/>
</p:tagLst>
</file>

<file path=ppt/tags/tag835.xml><?xml version="1.0" encoding="utf-8"?>
<p:tagLst xmlns:a="http://schemas.openxmlformats.org/drawingml/2006/main" xmlns:r="http://schemas.openxmlformats.org/officeDocument/2006/relationships" xmlns:p="http://schemas.openxmlformats.org/presentationml/2006/main">
  <p:tag name="THINKCELLSHAPEDONOTDELETE" val="tnc4JPJOe70alVM_SkNTcpw"/>
</p:tagLst>
</file>

<file path=ppt/tags/tag836.xml><?xml version="1.0" encoding="utf-8"?>
<p:tagLst xmlns:a="http://schemas.openxmlformats.org/drawingml/2006/main" xmlns:r="http://schemas.openxmlformats.org/officeDocument/2006/relationships" xmlns:p="http://schemas.openxmlformats.org/presentationml/2006/main">
  <p:tag name="THINKCELLSHAPEDONOTDELETE" val="tS1GXR4qSjUGVxmXd3d2oZw"/>
</p:tagLst>
</file>

<file path=ppt/tags/tag837.xml><?xml version="1.0" encoding="utf-8"?>
<p:tagLst xmlns:a="http://schemas.openxmlformats.org/drawingml/2006/main" xmlns:r="http://schemas.openxmlformats.org/officeDocument/2006/relationships" xmlns:p="http://schemas.openxmlformats.org/presentationml/2006/main">
  <p:tag name="THINKCELLSHAPEDONOTDELETE" val="tbhECNXCWpUKFmWF2YT4xXA"/>
</p:tagLst>
</file>

<file path=ppt/tags/tag838.xml><?xml version="1.0" encoding="utf-8"?>
<p:tagLst xmlns:a="http://schemas.openxmlformats.org/drawingml/2006/main" xmlns:r="http://schemas.openxmlformats.org/officeDocument/2006/relationships" xmlns:p="http://schemas.openxmlformats.org/presentationml/2006/main">
  <p:tag name="THINKCELLSHAPEDONOTDELETE" val="tZIEDbEXF1UCmLIXC_DaHbQ"/>
</p:tagLst>
</file>

<file path=ppt/tags/tag839.xml><?xml version="1.0" encoding="utf-8"?>
<p:tagLst xmlns:a="http://schemas.openxmlformats.org/drawingml/2006/main" xmlns:r="http://schemas.openxmlformats.org/officeDocument/2006/relationships" xmlns:p="http://schemas.openxmlformats.org/presentationml/2006/main">
  <p:tag name="THINKCELLSHAPEDONOTDELETE" val="tqm0fuE15Zk.CjONCul9POA"/>
</p:tagLst>
</file>

<file path=ppt/tags/tag840.xml><?xml version="1.0" encoding="utf-8"?>
<p:tagLst xmlns:a="http://schemas.openxmlformats.org/drawingml/2006/main" xmlns:r="http://schemas.openxmlformats.org/officeDocument/2006/relationships" xmlns:p="http://schemas.openxmlformats.org/presentationml/2006/main">
  <p:tag name="THINKCELLSHAPEDONOTDELETE" val="tlaHMV3JpdkOA1fXlvBTrvA"/>
</p:tagLst>
</file>

<file path=ppt/tags/tag841.xml><?xml version="1.0" encoding="utf-8"?>
<p:tagLst xmlns:a="http://schemas.openxmlformats.org/drawingml/2006/main" xmlns:r="http://schemas.openxmlformats.org/officeDocument/2006/relationships" xmlns:p="http://schemas.openxmlformats.org/presentationml/2006/main">
  <p:tag name="THINKCELLSHAPEDONOTDELETE" val="tG.CcKZY79UaGOoS1QBY6JA"/>
</p:tagLst>
</file>

<file path=ppt/tags/tag842.xml><?xml version="1.0" encoding="utf-8"?>
<p:tagLst xmlns:a="http://schemas.openxmlformats.org/drawingml/2006/main" xmlns:r="http://schemas.openxmlformats.org/officeDocument/2006/relationships" xmlns:p="http://schemas.openxmlformats.org/presentationml/2006/main">
  <p:tag name="THINKCELLSHAPEDONOTDELETE" val="t_wrkHbbAc0.dHZ1ijMDdXQ"/>
</p:tagLst>
</file>

<file path=ppt/tags/tag843.xml><?xml version="1.0" encoding="utf-8"?>
<p:tagLst xmlns:a="http://schemas.openxmlformats.org/drawingml/2006/main" xmlns:r="http://schemas.openxmlformats.org/officeDocument/2006/relationships" xmlns:p="http://schemas.openxmlformats.org/presentationml/2006/main">
  <p:tag name="THINKCELLSHAPEDONOTDELETE" val="t.FMyshYDakObcg6Ej8g2GQ"/>
</p:tagLst>
</file>

<file path=ppt/tags/tag844.xml><?xml version="1.0" encoding="utf-8"?>
<p:tagLst xmlns:a="http://schemas.openxmlformats.org/drawingml/2006/main" xmlns:r="http://schemas.openxmlformats.org/officeDocument/2006/relationships" xmlns:p="http://schemas.openxmlformats.org/presentationml/2006/main">
  <p:tag name="THINKCELLSHAPEDONOTDELETE" val="tiqGf7HqrmkSazf00o4Hb2Q"/>
</p:tagLst>
</file>

<file path=ppt/tags/tag845.xml><?xml version="1.0" encoding="utf-8"?>
<p:tagLst xmlns:a="http://schemas.openxmlformats.org/drawingml/2006/main" xmlns:r="http://schemas.openxmlformats.org/officeDocument/2006/relationships" xmlns:p="http://schemas.openxmlformats.org/presentationml/2006/main">
  <p:tag name="THINKCELLSHAPEDONOTDELETE" val="tHxUC.ImaJ0akRFOrRC6UaQ"/>
</p:tagLst>
</file>

<file path=ppt/tags/tag846.xml><?xml version="1.0" encoding="utf-8"?>
<p:tagLst xmlns:a="http://schemas.openxmlformats.org/drawingml/2006/main" xmlns:r="http://schemas.openxmlformats.org/officeDocument/2006/relationships" xmlns:p="http://schemas.openxmlformats.org/presentationml/2006/main">
  <p:tag name="THINKCELLSHAPEDONOTDELETE" val="tGWPVkfcqUk2TYR3uE3NvDQ"/>
</p:tagLst>
</file>

<file path=ppt/tags/tag847.xml><?xml version="1.0" encoding="utf-8"?>
<p:tagLst xmlns:a="http://schemas.openxmlformats.org/drawingml/2006/main" xmlns:r="http://schemas.openxmlformats.org/officeDocument/2006/relationships" xmlns:p="http://schemas.openxmlformats.org/presentationml/2006/main">
  <p:tag name="THINKCELLSHAPEDONOTDELETE" val="ttjAd0PuQ4UuWuBVlbXTbcQ"/>
</p:tagLst>
</file>

<file path=ppt/tags/tag848.xml><?xml version="1.0" encoding="utf-8"?>
<p:tagLst xmlns:a="http://schemas.openxmlformats.org/drawingml/2006/main" xmlns:r="http://schemas.openxmlformats.org/officeDocument/2006/relationships" xmlns:p="http://schemas.openxmlformats.org/presentationml/2006/main">
  <p:tag name="THINKCELLSHAPEDONOTDELETE" val="tVuIeOyV3ckGt4NNhBej1Cg"/>
</p:tagLst>
</file>

<file path=ppt/tags/tag849.xml><?xml version="1.0" encoding="utf-8"?>
<p:tagLst xmlns:a="http://schemas.openxmlformats.org/drawingml/2006/main" xmlns:r="http://schemas.openxmlformats.org/officeDocument/2006/relationships" xmlns:p="http://schemas.openxmlformats.org/presentationml/2006/main">
  <p:tag name="THINKCELLSHAPEDONOTDELETE" val="tN7cc33W2r0GdANHR7QrUvg"/>
</p:tagLst>
</file>

<file path=ppt/tags/tag850.xml><?xml version="1.0" encoding="utf-8"?>
<p:tagLst xmlns:a="http://schemas.openxmlformats.org/drawingml/2006/main" xmlns:r="http://schemas.openxmlformats.org/officeDocument/2006/relationships" xmlns:p="http://schemas.openxmlformats.org/presentationml/2006/main">
  <p:tag name="THINKCELLSHAPEDONOTDELETE" val="tX_FFDLrcmEmBsYKOwOxVEA"/>
</p:tagLst>
</file>

<file path=ppt/tags/tag851.xml><?xml version="1.0" encoding="utf-8"?>
<p:tagLst xmlns:a="http://schemas.openxmlformats.org/drawingml/2006/main" xmlns:r="http://schemas.openxmlformats.org/officeDocument/2006/relationships" xmlns:p="http://schemas.openxmlformats.org/presentationml/2006/main">
  <p:tag name="THINKCELLSHAPEDONOTDELETE" val="tCu5PtfRBa0.VDVJIyfAhlQ"/>
</p:tagLst>
</file>

<file path=ppt/tags/tag852.xml><?xml version="1.0" encoding="utf-8"?>
<p:tagLst xmlns:a="http://schemas.openxmlformats.org/drawingml/2006/main" xmlns:r="http://schemas.openxmlformats.org/officeDocument/2006/relationships" xmlns:p="http://schemas.openxmlformats.org/presentationml/2006/main">
  <p:tag name="THINKCELLSHAPEDONOTDELETE" val="tEzr1bIDgr0a23mNleQW_lw"/>
</p:tagLst>
</file>

<file path=ppt/tags/tag853.xml><?xml version="1.0" encoding="utf-8"?>
<p:tagLst xmlns:a="http://schemas.openxmlformats.org/drawingml/2006/main" xmlns:r="http://schemas.openxmlformats.org/officeDocument/2006/relationships" xmlns:p="http://schemas.openxmlformats.org/presentationml/2006/main">
  <p:tag name="THINKCELLSHAPEDONOTDELETE" val="tveb4HuR760q7dbAJsgaDIA"/>
</p:tagLst>
</file>

<file path=ppt/tags/tag854.xml><?xml version="1.0" encoding="utf-8"?>
<p:tagLst xmlns:a="http://schemas.openxmlformats.org/drawingml/2006/main" xmlns:r="http://schemas.openxmlformats.org/officeDocument/2006/relationships" xmlns:p="http://schemas.openxmlformats.org/presentationml/2006/main">
  <p:tag name="THINKCELLSHAPEDONOTDELETE" val="tPccpi6nXL0.nuoJAvqJ9Ow"/>
</p:tagLst>
</file>

<file path=ppt/tags/tag855.xml><?xml version="1.0" encoding="utf-8"?>
<p:tagLst xmlns:a="http://schemas.openxmlformats.org/drawingml/2006/main" xmlns:r="http://schemas.openxmlformats.org/officeDocument/2006/relationships" xmlns:p="http://schemas.openxmlformats.org/presentationml/2006/main">
  <p:tag name="THINKCELLSHAPEDONOTDELETE" val="t9.CRqnF5Jk.cRMmXh0e_dw"/>
</p:tagLst>
</file>

<file path=ppt/tags/tag8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7.xml><?xml version="1.0" encoding="utf-8"?>
<p:tagLst xmlns:a="http://schemas.openxmlformats.org/drawingml/2006/main" xmlns:r="http://schemas.openxmlformats.org/officeDocument/2006/relationships" xmlns:p="http://schemas.openxmlformats.org/presentationml/2006/main">
  <p:tag name="THINKCELLSHAPEDONOTDELETE" val="tCkrgz0IAI0.4PF2H2vBkgg"/>
</p:tagLst>
</file>

<file path=ppt/tags/tag858.xml><?xml version="1.0" encoding="utf-8"?>
<p:tagLst xmlns:a="http://schemas.openxmlformats.org/drawingml/2006/main" xmlns:r="http://schemas.openxmlformats.org/officeDocument/2006/relationships" xmlns:p="http://schemas.openxmlformats.org/presentationml/2006/main">
  <p:tag name="THINKCELLSHAPEDONOTDELETE" val="tkXadyxdoDE.LYCL9N0OgTA"/>
</p:tagLst>
</file>

<file path=ppt/tags/tag859.xml><?xml version="1.0" encoding="utf-8"?>
<p:tagLst xmlns:a="http://schemas.openxmlformats.org/drawingml/2006/main" xmlns:r="http://schemas.openxmlformats.org/officeDocument/2006/relationships" xmlns:p="http://schemas.openxmlformats.org/presentationml/2006/main">
  <p:tag name="THINKCELLSHAPEDONOTDELETE" val="t9eh8DH5PRUayUdrhlU4WvQ"/>
</p:tagLst>
</file>

<file path=ppt/tags/tag860.xml><?xml version="1.0" encoding="utf-8"?>
<p:tagLst xmlns:a="http://schemas.openxmlformats.org/drawingml/2006/main" xmlns:r="http://schemas.openxmlformats.org/officeDocument/2006/relationships" xmlns:p="http://schemas.openxmlformats.org/presentationml/2006/main">
  <p:tag name="THINKCELLSHAPEDONOTDELETE" val="twNluYCqwqkuAh1Rfdvk_4w"/>
</p:tagLst>
</file>

<file path=ppt/tags/tag861.xml><?xml version="1.0" encoding="utf-8"?>
<p:tagLst xmlns:a="http://schemas.openxmlformats.org/drawingml/2006/main" xmlns:r="http://schemas.openxmlformats.org/officeDocument/2006/relationships" xmlns:p="http://schemas.openxmlformats.org/presentationml/2006/main">
  <p:tag name="THINKCELLSHAPEDONOTDELETE" val="tQmye22979EKpuGFrC_jLkg"/>
</p:tagLst>
</file>

<file path=ppt/tags/tag862.xml><?xml version="1.0" encoding="utf-8"?>
<p:tagLst xmlns:a="http://schemas.openxmlformats.org/drawingml/2006/main" xmlns:r="http://schemas.openxmlformats.org/officeDocument/2006/relationships" xmlns:p="http://schemas.openxmlformats.org/presentationml/2006/main">
  <p:tag name="THINKCELLSHAPEDONOTDELETE" val="tnc4JPJOe70alVM_SkNTcpw"/>
</p:tagLst>
</file>

<file path=ppt/tags/tag863.xml><?xml version="1.0" encoding="utf-8"?>
<p:tagLst xmlns:a="http://schemas.openxmlformats.org/drawingml/2006/main" xmlns:r="http://schemas.openxmlformats.org/officeDocument/2006/relationships" xmlns:p="http://schemas.openxmlformats.org/presentationml/2006/main">
  <p:tag name="THINKCELLSHAPEDONOTDELETE" val="tp_OgFbZkYk6JcvvtzjSt9g"/>
</p:tagLst>
</file>

<file path=ppt/tags/tag864.xml><?xml version="1.0" encoding="utf-8"?>
<p:tagLst xmlns:a="http://schemas.openxmlformats.org/drawingml/2006/main" xmlns:r="http://schemas.openxmlformats.org/officeDocument/2006/relationships" xmlns:p="http://schemas.openxmlformats.org/presentationml/2006/main">
  <p:tag name="THINKCELLSHAPEDONOTDELETE" val="tY9Ycqi.wzEqoBP26ZDGPRQ"/>
</p:tagLst>
</file>

<file path=ppt/tags/tag865.xml><?xml version="1.0" encoding="utf-8"?>
<p:tagLst xmlns:a="http://schemas.openxmlformats.org/drawingml/2006/main" xmlns:r="http://schemas.openxmlformats.org/officeDocument/2006/relationships" xmlns:p="http://schemas.openxmlformats.org/presentationml/2006/main">
  <p:tag name="THINKCELLSHAPEDONOTDELETE" val="ta3WWjWypWkeddX62Nsz34Q"/>
</p:tagLst>
</file>

<file path=ppt/tags/tag866.xml><?xml version="1.0" encoding="utf-8"?>
<p:tagLst xmlns:a="http://schemas.openxmlformats.org/drawingml/2006/main" xmlns:r="http://schemas.openxmlformats.org/officeDocument/2006/relationships" xmlns:p="http://schemas.openxmlformats.org/presentationml/2006/main">
  <p:tag name="THINKCELLSHAPEDONOTDELETE" val="tiqGf7HqrmkSazf00o4Hb2Q"/>
</p:tagLst>
</file>

<file path=ppt/tags/tag867.xml><?xml version="1.0" encoding="utf-8"?>
<p:tagLst xmlns:a="http://schemas.openxmlformats.org/drawingml/2006/main" xmlns:r="http://schemas.openxmlformats.org/officeDocument/2006/relationships" xmlns:p="http://schemas.openxmlformats.org/presentationml/2006/main">
  <p:tag name="THINKCELLSHAPEDONOTDELETE" val="t6xbrI7PwOkmh2GQfAdkniw"/>
</p:tagLst>
</file>

<file path=ppt/tags/tag868.xml><?xml version="1.0" encoding="utf-8"?>
<p:tagLst xmlns:a="http://schemas.openxmlformats.org/drawingml/2006/main" xmlns:r="http://schemas.openxmlformats.org/officeDocument/2006/relationships" xmlns:p="http://schemas.openxmlformats.org/presentationml/2006/main">
  <p:tag name="THINKCELLSHAPEDONOTDELETE" val="t9V7ykMcnuUyB3JIlXbbRGA"/>
</p:tagLst>
</file>

<file path=ppt/tags/tag869.xml><?xml version="1.0" encoding="utf-8"?>
<p:tagLst xmlns:a="http://schemas.openxmlformats.org/drawingml/2006/main" xmlns:r="http://schemas.openxmlformats.org/officeDocument/2006/relationships" xmlns:p="http://schemas.openxmlformats.org/presentationml/2006/main">
  <p:tag name="THINKCELLSHAPEDONOTDELETE" val="tW55uKgTSC06krZ9FsVO8Eg"/>
</p:tagLst>
</file>

<file path=ppt/tags/tag870.xml><?xml version="1.0" encoding="utf-8"?>
<p:tagLst xmlns:a="http://schemas.openxmlformats.org/drawingml/2006/main" xmlns:r="http://schemas.openxmlformats.org/officeDocument/2006/relationships" xmlns:p="http://schemas.openxmlformats.org/presentationml/2006/main">
  <p:tag name="THINKCELLSHAPEDONOTDELETE" val="t_wrkHbbAc0.dHZ1ijMDdXQ"/>
</p:tagLst>
</file>

<file path=ppt/tags/tag871.xml><?xml version="1.0" encoding="utf-8"?>
<p:tagLst xmlns:a="http://schemas.openxmlformats.org/drawingml/2006/main" xmlns:r="http://schemas.openxmlformats.org/officeDocument/2006/relationships" xmlns:p="http://schemas.openxmlformats.org/presentationml/2006/main">
  <p:tag name="THINKCELLSHAPEDONOTDELETE" val="ta2f7AwEtxkSItTmTcENoRg"/>
</p:tagLst>
</file>

<file path=ppt/tags/tag872.xml><?xml version="1.0" encoding="utf-8"?>
<p:tagLst xmlns:a="http://schemas.openxmlformats.org/drawingml/2006/main" xmlns:r="http://schemas.openxmlformats.org/officeDocument/2006/relationships" xmlns:p="http://schemas.openxmlformats.org/presentationml/2006/main">
  <p:tag name="THINKCELLSHAPEDONOTDELETE" val="tHxUC.ImaJ0akRFOrRC6UaQ"/>
</p:tagLst>
</file>

<file path=ppt/tags/tag873.xml><?xml version="1.0" encoding="utf-8"?>
<p:tagLst xmlns:a="http://schemas.openxmlformats.org/drawingml/2006/main" xmlns:r="http://schemas.openxmlformats.org/officeDocument/2006/relationships" xmlns:p="http://schemas.openxmlformats.org/presentationml/2006/main">
  <p:tag name="THINKCELLSHAPEDONOTDELETE" val="tVuIeOyV3ckGt4NNhBej1Cg"/>
</p:tagLst>
</file>

<file path=ppt/tags/tag874.xml><?xml version="1.0" encoding="utf-8"?>
<p:tagLst xmlns:a="http://schemas.openxmlformats.org/drawingml/2006/main" xmlns:r="http://schemas.openxmlformats.org/officeDocument/2006/relationships" xmlns:p="http://schemas.openxmlformats.org/presentationml/2006/main">
  <p:tag name="THINKCELLSHAPEDONOTDELETE" val="ttjAd0PuQ4UuWuBVlbXTbcQ"/>
</p:tagLst>
</file>

<file path=ppt/tags/tag875.xml><?xml version="1.0" encoding="utf-8"?>
<p:tagLst xmlns:a="http://schemas.openxmlformats.org/drawingml/2006/main" xmlns:r="http://schemas.openxmlformats.org/officeDocument/2006/relationships" xmlns:p="http://schemas.openxmlformats.org/presentationml/2006/main">
  <p:tag name="THINKCELLSHAPEDONOTDELETE" val="tGWPVkfcqUk2TYR3uE3NvDQ"/>
</p:tagLst>
</file>

<file path=ppt/tags/tag876.xml><?xml version="1.0" encoding="utf-8"?>
<p:tagLst xmlns:a="http://schemas.openxmlformats.org/drawingml/2006/main" xmlns:r="http://schemas.openxmlformats.org/officeDocument/2006/relationships" xmlns:p="http://schemas.openxmlformats.org/presentationml/2006/main">
  <p:tag name="THINKCELLSHAPEDONOTDELETE" val="tM_egPbqi7Ee682UBBlbPqQ"/>
</p:tagLst>
</file>

<file path=ppt/tags/tag877.xml><?xml version="1.0" encoding="utf-8"?>
<p:tagLst xmlns:a="http://schemas.openxmlformats.org/drawingml/2006/main" xmlns:r="http://schemas.openxmlformats.org/officeDocument/2006/relationships" xmlns:p="http://schemas.openxmlformats.org/presentationml/2006/main">
  <p:tag name="THINKCELLSHAPEDONOTDELETE" val="tX_FFDLrcmEmBsYKOwOxVEA"/>
</p:tagLst>
</file>

<file path=ppt/tags/tag878.xml><?xml version="1.0" encoding="utf-8"?>
<p:tagLst xmlns:a="http://schemas.openxmlformats.org/drawingml/2006/main" xmlns:r="http://schemas.openxmlformats.org/officeDocument/2006/relationships" xmlns:p="http://schemas.openxmlformats.org/presentationml/2006/main">
  <p:tag name="THINKCELLSHAPEDONOTDELETE" val="tNntNo5PScUSBCAZ3GOQjLw"/>
</p:tagLst>
</file>

<file path=ppt/tags/tag879.xml><?xml version="1.0" encoding="utf-8"?>
<p:tagLst xmlns:a="http://schemas.openxmlformats.org/drawingml/2006/main" xmlns:r="http://schemas.openxmlformats.org/officeDocument/2006/relationships" xmlns:p="http://schemas.openxmlformats.org/presentationml/2006/main">
  <p:tag name="THINKCELLSHAPEDONOTDELETE" val="tEzr1bIDgr0a23mNleQW_lw"/>
</p:tagLst>
</file>

<file path=ppt/tags/tag880.xml><?xml version="1.0" encoding="utf-8"?>
<p:tagLst xmlns:a="http://schemas.openxmlformats.org/drawingml/2006/main" xmlns:r="http://schemas.openxmlformats.org/officeDocument/2006/relationships" xmlns:p="http://schemas.openxmlformats.org/presentationml/2006/main">
  <p:tag name="THINKCELLSHAPEDONOTDELETE" val="tveb4HuR760q7dbAJsgaDIA"/>
</p:tagLst>
</file>

<file path=ppt/tags/tag881.xml><?xml version="1.0" encoding="utf-8"?>
<p:tagLst xmlns:a="http://schemas.openxmlformats.org/drawingml/2006/main" xmlns:r="http://schemas.openxmlformats.org/officeDocument/2006/relationships" xmlns:p="http://schemas.openxmlformats.org/presentationml/2006/main">
  <p:tag name="THINKCELLSHAPEDONOTDELETE" val="tPccpi6nXL0.nuoJAvqJ9Ow"/>
</p:tagLst>
</file>

<file path=ppt/tags/tag882.xml><?xml version="1.0" encoding="utf-8"?>
<p:tagLst xmlns:a="http://schemas.openxmlformats.org/drawingml/2006/main" xmlns:r="http://schemas.openxmlformats.org/officeDocument/2006/relationships" xmlns:p="http://schemas.openxmlformats.org/presentationml/2006/main">
  <p:tag name="THINKCELLSHAPEDONOTDELETE" val="t9.CRqnF5Jk.cRMmXh0e_dw"/>
</p:tagLst>
</file>

<file path=ppt/tags/tag8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5.xml><?xml version="1.0" encoding="utf-8"?>
<p:tagLst xmlns:a="http://schemas.openxmlformats.org/drawingml/2006/main" xmlns:r="http://schemas.openxmlformats.org/officeDocument/2006/relationships" xmlns:p="http://schemas.openxmlformats.org/presentationml/2006/main">
  <p:tag name="THINKCELLSHAPEDONOTDELETE" val="tLDRv33PY0kG4bwQbkxbPdQ"/>
</p:tagLst>
</file>

<file path=ppt/tags/tag886.xml><?xml version="1.0" encoding="utf-8"?>
<p:tagLst xmlns:a="http://schemas.openxmlformats.org/drawingml/2006/main" xmlns:r="http://schemas.openxmlformats.org/officeDocument/2006/relationships" xmlns:p="http://schemas.openxmlformats.org/presentationml/2006/main">
  <p:tag name="THINKCELLSHAPEDONOTDELETE" val="tvWxJQ46Zv0SRwaMBRGjHoQ"/>
</p:tagLst>
</file>

<file path=ppt/tags/tag887.xml><?xml version="1.0" encoding="utf-8"?>
<p:tagLst xmlns:a="http://schemas.openxmlformats.org/drawingml/2006/main" xmlns:r="http://schemas.openxmlformats.org/officeDocument/2006/relationships" xmlns:p="http://schemas.openxmlformats.org/presentationml/2006/main">
  <p:tag name="THINKCELLSHAPEDONOTDELETE" val="tBHU56ugQQUOSFGa2qJEhFw"/>
</p:tagLst>
</file>

<file path=ppt/tags/tag888.xml><?xml version="1.0" encoding="utf-8"?>
<p:tagLst xmlns:a="http://schemas.openxmlformats.org/drawingml/2006/main" xmlns:r="http://schemas.openxmlformats.org/officeDocument/2006/relationships" xmlns:p="http://schemas.openxmlformats.org/presentationml/2006/main">
  <p:tag name="THINKCELLSHAPEDONOTDELETE" val="tQyBveyzVSkGMh_xDxWTriA"/>
</p:tagLst>
</file>

<file path=ppt/tags/tag889.xml><?xml version="1.0" encoding="utf-8"?>
<p:tagLst xmlns:a="http://schemas.openxmlformats.org/drawingml/2006/main" xmlns:r="http://schemas.openxmlformats.org/officeDocument/2006/relationships" xmlns:p="http://schemas.openxmlformats.org/presentationml/2006/main">
  <p:tag name="THINKCELLSHAPEDONOTDELETE" val="tpwAIP423ZEO4Rfx.5xckZA"/>
</p:tagLst>
</file>

<file path=ppt/tags/tag890.xml><?xml version="1.0" encoding="utf-8"?>
<p:tagLst xmlns:a="http://schemas.openxmlformats.org/drawingml/2006/main" xmlns:r="http://schemas.openxmlformats.org/officeDocument/2006/relationships" xmlns:p="http://schemas.openxmlformats.org/presentationml/2006/main">
  <p:tag name="THINKCELLSHAPEDONOTDELETE" val="tpzxlEg6.A0iCfyqSYJy8gA"/>
</p:tagLst>
</file>

<file path=ppt/tags/tag891.xml><?xml version="1.0" encoding="utf-8"?>
<p:tagLst xmlns:a="http://schemas.openxmlformats.org/drawingml/2006/main" xmlns:r="http://schemas.openxmlformats.org/officeDocument/2006/relationships" xmlns:p="http://schemas.openxmlformats.org/presentationml/2006/main">
  <p:tag name="THINKCELLSHAPEDONOTDELETE" val="t9gnf6kb120exJFLMuLFDjg"/>
</p:tagLst>
</file>

<file path=ppt/tags/tag892.xml><?xml version="1.0" encoding="utf-8"?>
<p:tagLst xmlns:a="http://schemas.openxmlformats.org/drawingml/2006/main" xmlns:r="http://schemas.openxmlformats.org/officeDocument/2006/relationships" xmlns:p="http://schemas.openxmlformats.org/presentationml/2006/main">
  <p:tag name="THINKCELLSHAPEDONOTDELETE" val="tMSNCFSiQD0C1kv1.m_K49Q"/>
</p:tagLst>
</file>

<file path=ppt/tags/tag893.xml><?xml version="1.0" encoding="utf-8"?>
<p:tagLst xmlns:a="http://schemas.openxmlformats.org/drawingml/2006/main" xmlns:r="http://schemas.openxmlformats.org/officeDocument/2006/relationships" xmlns:p="http://schemas.openxmlformats.org/presentationml/2006/main">
  <p:tag name="THINKCELLSHAPEDONOTDELETE" val="t0g.dhc8hwUaQyzduQ85HXw"/>
</p:tagLst>
</file>

<file path=ppt/tags/tag894.xml><?xml version="1.0" encoding="utf-8"?>
<p:tagLst xmlns:a="http://schemas.openxmlformats.org/drawingml/2006/main" xmlns:r="http://schemas.openxmlformats.org/officeDocument/2006/relationships" xmlns:p="http://schemas.openxmlformats.org/presentationml/2006/main">
  <p:tag name="THINKCELLSHAPEDONOTDELETE" val="tVG.YOrSwMEG3r.fdxaakJg"/>
</p:tagLst>
</file>

<file path=ppt/tags/tag895.xml><?xml version="1.0" encoding="utf-8"?>
<p:tagLst xmlns:a="http://schemas.openxmlformats.org/drawingml/2006/main" xmlns:r="http://schemas.openxmlformats.org/officeDocument/2006/relationships" xmlns:p="http://schemas.openxmlformats.org/presentationml/2006/main">
  <p:tag name="THINKCELLSHAPEDONOTDELETE" val="tEyrvRStcvkeyoB8WhkXVlg"/>
</p:tagLst>
</file>

<file path=ppt/tags/tag896.xml><?xml version="1.0" encoding="utf-8"?>
<p:tagLst xmlns:a="http://schemas.openxmlformats.org/drawingml/2006/main" xmlns:r="http://schemas.openxmlformats.org/officeDocument/2006/relationships" xmlns:p="http://schemas.openxmlformats.org/presentationml/2006/main">
  <p:tag name="THINKCELLSHAPEDONOTDELETE" val="ttG1xGXFylkKflDNHgaAJoA"/>
</p:tagLst>
</file>

<file path=ppt/tags/tag897.xml><?xml version="1.0" encoding="utf-8"?>
<p:tagLst xmlns:a="http://schemas.openxmlformats.org/drawingml/2006/main" xmlns:r="http://schemas.openxmlformats.org/officeDocument/2006/relationships" xmlns:p="http://schemas.openxmlformats.org/presentationml/2006/main">
  <p:tag name="THINKCELLSHAPEDONOTDELETE" val="tfI4V.nvNa0moyonm9I2JTA"/>
</p:tagLst>
</file>

<file path=ppt/tags/tag898.xml><?xml version="1.0" encoding="utf-8"?>
<p:tagLst xmlns:a="http://schemas.openxmlformats.org/drawingml/2006/main" xmlns:r="http://schemas.openxmlformats.org/officeDocument/2006/relationships" xmlns:p="http://schemas.openxmlformats.org/presentationml/2006/main">
  <p:tag name="THINKCELLSHAPEDONOTDELETE" val="tuDiEus8S6Em0XVyMPU1FLw"/>
</p:tagLst>
</file>

<file path=ppt/tags/tag899.xml><?xml version="1.0" encoding="utf-8"?>
<p:tagLst xmlns:a="http://schemas.openxmlformats.org/drawingml/2006/main" xmlns:r="http://schemas.openxmlformats.org/officeDocument/2006/relationships" xmlns:p="http://schemas.openxmlformats.org/presentationml/2006/main">
  <p:tag name="THINKCELLSHAPEDONOTDELETE" val="tppbURAnn3k6fZYomvlFYQg"/>
</p:tagLst>
</file>

<file path=ppt/tags/tag900.xml><?xml version="1.0" encoding="utf-8"?>
<p:tagLst xmlns:a="http://schemas.openxmlformats.org/drawingml/2006/main" xmlns:r="http://schemas.openxmlformats.org/officeDocument/2006/relationships" xmlns:p="http://schemas.openxmlformats.org/presentationml/2006/main">
  <p:tag name="THINKCELLSHAPEDONOTDELETE" val="t1zq299OkTEGqS_5hO2MY6w"/>
</p:tagLst>
</file>

<file path=ppt/tags/tag901.xml><?xml version="1.0" encoding="utf-8"?>
<p:tagLst xmlns:a="http://schemas.openxmlformats.org/drawingml/2006/main" xmlns:r="http://schemas.openxmlformats.org/officeDocument/2006/relationships" xmlns:p="http://schemas.openxmlformats.org/presentationml/2006/main">
  <p:tag name="THINKCELLSHAPEDONOTDELETE" val="t9MbdKMWZ8USwFclgV4UcoQ"/>
</p:tagLst>
</file>

<file path=ppt/tags/tag902.xml><?xml version="1.0" encoding="utf-8"?>
<p:tagLst xmlns:a="http://schemas.openxmlformats.org/drawingml/2006/main" xmlns:r="http://schemas.openxmlformats.org/officeDocument/2006/relationships" xmlns:p="http://schemas.openxmlformats.org/presentationml/2006/main">
  <p:tag name="THINKCELLSHAPEDONOTDELETE" val="ttp2iR.0K6kerM9RON1AUmA"/>
</p:tagLst>
</file>

<file path=ppt/tags/tag903.xml><?xml version="1.0" encoding="utf-8"?>
<p:tagLst xmlns:a="http://schemas.openxmlformats.org/drawingml/2006/main" xmlns:r="http://schemas.openxmlformats.org/officeDocument/2006/relationships" xmlns:p="http://schemas.openxmlformats.org/presentationml/2006/main">
  <p:tag name="THINKCELLSHAPEDONOTDELETE" val="tjHjb0Bdwa0GlW8woCWtMnw"/>
</p:tagLst>
</file>

<file path=ppt/tags/tag904.xml><?xml version="1.0" encoding="utf-8"?>
<p:tagLst xmlns:a="http://schemas.openxmlformats.org/drawingml/2006/main" xmlns:r="http://schemas.openxmlformats.org/officeDocument/2006/relationships" xmlns:p="http://schemas.openxmlformats.org/presentationml/2006/main">
  <p:tag name="THINKCELLSHAPEDONOTDELETE" val="tbj6FMpxtAEaMu7oB7Qia8w"/>
</p:tagLst>
</file>

<file path=ppt/tags/tag905.xml><?xml version="1.0" encoding="utf-8"?>
<p:tagLst xmlns:a="http://schemas.openxmlformats.org/drawingml/2006/main" xmlns:r="http://schemas.openxmlformats.org/officeDocument/2006/relationships" xmlns:p="http://schemas.openxmlformats.org/presentationml/2006/main">
  <p:tag name="THINKCELLSHAPEDONOTDELETE" val="tqV99GEel60yyMR0BPtVZvg"/>
</p:tagLst>
</file>

<file path=ppt/tags/tag906.xml><?xml version="1.0" encoding="utf-8"?>
<p:tagLst xmlns:a="http://schemas.openxmlformats.org/drawingml/2006/main" xmlns:r="http://schemas.openxmlformats.org/officeDocument/2006/relationships" xmlns:p="http://schemas.openxmlformats.org/presentationml/2006/main">
  <p:tag name="THINKCELLSHAPEDONOTDELETE" val="tTkd8Dj12JkCtrpDnPZOYgQ"/>
</p:tagLst>
</file>

<file path=ppt/tags/tag907.xml><?xml version="1.0" encoding="utf-8"?>
<p:tagLst xmlns:a="http://schemas.openxmlformats.org/drawingml/2006/main" xmlns:r="http://schemas.openxmlformats.org/officeDocument/2006/relationships" xmlns:p="http://schemas.openxmlformats.org/presentationml/2006/main">
  <p:tag name="THINKCELLSHAPEDONOTDELETE" val="tdaUAaM6_e0OqnEgobVL6yA"/>
</p:tagLst>
</file>

<file path=ppt/tags/tag908.xml><?xml version="1.0" encoding="utf-8"?>
<p:tagLst xmlns:a="http://schemas.openxmlformats.org/drawingml/2006/main" xmlns:r="http://schemas.openxmlformats.org/officeDocument/2006/relationships" xmlns:p="http://schemas.openxmlformats.org/presentationml/2006/main">
  <p:tag name="THINKCELLSHAPEDONOTDELETE" val="tCMIRLCgrYEmExo.ubPR.FA"/>
</p:tagLst>
</file>

<file path=ppt/tags/tag909.xml><?xml version="1.0" encoding="utf-8"?>
<p:tagLst xmlns:a="http://schemas.openxmlformats.org/drawingml/2006/main" xmlns:r="http://schemas.openxmlformats.org/officeDocument/2006/relationships" xmlns:p="http://schemas.openxmlformats.org/presentationml/2006/main">
  <p:tag name="THINKCELLSHAPEDONOTDELETE" val="t6Lwsj_ZHIk274nb4bIRIWQ"/>
</p:tagLst>
</file>

<file path=ppt/tags/tag910.xml><?xml version="1.0" encoding="utf-8"?>
<p:tagLst xmlns:a="http://schemas.openxmlformats.org/drawingml/2006/main" xmlns:r="http://schemas.openxmlformats.org/officeDocument/2006/relationships" xmlns:p="http://schemas.openxmlformats.org/presentationml/2006/main">
  <p:tag name="THINKCELLSHAPEDONOTDELETE" val="tdai1Amd.60mra10ars8u8A"/>
</p:tagLst>
</file>

<file path=ppt/tags/tag911.xml><?xml version="1.0" encoding="utf-8"?>
<p:tagLst xmlns:a="http://schemas.openxmlformats.org/drawingml/2006/main" xmlns:r="http://schemas.openxmlformats.org/officeDocument/2006/relationships" xmlns:p="http://schemas.openxmlformats.org/presentationml/2006/main">
  <p:tag name="THINKCELLSHAPEDONOTDELETE" val="thGlN7zeU7kG3ChZq7NdIEg"/>
</p:tagLst>
</file>

<file path=ppt/tags/tag912.xml><?xml version="1.0" encoding="utf-8"?>
<p:tagLst xmlns:a="http://schemas.openxmlformats.org/drawingml/2006/main" xmlns:r="http://schemas.openxmlformats.org/officeDocument/2006/relationships" xmlns:p="http://schemas.openxmlformats.org/presentationml/2006/main">
  <p:tag name="THINKCELLSHAPEDONOTDELETE" val="tA8njHU96sU6tdd6W_m0bFQ"/>
</p:tagLst>
</file>

<file path=ppt/tags/tag9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4.xml><?xml version="1.0" encoding="utf-8"?>
<p:tagLst xmlns:a="http://schemas.openxmlformats.org/drawingml/2006/main" xmlns:r="http://schemas.openxmlformats.org/officeDocument/2006/relationships" xmlns:p="http://schemas.openxmlformats.org/presentationml/2006/main">
  <p:tag name="THINKCELLSHAPEDONOTDELETE" val="tCkrgz0IAI0.4PF2H2vBkgg"/>
</p:tagLst>
</file>

<file path=ppt/tags/tag9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6.xml><?xml version="1.0" encoding="utf-8"?>
<p:tagLst xmlns:a="http://schemas.openxmlformats.org/drawingml/2006/main" xmlns:r="http://schemas.openxmlformats.org/officeDocument/2006/relationships" xmlns:p="http://schemas.openxmlformats.org/presentationml/2006/main">
  <p:tag name="THINKCELLSHAPEDONOTDELETE" val="tCkrgz0IAI0.4PF2H2vBkgg"/>
</p:tagLst>
</file>

<file path=ppt/tags/tag917.xml><?xml version="1.0" encoding="utf-8"?>
<p:tagLst xmlns:a="http://schemas.openxmlformats.org/drawingml/2006/main" xmlns:r="http://schemas.openxmlformats.org/officeDocument/2006/relationships" xmlns:p="http://schemas.openxmlformats.org/presentationml/2006/main">
  <p:tag name="THINKCELLSHAPEDONOTDELETE" val="tk13ECG0SBE2Mg1SZ3mvAaA"/>
</p:tagLst>
</file>

<file path=ppt/tags/tag918.xml><?xml version="1.0" encoding="utf-8"?>
<p:tagLst xmlns:a="http://schemas.openxmlformats.org/drawingml/2006/main" xmlns:r="http://schemas.openxmlformats.org/officeDocument/2006/relationships" xmlns:p="http://schemas.openxmlformats.org/presentationml/2006/main">
  <p:tag name="THINKCELLSHAPEDONOTDELETE" val="tvgjiCFEnCk2BYjPoY17pyg"/>
</p:tagLst>
</file>

<file path=ppt/tags/tag919.xml><?xml version="1.0" encoding="utf-8"?>
<p:tagLst xmlns:a="http://schemas.openxmlformats.org/drawingml/2006/main" xmlns:r="http://schemas.openxmlformats.org/officeDocument/2006/relationships" xmlns:p="http://schemas.openxmlformats.org/presentationml/2006/main">
  <p:tag name="THINKCELLSHAPEDONOTDELETE" val="t5EUxtICz8U6VBzNuzlUVng"/>
</p:tagLst>
</file>

<file path=ppt/tags/tag920.xml><?xml version="1.0" encoding="utf-8"?>
<p:tagLst xmlns:a="http://schemas.openxmlformats.org/drawingml/2006/main" xmlns:r="http://schemas.openxmlformats.org/officeDocument/2006/relationships" xmlns:p="http://schemas.openxmlformats.org/presentationml/2006/main">
  <p:tag name="THINKCELLSHAPEDONOTDELETE" val="tlEXorSjPVUCizMw7X7iKGg"/>
</p:tagLst>
</file>

<file path=ppt/tags/tag921.xml><?xml version="1.0" encoding="utf-8"?>
<p:tagLst xmlns:a="http://schemas.openxmlformats.org/drawingml/2006/main" xmlns:r="http://schemas.openxmlformats.org/officeDocument/2006/relationships" xmlns:p="http://schemas.openxmlformats.org/presentationml/2006/main">
  <p:tag name="THINKCELLSHAPEDONOTDELETE" val="tuz0hN1hKtkSOVBSDybSYFQ"/>
</p:tagLst>
</file>

<file path=ppt/tags/tag922.xml><?xml version="1.0" encoding="utf-8"?>
<p:tagLst xmlns:a="http://schemas.openxmlformats.org/drawingml/2006/main" xmlns:r="http://schemas.openxmlformats.org/officeDocument/2006/relationships" xmlns:p="http://schemas.openxmlformats.org/presentationml/2006/main">
  <p:tag name="THINKCELLSHAPEDONOTDELETE" val="toZGIgnbNVUKUr1HZdfPGkg"/>
</p:tagLst>
</file>

<file path=ppt/tags/tag923.xml><?xml version="1.0" encoding="utf-8"?>
<p:tagLst xmlns:a="http://schemas.openxmlformats.org/drawingml/2006/main" xmlns:r="http://schemas.openxmlformats.org/officeDocument/2006/relationships" xmlns:p="http://schemas.openxmlformats.org/presentationml/2006/main">
  <p:tag name="THINKCELLSHAPEDONOTDELETE" val="tTBfZG6z_OUugR6sP3VOsPA"/>
</p:tagLst>
</file>

<file path=ppt/tags/tag924.xml><?xml version="1.0" encoding="utf-8"?>
<p:tagLst xmlns:a="http://schemas.openxmlformats.org/drawingml/2006/main" xmlns:r="http://schemas.openxmlformats.org/officeDocument/2006/relationships" xmlns:p="http://schemas.openxmlformats.org/presentationml/2006/main">
  <p:tag name="THINKCELLSHAPEDONOTDELETE" val="tAAm5ox5c.kyLWKJR0fgvHA"/>
</p:tagLst>
</file>

<file path=ppt/tags/tag925.xml><?xml version="1.0" encoding="utf-8"?>
<p:tagLst xmlns:a="http://schemas.openxmlformats.org/drawingml/2006/main" xmlns:r="http://schemas.openxmlformats.org/officeDocument/2006/relationships" xmlns:p="http://schemas.openxmlformats.org/presentationml/2006/main">
  <p:tag name="THINKCELLSHAPEDONOTDELETE" val="t_jR.W9sq_0WeicMrRh6cFg"/>
</p:tagLst>
</file>

<file path=ppt/tags/tag926.xml><?xml version="1.0" encoding="utf-8"?>
<p:tagLst xmlns:a="http://schemas.openxmlformats.org/drawingml/2006/main" xmlns:r="http://schemas.openxmlformats.org/officeDocument/2006/relationships" xmlns:p="http://schemas.openxmlformats.org/presentationml/2006/main">
  <p:tag name="THINKCELLSHAPEDONOTDELETE" val="tX9u6hImpq0yTydz0fFnc3A"/>
</p:tagLst>
</file>

<file path=ppt/tags/tag927.xml><?xml version="1.0" encoding="utf-8"?>
<p:tagLst xmlns:a="http://schemas.openxmlformats.org/drawingml/2006/main" xmlns:r="http://schemas.openxmlformats.org/officeDocument/2006/relationships" xmlns:p="http://schemas.openxmlformats.org/presentationml/2006/main">
  <p:tag name="THINKCELLSHAPEDONOTDELETE" val="t1WgT18S.A02i6UR4Gr5X8g"/>
</p:tagLst>
</file>

<file path=ppt/tags/tag928.xml><?xml version="1.0" encoding="utf-8"?>
<p:tagLst xmlns:a="http://schemas.openxmlformats.org/drawingml/2006/main" xmlns:r="http://schemas.openxmlformats.org/officeDocument/2006/relationships" xmlns:p="http://schemas.openxmlformats.org/presentationml/2006/main">
  <p:tag name="THINKCELLSHAPEDONOTDELETE" val="tVDUSiSW0OE6LbBWTd7eyQw"/>
</p:tagLst>
</file>

<file path=ppt/tags/tag929.xml><?xml version="1.0" encoding="utf-8"?>
<p:tagLst xmlns:a="http://schemas.openxmlformats.org/drawingml/2006/main" xmlns:r="http://schemas.openxmlformats.org/officeDocument/2006/relationships" xmlns:p="http://schemas.openxmlformats.org/presentationml/2006/main">
  <p:tag name="THINKCELLSHAPEDONOTDELETE" val="tqcRb7GVXMk2GDsfs2xPaBg"/>
</p:tagLst>
</file>

<file path=ppt/tags/tag930.xml><?xml version="1.0" encoding="utf-8"?>
<p:tagLst xmlns:a="http://schemas.openxmlformats.org/drawingml/2006/main" xmlns:r="http://schemas.openxmlformats.org/officeDocument/2006/relationships" xmlns:p="http://schemas.openxmlformats.org/presentationml/2006/main">
  <p:tag name="THINKCELLSHAPEDONOTDELETE" val="tnnlnxGip0E2Sy1.m64M.zg"/>
</p:tagLst>
</file>

<file path=ppt/tags/tag931.xml><?xml version="1.0" encoding="utf-8"?>
<p:tagLst xmlns:a="http://schemas.openxmlformats.org/drawingml/2006/main" xmlns:r="http://schemas.openxmlformats.org/officeDocument/2006/relationships" xmlns:p="http://schemas.openxmlformats.org/presentationml/2006/main">
  <p:tag name="THINKCELLSHAPEDONOTDELETE" val="t6eSIxS_ZqUiG6.GWI0BaeQ"/>
</p:tagLst>
</file>

<file path=ppt/tags/tag932.xml><?xml version="1.0" encoding="utf-8"?>
<p:tagLst xmlns:a="http://schemas.openxmlformats.org/drawingml/2006/main" xmlns:r="http://schemas.openxmlformats.org/officeDocument/2006/relationships" xmlns:p="http://schemas.openxmlformats.org/presentationml/2006/main">
  <p:tag name="THINKCELLSHAPEDONOTDELETE" val="t9XnQ54vyWUSXtC0vFkkugQ"/>
</p:tagLst>
</file>

<file path=ppt/tags/tag933.xml><?xml version="1.0" encoding="utf-8"?>
<p:tagLst xmlns:a="http://schemas.openxmlformats.org/drawingml/2006/main" xmlns:r="http://schemas.openxmlformats.org/officeDocument/2006/relationships" xmlns:p="http://schemas.openxmlformats.org/presentationml/2006/main">
  <p:tag name="THINKCELLSHAPEDONOTDELETE" val="twp2EZYsQIkeuT.U0gEtbNg"/>
</p:tagLst>
</file>

<file path=ppt/tags/tag934.xml><?xml version="1.0" encoding="utf-8"?>
<p:tagLst xmlns:a="http://schemas.openxmlformats.org/drawingml/2006/main" xmlns:r="http://schemas.openxmlformats.org/officeDocument/2006/relationships" xmlns:p="http://schemas.openxmlformats.org/presentationml/2006/main">
  <p:tag name="THINKCELLSHAPEDONOTDELETE" val="tx6R9Da9lkk6tFGEer_bdNg"/>
</p:tagLst>
</file>

<file path=ppt/tags/tag935.xml><?xml version="1.0" encoding="utf-8"?>
<p:tagLst xmlns:a="http://schemas.openxmlformats.org/drawingml/2006/main" xmlns:r="http://schemas.openxmlformats.org/officeDocument/2006/relationships" xmlns:p="http://schemas.openxmlformats.org/presentationml/2006/main">
  <p:tag name="THINKCELLSHAPEDONOTDELETE" val="tNNYK87Cc70eAhBHHCPpJjw"/>
</p:tagLst>
</file>

<file path=ppt/tags/tag936.xml><?xml version="1.0" encoding="utf-8"?>
<p:tagLst xmlns:a="http://schemas.openxmlformats.org/drawingml/2006/main" xmlns:r="http://schemas.openxmlformats.org/officeDocument/2006/relationships" xmlns:p="http://schemas.openxmlformats.org/presentationml/2006/main">
  <p:tag name="THINKCELLSHAPEDONOTDELETE" val="tbm9dcZhdW0mLE7HRff5J1A"/>
</p:tagLst>
</file>

<file path=ppt/tags/tag937.xml><?xml version="1.0" encoding="utf-8"?>
<p:tagLst xmlns:a="http://schemas.openxmlformats.org/drawingml/2006/main" xmlns:r="http://schemas.openxmlformats.org/officeDocument/2006/relationships" xmlns:p="http://schemas.openxmlformats.org/presentationml/2006/main">
  <p:tag name="THINKCELLSHAPEDONOTDELETE" val="t9XfhdAO8DECs8xc6kMK9rg"/>
</p:tagLst>
</file>

<file path=ppt/tags/tag938.xml><?xml version="1.0" encoding="utf-8"?>
<p:tagLst xmlns:a="http://schemas.openxmlformats.org/drawingml/2006/main" xmlns:r="http://schemas.openxmlformats.org/officeDocument/2006/relationships" xmlns:p="http://schemas.openxmlformats.org/presentationml/2006/main">
  <p:tag name="THINKCELLSHAPEDONOTDELETE" val="t2tDOyGlpMEyL6quVJxyehA"/>
</p:tagLst>
</file>

<file path=ppt/tags/tag939.xml><?xml version="1.0" encoding="utf-8"?>
<p:tagLst xmlns:a="http://schemas.openxmlformats.org/drawingml/2006/main" xmlns:r="http://schemas.openxmlformats.org/officeDocument/2006/relationships" xmlns:p="http://schemas.openxmlformats.org/presentationml/2006/main">
  <p:tag name="THINKCELLSHAPEDONOTDELETE" val="tRzfeJJbuXUq7VdcfRbwABw"/>
</p:tagLst>
</file>

<file path=ppt/tags/tag940.xml><?xml version="1.0" encoding="utf-8"?>
<p:tagLst xmlns:a="http://schemas.openxmlformats.org/drawingml/2006/main" xmlns:r="http://schemas.openxmlformats.org/officeDocument/2006/relationships" xmlns:p="http://schemas.openxmlformats.org/presentationml/2006/main">
  <p:tag name="THINKCELLSHAPEDONOTDELETE" val="te_39njVb8kKQTfxOtD7wyA"/>
</p:tagLst>
</file>

<file path=ppt/tags/tag941.xml><?xml version="1.0" encoding="utf-8"?>
<p:tagLst xmlns:a="http://schemas.openxmlformats.org/drawingml/2006/main" xmlns:r="http://schemas.openxmlformats.org/officeDocument/2006/relationships" xmlns:p="http://schemas.openxmlformats.org/presentationml/2006/main">
  <p:tag name="THINKCELLSHAPEDONOTDELETE" val="t04gG3EWyrk2a9oL3JRDH7Q"/>
</p:tagLst>
</file>

<file path=ppt/tags/tag942.xml><?xml version="1.0" encoding="utf-8"?>
<p:tagLst xmlns:a="http://schemas.openxmlformats.org/drawingml/2006/main" xmlns:r="http://schemas.openxmlformats.org/officeDocument/2006/relationships" xmlns:p="http://schemas.openxmlformats.org/presentationml/2006/main">
  <p:tag name="THINKCELLSHAPEDONOTDELETE" val="tmVCfQ8AuJECl7O9xDMiDqQ"/>
</p:tagLst>
</file>

<file path=ppt/tags/tag943.xml><?xml version="1.0" encoding="utf-8"?>
<p:tagLst xmlns:a="http://schemas.openxmlformats.org/drawingml/2006/main" xmlns:r="http://schemas.openxmlformats.org/officeDocument/2006/relationships" xmlns:p="http://schemas.openxmlformats.org/presentationml/2006/main">
  <p:tag name="THINKCELLSHAPEDONOTDELETE" val="tPsr_FRYNAECiY4H8cey9Og"/>
</p:tagLst>
</file>

<file path=ppt/tags/tag944.xml><?xml version="1.0" encoding="utf-8"?>
<p:tagLst xmlns:a="http://schemas.openxmlformats.org/drawingml/2006/main" xmlns:r="http://schemas.openxmlformats.org/officeDocument/2006/relationships" xmlns:p="http://schemas.openxmlformats.org/presentationml/2006/main">
  <p:tag name="THINKCELLSHAPEDONOTDELETE" val="tJUtGmvKnZEm7UNdEtwIm0g"/>
</p:tagLst>
</file>

<file path=ppt/tags/tag945.xml><?xml version="1.0" encoding="utf-8"?>
<p:tagLst xmlns:a="http://schemas.openxmlformats.org/drawingml/2006/main" xmlns:r="http://schemas.openxmlformats.org/officeDocument/2006/relationships" xmlns:p="http://schemas.openxmlformats.org/presentationml/2006/main">
  <p:tag name="THINKCELLSHAPEDONOTDELETE" val="tgq7ptWK2IUmTPcBb2yMcTA"/>
</p:tagLst>
</file>

<file path=ppt/tags/tag946.xml><?xml version="1.0" encoding="utf-8"?>
<p:tagLst xmlns:a="http://schemas.openxmlformats.org/drawingml/2006/main" xmlns:r="http://schemas.openxmlformats.org/officeDocument/2006/relationships" xmlns:p="http://schemas.openxmlformats.org/presentationml/2006/main">
  <p:tag name="THINKCELLSHAPEDONOTDELETE" val="tNm_48gEPNkOtEmJXuO2MWA"/>
</p:tagLst>
</file>

<file path=ppt/tags/tag947.xml><?xml version="1.0" encoding="utf-8"?>
<p:tagLst xmlns:a="http://schemas.openxmlformats.org/drawingml/2006/main" xmlns:r="http://schemas.openxmlformats.org/officeDocument/2006/relationships" xmlns:p="http://schemas.openxmlformats.org/presentationml/2006/main">
  <p:tag name="THINKCELLSHAPEDONOTDELETE" val="t6daL3rczjkuriltbNGr31Q"/>
</p:tagLst>
</file>

<file path=ppt/tags/tag948.xml><?xml version="1.0" encoding="utf-8"?>
<p:tagLst xmlns:a="http://schemas.openxmlformats.org/drawingml/2006/main" xmlns:r="http://schemas.openxmlformats.org/officeDocument/2006/relationships" xmlns:p="http://schemas.openxmlformats.org/presentationml/2006/main">
  <p:tag name="THINKCELLSHAPEDONOTDELETE" val="tJpNYPdmYnkCd_k1SVgkyeg"/>
</p:tagLst>
</file>

<file path=ppt/tags/tag949.xml><?xml version="1.0" encoding="utf-8"?>
<p:tagLst xmlns:a="http://schemas.openxmlformats.org/drawingml/2006/main" xmlns:r="http://schemas.openxmlformats.org/officeDocument/2006/relationships" xmlns:p="http://schemas.openxmlformats.org/presentationml/2006/main">
  <p:tag name="THINKCELLSHAPEDONOTDELETE" val="tm4FY_zapTUWflgHS89gkRA"/>
</p:tagLst>
</file>

<file path=ppt/tags/tag950.xml><?xml version="1.0" encoding="utf-8"?>
<p:tagLst xmlns:a="http://schemas.openxmlformats.org/drawingml/2006/main" xmlns:r="http://schemas.openxmlformats.org/officeDocument/2006/relationships" xmlns:p="http://schemas.openxmlformats.org/presentationml/2006/main">
  <p:tag name="THINKCELLSHAPEDONOTDELETE" val="tw8KfgJ4WpEafLVGzOkhL3Q"/>
</p:tagLst>
</file>

<file path=ppt/tags/tag951.xml><?xml version="1.0" encoding="utf-8"?>
<p:tagLst xmlns:a="http://schemas.openxmlformats.org/drawingml/2006/main" xmlns:r="http://schemas.openxmlformats.org/officeDocument/2006/relationships" xmlns:p="http://schemas.openxmlformats.org/presentationml/2006/main">
  <p:tag name="THINKCELLSHAPEDONOTDELETE" val="td6Akf3ZZRU.ozFq.3U0kBg"/>
</p:tagLst>
</file>

<file path=ppt/tags/tag952.xml><?xml version="1.0" encoding="utf-8"?>
<p:tagLst xmlns:a="http://schemas.openxmlformats.org/drawingml/2006/main" xmlns:r="http://schemas.openxmlformats.org/officeDocument/2006/relationships" xmlns:p="http://schemas.openxmlformats.org/presentationml/2006/main">
  <p:tag name="THINKCELLSHAPEDONOTDELETE" val="tufAhXYvx90mAf8r.ApmV4w"/>
</p:tagLst>
</file>

<file path=ppt/tags/tag953.xml><?xml version="1.0" encoding="utf-8"?>
<p:tagLst xmlns:a="http://schemas.openxmlformats.org/drawingml/2006/main" xmlns:r="http://schemas.openxmlformats.org/officeDocument/2006/relationships" xmlns:p="http://schemas.openxmlformats.org/presentationml/2006/main">
  <p:tag name="THINKCELLSHAPEDONOTDELETE" val="tvz4wsIft0ECOejJ2uJSrmA"/>
</p:tagLst>
</file>

<file path=ppt/tags/tag954.xml><?xml version="1.0" encoding="utf-8"?>
<p:tagLst xmlns:a="http://schemas.openxmlformats.org/drawingml/2006/main" xmlns:r="http://schemas.openxmlformats.org/officeDocument/2006/relationships" xmlns:p="http://schemas.openxmlformats.org/presentationml/2006/main">
  <p:tag name="THINKCELLSHAPEDONOTDELETE" val="tCEJp1DQcGEOcS1Vriz6DGw"/>
</p:tagLst>
</file>

<file path=ppt/tags/tag955.xml><?xml version="1.0" encoding="utf-8"?>
<p:tagLst xmlns:a="http://schemas.openxmlformats.org/drawingml/2006/main" xmlns:r="http://schemas.openxmlformats.org/officeDocument/2006/relationships" xmlns:p="http://schemas.openxmlformats.org/presentationml/2006/main">
  <p:tag name="THINKCELLSHAPEDONOTDELETE" val="th.YirHDbmEOgXHiECnfZNw"/>
</p:tagLst>
</file>

<file path=ppt/tags/tag956.xml><?xml version="1.0" encoding="utf-8"?>
<p:tagLst xmlns:a="http://schemas.openxmlformats.org/drawingml/2006/main" xmlns:r="http://schemas.openxmlformats.org/officeDocument/2006/relationships" xmlns:p="http://schemas.openxmlformats.org/presentationml/2006/main">
  <p:tag name="THINKCELLSHAPEDONOTDELETE" val="tSCNJkWQ8cU6A5kFpg_MlJA"/>
</p:tagLst>
</file>

<file path=ppt/tags/tag957.xml><?xml version="1.0" encoding="utf-8"?>
<p:tagLst xmlns:a="http://schemas.openxmlformats.org/drawingml/2006/main" xmlns:r="http://schemas.openxmlformats.org/officeDocument/2006/relationships" xmlns:p="http://schemas.openxmlformats.org/presentationml/2006/main">
  <p:tag name="THINKCELLSHAPEDONOTDELETE" val="tbILYVavrx0GSZZJgnXeaJA"/>
</p:tagLst>
</file>

<file path=ppt/tags/tag958.xml><?xml version="1.0" encoding="utf-8"?>
<p:tagLst xmlns:a="http://schemas.openxmlformats.org/drawingml/2006/main" xmlns:r="http://schemas.openxmlformats.org/officeDocument/2006/relationships" xmlns:p="http://schemas.openxmlformats.org/presentationml/2006/main">
  <p:tag name="THINKCELLSHAPEDONOTDELETE" val="tBc6AbPRsW0ai0FNq6HhFVQ"/>
</p:tagLst>
</file>

<file path=ppt/tags/tag959.xml><?xml version="1.0" encoding="utf-8"?>
<p:tagLst xmlns:a="http://schemas.openxmlformats.org/drawingml/2006/main" xmlns:r="http://schemas.openxmlformats.org/officeDocument/2006/relationships" xmlns:p="http://schemas.openxmlformats.org/presentationml/2006/main">
  <p:tag name="THINKCELLSHAPEDONOTDELETE" val="tiNmjK6wJlkaH0GrqbjPn.w"/>
</p:tagLst>
</file>

<file path=ppt/tags/tag960.xml><?xml version="1.0" encoding="utf-8"?>
<p:tagLst xmlns:a="http://schemas.openxmlformats.org/drawingml/2006/main" xmlns:r="http://schemas.openxmlformats.org/officeDocument/2006/relationships" xmlns:p="http://schemas.openxmlformats.org/presentationml/2006/main">
  <p:tag name="THINKCELLSHAPEDONOTDELETE" val="t9eln39bC_EaKO5R3pGioNg"/>
</p:tagLst>
</file>

<file path=ppt/tags/tag961.xml><?xml version="1.0" encoding="utf-8"?>
<p:tagLst xmlns:a="http://schemas.openxmlformats.org/drawingml/2006/main" xmlns:r="http://schemas.openxmlformats.org/officeDocument/2006/relationships" xmlns:p="http://schemas.openxmlformats.org/presentationml/2006/main">
  <p:tag name="THINKCELLSHAPEDONOTDELETE" val="tG37krzvFK0mM6XigAOW01g"/>
</p:tagLst>
</file>

<file path=ppt/tags/tag962.xml><?xml version="1.0" encoding="utf-8"?>
<p:tagLst xmlns:a="http://schemas.openxmlformats.org/drawingml/2006/main" xmlns:r="http://schemas.openxmlformats.org/officeDocument/2006/relationships" xmlns:p="http://schemas.openxmlformats.org/presentationml/2006/main">
  <p:tag name="THINKCELLSHAPEDONOTDELETE" val="tWGhNUnNuPkG2vRzzKBpEJQ"/>
</p:tagLst>
</file>

<file path=ppt/tags/tag963.xml><?xml version="1.0" encoding="utf-8"?>
<p:tagLst xmlns:a="http://schemas.openxmlformats.org/drawingml/2006/main" xmlns:r="http://schemas.openxmlformats.org/officeDocument/2006/relationships" xmlns:p="http://schemas.openxmlformats.org/presentationml/2006/main">
  <p:tag name="THINKCELLSHAPEDONOTDELETE" val="t.4.xVe0ewUibE1FWjNvvHA"/>
</p:tagLst>
</file>

<file path=ppt/tags/tag964.xml><?xml version="1.0" encoding="utf-8"?>
<p:tagLst xmlns:a="http://schemas.openxmlformats.org/drawingml/2006/main" xmlns:r="http://schemas.openxmlformats.org/officeDocument/2006/relationships" xmlns:p="http://schemas.openxmlformats.org/presentationml/2006/main">
  <p:tag name="THINKCELLSHAPEDONOTDELETE" val="twzJPQSAtNEyVQzUUfe3o0w"/>
</p:tagLst>
</file>

<file path=ppt/tags/tag965.xml><?xml version="1.0" encoding="utf-8"?>
<p:tagLst xmlns:a="http://schemas.openxmlformats.org/drawingml/2006/main" xmlns:r="http://schemas.openxmlformats.org/officeDocument/2006/relationships" xmlns:p="http://schemas.openxmlformats.org/presentationml/2006/main">
  <p:tag name="THINKCELLSHAPEDONOTDELETE" val="tACgPMpUHWU2ne5ZBhuvxcg"/>
</p:tagLst>
</file>

<file path=ppt/tags/tag966.xml><?xml version="1.0" encoding="utf-8"?>
<p:tagLst xmlns:a="http://schemas.openxmlformats.org/drawingml/2006/main" xmlns:r="http://schemas.openxmlformats.org/officeDocument/2006/relationships" xmlns:p="http://schemas.openxmlformats.org/presentationml/2006/main">
  <p:tag name="THINKCELLSHAPEDONOTDELETE" val="tBjEkbDxlOUWrTB7NkQyJnQ"/>
</p:tagLst>
</file>

<file path=ppt/tags/tag967.xml><?xml version="1.0" encoding="utf-8"?>
<p:tagLst xmlns:a="http://schemas.openxmlformats.org/drawingml/2006/main" xmlns:r="http://schemas.openxmlformats.org/officeDocument/2006/relationships" xmlns:p="http://schemas.openxmlformats.org/presentationml/2006/main">
  <p:tag name="THINKCELLSHAPEDONOTDELETE" val="tWvO.utO7e0CocJ9ijsSbxg"/>
</p:tagLst>
</file>

<file path=ppt/tags/tag968.xml><?xml version="1.0" encoding="utf-8"?>
<p:tagLst xmlns:a="http://schemas.openxmlformats.org/drawingml/2006/main" xmlns:r="http://schemas.openxmlformats.org/officeDocument/2006/relationships" xmlns:p="http://schemas.openxmlformats.org/presentationml/2006/main">
  <p:tag name="THINKCELLSHAPEDONOTDELETE" val="t0Jzl6tPwNUS3bZ4eH11h5g"/>
</p:tagLst>
</file>

<file path=ppt/tags/tag969.xml><?xml version="1.0" encoding="utf-8"?>
<p:tagLst xmlns:a="http://schemas.openxmlformats.org/drawingml/2006/main" xmlns:r="http://schemas.openxmlformats.org/officeDocument/2006/relationships" xmlns:p="http://schemas.openxmlformats.org/presentationml/2006/main">
  <p:tag name="THINKCELLSHAPEDONOTDELETE" val="tbdJqVdl_rUqlvDgMNINPhA"/>
</p:tagLst>
</file>

<file path=ppt/tags/tag970.xml><?xml version="1.0" encoding="utf-8"?>
<p:tagLst xmlns:a="http://schemas.openxmlformats.org/drawingml/2006/main" xmlns:r="http://schemas.openxmlformats.org/officeDocument/2006/relationships" xmlns:p="http://schemas.openxmlformats.org/presentationml/2006/main">
  <p:tag name="THINKCELLSHAPEDONOTDELETE" val="tbrUQAMR0H0ygI0aokkiv0A"/>
</p:tagLst>
</file>

<file path=ppt/tags/tag971.xml><?xml version="1.0" encoding="utf-8"?>
<p:tagLst xmlns:a="http://schemas.openxmlformats.org/drawingml/2006/main" xmlns:r="http://schemas.openxmlformats.org/officeDocument/2006/relationships" xmlns:p="http://schemas.openxmlformats.org/presentationml/2006/main">
  <p:tag name="THINKCELLSHAPEDONOTDELETE" val="tOYw9NlaWf0qCgdXIR6AvbQ"/>
</p:tagLst>
</file>

<file path=ppt/tags/tag972.xml><?xml version="1.0" encoding="utf-8"?>
<p:tagLst xmlns:a="http://schemas.openxmlformats.org/drawingml/2006/main" xmlns:r="http://schemas.openxmlformats.org/officeDocument/2006/relationships" xmlns:p="http://schemas.openxmlformats.org/presentationml/2006/main">
  <p:tag name="THINKCELLSHAPEDONOTDELETE" val="tJ_WKweaKhUKzJZKh.xVs.w"/>
</p:tagLst>
</file>

<file path=ppt/tags/tag973.xml><?xml version="1.0" encoding="utf-8"?>
<p:tagLst xmlns:a="http://schemas.openxmlformats.org/drawingml/2006/main" xmlns:r="http://schemas.openxmlformats.org/officeDocument/2006/relationships" xmlns:p="http://schemas.openxmlformats.org/presentationml/2006/main">
  <p:tag name="THINKCELLSHAPEDONOTDELETE" val="tRJH4hjH270eTsL_0.o2wpQ"/>
</p:tagLst>
</file>

<file path=ppt/tags/tag974.xml><?xml version="1.0" encoding="utf-8"?>
<p:tagLst xmlns:a="http://schemas.openxmlformats.org/drawingml/2006/main" xmlns:r="http://schemas.openxmlformats.org/officeDocument/2006/relationships" xmlns:p="http://schemas.openxmlformats.org/presentationml/2006/main">
  <p:tag name="THINKCELLSHAPEDONOTDELETE" val="tyEd0Q_8Lg0eWuqqdZtT8qg"/>
</p:tagLst>
</file>

<file path=ppt/tags/tag975.xml><?xml version="1.0" encoding="utf-8"?>
<p:tagLst xmlns:a="http://schemas.openxmlformats.org/drawingml/2006/main" xmlns:r="http://schemas.openxmlformats.org/officeDocument/2006/relationships" xmlns:p="http://schemas.openxmlformats.org/presentationml/2006/main">
  <p:tag name="THINKCELLSHAPEDONOTDELETE" val="t18kVXy9Y9EW70ZMGAOthMw"/>
</p:tagLst>
</file>

<file path=ppt/tags/tag9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7.xml><?xml version="1.0" encoding="utf-8"?>
<p:tagLst xmlns:a="http://schemas.openxmlformats.org/drawingml/2006/main" xmlns:r="http://schemas.openxmlformats.org/officeDocument/2006/relationships" xmlns:p="http://schemas.openxmlformats.org/presentationml/2006/main">
  <p:tag name="THINKCELLSHAPEDONOTDELETE" val="tCkrgz0IAI0.4PF2H2vBkgg"/>
</p:tagLst>
</file>

<file path=ppt/tags/tag978.xml><?xml version="1.0" encoding="utf-8"?>
<p:tagLst xmlns:a="http://schemas.openxmlformats.org/drawingml/2006/main" xmlns:r="http://schemas.openxmlformats.org/officeDocument/2006/relationships" xmlns:p="http://schemas.openxmlformats.org/presentationml/2006/main">
  <p:tag name="THINKCELLSHAPEDONOTDELETE" val="tJ0EFP3SFeEGAV84rl52xwA"/>
</p:tagLst>
</file>

<file path=ppt/tags/tag979.xml><?xml version="1.0" encoding="utf-8"?>
<p:tagLst xmlns:a="http://schemas.openxmlformats.org/drawingml/2006/main" xmlns:r="http://schemas.openxmlformats.org/officeDocument/2006/relationships" xmlns:p="http://schemas.openxmlformats.org/presentationml/2006/main">
  <p:tag name="THINKCELLSHAPEDONOTDELETE" val="tQ1K7Te5Wckqp.xo8cd2K4g"/>
</p:tagLst>
</file>

<file path=ppt/tags/tag980.xml><?xml version="1.0" encoding="utf-8"?>
<p:tagLst xmlns:a="http://schemas.openxmlformats.org/drawingml/2006/main" xmlns:r="http://schemas.openxmlformats.org/officeDocument/2006/relationships" xmlns:p="http://schemas.openxmlformats.org/presentationml/2006/main">
  <p:tag name="THINKCELLSHAPEDONOTDELETE" val="ttSyWRT_2qkK1A8Nw5PdzMA"/>
</p:tagLst>
</file>

<file path=ppt/tags/tag981.xml><?xml version="1.0" encoding="utf-8"?>
<p:tagLst xmlns:a="http://schemas.openxmlformats.org/drawingml/2006/main" xmlns:r="http://schemas.openxmlformats.org/officeDocument/2006/relationships" xmlns:p="http://schemas.openxmlformats.org/presentationml/2006/main">
  <p:tag name="THINKCELLSHAPEDONOTDELETE" val="tbI8MXzKnyEGQhj6RzgKgiQ"/>
</p:tagLst>
</file>

<file path=ppt/tags/tag982.xml><?xml version="1.0" encoding="utf-8"?>
<p:tagLst xmlns:a="http://schemas.openxmlformats.org/drawingml/2006/main" xmlns:r="http://schemas.openxmlformats.org/officeDocument/2006/relationships" xmlns:p="http://schemas.openxmlformats.org/presentationml/2006/main">
  <p:tag name="THINKCELLSHAPEDONOTDELETE" val="tDmn_irvUtkGsIf3xpJcX_A"/>
</p:tagLst>
</file>

<file path=ppt/tags/tag983.xml><?xml version="1.0" encoding="utf-8"?>
<p:tagLst xmlns:a="http://schemas.openxmlformats.org/drawingml/2006/main" xmlns:r="http://schemas.openxmlformats.org/officeDocument/2006/relationships" xmlns:p="http://schemas.openxmlformats.org/presentationml/2006/main">
  <p:tag name="THINKCELLSHAPEDONOTDELETE" val="tX_6rLfEck0as_JKnHSx64A"/>
</p:tagLst>
</file>

<file path=ppt/tags/tag984.xml><?xml version="1.0" encoding="utf-8"?>
<p:tagLst xmlns:a="http://schemas.openxmlformats.org/drawingml/2006/main" xmlns:r="http://schemas.openxmlformats.org/officeDocument/2006/relationships" xmlns:p="http://schemas.openxmlformats.org/presentationml/2006/main">
  <p:tag name="THINKCELLSHAPEDONOTDELETE" val="tahjG0MjYJ0Ks6dJ..cP68g"/>
</p:tagLst>
</file>

<file path=ppt/tags/tag985.xml><?xml version="1.0" encoding="utf-8"?>
<p:tagLst xmlns:a="http://schemas.openxmlformats.org/drawingml/2006/main" xmlns:r="http://schemas.openxmlformats.org/officeDocument/2006/relationships" xmlns:p="http://schemas.openxmlformats.org/presentationml/2006/main">
  <p:tag name="THINKCELLSHAPEDONOTDELETE" val="t5CKQqz6H_U6T_B1g56Xqfw"/>
</p:tagLst>
</file>

<file path=ppt/tags/tag986.xml><?xml version="1.0" encoding="utf-8"?>
<p:tagLst xmlns:a="http://schemas.openxmlformats.org/drawingml/2006/main" xmlns:r="http://schemas.openxmlformats.org/officeDocument/2006/relationships" xmlns:p="http://schemas.openxmlformats.org/presentationml/2006/main">
  <p:tag name="THINKCELLSHAPEDONOTDELETE" val="tBHMik6lb8kOAEVThaPCM4A"/>
</p:tagLst>
</file>

<file path=ppt/tags/tag987.xml><?xml version="1.0" encoding="utf-8"?>
<p:tagLst xmlns:a="http://schemas.openxmlformats.org/drawingml/2006/main" xmlns:r="http://schemas.openxmlformats.org/officeDocument/2006/relationships" xmlns:p="http://schemas.openxmlformats.org/presentationml/2006/main">
  <p:tag name="THINKCELLSHAPEDONOTDELETE" val="tqeDWFyYqD0WQMuugW0c6vQ"/>
</p:tagLst>
</file>

<file path=ppt/tags/tag988.xml><?xml version="1.0" encoding="utf-8"?>
<p:tagLst xmlns:a="http://schemas.openxmlformats.org/drawingml/2006/main" xmlns:r="http://schemas.openxmlformats.org/officeDocument/2006/relationships" xmlns:p="http://schemas.openxmlformats.org/presentationml/2006/main">
  <p:tag name="THINKCELLSHAPEDONOTDELETE" val="t9GBVwUa6rEKxFgzSPOHT_g"/>
</p:tagLst>
</file>

<file path=ppt/tags/tag989.xml><?xml version="1.0" encoding="utf-8"?>
<p:tagLst xmlns:a="http://schemas.openxmlformats.org/drawingml/2006/main" xmlns:r="http://schemas.openxmlformats.org/officeDocument/2006/relationships" xmlns:p="http://schemas.openxmlformats.org/presentationml/2006/main">
  <p:tag name="THINKCELLSHAPEDONOTDELETE" val="t6Ia5Nmo2akCHGgf1aPXEwQ"/>
</p:tagLst>
</file>

<file path=ppt/tags/tag990.xml><?xml version="1.0" encoding="utf-8"?>
<p:tagLst xmlns:a="http://schemas.openxmlformats.org/drawingml/2006/main" xmlns:r="http://schemas.openxmlformats.org/officeDocument/2006/relationships" xmlns:p="http://schemas.openxmlformats.org/presentationml/2006/main">
  <p:tag name="THINKCELLSHAPEDONOTDELETE" val="tZivlUbX2XU.IfOJ_MpvHjg"/>
</p:tagLst>
</file>

<file path=ppt/tags/tag991.xml><?xml version="1.0" encoding="utf-8"?>
<p:tagLst xmlns:a="http://schemas.openxmlformats.org/drawingml/2006/main" xmlns:r="http://schemas.openxmlformats.org/officeDocument/2006/relationships" xmlns:p="http://schemas.openxmlformats.org/presentationml/2006/main">
  <p:tag name="THINKCELLSHAPEDONOTDELETE" val="tWk6HGMaJjUCw4.EWGJX5UA"/>
</p:tagLst>
</file>

<file path=ppt/tags/tag992.xml><?xml version="1.0" encoding="utf-8"?>
<p:tagLst xmlns:a="http://schemas.openxmlformats.org/drawingml/2006/main" xmlns:r="http://schemas.openxmlformats.org/officeDocument/2006/relationships" xmlns:p="http://schemas.openxmlformats.org/presentationml/2006/main">
  <p:tag name="THINKCELLSHAPEDONOTDELETE" val="tviH4Tj3zH0qmXJ7vcpmqzg"/>
</p:tagLst>
</file>

<file path=ppt/tags/tag9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4.xml><?xml version="1.0" encoding="utf-8"?>
<p:tagLst xmlns:a="http://schemas.openxmlformats.org/drawingml/2006/main" xmlns:r="http://schemas.openxmlformats.org/officeDocument/2006/relationships" xmlns:p="http://schemas.openxmlformats.org/presentationml/2006/main">
  <p:tag name="THINKCELLSHAPEDONOTDELETE" val="tGlMibC4fJ0iFBOIy1IzyIg"/>
</p:tagLst>
</file>

<file path=ppt/tags/tag995.xml><?xml version="1.0" encoding="utf-8"?>
<p:tagLst xmlns:a="http://schemas.openxmlformats.org/drawingml/2006/main" xmlns:r="http://schemas.openxmlformats.org/officeDocument/2006/relationships" xmlns:p="http://schemas.openxmlformats.org/presentationml/2006/main">
  <p:tag name="THINKCELLSHAPEDONOTDELETE" val="triXrQfcruEyL.TDWgw9mYw"/>
</p:tagLst>
</file>

<file path=ppt/tags/tag996.xml><?xml version="1.0" encoding="utf-8"?>
<p:tagLst xmlns:a="http://schemas.openxmlformats.org/drawingml/2006/main" xmlns:r="http://schemas.openxmlformats.org/officeDocument/2006/relationships" xmlns:p="http://schemas.openxmlformats.org/presentationml/2006/main">
  <p:tag name="THINKCELLSHAPEDONOTDELETE" val="tjvrY9TLjLUKbS7qLxHxYAA"/>
</p:tagLst>
</file>

<file path=ppt/tags/tag997.xml><?xml version="1.0" encoding="utf-8"?>
<p:tagLst xmlns:a="http://schemas.openxmlformats.org/drawingml/2006/main" xmlns:r="http://schemas.openxmlformats.org/officeDocument/2006/relationships" xmlns:p="http://schemas.openxmlformats.org/presentationml/2006/main">
  <p:tag name="THINKCELLSHAPEDONOTDELETE" val="tIOPZzMgUF0OGsYAqZfMirQ"/>
</p:tagLst>
</file>

<file path=ppt/tags/tag998.xml><?xml version="1.0" encoding="utf-8"?>
<p:tagLst xmlns:a="http://schemas.openxmlformats.org/drawingml/2006/main" xmlns:r="http://schemas.openxmlformats.org/officeDocument/2006/relationships" xmlns:p="http://schemas.openxmlformats.org/presentationml/2006/main">
  <p:tag name="THINKCELLSHAPEDONOTDELETE" val="tKaypde.VykuXrwHP2vSzWA"/>
</p:tagLst>
</file>

<file path=ppt/tags/tag999.xml><?xml version="1.0" encoding="utf-8"?>
<p:tagLst xmlns:a="http://schemas.openxmlformats.org/drawingml/2006/main" xmlns:r="http://schemas.openxmlformats.org/officeDocument/2006/relationships" xmlns:p="http://schemas.openxmlformats.org/presentationml/2006/main">
  <p:tag name="THINKCELLSHAPEDONOTDELETE" val="tIesYrqF1QU.rZZLgXxrJoQ"/>
</p:tagLst>
</file>

<file path=ppt/tags/tag1000.xml><?xml version="1.0" encoding="utf-8"?>
<p:tagLst xmlns:a="http://schemas.openxmlformats.org/drawingml/2006/main" xmlns:r="http://schemas.openxmlformats.org/officeDocument/2006/relationships" xmlns:p="http://schemas.openxmlformats.org/presentationml/2006/main">
  <p:tag name="THINKCELLSHAPEDONOTDELETE" val="tQoZj4mMcqkWCj.rnQC5RZA"/>
</p:tagLst>
</file>

<file path=ppt/tags/tag1001.xml><?xml version="1.0" encoding="utf-8"?>
<p:tagLst xmlns:a="http://schemas.openxmlformats.org/drawingml/2006/main" xmlns:r="http://schemas.openxmlformats.org/officeDocument/2006/relationships" xmlns:p="http://schemas.openxmlformats.org/presentationml/2006/main">
  <p:tag name="THINKCELLSHAPEDONOTDELETE" val="t4iFNCx_mg0iNnuEVHkNV6Q"/>
</p:tagLst>
</file>

<file path=ppt/tags/tag1002.xml><?xml version="1.0" encoding="utf-8"?>
<p:tagLst xmlns:a="http://schemas.openxmlformats.org/drawingml/2006/main" xmlns:r="http://schemas.openxmlformats.org/officeDocument/2006/relationships" xmlns:p="http://schemas.openxmlformats.org/presentationml/2006/main">
  <p:tag name="THINKCELLSHAPEDONOTDELETE" val="t53D2lEku6EKH.rxXaqR5FA"/>
</p:tagLst>
</file>

<file path=ppt/tags/tag1003.xml><?xml version="1.0" encoding="utf-8"?>
<p:tagLst xmlns:a="http://schemas.openxmlformats.org/drawingml/2006/main" xmlns:r="http://schemas.openxmlformats.org/officeDocument/2006/relationships" xmlns:p="http://schemas.openxmlformats.org/presentationml/2006/main">
  <p:tag name="THINKCELLSHAPEDONOTDELETE" val="tuoUN7b77ekiad_Wa3uqfBA"/>
</p:tagLst>
</file>

<file path=ppt/tags/tag1004.xml><?xml version="1.0" encoding="utf-8"?>
<p:tagLst xmlns:a="http://schemas.openxmlformats.org/drawingml/2006/main" xmlns:r="http://schemas.openxmlformats.org/officeDocument/2006/relationships" xmlns:p="http://schemas.openxmlformats.org/presentationml/2006/main">
  <p:tag name="THINKCELLSHAPEDONOTDELETE" val="tg2eVE4snXEqlLfN1rjJBhA"/>
</p:tagLst>
</file>

<file path=ppt/tags/tag1005.xml><?xml version="1.0" encoding="utf-8"?>
<p:tagLst xmlns:a="http://schemas.openxmlformats.org/drawingml/2006/main" xmlns:r="http://schemas.openxmlformats.org/officeDocument/2006/relationships" xmlns:p="http://schemas.openxmlformats.org/presentationml/2006/main">
  <p:tag name="THINKCELLSHAPEDONOTDELETE" val="t20Tiw3j1J0mTyCJuX1RZQg"/>
</p:tagLst>
</file>

<file path=ppt/tags/tag1006.xml><?xml version="1.0" encoding="utf-8"?>
<p:tagLst xmlns:a="http://schemas.openxmlformats.org/drawingml/2006/main" xmlns:r="http://schemas.openxmlformats.org/officeDocument/2006/relationships" xmlns:p="http://schemas.openxmlformats.org/presentationml/2006/main">
  <p:tag name="THINKCELLSHAPEDONOTDELETE" val="tUKVKg_U0CUOApwm4A87Shg"/>
</p:tagLst>
</file>

<file path=ppt/tags/tag1007.xml><?xml version="1.0" encoding="utf-8"?>
<p:tagLst xmlns:a="http://schemas.openxmlformats.org/drawingml/2006/main" xmlns:r="http://schemas.openxmlformats.org/officeDocument/2006/relationships" xmlns:p="http://schemas.openxmlformats.org/presentationml/2006/main">
  <p:tag name="THINKCELLSHAPEDONOTDELETE" val="tubNhsnbX6E68Pe9f6h8M1Q"/>
</p:tagLst>
</file>

<file path=ppt/tags/tag1008.xml><?xml version="1.0" encoding="utf-8"?>
<p:tagLst xmlns:a="http://schemas.openxmlformats.org/drawingml/2006/main" xmlns:r="http://schemas.openxmlformats.org/officeDocument/2006/relationships" xmlns:p="http://schemas.openxmlformats.org/presentationml/2006/main">
  <p:tag name="THINKCELLSHAPEDONOTDELETE" val="t_QBNw2jVl0CrBMcz_Int9A"/>
</p:tagLst>
</file>

<file path=ppt/tags/tag1009.xml><?xml version="1.0" encoding="utf-8"?>
<p:tagLst xmlns:a="http://schemas.openxmlformats.org/drawingml/2006/main" xmlns:r="http://schemas.openxmlformats.org/officeDocument/2006/relationships" xmlns:p="http://schemas.openxmlformats.org/presentationml/2006/main">
  <p:tag name="THINKCELLSHAPEDONOTDELETE" val="tL1KtFou67EiWNFzBL2W9rQ"/>
</p:tagLst>
</file>

<file path=ppt/tags/tag1010.xml><?xml version="1.0" encoding="utf-8"?>
<p:tagLst xmlns:a="http://schemas.openxmlformats.org/drawingml/2006/main" xmlns:r="http://schemas.openxmlformats.org/officeDocument/2006/relationships" xmlns:p="http://schemas.openxmlformats.org/presentationml/2006/main">
  <p:tag name="THINKCELLSHAPEDONOTDELETE" val="t9JZAtehtb0u4nTg8EV0TwQ"/>
</p:tagLst>
</file>

<file path=ppt/tags/tag1011.xml><?xml version="1.0" encoding="utf-8"?>
<p:tagLst xmlns:a="http://schemas.openxmlformats.org/drawingml/2006/main" xmlns:r="http://schemas.openxmlformats.org/officeDocument/2006/relationships" xmlns:p="http://schemas.openxmlformats.org/presentationml/2006/main">
  <p:tag name="THINKCELLSHAPEDONOTDELETE" val="tgmZz0ToCXUOCgKPfkwgNqA"/>
</p:tagLst>
</file>

<file path=ppt/tags/tag1012.xml><?xml version="1.0" encoding="utf-8"?>
<p:tagLst xmlns:a="http://schemas.openxmlformats.org/drawingml/2006/main" xmlns:r="http://schemas.openxmlformats.org/officeDocument/2006/relationships" xmlns:p="http://schemas.openxmlformats.org/presentationml/2006/main">
  <p:tag name="THINKCELLSHAPEDONOTDELETE" val="tLGwR.HokdUy6XOyxSSEoBw"/>
</p:tagLst>
</file>

<file path=ppt/tags/tag1013.xml><?xml version="1.0" encoding="utf-8"?>
<p:tagLst xmlns:a="http://schemas.openxmlformats.org/drawingml/2006/main" xmlns:r="http://schemas.openxmlformats.org/officeDocument/2006/relationships" xmlns:p="http://schemas.openxmlformats.org/presentationml/2006/main">
  <p:tag name="THINKCELLSHAPEDONOTDELETE" val="tLyaLjx9vIkeLPrJdlQbWGw"/>
</p:tagLst>
</file>

<file path=ppt/tags/tag1014.xml><?xml version="1.0" encoding="utf-8"?>
<p:tagLst xmlns:a="http://schemas.openxmlformats.org/drawingml/2006/main" xmlns:r="http://schemas.openxmlformats.org/officeDocument/2006/relationships" xmlns:p="http://schemas.openxmlformats.org/presentationml/2006/main">
  <p:tag name="THINKCELLSHAPEDONOTDELETE" val="tkzXtExiaukKSYgvnMNONDw"/>
</p:tagLst>
</file>

<file path=ppt/tags/tag1015.xml><?xml version="1.0" encoding="utf-8"?>
<p:tagLst xmlns:a="http://schemas.openxmlformats.org/drawingml/2006/main" xmlns:r="http://schemas.openxmlformats.org/officeDocument/2006/relationships" xmlns:p="http://schemas.openxmlformats.org/presentationml/2006/main">
  <p:tag name="THINKCELLSHAPEDONOTDELETE" val="tQCInhgGVuU2lpwxBRXM6Xw"/>
</p:tagLst>
</file>

<file path=ppt/tags/tag1016.xml><?xml version="1.0" encoding="utf-8"?>
<p:tagLst xmlns:a="http://schemas.openxmlformats.org/drawingml/2006/main" xmlns:r="http://schemas.openxmlformats.org/officeDocument/2006/relationships" xmlns:p="http://schemas.openxmlformats.org/presentationml/2006/main">
  <p:tag name="THINKCELLSHAPEDONOTDELETE" val="t8_7KWtR9xk6kS3CXQQDKIw"/>
</p:tagLst>
</file>

<file path=ppt/tags/tag1017.xml><?xml version="1.0" encoding="utf-8"?>
<p:tagLst xmlns:a="http://schemas.openxmlformats.org/drawingml/2006/main" xmlns:r="http://schemas.openxmlformats.org/officeDocument/2006/relationships" xmlns:p="http://schemas.openxmlformats.org/presentationml/2006/main">
  <p:tag name="THINKCELLSHAPEDONOTDELETE" val="tfpYuz3uEFU2OrAW0UNLBCw"/>
</p:tagLst>
</file>

<file path=ppt/tags/tag1018.xml><?xml version="1.0" encoding="utf-8"?>
<p:tagLst xmlns:a="http://schemas.openxmlformats.org/drawingml/2006/main" xmlns:r="http://schemas.openxmlformats.org/officeDocument/2006/relationships" xmlns:p="http://schemas.openxmlformats.org/presentationml/2006/main">
  <p:tag name="THINKCELLSHAPEDONOTDELETE" val="tpC9tpASm6U66liNXBlXK0Q"/>
</p:tagLst>
</file>

<file path=ppt/tags/tag1019.xml><?xml version="1.0" encoding="utf-8"?>
<p:tagLst xmlns:a="http://schemas.openxmlformats.org/drawingml/2006/main" xmlns:r="http://schemas.openxmlformats.org/officeDocument/2006/relationships" xmlns:p="http://schemas.openxmlformats.org/presentationml/2006/main">
  <p:tag name="THINKCELLSHAPEDONOTDELETE" val="tMGEceHY2i0OK7iASzbsG_w"/>
</p:tagLst>
</file>

<file path=ppt/tags/tag10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2.xml><?xml version="1.0" encoding="utf-8"?>
<p:tagLst xmlns:a="http://schemas.openxmlformats.org/drawingml/2006/main" xmlns:r="http://schemas.openxmlformats.org/officeDocument/2006/relationships" xmlns:p="http://schemas.openxmlformats.org/presentationml/2006/main">
  <p:tag name="THINKCELLSHAPEDONOTDELETE" val="tCkrgz0IAI0.4PF2H2vBkgg"/>
</p:tagLst>
</file>

<file path=ppt/tags/tag1023.xml><?xml version="1.0" encoding="utf-8"?>
<p:tagLst xmlns:a="http://schemas.openxmlformats.org/drawingml/2006/main" xmlns:r="http://schemas.openxmlformats.org/officeDocument/2006/relationships" xmlns:p="http://schemas.openxmlformats.org/presentationml/2006/main">
  <p:tag name="THINKCELLSHAPEDONOTDELETE" val="t22_xuDyleUmk90lrAjrlEw"/>
</p:tagLst>
</file>

<file path=ppt/tags/tag1024.xml><?xml version="1.0" encoding="utf-8"?>
<p:tagLst xmlns:a="http://schemas.openxmlformats.org/drawingml/2006/main" xmlns:r="http://schemas.openxmlformats.org/officeDocument/2006/relationships" xmlns:p="http://schemas.openxmlformats.org/presentationml/2006/main">
  <p:tag name="THINKCELLSHAPEDONOTDELETE" val="tPp0V.xvgOU2xhRmpz15EXA"/>
</p:tagLst>
</file>

<file path=ppt/tags/tag1025.xml><?xml version="1.0" encoding="utf-8"?>
<p:tagLst xmlns:a="http://schemas.openxmlformats.org/drawingml/2006/main" xmlns:r="http://schemas.openxmlformats.org/officeDocument/2006/relationships" xmlns:p="http://schemas.openxmlformats.org/presentationml/2006/main">
  <p:tag name="THINKCELLSHAPEDONOTDELETE" val="tfb_z8cZ_QkyNBtxkuH4PDg"/>
</p:tagLst>
</file>

<file path=ppt/tags/tag1026.xml><?xml version="1.0" encoding="utf-8"?>
<p:tagLst xmlns:a="http://schemas.openxmlformats.org/drawingml/2006/main" xmlns:r="http://schemas.openxmlformats.org/officeDocument/2006/relationships" xmlns:p="http://schemas.openxmlformats.org/presentationml/2006/main">
  <p:tag name="THINKCELLSHAPEDONOTDELETE" val="tp5M9rklg60ek8ZxXGQRTDQ"/>
</p:tagLst>
</file>

<file path=ppt/tags/tag1027.xml><?xml version="1.0" encoding="utf-8"?>
<p:tagLst xmlns:a="http://schemas.openxmlformats.org/drawingml/2006/main" xmlns:r="http://schemas.openxmlformats.org/officeDocument/2006/relationships" xmlns:p="http://schemas.openxmlformats.org/presentationml/2006/main">
  <p:tag name="THINKCELLSHAPEDONOTDELETE" val="t6cwl3dZsmkKHQyqAzEEB.w"/>
</p:tagLst>
</file>

<file path=ppt/tags/tag1028.xml><?xml version="1.0" encoding="utf-8"?>
<p:tagLst xmlns:a="http://schemas.openxmlformats.org/drawingml/2006/main" xmlns:r="http://schemas.openxmlformats.org/officeDocument/2006/relationships" xmlns:p="http://schemas.openxmlformats.org/presentationml/2006/main">
  <p:tag name="THINKCELLSHAPEDONOTDELETE" val="ty31X8jhjPk6Uj3GZPXYYiw"/>
</p:tagLst>
</file>

<file path=ppt/tags/tag1029.xml><?xml version="1.0" encoding="utf-8"?>
<p:tagLst xmlns:a="http://schemas.openxmlformats.org/drawingml/2006/main" xmlns:r="http://schemas.openxmlformats.org/officeDocument/2006/relationships" xmlns:p="http://schemas.openxmlformats.org/presentationml/2006/main">
  <p:tag name="THINKCELLSHAPEDONOTDELETE" val="tuxP2YyNT202K3d1.GX4PAQ"/>
</p:tagLst>
</file>

<file path=ppt/tags/tag1030.xml><?xml version="1.0" encoding="utf-8"?>
<p:tagLst xmlns:a="http://schemas.openxmlformats.org/drawingml/2006/main" xmlns:r="http://schemas.openxmlformats.org/officeDocument/2006/relationships" xmlns:p="http://schemas.openxmlformats.org/presentationml/2006/main">
  <p:tag name="THINKCELLSHAPEDONOTDELETE" val="t9i6HYQa5Uku4NXLTnLqidQ"/>
</p:tagLst>
</file>

<file path=ppt/tags/tag1031.xml><?xml version="1.0" encoding="utf-8"?>
<p:tagLst xmlns:a="http://schemas.openxmlformats.org/drawingml/2006/main" xmlns:r="http://schemas.openxmlformats.org/officeDocument/2006/relationships" xmlns:p="http://schemas.openxmlformats.org/presentationml/2006/main">
  <p:tag name="THINKCELLSHAPEDONOTDELETE" val="tS3fi1ObmRUyso_k0I.SOQg"/>
</p:tagLst>
</file>

<file path=ppt/tags/tag1032.xml><?xml version="1.0" encoding="utf-8"?>
<p:tagLst xmlns:a="http://schemas.openxmlformats.org/drawingml/2006/main" xmlns:r="http://schemas.openxmlformats.org/officeDocument/2006/relationships" xmlns:p="http://schemas.openxmlformats.org/presentationml/2006/main">
  <p:tag name="THINKCELLSHAPEDONOTDELETE" val="tQGgAIkMk8kadVBsuqBPS_g"/>
</p:tagLst>
</file>

<file path=ppt/tags/tag1033.xml><?xml version="1.0" encoding="utf-8"?>
<p:tagLst xmlns:a="http://schemas.openxmlformats.org/drawingml/2006/main" xmlns:r="http://schemas.openxmlformats.org/officeDocument/2006/relationships" xmlns:p="http://schemas.openxmlformats.org/presentationml/2006/main">
  <p:tag name="THINKCELLSHAPEDONOTDELETE" val="tetrK6u2.rkmzSxuJGN9uwQ"/>
</p:tagLst>
</file>

<file path=ppt/tags/tag1034.xml><?xml version="1.0" encoding="utf-8"?>
<p:tagLst xmlns:a="http://schemas.openxmlformats.org/drawingml/2006/main" xmlns:r="http://schemas.openxmlformats.org/officeDocument/2006/relationships" xmlns:p="http://schemas.openxmlformats.org/presentationml/2006/main">
  <p:tag name="THINKCELLSHAPEDONOTDELETE" val="tWvfC6rsb8UGBVSL1XApUYQ"/>
</p:tagLst>
</file>

<file path=ppt/tags/tag1035.xml><?xml version="1.0" encoding="utf-8"?>
<p:tagLst xmlns:a="http://schemas.openxmlformats.org/drawingml/2006/main" xmlns:r="http://schemas.openxmlformats.org/officeDocument/2006/relationships" xmlns:p="http://schemas.openxmlformats.org/presentationml/2006/main">
  <p:tag name="THINKCELLSHAPEDONOTDELETE" val="two2e2o4KokCukVxaCRgU8Q"/>
</p:tagLst>
</file>

<file path=ppt/tags/tag1036.xml><?xml version="1.0" encoding="utf-8"?>
<p:tagLst xmlns:a="http://schemas.openxmlformats.org/drawingml/2006/main" xmlns:r="http://schemas.openxmlformats.org/officeDocument/2006/relationships" xmlns:p="http://schemas.openxmlformats.org/presentationml/2006/main">
  <p:tag name="THINKCELLSHAPEDONOTDELETE" val="twNQJVRS1DECKNKVDKrJP4w"/>
</p:tagLst>
</file>

<file path=ppt/tags/tag1037.xml><?xml version="1.0" encoding="utf-8"?>
<p:tagLst xmlns:a="http://schemas.openxmlformats.org/drawingml/2006/main" xmlns:r="http://schemas.openxmlformats.org/officeDocument/2006/relationships" xmlns:p="http://schemas.openxmlformats.org/presentationml/2006/main">
  <p:tag name="THINKCELLSHAPEDONOTDELETE" val="tkSUPpiHMfU63YrEde0pthQ"/>
</p:tagLst>
</file>

<file path=ppt/tags/tag1038.xml><?xml version="1.0" encoding="utf-8"?>
<p:tagLst xmlns:a="http://schemas.openxmlformats.org/drawingml/2006/main" xmlns:r="http://schemas.openxmlformats.org/officeDocument/2006/relationships" xmlns:p="http://schemas.openxmlformats.org/presentationml/2006/main">
  <p:tag name="THINKCELLSHAPEDONOTDELETE" val="t1Ll_f6VCMkaUtcemN0900g"/>
</p:tagLst>
</file>

<file path=ppt/tags/tag1039.xml><?xml version="1.0" encoding="utf-8"?>
<p:tagLst xmlns:a="http://schemas.openxmlformats.org/drawingml/2006/main" xmlns:r="http://schemas.openxmlformats.org/officeDocument/2006/relationships" xmlns:p="http://schemas.openxmlformats.org/presentationml/2006/main">
  <p:tag name="THINKCELLSHAPEDONOTDELETE" val="t8p5BBOI7zUy1BLwGKYNO_g"/>
</p:tagLst>
</file>

<file path=ppt/tags/tag1040.xml><?xml version="1.0" encoding="utf-8"?>
<p:tagLst xmlns:a="http://schemas.openxmlformats.org/drawingml/2006/main" xmlns:r="http://schemas.openxmlformats.org/officeDocument/2006/relationships" xmlns:p="http://schemas.openxmlformats.org/presentationml/2006/main">
  <p:tag name="THINKCELLSHAPEDONOTDELETE" val="t.1Dbwk8VlkGt5r_veNgSBA"/>
</p:tagLst>
</file>

<file path=ppt/tags/tag1041.xml><?xml version="1.0" encoding="utf-8"?>
<p:tagLst xmlns:a="http://schemas.openxmlformats.org/drawingml/2006/main" xmlns:r="http://schemas.openxmlformats.org/officeDocument/2006/relationships" xmlns:p="http://schemas.openxmlformats.org/presentationml/2006/main">
  <p:tag name="THINKCELLSHAPEDONOTDELETE" val="t6n7jnrt_7EiEuHzx7prIxw"/>
</p:tagLst>
</file>

<file path=ppt/tags/tag1042.xml><?xml version="1.0" encoding="utf-8"?>
<p:tagLst xmlns:a="http://schemas.openxmlformats.org/drawingml/2006/main" xmlns:r="http://schemas.openxmlformats.org/officeDocument/2006/relationships" xmlns:p="http://schemas.openxmlformats.org/presentationml/2006/main">
  <p:tag name="THINKCELLSHAPEDONOTDELETE" val="tMnlu76JTNEqO4koVmIWkcw"/>
</p:tagLst>
</file>

<file path=ppt/tags/tag1043.xml><?xml version="1.0" encoding="utf-8"?>
<p:tagLst xmlns:a="http://schemas.openxmlformats.org/drawingml/2006/main" xmlns:r="http://schemas.openxmlformats.org/officeDocument/2006/relationships" xmlns:p="http://schemas.openxmlformats.org/presentationml/2006/main">
  <p:tag name="THINKCELLSHAPEDONOTDELETE" val="t2szI1fHuuEecAIHOKPzydQ"/>
</p:tagLst>
</file>

<file path=ppt/tags/tag1044.xml><?xml version="1.0" encoding="utf-8"?>
<p:tagLst xmlns:a="http://schemas.openxmlformats.org/drawingml/2006/main" xmlns:r="http://schemas.openxmlformats.org/officeDocument/2006/relationships" xmlns:p="http://schemas.openxmlformats.org/presentationml/2006/main">
  <p:tag name="THINKCELLSHAPEDONOTDELETE" val="tHBh056vqukyI9gZdcc2qpg"/>
</p:tagLst>
</file>

<file path=ppt/tags/tag1045.xml><?xml version="1.0" encoding="utf-8"?>
<p:tagLst xmlns:a="http://schemas.openxmlformats.org/drawingml/2006/main" xmlns:r="http://schemas.openxmlformats.org/officeDocument/2006/relationships" xmlns:p="http://schemas.openxmlformats.org/presentationml/2006/main">
  <p:tag name="THINKCELLSHAPEDONOTDELETE" val="tE.Lss32rP0a89_NBbI9Piw"/>
</p:tagLst>
</file>

<file path=ppt/tags/tag1046.xml><?xml version="1.0" encoding="utf-8"?>
<p:tagLst xmlns:a="http://schemas.openxmlformats.org/drawingml/2006/main" xmlns:r="http://schemas.openxmlformats.org/officeDocument/2006/relationships" xmlns:p="http://schemas.openxmlformats.org/presentationml/2006/main">
  <p:tag name="THINKCELLSHAPEDONOTDELETE" val="tAqW7fbLVFEeOrFwZ8RrFvg"/>
</p:tagLst>
</file>

<file path=ppt/tags/tag1047.xml><?xml version="1.0" encoding="utf-8"?>
<p:tagLst xmlns:a="http://schemas.openxmlformats.org/drawingml/2006/main" xmlns:r="http://schemas.openxmlformats.org/officeDocument/2006/relationships" xmlns:p="http://schemas.openxmlformats.org/presentationml/2006/main">
  <p:tag name="THINKCELLSHAPEDONOTDELETE" val="t6sVsINJaCUaidvjyELUySA"/>
</p:tagLst>
</file>

<file path=ppt/tags/tag1048.xml><?xml version="1.0" encoding="utf-8"?>
<p:tagLst xmlns:a="http://schemas.openxmlformats.org/drawingml/2006/main" xmlns:r="http://schemas.openxmlformats.org/officeDocument/2006/relationships" xmlns:p="http://schemas.openxmlformats.org/presentationml/2006/main">
  <p:tag name="THINKCELLSHAPEDONOTDELETE" val="tfs8kpUkHsUGb.kOD8THzXg"/>
</p:tagLst>
</file>

<file path=ppt/tags/tag1049.xml><?xml version="1.0" encoding="utf-8"?>
<p:tagLst xmlns:a="http://schemas.openxmlformats.org/drawingml/2006/main" xmlns:r="http://schemas.openxmlformats.org/officeDocument/2006/relationships" xmlns:p="http://schemas.openxmlformats.org/presentationml/2006/main">
  <p:tag name="THINKCELLSHAPEDONOTDELETE" val="t5ywFVFxMaESvnJXXew30Yg"/>
</p:tagLst>
</file>

<file path=ppt/tags/tag1050.xml><?xml version="1.0" encoding="utf-8"?>
<p:tagLst xmlns:a="http://schemas.openxmlformats.org/drawingml/2006/main" xmlns:r="http://schemas.openxmlformats.org/officeDocument/2006/relationships" xmlns:p="http://schemas.openxmlformats.org/presentationml/2006/main">
  <p:tag name="THINKCELLSHAPEDONOTDELETE" val="ts.YLgerAC0aN0Kd3AOtyzA"/>
</p:tagLst>
</file>

<file path=ppt/tags/tag1051.xml><?xml version="1.0" encoding="utf-8"?>
<p:tagLst xmlns:a="http://schemas.openxmlformats.org/drawingml/2006/main" xmlns:r="http://schemas.openxmlformats.org/officeDocument/2006/relationships" xmlns:p="http://schemas.openxmlformats.org/presentationml/2006/main">
  <p:tag name="THINKCELLSHAPEDONOTDELETE" val="txWtdILzcDk26ogzDllhScg"/>
</p:tagLst>
</file>

<file path=ppt/tags/tag1052.xml><?xml version="1.0" encoding="utf-8"?>
<p:tagLst xmlns:a="http://schemas.openxmlformats.org/drawingml/2006/main" xmlns:r="http://schemas.openxmlformats.org/officeDocument/2006/relationships" xmlns:p="http://schemas.openxmlformats.org/presentationml/2006/main">
  <p:tag name="THINKCELLSHAPEDONOTDELETE" val="tmpfFA7f2SUqSF42GYTRK_w"/>
</p:tagLst>
</file>

<file path=ppt/tags/tag1053.xml><?xml version="1.0" encoding="utf-8"?>
<p:tagLst xmlns:a="http://schemas.openxmlformats.org/drawingml/2006/main" xmlns:r="http://schemas.openxmlformats.org/officeDocument/2006/relationships" xmlns:p="http://schemas.openxmlformats.org/presentationml/2006/main">
  <p:tag name="THINKCELLSHAPEDONOTDELETE" val="tECT7inFiNUa3OfNk1qrA4g"/>
</p:tagLst>
</file>

<file path=ppt/tags/tag1054.xml><?xml version="1.0" encoding="utf-8"?>
<p:tagLst xmlns:a="http://schemas.openxmlformats.org/drawingml/2006/main" xmlns:r="http://schemas.openxmlformats.org/officeDocument/2006/relationships" xmlns:p="http://schemas.openxmlformats.org/presentationml/2006/main">
  <p:tag name="THINKCELLSHAPEDONOTDELETE" val="tJ1jOUsbovkeBKUAWCTZP1w"/>
</p:tagLst>
</file>

<file path=ppt/tags/tag1055.xml><?xml version="1.0" encoding="utf-8"?>
<p:tagLst xmlns:a="http://schemas.openxmlformats.org/drawingml/2006/main" xmlns:r="http://schemas.openxmlformats.org/officeDocument/2006/relationships" xmlns:p="http://schemas.openxmlformats.org/presentationml/2006/main">
  <p:tag name="THINKCELLSHAPEDONOTDELETE" val="tPL0hzl_l_U.ZEymeRoyeEg"/>
</p:tagLst>
</file>

<file path=ppt/tags/tag1056.xml><?xml version="1.0" encoding="utf-8"?>
<p:tagLst xmlns:a="http://schemas.openxmlformats.org/drawingml/2006/main" xmlns:r="http://schemas.openxmlformats.org/officeDocument/2006/relationships" xmlns:p="http://schemas.openxmlformats.org/presentationml/2006/main">
  <p:tag name="THINKCELLSHAPEDONOTDELETE" val="t5MHNIcCWGUWCJSTdHUY6Hg"/>
</p:tagLst>
</file>

<file path=ppt/tags/tag10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8.xml><?xml version="1.0" encoding="utf-8"?>
<p:tagLst xmlns:a="http://schemas.openxmlformats.org/drawingml/2006/main" xmlns:r="http://schemas.openxmlformats.org/officeDocument/2006/relationships" xmlns:p="http://schemas.openxmlformats.org/presentationml/2006/main">
  <p:tag name="THINKCELLSHAPEDONOTDELETE" val="tCkrgz0IAI0.4PF2H2vBkgg"/>
</p:tagLst>
</file>

<file path=ppt/tags/tag1059.xml><?xml version="1.0" encoding="utf-8"?>
<p:tagLst xmlns:a="http://schemas.openxmlformats.org/drawingml/2006/main" xmlns:r="http://schemas.openxmlformats.org/officeDocument/2006/relationships" xmlns:p="http://schemas.openxmlformats.org/presentationml/2006/main">
  <p:tag name="THINKCELLSHAPEDONOTDELETE" val="tMyK_pjz_cEmVYfWjUsb3fw"/>
</p:tagLst>
</file>

<file path=ppt/tags/tag1060.xml><?xml version="1.0" encoding="utf-8"?>
<p:tagLst xmlns:a="http://schemas.openxmlformats.org/drawingml/2006/main" xmlns:r="http://schemas.openxmlformats.org/officeDocument/2006/relationships" xmlns:p="http://schemas.openxmlformats.org/presentationml/2006/main">
  <p:tag name="THINKCELLSHAPEDONOTDELETE" val="tmAJUqTQ46ECuaRlfJYz0uA"/>
</p:tagLst>
</file>

<file path=ppt/tags/tag1061.xml><?xml version="1.0" encoding="utf-8"?>
<p:tagLst xmlns:a="http://schemas.openxmlformats.org/drawingml/2006/main" xmlns:r="http://schemas.openxmlformats.org/officeDocument/2006/relationships" xmlns:p="http://schemas.openxmlformats.org/presentationml/2006/main">
  <p:tag name="THINKCELLSHAPEDONOTDELETE" val="tBUs9LjGp7U.FGcxSL41IBg"/>
</p:tagLst>
</file>

<file path=ppt/tags/tag1062.xml><?xml version="1.0" encoding="utf-8"?>
<p:tagLst xmlns:a="http://schemas.openxmlformats.org/drawingml/2006/main" xmlns:r="http://schemas.openxmlformats.org/officeDocument/2006/relationships" xmlns:p="http://schemas.openxmlformats.org/presentationml/2006/main">
  <p:tag name="THINKCELLSHAPEDONOTDELETE" val="tyeppNP4slUS9wrICJD0scA"/>
</p:tagLst>
</file>

<file path=ppt/tags/tag1063.xml><?xml version="1.0" encoding="utf-8"?>
<p:tagLst xmlns:a="http://schemas.openxmlformats.org/drawingml/2006/main" xmlns:r="http://schemas.openxmlformats.org/officeDocument/2006/relationships" xmlns:p="http://schemas.openxmlformats.org/presentationml/2006/main">
  <p:tag name="THINKCELLSHAPEDONOTDELETE" val="tQJmJxyMk40S5bSiwv9bakg"/>
</p:tagLst>
</file>

<file path=ppt/tags/tag1064.xml><?xml version="1.0" encoding="utf-8"?>
<p:tagLst xmlns:a="http://schemas.openxmlformats.org/drawingml/2006/main" xmlns:r="http://schemas.openxmlformats.org/officeDocument/2006/relationships" xmlns:p="http://schemas.openxmlformats.org/presentationml/2006/main">
  <p:tag name="THINKCELLSHAPEDONOTDELETE" val="tL8byTdGlIU6t46cqi14opg"/>
</p:tagLst>
</file>

<file path=ppt/tags/tag1065.xml><?xml version="1.0" encoding="utf-8"?>
<p:tagLst xmlns:a="http://schemas.openxmlformats.org/drawingml/2006/main" xmlns:r="http://schemas.openxmlformats.org/officeDocument/2006/relationships" xmlns:p="http://schemas.openxmlformats.org/presentationml/2006/main">
  <p:tag name="THINKCELLSHAPEDONOTDELETE" val="tJNbTJXBhgUiopkdknUsb4g"/>
</p:tagLst>
</file>

<file path=ppt/tags/tag1066.xml><?xml version="1.0" encoding="utf-8"?>
<p:tagLst xmlns:a="http://schemas.openxmlformats.org/drawingml/2006/main" xmlns:r="http://schemas.openxmlformats.org/officeDocument/2006/relationships" xmlns:p="http://schemas.openxmlformats.org/presentationml/2006/main">
  <p:tag name="THINKCELLSHAPEDONOTDELETE" val="t1qeN7hqE4EOEC2_ubazOVg"/>
</p:tagLst>
</file>

<file path=ppt/tags/tag1067.xml><?xml version="1.0" encoding="utf-8"?>
<p:tagLst xmlns:a="http://schemas.openxmlformats.org/drawingml/2006/main" xmlns:r="http://schemas.openxmlformats.org/officeDocument/2006/relationships" xmlns:p="http://schemas.openxmlformats.org/presentationml/2006/main">
  <p:tag name="THINKCELLSHAPEDONOTDELETE" val="tWqyV36oThESTdFguw93OAg"/>
</p:tagLst>
</file>

<file path=ppt/tags/tag1068.xml><?xml version="1.0" encoding="utf-8"?>
<p:tagLst xmlns:a="http://schemas.openxmlformats.org/drawingml/2006/main" xmlns:r="http://schemas.openxmlformats.org/officeDocument/2006/relationships" xmlns:p="http://schemas.openxmlformats.org/presentationml/2006/main">
  <p:tag name="THINKCELLSHAPEDONOTDELETE" val="t.4KLZmI.EEWKWJ.PTsKVLA"/>
</p:tagLst>
</file>

<file path=ppt/tags/tag1069.xml><?xml version="1.0" encoding="utf-8"?>
<p:tagLst xmlns:a="http://schemas.openxmlformats.org/drawingml/2006/main" xmlns:r="http://schemas.openxmlformats.org/officeDocument/2006/relationships" xmlns:p="http://schemas.openxmlformats.org/presentationml/2006/main">
  <p:tag name="THINKCELLSHAPEDONOTDELETE" val="t8mycyZqNJ0m9KdjDEjAtoA"/>
</p:tagLst>
</file>

<file path=ppt/tags/tag1070.xml><?xml version="1.0" encoding="utf-8"?>
<p:tagLst xmlns:a="http://schemas.openxmlformats.org/drawingml/2006/main" xmlns:r="http://schemas.openxmlformats.org/officeDocument/2006/relationships" xmlns:p="http://schemas.openxmlformats.org/presentationml/2006/main">
  <p:tag name="THINKCELLSHAPEDONOTDELETE" val="tF47RIlaz1EKGnjOKYwzUvw"/>
</p:tagLst>
</file>

<file path=ppt/tags/tag1071.xml><?xml version="1.0" encoding="utf-8"?>
<p:tagLst xmlns:a="http://schemas.openxmlformats.org/drawingml/2006/main" xmlns:r="http://schemas.openxmlformats.org/officeDocument/2006/relationships" xmlns:p="http://schemas.openxmlformats.org/presentationml/2006/main">
  <p:tag name="THINKCELLSHAPEDONOTDELETE" val="tdR3fT06mYkytbUVxIzDf2g"/>
</p:tagLst>
</file>

<file path=ppt/tags/tag1072.xml><?xml version="1.0" encoding="utf-8"?>
<p:tagLst xmlns:a="http://schemas.openxmlformats.org/drawingml/2006/main" xmlns:r="http://schemas.openxmlformats.org/officeDocument/2006/relationships" xmlns:p="http://schemas.openxmlformats.org/presentationml/2006/main">
  <p:tag name="THINKCELLSHAPEDONOTDELETE" val="trgxduTzcLkSkpFyckuez.w"/>
</p:tagLst>
</file>

<file path=ppt/tags/tag1073.xml><?xml version="1.0" encoding="utf-8"?>
<p:tagLst xmlns:a="http://schemas.openxmlformats.org/drawingml/2006/main" xmlns:r="http://schemas.openxmlformats.org/officeDocument/2006/relationships" xmlns:p="http://schemas.openxmlformats.org/presentationml/2006/main">
  <p:tag name="THINKCELLSHAPEDONOTDELETE" val="tftS.9suUqEeiYClDtzC7dQ"/>
</p:tagLst>
</file>

<file path=ppt/tags/tag1074.xml><?xml version="1.0" encoding="utf-8"?>
<p:tagLst xmlns:a="http://schemas.openxmlformats.org/drawingml/2006/main" xmlns:r="http://schemas.openxmlformats.org/officeDocument/2006/relationships" xmlns:p="http://schemas.openxmlformats.org/presentationml/2006/main">
  <p:tag name="THINKCELLSHAPEDONOTDELETE" val="tHyaHwm02eEm4_q69uYrUYA"/>
</p:tagLst>
</file>

<file path=ppt/tags/tag1075.xml><?xml version="1.0" encoding="utf-8"?>
<p:tagLst xmlns:a="http://schemas.openxmlformats.org/drawingml/2006/main" xmlns:r="http://schemas.openxmlformats.org/officeDocument/2006/relationships" xmlns:p="http://schemas.openxmlformats.org/presentationml/2006/main">
  <p:tag name="THINKCELLSHAPEDONOTDELETE" val="tc9_h9ptYzEm0ArBkD6vbWA"/>
</p:tagLst>
</file>

<file path=ppt/tags/tag1076.xml><?xml version="1.0" encoding="utf-8"?>
<p:tagLst xmlns:a="http://schemas.openxmlformats.org/drawingml/2006/main" xmlns:r="http://schemas.openxmlformats.org/officeDocument/2006/relationships" xmlns:p="http://schemas.openxmlformats.org/presentationml/2006/main">
  <p:tag name="THINKCELLSHAPEDONOTDELETE" val="tqgI5UM5qcU6tF4q9psOzJw"/>
</p:tagLst>
</file>

<file path=ppt/tags/tag1077.xml><?xml version="1.0" encoding="utf-8"?>
<p:tagLst xmlns:a="http://schemas.openxmlformats.org/drawingml/2006/main" xmlns:r="http://schemas.openxmlformats.org/officeDocument/2006/relationships" xmlns:p="http://schemas.openxmlformats.org/presentationml/2006/main">
  <p:tag name="THINKCELLSHAPEDONOTDELETE" val="tNwbMvfUmEkyroZrOGy_m6A"/>
</p:tagLst>
</file>

<file path=ppt/tags/tag1078.xml><?xml version="1.0" encoding="utf-8"?>
<p:tagLst xmlns:a="http://schemas.openxmlformats.org/drawingml/2006/main" xmlns:r="http://schemas.openxmlformats.org/officeDocument/2006/relationships" xmlns:p="http://schemas.openxmlformats.org/presentationml/2006/main">
  <p:tag name="THINKCELLSHAPEDONOTDELETE" val="tjli24OOuRk26xaeBmjEiSA"/>
</p:tagLst>
</file>

<file path=ppt/tags/tag1079.xml><?xml version="1.0" encoding="utf-8"?>
<p:tagLst xmlns:a="http://schemas.openxmlformats.org/drawingml/2006/main" xmlns:r="http://schemas.openxmlformats.org/officeDocument/2006/relationships" xmlns:p="http://schemas.openxmlformats.org/presentationml/2006/main">
  <p:tag name="THINKCELLSHAPEDONOTDELETE" val="tF3MRpqydnE62EHeuHeaPyw"/>
</p:tagLst>
</file>

<file path=ppt/tags/tag10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1.xml><?xml version="1.0" encoding="utf-8"?>
<p:tagLst xmlns:a="http://schemas.openxmlformats.org/drawingml/2006/main" xmlns:r="http://schemas.openxmlformats.org/officeDocument/2006/relationships" xmlns:p="http://schemas.openxmlformats.org/presentationml/2006/main">
  <p:tag name="THINKCELLSHAPEDONOTDELETE" val="tCkrgz0IAI0.4PF2H2vBkgg"/>
</p:tagLst>
</file>

<file path=ppt/tags/tag10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3.xml><?xml version="1.0" encoding="utf-8"?>
<p:tagLst xmlns:a="http://schemas.openxmlformats.org/drawingml/2006/main" xmlns:r="http://schemas.openxmlformats.org/officeDocument/2006/relationships" xmlns:p="http://schemas.openxmlformats.org/presentationml/2006/main">
  <p:tag name="THINKCELLSHAPEDONOTDELETE" val="tCkrgz0IAI0.4PF2H2vBkgg"/>
</p:tagLst>
</file>

<file path=ppt/tags/tag10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5.xml><?xml version="1.0" encoding="utf-8"?>
<p:tagLst xmlns:a="http://schemas.openxmlformats.org/drawingml/2006/main" xmlns:r="http://schemas.openxmlformats.org/officeDocument/2006/relationships" xmlns:p="http://schemas.openxmlformats.org/presentationml/2006/main">
  <p:tag name="THINKCELLSHAPEDONOTDELETE" val="tL0u906_iyUmc57ZS5gDURA"/>
</p:tagLst>
</file>

<file path=ppt/tags/tag1086.xml><?xml version="1.0" encoding="utf-8"?>
<p:tagLst xmlns:a="http://schemas.openxmlformats.org/drawingml/2006/main" xmlns:r="http://schemas.openxmlformats.org/officeDocument/2006/relationships" xmlns:p="http://schemas.openxmlformats.org/presentationml/2006/main">
  <p:tag name="THINKCELLSHAPEDONOTDELETE" val="tUrWse68SIESqJVMDkb4hNA"/>
</p:tagLst>
</file>

<file path=ppt/tags/tag1087.xml><?xml version="1.0" encoding="utf-8"?>
<p:tagLst xmlns:a="http://schemas.openxmlformats.org/drawingml/2006/main" xmlns:r="http://schemas.openxmlformats.org/officeDocument/2006/relationships" xmlns:p="http://schemas.openxmlformats.org/presentationml/2006/main">
  <p:tag name="THINKCELLSHAPEDONOTDELETE" val="t_dy23zsGp0aKQtA7KDremw"/>
</p:tagLst>
</file>

<file path=ppt/tags/tag1088.xml><?xml version="1.0" encoding="utf-8"?>
<p:tagLst xmlns:a="http://schemas.openxmlformats.org/drawingml/2006/main" xmlns:r="http://schemas.openxmlformats.org/officeDocument/2006/relationships" xmlns:p="http://schemas.openxmlformats.org/presentationml/2006/main">
  <p:tag name="THINKCELLSHAPEDONOTDELETE" val="taiUfpxcq3UmFrmEuMA4v8g"/>
</p:tagLst>
</file>

<file path=ppt/tags/tag1089.xml><?xml version="1.0" encoding="utf-8"?>
<p:tagLst xmlns:a="http://schemas.openxmlformats.org/drawingml/2006/main" xmlns:r="http://schemas.openxmlformats.org/officeDocument/2006/relationships" xmlns:p="http://schemas.openxmlformats.org/presentationml/2006/main">
  <p:tag name="THINKCELLSHAPEDONOTDELETE" val="tO_DY_vczY0KBSd8HOLFCXg"/>
</p:tagLst>
</file>

<file path=ppt/tags/tag1090.xml><?xml version="1.0" encoding="utf-8"?>
<p:tagLst xmlns:a="http://schemas.openxmlformats.org/drawingml/2006/main" xmlns:r="http://schemas.openxmlformats.org/officeDocument/2006/relationships" xmlns:p="http://schemas.openxmlformats.org/presentationml/2006/main">
  <p:tag name="THINKCELLSHAPEDONOTDELETE" val="t1fLLu1IYLkS_mNsvBgPlNA"/>
</p:tagLst>
</file>

<file path=ppt/tags/tag1091.xml><?xml version="1.0" encoding="utf-8"?>
<p:tagLst xmlns:a="http://schemas.openxmlformats.org/drawingml/2006/main" xmlns:r="http://schemas.openxmlformats.org/officeDocument/2006/relationships" xmlns:p="http://schemas.openxmlformats.org/presentationml/2006/main">
  <p:tag name="THINKCELLSHAPEDONOTDELETE" val="tAwjvRI70OEm25WJutLSmEQ"/>
</p:tagLst>
</file>

<file path=ppt/tags/tag1092.xml><?xml version="1.0" encoding="utf-8"?>
<p:tagLst xmlns:a="http://schemas.openxmlformats.org/drawingml/2006/main" xmlns:r="http://schemas.openxmlformats.org/officeDocument/2006/relationships" xmlns:p="http://schemas.openxmlformats.org/presentationml/2006/main">
  <p:tag name="THINKCELLSHAPEDONOTDELETE" val="tPiZd1yWiSEOTqql5yAs2GQ"/>
</p:tagLst>
</file>

<file path=ppt/tags/tag1093.xml><?xml version="1.0" encoding="utf-8"?>
<p:tagLst xmlns:a="http://schemas.openxmlformats.org/drawingml/2006/main" xmlns:r="http://schemas.openxmlformats.org/officeDocument/2006/relationships" xmlns:p="http://schemas.openxmlformats.org/presentationml/2006/main">
  <p:tag name="THINKCELLSHAPEDONOTDELETE" val="t5yxAZtRiLUuNNjkYDocEvQ"/>
</p:tagLst>
</file>

<file path=ppt/tags/tag1094.xml><?xml version="1.0" encoding="utf-8"?>
<p:tagLst xmlns:a="http://schemas.openxmlformats.org/drawingml/2006/main" xmlns:r="http://schemas.openxmlformats.org/officeDocument/2006/relationships" xmlns:p="http://schemas.openxmlformats.org/presentationml/2006/main">
  <p:tag name="THINKCELLSHAPEDONOTDELETE" val="tzc8bsTrK2k2grQsKdyYTDA"/>
</p:tagLst>
</file>

<file path=ppt/tags/tag1095.xml><?xml version="1.0" encoding="utf-8"?>
<p:tagLst xmlns:a="http://schemas.openxmlformats.org/drawingml/2006/main" xmlns:r="http://schemas.openxmlformats.org/officeDocument/2006/relationships" xmlns:p="http://schemas.openxmlformats.org/presentationml/2006/main">
  <p:tag name="THINKCELLSHAPEDONOTDELETE" val="tJ2xFmHg1KESozlyGHNjSLg"/>
</p:tagLst>
</file>

<file path=ppt/tags/tag1096.xml><?xml version="1.0" encoding="utf-8"?>
<p:tagLst xmlns:a="http://schemas.openxmlformats.org/drawingml/2006/main" xmlns:r="http://schemas.openxmlformats.org/officeDocument/2006/relationships" xmlns:p="http://schemas.openxmlformats.org/presentationml/2006/main">
  <p:tag name="THINKCELLSHAPEDONOTDELETE" val="tR4JBb6AIkUCHm8nkEtGwWg"/>
</p:tagLst>
</file>

<file path=ppt/tags/tag1097.xml><?xml version="1.0" encoding="utf-8"?>
<p:tagLst xmlns:a="http://schemas.openxmlformats.org/drawingml/2006/main" xmlns:r="http://schemas.openxmlformats.org/officeDocument/2006/relationships" xmlns:p="http://schemas.openxmlformats.org/presentationml/2006/main">
  <p:tag name="THINKCELLSHAPEDONOTDELETE" val="tYitPsZ19WkCok7cph4Hz0g"/>
</p:tagLst>
</file>

<file path=ppt/tags/tag1098.xml><?xml version="1.0" encoding="utf-8"?>
<p:tagLst xmlns:a="http://schemas.openxmlformats.org/drawingml/2006/main" xmlns:r="http://schemas.openxmlformats.org/officeDocument/2006/relationships" xmlns:p="http://schemas.openxmlformats.org/presentationml/2006/main">
  <p:tag name="THINKCELLSHAPEDONOTDELETE" val="t7HZgTs8ZuEGPEWI.EUjv4A"/>
</p:tagLst>
</file>

<file path=ppt/tags/tag1099.xml><?xml version="1.0" encoding="utf-8"?>
<p:tagLst xmlns:a="http://schemas.openxmlformats.org/drawingml/2006/main" xmlns:r="http://schemas.openxmlformats.org/officeDocument/2006/relationships" xmlns:p="http://schemas.openxmlformats.org/presentationml/2006/main">
  <p:tag name="THINKCELLSHAPEDONOTDELETE" val="tkvfynWYwHkOowvj09TNzFg"/>
</p:tagLst>
</file>

<file path=ppt/tags/tag1100.xml><?xml version="1.0" encoding="utf-8"?>
<p:tagLst xmlns:a="http://schemas.openxmlformats.org/drawingml/2006/main" xmlns:r="http://schemas.openxmlformats.org/officeDocument/2006/relationships" xmlns:p="http://schemas.openxmlformats.org/presentationml/2006/main">
  <p:tag name="THINKCELLSHAPEDONOTDELETE" val="t.1pPyhhpx0.h_1V0EfcLMA"/>
</p:tagLst>
</file>

<file path=ppt/tags/tag1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2.xml><?xml version="1.0" encoding="utf-8"?>
<p:tagLst xmlns:a="http://schemas.openxmlformats.org/drawingml/2006/main" xmlns:r="http://schemas.openxmlformats.org/officeDocument/2006/relationships" xmlns:p="http://schemas.openxmlformats.org/presentationml/2006/main">
  <p:tag name="THINKCELLSHAPEDONOTDELETE" val="txb2iM8Z34Ue_lWA.aDK_aQ"/>
</p:tagLst>
</file>

<file path=ppt/tags/tag1103.xml><?xml version="1.0" encoding="utf-8"?>
<p:tagLst xmlns:a="http://schemas.openxmlformats.org/drawingml/2006/main" xmlns:r="http://schemas.openxmlformats.org/officeDocument/2006/relationships" xmlns:p="http://schemas.openxmlformats.org/presentationml/2006/main">
  <p:tag name="NAME" val="Rectangle"/>
</p:tagLst>
</file>

<file path=ppt/tags/tag1104.xml><?xml version="1.0" encoding="utf-8"?>
<p:tagLst xmlns:a="http://schemas.openxmlformats.org/drawingml/2006/main" xmlns:r="http://schemas.openxmlformats.org/officeDocument/2006/relationships" xmlns:p="http://schemas.openxmlformats.org/presentationml/2006/main">
  <p:tag name="NAME" val="Rectangle"/>
</p:tagLst>
</file>

<file path=ppt/tags/tag1105.xml><?xml version="1.0" encoding="utf-8"?>
<p:tagLst xmlns:a="http://schemas.openxmlformats.org/drawingml/2006/main" xmlns:r="http://schemas.openxmlformats.org/officeDocument/2006/relationships" xmlns:p="http://schemas.openxmlformats.org/presentationml/2006/main">
  <p:tag name="NAME" val="Rectangle"/>
</p:tagLst>
</file>

<file path=ppt/tags/tag1106.xml><?xml version="1.0" encoding="utf-8"?>
<p:tagLst xmlns:a="http://schemas.openxmlformats.org/drawingml/2006/main" xmlns:r="http://schemas.openxmlformats.org/officeDocument/2006/relationships" xmlns:p="http://schemas.openxmlformats.org/presentationml/2006/main">
  <p:tag name="NAME" val="Oval"/>
</p:tagLst>
</file>

<file path=ppt/tags/tag1107.xml><?xml version="1.0" encoding="utf-8"?>
<p:tagLst xmlns:a="http://schemas.openxmlformats.org/drawingml/2006/main" xmlns:r="http://schemas.openxmlformats.org/officeDocument/2006/relationships" xmlns:p="http://schemas.openxmlformats.org/presentationml/2006/main">
  <p:tag name="NAME" val="Oval"/>
</p:tagLst>
</file>

<file path=ppt/tags/tag1108.xml><?xml version="1.0" encoding="utf-8"?>
<p:tagLst xmlns:a="http://schemas.openxmlformats.org/drawingml/2006/main" xmlns:r="http://schemas.openxmlformats.org/officeDocument/2006/relationships" xmlns:p="http://schemas.openxmlformats.org/presentationml/2006/main">
  <p:tag name="NAME" val="Oval"/>
</p:tagLst>
</file>

<file path=ppt/theme/theme1.xml><?xml version="1.0" encoding="utf-8"?>
<a:theme xmlns:a="http://schemas.openxmlformats.org/drawingml/2006/main" name="BUS CASE slide deck">
  <a:themeElements>
    <a:clrScheme name="Color Scheme SCP">
      <a:dk1>
        <a:sysClr val="windowText" lastClr="000000"/>
      </a:dk1>
      <a:lt1>
        <a:sysClr val="window" lastClr="FFFFFF"/>
      </a:lt1>
      <a:dk2>
        <a:srgbClr val="000000"/>
      </a:dk2>
      <a:lt2>
        <a:srgbClr val="FFFFFF"/>
      </a:lt2>
      <a:accent1>
        <a:srgbClr val="D52B1E"/>
      </a:accent1>
      <a:accent2>
        <a:srgbClr val="6E3219"/>
      </a:accent2>
      <a:accent3>
        <a:srgbClr val="6A150E"/>
      </a:accent3>
      <a:accent4>
        <a:srgbClr val="9F2016"/>
      </a:accent4>
      <a:accent5>
        <a:srgbClr val="37190C"/>
      </a:accent5>
      <a:accent6>
        <a:srgbClr val="522512"/>
      </a:accent6>
      <a:hlink>
        <a:srgbClr val="000000"/>
      </a:hlink>
      <a:folHlink>
        <a:srgbClr val="000000"/>
      </a:folHlink>
    </a:clrScheme>
    <a:fontScheme name="Lettertype Arial">
      <a:majorFont>
        <a:latin typeface="Arial"/>
        <a:ea typeface=""/>
        <a:cs typeface=""/>
      </a:majorFont>
      <a:minorFont>
        <a:latin typeface="Arial"/>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lIns="0" tIns="0" rIns="0" bIns="0" rtlCol="0">
        <a:spAutoFit/>
      </a:bodyPr>
      <a:lstStyle>
        <a:defPPr>
          <a:defRPr/>
        </a:defPPr>
      </a:lstStyle>
    </a:txDef>
  </a:objectDefaults>
  <a:extraClrSchemeLst/>
</a:theme>
</file>

<file path=ppt/theme/theme2.xml><?xml version="1.0" encoding="utf-8"?>
<a:theme xmlns:a="http://schemas.openxmlformats.org/drawingml/2006/main" name="Office-thema">
  <a:themeElements>
    <a:clrScheme name="Color Scheme SCP PP">
      <a:dk1>
        <a:sysClr val="windowText" lastClr="000000"/>
      </a:dk1>
      <a:lt1>
        <a:sysClr val="window" lastClr="FFFFFF"/>
      </a:lt1>
      <a:dk2>
        <a:srgbClr val="000000"/>
      </a:dk2>
      <a:lt2>
        <a:srgbClr val="FFFFFF"/>
      </a:lt2>
      <a:accent1>
        <a:srgbClr val="D52B1E"/>
      </a:accent1>
      <a:accent2>
        <a:srgbClr val="FF0000"/>
      </a:accent2>
      <a:accent3>
        <a:srgbClr val="FFC000"/>
      </a:accent3>
      <a:accent4>
        <a:srgbClr val="FFFF00"/>
      </a:accent4>
      <a:accent5>
        <a:srgbClr val="92D050"/>
      </a:accent5>
      <a:accent6>
        <a:srgbClr val="F79646"/>
      </a:accent6>
      <a:hlink>
        <a:srgbClr val="000000"/>
      </a:hlink>
      <a:folHlink>
        <a:srgbClr val="000000"/>
      </a:folHlink>
    </a:clrScheme>
    <a:fontScheme name="Lettertype Arial">
      <a:majorFont>
        <a:latin typeface="Arial"/>
        <a:ea typeface=""/>
        <a:cs typeface=""/>
      </a:majorFont>
      <a:minorFont>
        <a:latin typeface="Arial"/>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Color Scheme SCP PP">
      <a:dk1>
        <a:sysClr val="windowText" lastClr="000000"/>
      </a:dk1>
      <a:lt1>
        <a:sysClr val="window" lastClr="FFFFFF"/>
      </a:lt1>
      <a:dk2>
        <a:srgbClr val="000000"/>
      </a:dk2>
      <a:lt2>
        <a:srgbClr val="FFFFFF"/>
      </a:lt2>
      <a:accent1>
        <a:srgbClr val="D52B1E"/>
      </a:accent1>
      <a:accent2>
        <a:srgbClr val="FF0000"/>
      </a:accent2>
      <a:accent3>
        <a:srgbClr val="FFC000"/>
      </a:accent3>
      <a:accent4>
        <a:srgbClr val="FFFF00"/>
      </a:accent4>
      <a:accent5>
        <a:srgbClr val="92D050"/>
      </a:accent5>
      <a:accent6>
        <a:srgbClr val="F79646"/>
      </a:accent6>
      <a:hlink>
        <a:srgbClr val="000000"/>
      </a:hlink>
      <a:folHlink>
        <a:srgbClr val="000000"/>
      </a:folHlink>
    </a:clrScheme>
    <a:fontScheme name="Lettertype Arial">
      <a:majorFont>
        <a:latin typeface="Arial"/>
        <a:ea typeface=""/>
        <a:cs typeface=""/>
      </a:majorFont>
      <a:minorFont>
        <a:latin typeface="Arial"/>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 CASE slide deck</Template>
  <TotalTime>93</TotalTime>
  <Words>8708</Words>
  <Application>Microsoft Macintosh PowerPoint</Application>
  <PresentationFormat>On-screen Show (4:3)</PresentationFormat>
  <Paragraphs>1682</Paragraphs>
  <Slides>64</Slides>
  <Notes>23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64</vt:i4>
      </vt:variant>
    </vt:vector>
  </HeadingPairs>
  <TitlesOfParts>
    <vt:vector size="71" baseType="lpstr">
      <vt:lpstr>MS PGothic</vt:lpstr>
      <vt:lpstr>ＭＳ Ｐゴシック</vt:lpstr>
      <vt:lpstr>Wingdings</vt:lpstr>
      <vt:lpstr>Arial</vt:lpstr>
      <vt:lpstr>BUS CASE slide deck</vt:lpstr>
      <vt:lpstr>think-cell Slide</vt:lpstr>
      <vt:lpstr>Chart</vt:lpstr>
      <vt:lpstr>Colombia</vt:lpstr>
      <vt:lpstr>Executive summary</vt:lpstr>
      <vt:lpstr>Content</vt:lpstr>
      <vt:lpstr>Colombia is the world’s second largest Arabica producer</vt:lpstr>
      <vt:lpstr>About 14% of Colombia’s exports are either certified or  verified</vt:lpstr>
      <vt:lpstr>Roughly 45% of production is under one or more certification or verification </vt:lpstr>
      <vt:lpstr>Colombia has a range of Arabica growing regions and more than half a million farms</vt:lpstr>
      <vt:lpstr>95% of Colombian coffee farms have less than 5 ha of coffee</vt:lpstr>
      <vt:lpstr>A generation ago, only half of Colombia’s farms were smaller than 5 hectares</vt:lpstr>
      <vt:lpstr>A combination of demographic and economic factors have contributed to diminishing farm size</vt:lpstr>
      <vt:lpstr>The number of coffee farms peaked in the 1990s, but fell in the early 2000s</vt:lpstr>
      <vt:lpstr>Output fell due to adverse weather and a national tree renovation program, but is now expected to rise</vt:lpstr>
      <vt:lpstr>Renovation is ongoing and more than half of existing trees have already been replanted</vt:lpstr>
      <vt:lpstr>Colombia’s supply chain has six distinctive attributes in comparison to other countries</vt:lpstr>
      <vt:lpstr>Average farming cash costs are estimated to be around US$1.10  per lb and farmers receive ~ 80% of export price </vt:lpstr>
      <vt:lpstr>Colombia’s farm-to-export chain is efficient relative to regional peers (e.g., Peru, Honduras)</vt:lpstr>
      <vt:lpstr>However, Colombia’s farm-level costs are significantly higher than the two cost leaders (Brazil and Ethiopia)</vt:lpstr>
      <vt:lpstr>Colombia’s farming costs have risen over the past decade</vt:lpstr>
      <vt:lpstr>As prices have fallen, the farmer’s margin has been eroded</vt:lpstr>
      <vt:lpstr>The government has helped farmers by offering a cash subsidy when the market falls below US$1.50 (COP 700,000)</vt:lpstr>
      <vt:lpstr>Farmers will increasingly weigh the opportunity cost of coffee farming, both in terms of land and time (labor)</vt:lpstr>
      <vt:lpstr>Colombia is at a crossroads</vt:lpstr>
      <vt:lpstr>Contents</vt:lpstr>
      <vt:lpstr>PowerPoint Presentation</vt:lpstr>
      <vt:lpstr>We have segmented Colombia’s farms on the basis of region, farm size and altitude</vt:lpstr>
      <vt:lpstr>REGIONAL ARCHETYPES Southern farms tend to have lower opportunity costs (and labor costs)…</vt:lpstr>
      <vt:lpstr>REGIONAL ARCHETYPES …Evidenced in part by growing coffee areas and lower rural migration rates</vt:lpstr>
      <vt:lpstr>FARM SIZE ARCHETYPES Larger farms tend to utilize labor more efficiently</vt:lpstr>
      <vt:lpstr>FARM SIZE ARCHETYPES Smaller farms, which rely mostly on family labor, tend to have lower cash costs</vt:lpstr>
      <vt:lpstr>ALTITUDINAL ARCHETYPES Most of Colombia’s major growing regions exhibit a range of altitudes</vt:lpstr>
      <vt:lpstr>ALTITUDINAL ARCHETYPES Higher altitude farms have opportunities to focus on top specialty production while lower altitude farms are more vulnerable</vt:lpstr>
      <vt:lpstr>PRIORITIZING ARCHETYPES Our solution approach will focus on active farmers in the “mainstream” archetype</vt:lpstr>
      <vt:lpstr>ESTABLISHING THE BUSINESS CASE STUDIES Three business cases were analyzed in depth targeted at mainstream archetype </vt:lpstr>
      <vt:lpstr>Contents</vt:lpstr>
      <vt:lpstr>BUSINESS CASE DISCUSSION Business case 1: Improving yields</vt:lpstr>
      <vt:lpstr>Colombia’s farm yields could be increased by 20 to 30%</vt:lpstr>
      <vt:lpstr>Improved agronomy can boost yields by 20 to 30%</vt:lpstr>
      <vt:lpstr>Overall, farmer net income would increase by 30 to 50%</vt:lpstr>
      <vt:lpstr>While some farmers require support to increase input usage, further gains require innovation and input optimization</vt:lpstr>
      <vt:lpstr>An ambitious program to increase adoption could potentially reach up to 50% of Colombia’s active coffee farmers  </vt:lpstr>
      <vt:lpstr>Achieving yield improvement requires high adoption level of best practices that might face several challenges</vt:lpstr>
      <vt:lpstr>There are four common types of farmer training models with varying impact and cost</vt:lpstr>
      <vt:lpstr>Innovative strategies to target youth in training program could enhance program’s results</vt:lpstr>
      <vt:lpstr>Besides engaging the youth on-farm, the coffee industry offers a variety of employment opportunities </vt:lpstr>
      <vt:lpstr>This intervention could increase production by at least 1.5 million bags and exports by over US$ 260m after 10 years</vt:lpstr>
      <vt:lpstr>Overall, the program could generate additional export earnings of US$ 1.3bn over 10 years</vt:lpstr>
      <vt:lpstr>Climate change will likely put additional pressure on smallholders, especially on farms at lower altitudes  </vt:lpstr>
      <vt:lpstr>BUSINESS CASE DISCUSSION Business case 2: Improving sector efficiencies</vt:lpstr>
      <vt:lpstr>There may be modest opportunities to reduce the cost of production in Colombia’s supply chain</vt:lpstr>
      <vt:lpstr>Harvesting and home wet-milling comprise 70% of total on-farm labor requirements</vt:lpstr>
      <vt:lpstr>There may be ways to reduce farmers’ labor requirements in harvesting and wet-milling, saving them time and some money</vt:lpstr>
      <vt:lpstr>While conceptually there may be ways to reduce harvesting costs, implementation will be difficult</vt:lpstr>
      <vt:lpstr>Due to agro-climatic factors, there is limited opportunity to apply technology for improving harvesting productivity</vt:lpstr>
      <vt:lpstr>There is usually a trade-off between quality and harvesting efficiency</vt:lpstr>
      <vt:lpstr>A combination of approaches could likely deliver a 5 - 10% harvesting labor efficiency improvement over time</vt:lpstr>
      <vt:lpstr>Centralized wet milling could reduce the need for wet mill labor by 90% although it is mostly family labor</vt:lpstr>
      <vt:lpstr>Farmers would save 3-4 hours per day during the main harvest period</vt:lpstr>
      <vt:lpstr>However, it is uncertain how farmers will value or invest this additional time</vt:lpstr>
      <vt:lpstr>Besides improving labor productivity, central wet mills provide additional benefits</vt:lpstr>
      <vt:lpstr>These benefits are likely to be more attractive to farmers than to potential investors</vt:lpstr>
      <vt:lpstr>Some farmers are likely to shift from selling parchment to selling cherry more quickly than others</vt:lpstr>
      <vt:lpstr>Several risks have to be managed to ensure successful implementation of central wet mills</vt:lpstr>
      <vt:lpstr>Overall, on farm costs could be reduced by up to 10%</vt:lpstr>
      <vt:lpstr>BUSINESS CASE DISCUSSION Business case 3: Improving environmental management</vt:lpstr>
    </vt:vector>
  </TitlesOfParts>
  <Company>IDH</Company>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Gillian Evans</dc:creator>
  <dc:description>template version 1.3 -14 May 2014_x000d_
Lay-out: www.mainstudio.nl_x000d_
templates: www.joulesunlimited.nl</dc:description>
  <cp:lastModifiedBy>Carl Cervone</cp:lastModifiedBy>
  <cp:revision>695</cp:revision>
  <cp:lastPrinted>2017-03-22T13:29:15Z</cp:lastPrinted>
  <dcterms:created xsi:type="dcterms:W3CDTF">2014-05-19T13:01:10Z</dcterms:created>
  <dcterms:modified xsi:type="dcterms:W3CDTF">2017-03-22T14:14:11Z</dcterms:modified>
</cp:coreProperties>
</file>