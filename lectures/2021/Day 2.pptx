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0" r:id="rId1"/>
  </p:sldMasterIdLst>
  <p:notesMasterIdLst>
    <p:notesMasterId r:id="rId9"/>
  </p:notesMasterIdLst>
  <p:handoutMasterIdLst>
    <p:handoutMasterId r:id="rId10"/>
  </p:handoutMasterIdLst>
  <p:sldIdLst>
    <p:sldId id="667" r:id="rId2"/>
    <p:sldId id="770" r:id="rId3"/>
    <p:sldId id="861" r:id="rId4"/>
    <p:sldId id="864" r:id="rId5"/>
    <p:sldId id="863" r:id="rId6"/>
    <p:sldId id="865" r:id="rId7"/>
    <p:sldId id="860" r:id="rId8"/>
  </p:sldIdLst>
  <p:sldSz cx="9144000" cy="6858000" type="screen4x3"/>
  <p:notesSz cx="6797675" cy="9926638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0" userDrawn="1">
          <p15:clr>
            <a:srgbClr val="A4A3A4"/>
          </p15:clr>
        </p15:guide>
        <p15:guide id="2" pos="558" userDrawn="1">
          <p15:clr>
            <a:srgbClr val="A4A3A4"/>
          </p15:clr>
        </p15:guide>
        <p15:guide id="3" pos="5202" userDrawn="1">
          <p15:clr>
            <a:srgbClr val="A4A3A4"/>
          </p15:clr>
        </p15:guide>
        <p15:guide id="4" orient="horz" pos="39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rowning" initials="DB" lastIdx="3" clrIdx="0"/>
  <p:cmAuthor id="2" name="David Browning" initials="DB [2]" lastIdx="1" clrIdx="1"/>
  <p:cmAuthor id="3" name="David Browning" initials="DB [3]" lastIdx="1" clrIdx="2"/>
  <p:cmAuthor id="4" name="David Browning" initials="DB [4]" lastIdx="1" clrIdx="3"/>
  <p:cmAuthor id="5" name="David Browning" initials="DB [5]" lastIdx="1" clrIdx="4"/>
  <p:cmAuthor id="6" name="David Browning" initials="DB [6]" lastIdx="1" clrIdx="5"/>
  <p:cmAuthor id="7" name="David Browning" initials="DB [7]" lastIdx="1" clrIdx="6"/>
  <p:cmAuthor id="8" name="David Browning" initials="DB [8]" lastIdx="1" clrIdx="7"/>
  <p:cmAuthor id="9" name="David Browning" initials="DB [9]" lastIdx="1" clrIdx="8"/>
  <p:cmAuthor id="10" name="David Browning" initials="DB [10]" lastIdx="1" clrIdx="9"/>
  <p:cmAuthor id="11" name="David Browning" initials="DB [11]" lastIdx="1" clrIdx="10"/>
  <p:cmAuthor id="12" name="David Browning" initials="DB [12]" lastIdx="1" clrIdx="11"/>
  <p:cmAuthor id="13" name="David Browning" initials="DB [13]" lastIdx="1" clrIdx="12"/>
  <p:cmAuthor id="14" name="David Browning" initials="DB [14]" lastIdx="1" clrIdx="13"/>
  <p:cmAuthor id="15" name="Yohann Velasco" initials="YV" lastIdx="14" clrIdx="1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00000"/>
    <a:srgbClr val="FF0000"/>
    <a:srgbClr val="92D050"/>
    <a:srgbClr val="002060"/>
    <a:srgbClr val="66FF66"/>
    <a:srgbClr val="E53B29"/>
    <a:srgbClr val="0F9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65" autoAdjust="0"/>
    <p:restoredTop sz="95878" autoAdjust="0"/>
  </p:normalViewPr>
  <p:slideViewPr>
    <p:cSldViewPr>
      <p:cViewPr varScale="1">
        <p:scale>
          <a:sx n="107" d="100"/>
          <a:sy n="107" d="100"/>
        </p:scale>
        <p:origin x="232" y="176"/>
      </p:cViewPr>
      <p:guideLst>
        <p:guide orient="horz" pos="660"/>
        <p:guide pos="558"/>
        <p:guide pos="5202"/>
        <p:guide orient="horz" pos="3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56" y="-96"/>
      </p:cViewPr>
      <p:guideLst>
        <p:guide orient="horz" pos="3127"/>
        <p:guide pos="2141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D63C6-F503-48F1-8415-0998A9F2F1B5}" type="datetimeFigureOut">
              <a:rPr lang="en-US" smtClean="0"/>
              <a:t>2/18/21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272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8272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EEF73-D6EB-40A8-8E67-3E91C1C34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046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24335-8C3D-4D34-B722-08AEB26F62FC}" type="datetimeFigureOut">
              <a:rPr lang="en-US" smtClean="0"/>
              <a:t>2/18/21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383" y="4715831"/>
            <a:ext cx="5436909" cy="44666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272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62" y="9428272"/>
            <a:ext cx="2946275" cy="4966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11C08-A8B2-4394-91F8-D7D2B4BCC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9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211C08-A8B2-4394-91F8-D7D2B4BCCE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04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071937"/>
            <a:ext cx="75072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38400"/>
            <a:ext cx="75072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2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4380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038600" cy="452628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4038600" cy="4526280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4038600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4038600" cy="39512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4038600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174875"/>
            <a:ext cx="4038600" cy="39512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88029515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9" name="think-cell Slide" r:id="rId11" imgW="421" imgH="423" progId="TCLayout.ActiveDocument.1">
                  <p:embed/>
                </p:oleObj>
              </mc:Choice>
              <mc:Fallback>
                <p:oleObj name="think-cell Slide" r:id="rId11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792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600200"/>
            <a:ext cx="85344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63347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b" anchorCtr="0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1" r:id="rId2"/>
    <p:sldLayoutId id="2147483952" r:id="rId3"/>
    <p:sldLayoutId id="2147483954" r:id="rId4"/>
    <p:sldLayoutId id="2147483955" r:id="rId5"/>
    <p:sldLayoutId id="2147483956" r:id="rId6"/>
    <p:sldLayoutId id="2147483957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2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tx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731239" y="2029294"/>
            <a:ext cx="5391773" cy="1945481"/>
          </a:xfrm>
          <a:prstGeom prst="rect">
            <a:avLst/>
          </a:prstGeom>
        </p:spPr>
        <p:txBody>
          <a:bodyPr vert="horz" lIns="68580" tIns="34290" rIns="68580" bIns="3429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none" spc="-100" baseline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>
                <a:latin typeface="Arial" charset="0"/>
                <a:ea typeface="Arial" charset="0"/>
                <a:cs typeface="Arial" charset="0"/>
              </a:rPr>
              <a:t>Value Chain Analysis</a:t>
            </a:r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731240" y="4749071"/>
            <a:ext cx="5657850" cy="8001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 charset="0"/>
                <a:ea typeface="Arial" charset="0"/>
                <a:cs typeface="Arial" charset="0"/>
              </a:rPr>
              <a:t>Guest lecture by Carl Cervone</a:t>
            </a:r>
          </a:p>
          <a:p>
            <a:r>
              <a:rPr lang="en-US" sz="1800" dirty="0">
                <a:latin typeface="Arial" charset="0"/>
                <a:ea typeface="Arial" charset="0"/>
                <a:cs typeface="Arial" charset="0"/>
              </a:rPr>
              <a:t>February 18, 2021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406" y="1259792"/>
            <a:ext cx="5416910" cy="8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6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900" dirty="0"/>
              <a:t>Our panellists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5E129F-F79B-E74E-8658-159F57168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580" y="1081833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12B1303-1D82-2E4E-A6F7-AE8C28DC3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580" y="3897354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F408E58B-031D-774C-879B-F6680BAA0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67" y="3897354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0D497898-AD9E-4541-9AE0-F4B3AD80B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5" y="1085561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32ED5D-29FD-704A-8170-550F695416BA}"/>
              </a:ext>
            </a:extLst>
          </p:cNvPr>
          <p:cNvSpPr txBox="1"/>
          <p:nvPr/>
        </p:nvSpPr>
        <p:spPr>
          <a:xfrm>
            <a:off x="2992367" y="1081833"/>
            <a:ext cx="1601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Senthil</a:t>
            </a:r>
          </a:p>
          <a:p>
            <a:r>
              <a:rPr lang="en-US" sz="1400" i="1" dirty="0"/>
              <a:t>Indonesia</a:t>
            </a:r>
          </a:p>
          <a:p>
            <a:r>
              <a:rPr lang="en-US" sz="1400" dirty="0"/>
              <a:t>Operations (Asia)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EA84F-601A-1E40-AA1E-7D96A3A3D49F}"/>
              </a:ext>
            </a:extLst>
          </p:cNvPr>
          <p:cNvSpPr txBox="1"/>
          <p:nvPr/>
        </p:nvSpPr>
        <p:spPr>
          <a:xfrm>
            <a:off x="2992367" y="3860659"/>
            <a:ext cx="17186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Celine</a:t>
            </a:r>
          </a:p>
          <a:p>
            <a:r>
              <a:rPr lang="en-US" sz="1400" i="1" dirty="0"/>
              <a:t>Côte d’Ivoire</a:t>
            </a:r>
          </a:p>
          <a:p>
            <a:r>
              <a:rPr lang="en-US" sz="1400" dirty="0"/>
              <a:t>Operations (Africa)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12CD2-8BBE-A745-B43F-0E0466DC5F5D}"/>
              </a:ext>
            </a:extLst>
          </p:cNvPr>
          <p:cNvSpPr txBox="1"/>
          <p:nvPr/>
        </p:nvSpPr>
        <p:spPr>
          <a:xfrm>
            <a:off x="7527370" y="1081833"/>
            <a:ext cx="14622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Diana</a:t>
            </a:r>
          </a:p>
          <a:p>
            <a:r>
              <a:rPr lang="en-US" sz="1400" i="1" dirty="0"/>
              <a:t>New York</a:t>
            </a:r>
          </a:p>
          <a:p>
            <a:r>
              <a:rPr lang="en-US" sz="1400" dirty="0"/>
              <a:t>Product/Impact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85C091-E0D3-0745-BB6B-5646BFD59AB4}"/>
              </a:ext>
            </a:extLst>
          </p:cNvPr>
          <p:cNvSpPr txBox="1"/>
          <p:nvPr/>
        </p:nvSpPr>
        <p:spPr>
          <a:xfrm>
            <a:off x="7527370" y="3860659"/>
            <a:ext cx="14622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Nick</a:t>
            </a:r>
          </a:p>
          <a:p>
            <a:r>
              <a:rPr lang="en-US" sz="1400" i="1" dirty="0"/>
              <a:t>New York</a:t>
            </a:r>
          </a:p>
          <a:p>
            <a:r>
              <a:rPr lang="en-US" sz="1400" dirty="0"/>
              <a:t>Partnerships</a:t>
            </a:r>
          </a:p>
        </p:txBody>
      </p:sp>
    </p:spTree>
    <p:extLst>
      <p:ext uri="{BB962C8B-B14F-4D97-AF65-F5344CB8AC3E}">
        <p14:creationId xmlns:p14="http://schemas.microsoft.com/office/powerpoint/2010/main" val="202550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DF5072-3B8A-8441-A986-3809BAC5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bg1"/>
                </a:solidFill>
              </a:rPr>
              <a:t>Value chain analysis in the real world</a:t>
            </a:r>
          </a:p>
        </p:txBody>
      </p:sp>
    </p:spTree>
    <p:extLst>
      <p:ext uri="{BB962C8B-B14F-4D97-AF65-F5344CB8AC3E}">
        <p14:creationId xmlns:p14="http://schemas.microsoft.com/office/powerpoint/2010/main" val="12208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DF5072-3B8A-8441-A986-3809BAC5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bg1"/>
                </a:solidFill>
              </a:rPr>
              <a:t>How has COVID affected the coffee/cocoa value chains?</a:t>
            </a:r>
          </a:p>
        </p:txBody>
      </p:sp>
    </p:spTree>
    <p:extLst>
      <p:ext uri="{BB962C8B-B14F-4D97-AF65-F5344CB8AC3E}">
        <p14:creationId xmlns:p14="http://schemas.microsoft.com/office/powerpoint/2010/main" val="251539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DF5072-3B8A-8441-A986-3809BAC5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bg1"/>
                </a:solidFill>
              </a:rPr>
              <a:t>How has COVID affected labor dynamics in producing countries?</a:t>
            </a:r>
          </a:p>
        </p:txBody>
      </p:sp>
    </p:spTree>
    <p:extLst>
      <p:ext uri="{BB962C8B-B14F-4D97-AF65-F5344CB8AC3E}">
        <p14:creationId xmlns:p14="http://schemas.microsoft.com/office/powerpoint/2010/main" val="1092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DF5072-3B8A-8441-A986-3809BAC5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bg1"/>
                </a:solidFill>
              </a:rPr>
              <a:t>Value chain analysis and the sustainability agenda of the next decade</a:t>
            </a:r>
          </a:p>
        </p:txBody>
      </p:sp>
    </p:spTree>
    <p:extLst>
      <p:ext uri="{BB962C8B-B14F-4D97-AF65-F5344CB8AC3E}">
        <p14:creationId xmlns:p14="http://schemas.microsoft.com/office/powerpoint/2010/main" val="339452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900" dirty="0"/>
              <a:t>Some pointers when doing VCA in the real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1069" y="894270"/>
            <a:ext cx="77962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Context, context, context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Identify the right mix of stakeholders to interview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Get diverse opinions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Carry a USB drive (people never email data after you leave)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Official statistics aren’t always accurate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Corroborate numbers with different sources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Go bottom-up and top-down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Talk through hypotheses with experts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One-size-fits-all solutions are rare; segmentation is usually needed</a:t>
            </a:r>
          </a:p>
          <a:p>
            <a:pPr marL="342900" indent="-342900">
              <a:lnSpc>
                <a:spcPct val="200000"/>
              </a:lnSpc>
              <a:buFont typeface="Arial" charset="0"/>
              <a:buChar char="•"/>
            </a:pP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Keep slides simple</a:t>
            </a:r>
          </a:p>
        </p:txBody>
      </p:sp>
    </p:spTree>
    <p:extLst>
      <p:ext uri="{BB962C8B-B14F-4D97-AF65-F5344CB8AC3E}">
        <p14:creationId xmlns:p14="http://schemas.microsoft.com/office/powerpoint/2010/main" val="9085502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NEWSLIDENUMBER" val="False"/>
  <p:tag name="THINKCELLPRESENTATIONDONOTDELETE" val="&lt;?xml version=&quot;1.0&quot; encoding=&quot;UTF-16&quot; standalone=&quot;yes&quot;?&gt;&lt;root reqver=&quot;23045&quot;&gt;&lt;version val=&quot;2417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bNumberIsYear val=&quot;0&quot;/&gt;&lt;m_strFormatTime&gt;%d.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1&quot;&gt;&lt;elem m_fUsage=&quot;1.00000000000000000000E+000&quot;&gt;&lt;m_msothmcolidx val=&quot;0&quot;/&gt;&lt;m_rgb r=&quot;8B&quot; g=&quot;AE&quot; b=&quot;DA&quot;/&gt;&lt;m_nBrightness val=&quot;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  <p:tag name="PREVIOUSNAME" val="C:\Users\Yohann Velasco\Desktop\161122 Uganda presentation_yv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nveritas">
  <a:themeElements>
    <a:clrScheme name="Enveritas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42C7"/>
      </a:accent2>
      <a:accent3>
        <a:srgbClr val="97BAFF"/>
      </a:accent3>
      <a:accent4>
        <a:srgbClr val="7F7F7F"/>
      </a:accent4>
      <a:accent5>
        <a:srgbClr val="BFBFBF"/>
      </a:accent5>
      <a:accent6>
        <a:srgbClr val="FFFFFF"/>
      </a:accent6>
      <a:hlink>
        <a:srgbClr val="0042C7"/>
      </a:hlink>
      <a:folHlink>
        <a:srgbClr val="7F7F7F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15354</TotalTime>
  <Words>148</Words>
  <Application>Microsoft Macintosh PowerPoint</Application>
  <PresentationFormat>On-screen Show (4:3)</PresentationFormat>
  <Paragraphs>34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Enveritas</vt:lpstr>
      <vt:lpstr>think-cell Slide</vt:lpstr>
      <vt:lpstr>PowerPoint Presentation</vt:lpstr>
      <vt:lpstr>Our panellists</vt:lpstr>
      <vt:lpstr>Value chain analysis in the real world</vt:lpstr>
      <vt:lpstr>How has COVID affected the coffee/cocoa value chains?</vt:lpstr>
      <vt:lpstr>How has COVID affected labor dynamics in producing countries?</vt:lpstr>
      <vt:lpstr>Value chain analysis and the sustainability agenda of the next decade</vt:lpstr>
      <vt:lpstr>Some pointers when doing VCA in the real world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 Cervone</dc:creator>
  <cp:lastModifiedBy>Carl Cervone</cp:lastModifiedBy>
  <cp:revision>593</cp:revision>
  <cp:lastPrinted>2017-01-10T11:18:17Z</cp:lastPrinted>
  <dcterms:created xsi:type="dcterms:W3CDTF">2016-06-13T18:14:11Z</dcterms:created>
  <dcterms:modified xsi:type="dcterms:W3CDTF">2021-02-18T17:20:47Z</dcterms:modified>
</cp:coreProperties>
</file>